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dbda1995d1451c" /><Relationship Type="http://schemas.openxmlformats.org/officeDocument/2006/relationships/extended-properties" Target="/docProps/app.xml" Id="Rd3cdd7aa0a954e36" /><Relationship Type="http://schemas.openxmlformats.org/officeDocument/2006/relationships/officeDocument" Target="/ppt/presentation.xml" Id="R505503449c9a42d0" /></Relationships>
</file>

<file path=ppt/presentation.xml><?xml version="1.0" encoding="utf-8"?>
<p:presentation xmlns:p="http://schemas.openxmlformats.org/presentationml/2006/main">
  <p:sldMasterIdLst>
    <p:sldMasterId xmlns:r="http://schemas.openxmlformats.org/officeDocument/2006/relationships" id="2147483648" r:id="Rfa2a1f3504714e77"/>
  </p:sldMasterIdLst>
  <p:notesMasterIdLst>
    <p:notesMasterId xmlns:r="http://schemas.openxmlformats.org/officeDocument/2006/relationships" r:id="Ra32ef599c8a345e7"/>
  </p:notesMasterIdLst>
  <p:sldIdLst>
    <p:sldId xmlns:r="http://schemas.openxmlformats.org/officeDocument/2006/relationships" id="256" r:id="R8c79e0ffec234347"/>
    <p:sldId xmlns:r="http://schemas.openxmlformats.org/officeDocument/2006/relationships" id="257" r:id="Rb4d7fb087e0e4c02"/>
    <p:sldId xmlns:r="http://schemas.openxmlformats.org/officeDocument/2006/relationships" id="258" r:id="R6e6bf658354c4e3b"/>
    <p:sldId xmlns:r="http://schemas.openxmlformats.org/officeDocument/2006/relationships" id="259" r:id="R782b9be30c1b491e"/>
    <p:sldId xmlns:r="http://schemas.openxmlformats.org/officeDocument/2006/relationships" id="260" r:id="R2776da4379fa4905"/>
    <p:sldId xmlns:r="http://schemas.openxmlformats.org/officeDocument/2006/relationships" id="261" r:id="R9c71b347d65b46e9"/>
    <p:sldId xmlns:r="http://schemas.openxmlformats.org/officeDocument/2006/relationships" id="262" r:id="R76c4ee2b926c4c59"/>
    <p:sldId xmlns:r="http://schemas.openxmlformats.org/officeDocument/2006/relationships" id="263" r:id="R1ad5ad0248e54a43"/>
    <p:sldId xmlns:r="http://schemas.openxmlformats.org/officeDocument/2006/relationships" id="264" r:id="R16cbae6490864a0f"/>
    <p:sldId xmlns:r="http://schemas.openxmlformats.org/officeDocument/2006/relationships" id="265" r:id="Ra2423029701642ec"/>
    <p:sldId xmlns:r="http://schemas.openxmlformats.org/officeDocument/2006/relationships" id="266" r:id="R3fa13299dfd547ec"/>
    <p:sldId xmlns:r="http://schemas.openxmlformats.org/officeDocument/2006/relationships" id="267" r:id="R5d9977abec5b418a"/>
    <p:sldId xmlns:r="http://schemas.openxmlformats.org/officeDocument/2006/relationships" id="268" r:id="R1ced1273eb494918"/>
    <p:sldId xmlns:r="http://schemas.openxmlformats.org/officeDocument/2006/relationships" id="269" r:id="R38bdcc80bfb042c7"/>
    <p:sldId xmlns:r="http://schemas.openxmlformats.org/officeDocument/2006/relationships" id="270" r:id="R6b9d55e786b34a60"/>
    <p:sldId xmlns:r="http://schemas.openxmlformats.org/officeDocument/2006/relationships" id="271" r:id="Rf3e196176caf4f1b"/>
    <p:sldId xmlns:r="http://schemas.openxmlformats.org/officeDocument/2006/relationships" id="272" r:id="Ra9e7bf1d0e534043"/>
    <p:sldId xmlns:r="http://schemas.openxmlformats.org/officeDocument/2006/relationships" id="273" r:id="Rcd5b3c08ea0d4cbd"/>
    <p:sldId xmlns:r="http://schemas.openxmlformats.org/officeDocument/2006/relationships" id="274" r:id="Rdcf8d3e6e5424dc9"/>
    <p:sldId xmlns:r="http://schemas.openxmlformats.org/officeDocument/2006/relationships" id="275" r:id="Redcad53e04954e8d"/>
    <p:sldId xmlns:r="http://schemas.openxmlformats.org/officeDocument/2006/relationships" id="276" r:id="R72d3ee35053349e0"/>
    <p:sldId xmlns:r="http://schemas.openxmlformats.org/officeDocument/2006/relationships" id="277" r:id="Re25d9d30cd1b4485"/>
    <p:sldId xmlns:r="http://schemas.openxmlformats.org/officeDocument/2006/relationships" id="278" r:id="Rd12c2655bf744116"/>
    <p:sldId xmlns:r="http://schemas.openxmlformats.org/officeDocument/2006/relationships" id="279" r:id="R39cff05afe424a20"/>
    <p:sldId xmlns:r="http://schemas.openxmlformats.org/officeDocument/2006/relationships" id="280" r:id="R970b5f33ff894598"/>
    <p:sldId xmlns:r="http://schemas.openxmlformats.org/officeDocument/2006/relationships" id="281" r:id="R941454ca054443bc"/>
    <p:sldId xmlns:r="http://schemas.openxmlformats.org/officeDocument/2006/relationships" id="282" r:id="Ra59efb21c4bf4f27"/>
    <p:sldId xmlns:r="http://schemas.openxmlformats.org/officeDocument/2006/relationships" id="283" r:id="R228c19c6c7074c8f"/>
    <p:sldId xmlns:r="http://schemas.openxmlformats.org/officeDocument/2006/relationships" id="284" r:id="Rd210598503db413a"/>
    <p:sldId xmlns:r="http://schemas.openxmlformats.org/officeDocument/2006/relationships" id="285" r:id="R2fed3612aac244ad"/>
    <p:sldId xmlns:r="http://schemas.openxmlformats.org/officeDocument/2006/relationships" id="286" r:id="Rc35e54d0432542be"/>
    <p:sldId xmlns:r="http://schemas.openxmlformats.org/officeDocument/2006/relationships" id="287" r:id="R106220ec2eb9466f"/>
    <p:sldId xmlns:r="http://schemas.openxmlformats.org/officeDocument/2006/relationships" id="288" r:id="R0469e319c9114c6b"/>
    <p:sldId xmlns:r="http://schemas.openxmlformats.org/officeDocument/2006/relationships" id="289" r:id="R3a8e6703e609405d"/>
    <p:sldId xmlns:r="http://schemas.openxmlformats.org/officeDocument/2006/relationships" id="290" r:id="Rdddcfdc3f9ac4999"/>
    <p:sldId xmlns:r="http://schemas.openxmlformats.org/officeDocument/2006/relationships" id="291" r:id="R4c91c451e6b44094"/>
    <p:sldId xmlns:r="http://schemas.openxmlformats.org/officeDocument/2006/relationships" id="292" r:id="R99befdbe61ce4c93"/>
    <p:sldId xmlns:r="http://schemas.openxmlformats.org/officeDocument/2006/relationships" id="293" r:id="Rb484a0f90d974266"/>
    <p:sldId xmlns:r="http://schemas.openxmlformats.org/officeDocument/2006/relationships" id="294" r:id="R75c797f390e04298"/>
    <p:sldId xmlns:r="http://schemas.openxmlformats.org/officeDocument/2006/relationships" id="295" r:id="R6b2f7e4e175b44aa"/>
    <p:sldId xmlns:r="http://schemas.openxmlformats.org/officeDocument/2006/relationships" id="296" r:id="R07647eae98ac4d68"/>
    <p:sldId xmlns:r="http://schemas.openxmlformats.org/officeDocument/2006/relationships" id="297" r:id="R3346a0fe59154640"/>
    <p:sldId xmlns:r="http://schemas.openxmlformats.org/officeDocument/2006/relationships" id="298" r:id="Rc125e674680847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7ad293db45d4303" /><Relationship Type="http://schemas.openxmlformats.org/officeDocument/2006/relationships/slideMaster" Target="/ppt/slideMasters/slideMaster1.xml" Id="Rfa2a1f3504714e77" /><Relationship Type="http://schemas.openxmlformats.org/officeDocument/2006/relationships/notesMaster" Target="/ppt/notesMasters/notesMaster1.xml" Id="Ra32ef599c8a345e7" /><Relationship Type="http://schemas.openxmlformats.org/officeDocument/2006/relationships/presProps" Target="/ppt/presProps.xml" Id="Rf2c25306f46248f7" /><Relationship Type="http://schemas.openxmlformats.org/officeDocument/2006/relationships/viewProps" Target="/ppt/viewProps.xml" Id="Rd30ed150f0814673" /><Relationship Type="http://schemas.openxmlformats.org/officeDocument/2006/relationships/tableStyles" Target="/ppt/tableStyles.xml" Id="R3a40fe905727427e" /><Relationship Type="http://schemas.openxmlformats.org/officeDocument/2006/relationships/slide" Target="/ppt/slides/slide1.xml" Id="R8c79e0ffec234347" /><Relationship Type="http://schemas.openxmlformats.org/officeDocument/2006/relationships/slide" Target="/ppt/slides/slide2.xml" Id="Rb4d7fb087e0e4c02" /><Relationship Type="http://schemas.openxmlformats.org/officeDocument/2006/relationships/slide" Target="/ppt/slides/slide3.xml" Id="R6e6bf658354c4e3b" /><Relationship Type="http://schemas.openxmlformats.org/officeDocument/2006/relationships/slide" Target="/ppt/slides/slide4.xml" Id="R782b9be30c1b491e" /><Relationship Type="http://schemas.openxmlformats.org/officeDocument/2006/relationships/slide" Target="/ppt/slides/slide5.xml" Id="R2776da4379fa4905" /><Relationship Type="http://schemas.openxmlformats.org/officeDocument/2006/relationships/slide" Target="/ppt/slides/slide6.xml" Id="R9c71b347d65b46e9" /><Relationship Type="http://schemas.openxmlformats.org/officeDocument/2006/relationships/slide" Target="/ppt/slides/slide7.xml" Id="R76c4ee2b926c4c59" /><Relationship Type="http://schemas.openxmlformats.org/officeDocument/2006/relationships/slide" Target="/ppt/slides/slide8.xml" Id="R1ad5ad0248e54a43" /><Relationship Type="http://schemas.openxmlformats.org/officeDocument/2006/relationships/slide" Target="/ppt/slides/slide9.xml" Id="R16cbae6490864a0f" /><Relationship Type="http://schemas.openxmlformats.org/officeDocument/2006/relationships/slide" Target="/ppt/slides/slide10.xml" Id="Ra2423029701642ec" /><Relationship Type="http://schemas.openxmlformats.org/officeDocument/2006/relationships/slide" Target="/ppt/slides/slide11.xml" Id="R3fa13299dfd547ec" /><Relationship Type="http://schemas.openxmlformats.org/officeDocument/2006/relationships/slide" Target="/ppt/slides/slide12.xml" Id="R5d9977abec5b418a" /><Relationship Type="http://schemas.openxmlformats.org/officeDocument/2006/relationships/slide" Target="/ppt/slides/slide13.xml" Id="R1ced1273eb494918" /><Relationship Type="http://schemas.openxmlformats.org/officeDocument/2006/relationships/slide" Target="/ppt/slides/slide14.xml" Id="R38bdcc80bfb042c7" /><Relationship Type="http://schemas.openxmlformats.org/officeDocument/2006/relationships/slide" Target="/ppt/slides/slide15.xml" Id="R6b9d55e786b34a60" /><Relationship Type="http://schemas.openxmlformats.org/officeDocument/2006/relationships/slide" Target="/ppt/slides/slide16.xml" Id="Rf3e196176caf4f1b" /><Relationship Type="http://schemas.openxmlformats.org/officeDocument/2006/relationships/slide" Target="/ppt/slides/slide17.xml" Id="Ra9e7bf1d0e534043" /><Relationship Type="http://schemas.openxmlformats.org/officeDocument/2006/relationships/slide" Target="/ppt/slides/slide18.xml" Id="Rcd5b3c08ea0d4cbd" /><Relationship Type="http://schemas.openxmlformats.org/officeDocument/2006/relationships/slide" Target="/ppt/slides/slide19.xml" Id="Rdcf8d3e6e5424dc9" /><Relationship Type="http://schemas.openxmlformats.org/officeDocument/2006/relationships/slide" Target="/ppt/slides/slide20.xml" Id="Redcad53e04954e8d" /><Relationship Type="http://schemas.openxmlformats.org/officeDocument/2006/relationships/slide" Target="/ppt/slides/slide21.xml" Id="R72d3ee35053349e0" /><Relationship Type="http://schemas.openxmlformats.org/officeDocument/2006/relationships/slide" Target="/ppt/slides/slide22.xml" Id="Re25d9d30cd1b4485" /><Relationship Type="http://schemas.openxmlformats.org/officeDocument/2006/relationships/slide" Target="/ppt/slides/slide23.xml" Id="Rd12c2655bf744116" /><Relationship Type="http://schemas.openxmlformats.org/officeDocument/2006/relationships/slide" Target="/ppt/slides/slide24.xml" Id="R39cff05afe424a20" /><Relationship Type="http://schemas.openxmlformats.org/officeDocument/2006/relationships/slide" Target="/ppt/slides/slide25.xml" Id="R970b5f33ff894598" /><Relationship Type="http://schemas.openxmlformats.org/officeDocument/2006/relationships/slide" Target="/ppt/slides/slide26.xml" Id="R941454ca054443bc" /><Relationship Type="http://schemas.openxmlformats.org/officeDocument/2006/relationships/slide" Target="/ppt/slides/slide27.xml" Id="Ra59efb21c4bf4f27" /><Relationship Type="http://schemas.openxmlformats.org/officeDocument/2006/relationships/slide" Target="/ppt/slides/slide28.xml" Id="R228c19c6c7074c8f" /><Relationship Type="http://schemas.openxmlformats.org/officeDocument/2006/relationships/slide" Target="/ppt/slides/slide29.xml" Id="Rd210598503db413a" /><Relationship Type="http://schemas.openxmlformats.org/officeDocument/2006/relationships/slide" Target="/ppt/slides/slide30.xml" Id="R2fed3612aac244ad" /><Relationship Type="http://schemas.openxmlformats.org/officeDocument/2006/relationships/slide" Target="/ppt/slides/slide31.xml" Id="Rc35e54d0432542be" /><Relationship Type="http://schemas.openxmlformats.org/officeDocument/2006/relationships/slide" Target="/ppt/slides/slide32.xml" Id="R106220ec2eb9466f" /><Relationship Type="http://schemas.openxmlformats.org/officeDocument/2006/relationships/slide" Target="/ppt/slides/slide33.xml" Id="R0469e319c9114c6b" /><Relationship Type="http://schemas.openxmlformats.org/officeDocument/2006/relationships/slide" Target="/ppt/slides/slide34.xml" Id="R3a8e6703e609405d" /><Relationship Type="http://schemas.openxmlformats.org/officeDocument/2006/relationships/slide" Target="/ppt/slides/slide35.xml" Id="Rdddcfdc3f9ac4999" /><Relationship Type="http://schemas.openxmlformats.org/officeDocument/2006/relationships/slide" Target="/ppt/slides/slide36.xml" Id="R4c91c451e6b44094" /><Relationship Type="http://schemas.openxmlformats.org/officeDocument/2006/relationships/slide" Target="/ppt/slides/slide37.xml" Id="R99befdbe61ce4c93" /><Relationship Type="http://schemas.openxmlformats.org/officeDocument/2006/relationships/slide" Target="/ppt/slides/slide38.xml" Id="Rb484a0f90d974266" /><Relationship Type="http://schemas.openxmlformats.org/officeDocument/2006/relationships/slide" Target="/ppt/slides/slide39.xml" Id="R75c797f390e04298" /><Relationship Type="http://schemas.openxmlformats.org/officeDocument/2006/relationships/slide" Target="/ppt/slides/slide40.xml" Id="R6b2f7e4e175b44aa" /><Relationship Type="http://schemas.openxmlformats.org/officeDocument/2006/relationships/slide" Target="/ppt/slides/slide41.xml" Id="R07647eae98ac4d68" /><Relationship Type="http://schemas.openxmlformats.org/officeDocument/2006/relationships/slide" Target="/ppt/slides/slide42.xml" Id="R3346a0fe59154640" /><Relationship Type="http://schemas.openxmlformats.org/officeDocument/2006/relationships/slide" Target="/ppt/slides/slide43.xml" Id="Rc125e674680847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b5625154124a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2c0a4f8b4e43a9" /><Relationship Type="http://schemas.openxmlformats.org/officeDocument/2006/relationships/notesMaster" Target="/ppt/notesMasters/notesMaster1.xml" Id="Rac926e3b17c84c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9639fcbd904e21" /><Relationship Type="http://schemas.openxmlformats.org/officeDocument/2006/relationships/notesMaster" Target="/ppt/notesMasters/notesMaster1.xml" Id="R74d6c78fc0574e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ee92285c3f407f" /><Relationship Type="http://schemas.openxmlformats.org/officeDocument/2006/relationships/notesMaster" Target="/ppt/notesMasters/notesMaster1.xml" Id="Ra266bd3b409745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53694eca2043f8" /><Relationship Type="http://schemas.openxmlformats.org/officeDocument/2006/relationships/notesMaster" Target="/ppt/notesMasters/notesMaster1.xml" Id="Re700c29bcf534d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4235021c8149ee" /><Relationship Type="http://schemas.openxmlformats.org/officeDocument/2006/relationships/notesMaster" Target="/ppt/notesMasters/notesMaster1.xml" Id="R272280849d9840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7d378586a9418f" /><Relationship Type="http://schemas.openxmlformats.org/officeDocument/2006/relationships/notesMaster" Target="/ppt/notesMasters/notesMaster1.xml" Id="Rba401710723c49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39195e228346a7" /><Relationship Type="http://schemas.openxmlformats.org/officeDocument/2006/relationships/notesMaster" Target="/ppt/notesMasters/notesMaster1.xml" Id="R6e8d9a8ef5324d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d1c4503eb94c31" /><Relationship Type="http://schemas.openxmlformats.org/officeDocument/2006/relationships/notesMaster" Target="/ppt/notesMasters/notesMaster1.xml" Id="R157d80a337454e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7845d10af44c3d" /><Relationship Type="http://schemas.openxmlformats.org/officeDocument/2006/relationships/notesMaster" Target="/ppt/notesMasters/notesMaster1.xml" Id="Rcd1bf79c7f48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8fd95e70b84b00" /><Relationship Type="http://schemas.openxmlformats.org/officeDocument/2006/relationships/notesMaster" Target="/ppt/notesMasters/notesMaster1.xml" Id="Rbe69a5663ab640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44bbec9dfe42b0" /><Relationship Type="http://schemas.openxmlformats.org/officeDocument/2006/relationships/notesMaster" Target="/ppt/notesMasters/notesMaster1.xml" Id="Rd6f060c9a07140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0265a92b444ec6" /><Relationship Type="http://schemas.openxmlformats.org/officeDocument/2006/relationships/notesMaster" Target="/ppt/notesMasters/notesMaster1.xml" Id="R4ab5d580faa644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179977eed34962" /><Relationship Type="http://schemas.openxmlformats.org/officeDocument/2006/relationships/notesMaster" Target="/ppt/notesMasters/notesMaster1.xml" Id="R2067834204c64b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0f19b07f5e46a9" /><Relationship Type="http://schemas.openxmlformats.org/officeDocument/2006/relationships/notesMaster" Target="/ppt/notesMasters/notesMaster1.xml" Id="Rf326dcab2e304c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70709b10484400" /><Relationship Type="http://schemas.openxmlformats.org/officeDocument/2006/relationships/notesMaster" Target="/ppt/notesMasters/notesMaster1.xml" Id="R1d4ffc3e253148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ed202f9aa542ac" /><Relationship Type="http://schemas.openxmlformats.org/officeDocument/2006/relationships/notesMaster" Target="/ppt/notesMasters/notesMaster1.xml" Id="R86135cedbfbd44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4b2ace7f504f9f" /><Relationship Type="http://schemas.openxmlformats.org/officeDocument/2006/relationships/notesMaster" Target="/ppt/notesMasters/notesMaster1.xml" Id="R71905ff3791046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1d785b61b643da" /><Relationship Type="http://schemas.openxmlformats.org/officeDocument/2006/relationships/notesMaster" Target="/ppt/notesMasters/notesMaster1.xml" Id="Rbd48ec7fbed943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fafb44d2d04af8" /><Relationship Type="http://schemas.openxmlformats.org/officeDocument/2006/relationships/notesMaster" Target="/ppt/notesMasters/notesMaster1.xml" Id="Rc28b23826bed421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a5c964fd524da3" /><Relationship Type="http://schemas.openxmlformats.org/officeDocument/2006/relationships/notesMaster" Target="/ppt/notesMasters/notesMaster1.xml" Id="R9a25a43375814a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bc534d572f47eb" /><Relationship Type="http://schemas.openxmlformats.org/officeDocument/2006/relationships/notesMaster" Target="/ppt/notesMasters/notesMaster1.xml" Id="R8d5f9a73921d4a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8a308126b947f6" /><Relationship Type="http://schemas.openxmlformats.org/officeDocument/2006/relationships/notesMaster" Target="/ppt/notesMasters/notesMaster1.xml" Id="R3de0fdf061fb4bb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7a3eec2bcc40c7" /><Relationship Type="http://schemas.openxmlformats.org/officeDocument/2006/relationships/notesMaster" Target="/ppt/notesMasters/notesMaster1.xml" Id="R46cacd9edddb40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a5b0b5e80c4293" /><Relationship Type="http://schemas.openxmlformats.org/officeDocument/2006/relationships/notesMaster" Target="/ppt/notesMasters/notesMaster1.xml" Id="Reec18b19879345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5d38b681684f08" /><Relationship Type="http://schemas.openxmlformats.org/officeDocument/2006/relationships/notesMaster" Target="/ppt/notesMasters/notesMaster1.xml" Id="R384eb670458a40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199a0da451b4b66" /><Relationship Type="http://schemas.openxmlformats.org/officeDocument/2006/relationships/notesMaster" Target="/ppt/notesMasters/notesMaster1.xml" Id="Rb905ac2ccdcb46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0243466bb6479d" /><Relationship Type="http://schemas.openxmlformats.org/officeDocument/2006/relationships/notesMaster" Target="/ppt/notesMasters/notesMaster1.xml" Id="Rfc8ba9487da5473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04ec36d9158466d" /><Relationship Type="http://schemas.openxmlformats.org/officeDocument/2006/relationships/notesMaster" Target="/ppt/notesMasters/notesMaster1.xml" Id="Rcec58164506c4f3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d735c8d763c4efb" /><Relationship Type="http://schemas.openxmlformats.org/officeDocument/2006/relationships/notesMaster" Target="/ppt/notesMasters/notesMaster1.xml" Id="R5c4627522cdf4f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24ab6bd7b3d44bb" /><Relationship Type="http://schemas.openxmlformats.org/officeDocument/2006/relationships/notesMaster" Target="/ppt/notesMasters/notesMaster1.xml" Id="R2357daccdfca448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c63911f448b4b42" /><Relationship Type="http://schemas.openxmlformats.org/officeDocument/2006/relationships/notesMaster" Target="/ppt/notesMasters/notesMaster1.xml" Id="R23093653e5cf414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7c3f10baf39481b" /><Relationship Type="http://schemas.openxmlformats.org/officeDocument/2006/relationships/notesMaster" Target="/ppt/notesMasters/notesMaster1.xml" Id="R821dc4192f11405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a5f5d87bea6477d" /><Relationship Type="http://schemas.openxmlformats.org/officeDocument/2006/relationships/notesMaster" Target="/ppt/notesMasters/notesMaster1.xml" Id="R5d6d8202f32a428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fabaf376a7b4d64" /><Relationship Type="http://schemas.openxmlformats.org/officeDocument/2006/relationships/notesMaster" Target="/ppt/notesMasters/notesMaster1.xml" Id="R1ea2cf7769094a3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603ee55f9c44b55" /><Relationship Type="http://schemas.openxmlformats.org/officeDocument/2006/relationships/notesMaster" Target="/ppt/notesMasters/notesMaster1.xml" Id="R6c605cf388e04dc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373db00c09e4bbd" /><Relationship Type="http://schemas.openxmlformats.org/officeDocument/2006/relationships/notesMaster" Target="/ppt/notesMasters/notesMaster1.xml" Id="Ra1c5f8ed1eb144e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a0d92be1334e0e" /><Relationship Type="http://schemas.openxmlformats.org/officeDocument/2006/relationships/notesMaster" Target="/ppt/notesMasters/notesMaster1.xml" Id="R4a22b60b6f57410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03b9077090049f9" /><Relationship Type="http://schemas.openxmlformats.org/officeDocument/2006/relationships/notesMaster" Target="/ppt/notesMasters/notesMaster1.xml" Id="R479ad3ebbaf9442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93510f62bc048dc" /><Relationship Type="http://schemas.openxmlformats.org/officeDocument/2006/relationships/notesMaster" Target="/ppt/notesMasters/notesMaster1.xml" Id="R24c9471d7eb94af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75c22609fe143a0" /><Relationship Type="http://schemas.openxmlformats.org/officeDocument/2006/relationships/notesMaster" Target="/ppt/notesMasters/notesMaster1.xml" Id="Rbbc125c5f1d3421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12ffd2f36b6417d" /><Relationship Type="http://schemas.openxmlformats.org/officeDocument/2006/relationships/notesMaster" Target="/ppt/notesMasters/notesMaster1.xml" Id="R0f438bc8b18c4b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93ece5d622047d3" /><Relationship Type="http://schemas.openxmlformats.org/officeDocument/2006/relationships/notesMaster" Target="/ppt/notesMasters/notesMaster1.xml" Id="R9729be9535d94c5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a8c699fc90f47d3" /><Relationship Type="http://schemas.openxmlformats.org/officeDocument/2006/relationships/notesMaster" Target="/ppt/notesMasters/notesMaster1.xml" Id="R8e75368425174a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课堂运行：课堂示例代码/第1章/Hello.java
命令：javac -encoding UTF-8 Hello.java；java Hello
先让学生预测三行输出，再运行。强调 public 类名必须与文件名一致。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课堂运行：课堂示例代码/第1章/Hello.java
在 IntelliJ IDEA 中点击 main 左侧绿色三角运行，并对照命令行执行过程。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课堂运行：课堂示例代码/第1章/DebugDemo.java
在 total = total + i; 设置断点，演示 Step Over、Variables 和循环变量变化。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课堂运行：课堂示例代码/第1章/PeopleDemo.java
强调一个源文件可以有多个类，但只能有一个 public 类。修改 name 与 age 后再次运行。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参考代码 / Reference solution:</a:t>
            </a:r>
          </a:p>
          <a:p xmlns:a="http://schemas.openxmlformats.org/drawingml/2006/main">
            <a:r>
              <a:t>public class PersonalCard {</a:t>
            </a:r>
          </a:p>
          <a:p xmlns:a="http://schemas.openxmlformats.org/drawingml/2006/main">
            <a:r>
              <a:t>    public static void main(String[] args) {</a:t>
            </a:r>
          </a:p>
          <a:p xmlns:a="http://schemas.openxmlformats.org/drawingml/2006/main">
            <a:r>
              <a:t>        System.out.println("姓名：张三");</a:t>
            </a:r>
          </a:p>
          <a:p xmlns:a="http://schemas.openxmlformats.org/drawingml/2006/main">
            <a:r>
              <a:t>        System.out.println("专业：计算机科学与技术");</a:t>
            </a:r>
          </a:p>
          <a:p xmlns:a="http://schemas.openxmlformats.org/drawingml/2006/main">
            <a:r>
              <a:t>        System.out.println("目标：学会独立编写 Java 程序");</a:t>
            </a:r>
          </a:p>
          <a:p xmlns:a="http://schemas.openxmlformats.org/drawingml/2006/main">
            <a:r>
              <a:t>    }</a:t>
            </a:r>
          </a:p>
          <a:p xmlns:a="http://schemas.openxmlformats.org/drawingml/2006/main">
            <a:r>
              <a:t>}</a:t>
            </a:r>
          </a:p>
          <a:p xmlns:a="http://schemas.openxmlformats.org/drawingml/2006/main">
            <a:r>
              <a:t>课堂变化：让学生替换为自己的真实信息后再次运行。</a:t>
            </a:r>
          </a:p>
          <a:p xmlns:a="http://schemas.openxmlformats.org/drawingml/2006/main">
            <a:r>
              <a:t/>
            </a:r>
          </a:p>
          <a:p xmlns:a="http://schemas.openxmlformats.org/drawingml/2006/main">
            <a:r>
              <a:t>[Sources]</a:t>
            </a:r>
          </a:p>
          <a:p xmlns:a="http://schemas.openxmlformats.org/drawingml/2006/main">
            <a:r>
              <a:t>No external sources. Original instructional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参考代码 / Reference solution:</a:t>
            </a:r>
          </a:p>
          <a:p xmlns:a="http://schemas.openxmlformats.org/drawingml/2006/main">
            <a:r>
              <a:t>class Student {</a:t>
            </a:r>
          </a:p>
          <a:p xmlns:a="http://schemas.openxmlformats.org/drawingml/2006/main">
            <a:r>
              <a:t>    void sayHello() {</a:t>
            </a:r>
          </a:p>
          <a:p xmlns:a="http://schemas.openxmlformats.org/drawingml/2006/main">
            <a:r>
              <a:t>        System.out.println("Hello, Java!");</a:t>
            </a:r>
          </a:p>
          <a:p xmlns:a="http://schemas.openxmlformats.org/drawingml/2006/main">
            <a:r>
              <a:t>    }</a:t>
            </a:r>
          </a:p>
          <a:p xmlns:a="http://schemas.openxmlformats.org/drawingml/2006/main">
            <a:r>
              <a:t>}</a:t>
            </a:r>
          </a:p>
          <a:p xmlns:a="http://schemas.openxmlformats.org/drawingml/2006/main">
            <a:r>
              <a:t/>
            </a:r>
          </a:p>
          <a:p xmlns:a="http://schemas.openxmlformats.org/drawingml/2006/main">
            <a:r>
              <a:t>public class StudentDemo {</a:t>
            </a:r>
          </a:p>
          <a:p xmlns:a="http://schemas.openxmlformats.org/drawingml/2006/main">
            <a:r>
              <a:t>    public static void main(String[] args) {</a:t>
            </a:r>
          </a:p>
          <a:p xmlns:a="http://schemas.openxmlformats.org/drawingml/2006/main">
            <a:r>
              <a:t>        Student student = new Student();</a:t>
            </a:r>
          </a:p>
          <a:p xmlns:a="http://schemas.openxmlformats.org/drawingml/2006/main">
            <a:r>
              <a:t>        student.sayHello();</a:t>
            </a:r>
          </a:p>
          <a:p xmlns:a="http://schemas.openxmlformats.org/drawingml/2006/main">
            <a:r>
              <a:t>    }</a:t>
            </a:r>
          </a:p>
          <a:p xmlns:a="http://schemas.openxmlformats.org/drawingml/2006/main">
            <a:r>
              <a:t>}</a:t>
            </a:r>
          </a:p>
          <a:p xmlns:a="http://schemas.openxmlformats.org/drawingml/2006/main">
            <a:r>
              <a:t>强调：文件名必须是 StudentDemo.java，一个源文件只能有一个 public 类。</a:t>
            </a:r>
          </a:p>
          <a:p xmlns:a="http://schemas.openxmlformats.org/drawingml/2006/main">
            <a:r>
              <a:t/>
            </a:r>
          </a:p>
          <a:p xmlns:a="http://schemas.openxmlformats.org/drawingml/2006/main">
            <a:r>
              <a:t>[Sources]</a:t>
            </a:r>
          </a:p>
          <a:p xmlns:a="http://schemas.openxmlformats.org/drawingml/2006/main">
            <a:r>
              <a:t>No external sources. Original instructional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参考代码 / Reference solution:</a:t>
            </a:r>
          </a:p>
          <a:p xmlns:a="http://schemas.openxmlformats.org/drawingml/2006/main">
            <a:r>
              <a:t>public class BugFixDemo {</a:t>
            </a:r>
          </a:p>
          <a:p xmlns:a="http://schemas.openxmlformats.org/drawingml/2006/main">
            <a:r>
              <a:t>    public static void main(String[] args) {</a:t>
            </a:r>
          </a:p>
          <a:p xmlns:a="http://schemas.openxmlformats.org/drawingml/2006/main">
            <a:r>
              <a:t>        int sum = 0;</a:t>
            </a:r>
          </a:p>
          <a:p xmlns:a="http://schemas.openxmlformats.org/drawingml/2006/main">
            <a:r>
              <a:t>        for (int i = 1; i &lt;= 100; i++) {</a:t>
            </a:r>
          </a:p>
          <a:p xmlns:a="http://schemas.openxmlformats.org/drawingml/2006/main">
            <a:r>
              <a:t>            sum += i;</a:t>
            </a:r>
          </a:p>
          <a:p xmlns:a="http://schemas.openxmlformats.org/drawingml/2006/main">
            <a:r>
              <a:t>        }</a:t>
            </a:r>
          </a:p>
          <a:p xmlns:a="http://schemas.openxmlformats.org/drawingml/2006/main">
            <a:r>
              <a:t>        System.out.println("1 到 100 的和：" + sum);</a:t>
            </a:r>
          </a:p>
          <a:p xmlns:a="http://schemas.openxmlformats.org/drawingml/2006/main">
            <a:r>
              <a:t>    }</a:t>
            </a:r>
          </a:p>
          <a:p xmlns:a="http://schemas.openxmlformats.org/drawingml/2006/main">
            <a:r>
              <a:t>}</a:t>
            </a:r>
          </a:p>
          <a:p xmlns:a="http://schemas.openxmlformats.org/drawingml/2006/main">
            <a:r>
              <a:t>正确结果：5050。建议在 sum += i; 处设置断点。</a:t>
            </a:r>
          </a:p>
          <a:p xmlns:a="http://schemas.openxmlformats.org/drawingml/2006/main">
            <a:r>
              <a:t/>
            </a:r>
          </a:p>
          <a:p xmlns:a="http://schemas.openxmlformats.org/drawingml/2006/main">
            <a:r>
              <a:t>[Sources]</a:t>
            </a:r>
          </a:p>
          <a:p xmlns:a="http://schemas.openxmlformats.org/drawingml/2006/main">
            <a:r>
              <a:t>No external sources. Original instructional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72e1ecedbc4c9a"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512718f8884914" /><Relationship Type="http://schemas.openxmlformats.org/officeDocument/2006/relationships/slideLayout" Target="/ppt/slideLayouts/slideLayout1.xml" Id="R13f288073fa34e8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f288073fa34e8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06320e6af34a1b" /><Relationship Type="http://schemas.openxmlformats.org/officeDocument/2006/relationships/notesSlide" Target="/ppt/notesSlides/notesSlide1.xml" Id="R9ec6c839127c4b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7887715c7146ac" /><Relationship Type="http://schemas.openxmlformats.org/officeDocument/2006/relationships/image" Target="/ppt/media/image.jpeg" Id="R6bee8d6b1d324648" /><Relationship Type="http://schemas.openxmlformats.org/officeDocument/2006/relationships/notesSlide" Target="/ppt/notesSlides/notesSlide2.xml" Id="Rf566c5fc3d864e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e4b9a007bd46a3" /><Relationship Type="http://schemas.openxmlformats.org/officeDocument/2006/relationships/notesSlide" Target="/ppt/notesSlides/notesSlide3.xml" Id="Rcf658822896345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df185b54a34e33" /><Relationship Type="http://schemas.openxmlformats.org/officeDocument/2006/relationships/notesSlide" Target="/ppt/notesSlides/notesSlide4.xml" Id="Rfd4fc470469740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5f774a63f84f82" /><Relationship Type="http://schemas.openxmlformats.org/officeDocument/2006/relationships/image" Target="/ppt/media/image2.jpeg" Id="Re5e5eb0e85d649da" /><Relationship Type="http://schemas.openxmlformats.org/officeDocument/2006/relationships/notesSlide" Target="/ppt/notesSlides/notesSlide5.xml" Id="R15cb6210f3954a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fa447894f14a23" /><Relationship Type="http://schemas.openxmlformats.org/officeDocument/2006/relationships/notesSlide" Target="/ppt/notesSlides/notesSlide6.xml" Id="R430902ea1d864f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939da623f14d61" /><Relationship Type="http://schemas.openxmlformats.org/officeDocument/2006/relationships/notesSlide" Target="/ppt/notesSlides/notesSlide7.xml" Id="R7ccb80b97a6049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d1fba43e984f7c" /><Relationship Type="http://schemas.openxmlformats.org/officeDocument/2006/relationships/notesSlide" Target="/ppt/notesSlides/notesSlide8.xml" Id="R53b6a01b589e47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d1d10422ff4228" /><Relationship Type="http://schemas.openxmlformats.org/officeDocument/2006/relationships/notesSlide" Target="/ppt/notesSlides/notesSlide9.xml" Id="R8ee6995d80e64f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aab22a19074362" /><Relationship Type="http://schemas.openxmlformats.org/officeDocument/2006/relationships/image" Target="/ppt/media/image.png" Id="R0e41133c5ff14c5e" /><Relationship Type="http://schemas.openxmlformats.org/officeDocument/2006/relationships/notesSlide" Target="/ppt/notesSlides/notesSlide10.xml" Id="R23bc0781758f4f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879366767542b1" /><Relationship Type="http://schemas.openxmlformats.org/officeDocument/2006/relationships/image" Target="/ppt/media/image2.png" Id="R79146d25c0254484" /><Relationship Type="http://schemas.openxmlformats.org/officeDocument/2006/relationships/notesSlide" Target="/ppt/notesSlides/notesSlide11.xml" Id="Rff1d7a691fb24b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df92c7e4c44371" /><Relationship Type="http://schemas.openxmlformats.org/officeDocument/2006/relationships/notesSlide" Target="/ppt/notesSlides/notesSlide12.xml" Id="R18a091b98f2442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409c30b17e4508" /><Relationship Type="http://schemas.openxmlformats.org/officeDocument/2006/relationships/notesSlide" Target="/ppt/notesSlides/notesSlide13.xml" Id="Rfd3ca09bdd3d45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c8459ef60243b6" /><Relationship Type="http://schemas.openxmlformats.org/officeDocument/2006/relationships/notesSlide" Target="/ppt/notesSlides/notesSlide14.xml" Id="R9a2c34a19d6348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4755d577926444a" /><Relationship Type="http://schemas.openxmlformats.org/officeDocument/2006/relationships/notesSlide" Target="/ppt/notesSlides/notesSlide15.xml" Id="R1669e12e02724d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40d4fa61f94004" /><Relationship Type="http://schemas.openxmlformats.org/officeDocument/2006/relationships/image" Target="/ppt/media/image3.png" Id="Ra21eeaaabcff4071" /><Relationship Type="http://schemas.openxmlformats.org/officeDocument/2006/relationships/notesSlide" Target="/ppt/notesSlides/notesSlide16.xml" Id="Rdabb7ffc2dbb4e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ed5fabd76f4414" /><Relationship Type="http://schemas.openxmlformats.org/officeDocument/2006/relationships/image" Target="/ppt/media/image4.png" Id="R38946c52ff1e453f" /><Relationship Type="http://schemas.openxmlformats.org/officeDocument/2006/relationships/notesSlide" Target="/ppt/notesSlides/notesSlide17.xml" Id="R300059b09c9747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4a479d28d443a5" /><Relationship Type="http://schemas.openxmlformats.org/officeDocument/2006/relationships/image" Target="/ppt/media/image5.png" Id="R6345116d48d34adf" /><Relationship Type="http://schemas.openxmlformats.org/officeDocument/2006/relationships/notesSlide" Target="/ppt/notesSlides/notesSlide18.xml" Id="R2e18eca498cb48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b73d15779d41fc" /><Relationship Type="http://schemas.openxmlformats.org/officeDocument/2006/relationships/notesSlide" Target="/ppt/notesSlides/notesSlide19.xml" Id="R707a167117d347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4dce14b5da74283" /><Relationship Type="http://schemas.openxmlformats.org/officeDocument/2006/relationships/image" Target="/ppt/media/image6.png" Id="R191e588035c74b6c" /><Relationship Type="http://schemas.openxmlformats.org/officeDocument/2006/relationships/notesSlide" Target="/ppt/notesSlides/notesSlide20.xml" Id="R9baa804bbe4346f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441beec907f4f22" /><Relationship Type="http://schemas.openxmlformats.org/officeDocument/2006/relationships/image" Target="/ppt/media/image7.png" Id="R2c3749ab17a641be" /><Relationship Type="http://schemas.openxmlformats.org/officeDocument/2006/relationships/notesSlide" Target="/ppt/notesSlides/notesSlide21.xml" Id="R8a8523ef23f847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4d37317f92843f2" /><Relationship Type="http://schemas.openxmlformats.org/officeDocument/2006/relationships/image" Target="/ppt/media/image8.png" Id="R0c46315b96164d9e" /><Relationship Type="http://schemas.openxmlformats.org/officeDocument/2006/relationships/notesSlide" Target="/ppt/notesSlides/notesSlide22.xml" Id="Rb17dbef74b9440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0fb85b5efa4a82" /><Relationship Type="http://schemas.openxmlformats.org/officeDocument/2006/relationships/image" Target="/ppt/media/image9.png" Id="Rff8af3195f264894" /><Relationship Type="http://schemas.openxmlformats.org/officeDocument/2006/relationships/notesSlide" Target="/ppt/notesSlides/notesSlide23.xml" Id="Re38b9ba197fc4b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be6f47df274ced" /><Relationship Type="http://schemas.openxmlformats.org/officeDocument/2006/relationships/notesSlide" Target="/ppt/notesSlides/notesSlide24.xml" Id="Rcd953a6f00b54d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309f42db10a42a0" /><Relationship Type="http://schemas.openxmlformats.org/officeDocument/2006/relationships/notesSlide" Target="/ppt/notesSlides/notesSlide25.xml" Id="Rf4df26b538fb43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760944a493459b" /><Relationship Type="http://schemas.openxmlformats.org/officeDocument/2006/relationships/notesSlide" Target="/ppt/notesSlides/notesSlide26.xml" Id="R231dbb4c66a347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a2398ad74b14d3a" /><Relationship Type="http://schemas.openxmlformats.org/officeDocument/2006/relationships/image" Target="/ppt/media/image5.png" Id="Re959383eb335445a" /><Relationship Type="http://schemas.openxmlformats.org/officeDocument/2006/relationships/notesSlide" Target="/ppt/notesSlides/notesSlide27.xml" Id="R68894fad5a744ae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c9eb11923a94778" /><Relationship Type="http://schemas.openxmlformats.org/officeDocument/2006/relationships/notesSlide" Target="/ppt/notesSlides/notesSlide28.xml" Id="Rdf78104f4eab41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eab86983c494754" /><Relationship Type="http://schemas.openxmlformats.org/officeDocument/2006/relationships/notesSlide" Target="/ppt/notesSlides/notesSlide29.xml" Id="R34649721226443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fc3e564c6d64553" /><Relationship Type="http://schemas.openxmlformats.org/officeDocument/2006/relationships/image" Target="/ppt/media/image10.png" Id="Rc63c89357994440d" /><Relationship Type="http://schemas.openxmlformats.org/officeDocument/2006/relationships/notesSlide" Target="/ppt/notesSlides/notesSlide30.xml" Id="R3195724eb6244bd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ed08958624438d" /><Relationship Type="http://schemas.openxmlformats.org/officeDocument/2006/relationships/notesSlide" Target="/ppt/notesSlides/notesSlide31.xml" Id="Rdb187fa4889443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28e08b6a605449e" /><Relationship Type="http://schemas.openxmlformats.org/officeDocument/2006/relationships/notesSlide" Target="/ppt/notesSlides/notesSlide32.xml" Id="R61e1edfe1d86469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df286cee9a4490c" /><Relationship Type="http://schemas.openxmlformats.org/officeDocument/2006/relationships/notesSlide" Target="/ppt/notesSlides/notesSlide33.xml" Id="R1181d5edadf341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e0ad21b39de4265" /><Relationship Type="http://schemas.openxmlformats.org/officeDocument/2006/relationships/notesSlide" Target="/ppt/notesSlides/notesSlide34.xml" Id="R27b3de6eb09a4b1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acb28bb13644528" /><Relationship Type="http://schemas.openxmlformats.org/officeDocument/2006/relationships/image" Target="/ppt/media/image11.png" Id="R2d9b31d7fc6f4ad2" /><Relationship Type="http://schemas.openxmlformats.org/officeDocument/2006/relationships/notesSlide" Target="/ppt/notesSlides/notesSlide35.xml" Id="R0c1545af161c4a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c2eed02603e4ebc" /><Relationship Type="http://schemas.openxmlformats.org/officeDocument/2006/relationships/image" Target="/ppt/media/image12.png" Id="Rd394bcb6257b425a" /><Relationship Type="http://schemas.openxmlformats.org/officeDocument/2006/relationships/notesSlide" Target="/ppt/notesSlides/notesSlide36.xml" Id="R85d19ccc7183462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9d85f14157b41d3" /><Relationship Type="http://schemas.openxmlformats.org/officeDocument/2006/relationships/notesSlide" Target="/ppt/notesSlides/notesSlide37.xml" Id="R68a1f54ca9ab423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ee9fee908e94713" /><Relationship Type="http://schemas.openxmlformats.org/officeDocument/2006/relationships/notesSlide" Target="/ppt/notesSlides/notesSlide38.xml" Id="R0ec5a3400c84458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3a7be1e5c7f45f2" /><Relationship Type="http://schemas.openxmlformats.org/officeDocument/2006/relationships/notesSlide" Target="/ppt/notesSlides/notesSlide39.xml" Id="R854d444a4bd94ae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746005ce20a41f6" /><Relationship Type="http://schemas.openxmlformats.org/officeDocument/2006/relationships/notesSlide" Target="/ppt/notesSlides/notesSlide40.xml" Id="Ra08f37e8eded42b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d1f487d0a5c47af" /><Relationship Type="http://schemas.openxmlformats.org/officeDocument/2006/relationships/notesSlide" Target="/ppt/notesSlides/notesSlide41.xml" Id="Rdb5b7aec2bd3444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bc74cfcd95b4350" /><Relationship Type="http://schemas.openxmlformats.org/officeDocument/2006/relationships/notesSlide" Target="/ppt/notesSlides/notesSlide42.xml" Id="R9467a7d853564b5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9d1c0d5cbf54c07" /><Relationship Type="http://schemas.openxmlformats.org/officeDocument/2006/relationships/notesSlide" Target="/ppt/notesSlides/notesSlide43.xml" Id="R8ebdee4eb9dd4c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A5E4F5F0-5FD9-4E7B-93BE-88D198335B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 name="矩形 2">
            <a:extLst xmlns:a="http://schemas.openxmlformats.org/drawingml/2006/main">
              <a:ext uri="{FF2B5EF4-FFF2-40B4-BE49-F238E27FC236}">
                <a16:creationId xmlns:a16="http://schemas.microsoft.com/office/drawing/2014/main" id="{02B8EF24-2483-4BAD-9D0A-9C9A6B4D6A39}"/>
              </a:ext>
            </a:extLst>
          </p:cNvPr>
          <p:cNvSpPr>
            <a:spLocks xmlns:a="http://schemas.openxmlformats.org/drawingml/2006/main" noGrp="1"/>
          </p:cNvSpPr>
          <p:nvPr/>
        </p:nvSpPr>
        <p:spPr>
          <a:xfrm xmlns:a="http://schemas.openxmlformats.org/drawingml/2006/main">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 name="矩形 3">
            <a:extLst xmlns:a="http://schemas.openxmlformats.org/drawingml/2006/main">
              <a:ext uri="{FF2B5EF4-FFF2-40B4-BE49-F238E27FC236}">
                <a16:creationId xmlns:a16="http://schemas.microsoft.com/office/drawing/2014/main" id="{2E898635-B72C-4672-BC64-507B2C00F946}"/>
              </a:ext>
            </a:extLst>
          </p:cNvPr>
          <p:cNvSpPr>
            <a:spLocks xmlns:a="http://schemas.openxmlformats.org/drawingml/2006/main" noGrp="1"/>
          </p:cNvSpPr>
          <p:nvPr/>
        </p:nvSpPr>
        <p:spPr>
          <a:xfrm xmlns:a="http://schemas.openxmlformats.org/drawingml/2006/main">
            <a:off x="3657600" y="1295400"/>
            <a:ext cx="48768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spc="450">
                <a:solidFill>
                  <a:srgbClr val="1E4FA8"/>
                </a:solidFill>
                <a:latin typeface="微软雅黑"/>
                <a:ea typeface="微软雅黑"/>
                <a:cs typeface="微软雅黑"/>
              </a:rPr>
              <a:t>JAVA PROGRAMMING · CHAPTER 01</a:t>
            </a:r>
            <a:endParaRPr sz="1350" b="1" spc="450">
              <a:solidFill>
                <a:srgbClr val="1E4FA8"/>
              </a:solidFill>
              <a:latin typeface="微软雅黑"/>
              <a:ea typeface="微软雅黑"/>
              <a:cs typeface="微软雅黑"/>
            </a:endParaRPr>
          </a:p>
        </p:txBody>
      </p:sp>
      <p:sp>
        <p:nvSpPr>
          <p:cNvPr id="5" name="矩形 4">
            <a:extLst xmlns:a="http://schemas.openxmlformats.org/drawingml/2006/main">
              <a:ext uri="{FF2B5EF4-FFF2-40B4-BE49-F238E27FC236}">
                <a16:creationId xmlns:a16="http://schemas.microsoft.com/office/drawing/2014/main" id="{1952C5C5-A4EE-45B7-8D80-EA29E42C7556}"/>
              </a:ext>
            </a:extLst>
          </p:cNvPr>
          <p:cNvSpPr>
            <a:spLocks xmlns:a="http://schemas.openxmlformats.org/drawingml/2006/main" noGrp="1"/>
          </p:cNvSpPr>
          <p:nvPr/>
        </p:nvSpPr>
        <p:spPr>
          <a:xfrm xmlns:a="http://schemas.openxmlformats.org/drawingml/2006/main">
            <a:off x="3752850" y="1676400"/>
            <a:ext cx="4686300" cy="1047750"/>
          </a:xfrm>
          <a:prstGeom xmlns:a="http://schemas.openxmlformats.org/drawingml/2006/main" prst="rect">
            <a:avLst/>
          </a:prstGeom>
        </p:spPr>
        <p:txBody>
          <a:bodyPr xmlns:a="http://schemas.openxmlformats.org/drawingml/2006/main" wrap="none" lIns="0" tIns="0" rIns="0" bIns="0">
            <a:normAutofit fontScale="27544"/>
          </a:bodyPr>
          <a:lstStyle xmlns:a="http://schemas.openxmlformats.org/drawingml/2006/main"/>
          <a:p xmlns:a="http://schemas.openxmlformats.org/drawingml/2006/main">
            <a:pPr marL="0">
              <a:lnSpc>
                <a:spcPct val="100000"/>
              </a:lnSpc>
              <a:spcBef>
                <a:spcPts val="0"/>
              </a:spcBef>
              <a:spcAft>
                <a:spcPts val="0"/>
              </a:spcAft>
              <a:buNone/>
            </a:pPr>
            <a:r>
              <a:rPr sz="12480" b="1">
                <a:solidFill>
                  <a:srgbClr val="0E3F8C"/>
                </a:solidFill>
                <a:latin typeface="微软雅黑"/>
                <a:ea typeface="微软雅黑"/>
                <a:cs typeface="微软雅黑"/>
              </a:rPr>
              <a:t>Java 程序设计</a:t>
            </a:r>
          </a:p>
          <a:p xmlns:a="http://schemas.openxmlformats.org/drawingml/2006/main">
            <a:pPr marL="0">
              <a:lnSpc>
                <a:spcPct val="100000"/>
              </a:lnSpc>
              <a:spcBef>
                <a:spcPts val="0"/>
              </a:spcBef>
              <a:spcAft>
                <a:spcPts val="0"/>
              </a:spcAft>
              <a:buNone/>
            </a:pPr>
            <a:r>
              <a:rPr sz="12480" b="1">
                <a:solidFill>
                  <a:srgbClr val="0E3F8C"/>
                </a:solidFill>
                <a:latin typeface="微软雅黑"/>
                <a:ea typeface="微软雅黑"/>
                <a:cs typeface="微软雅黑"/>
              </a:rPr>
              <a:t>Java programming</a:t>
            </a:r>
          </a:p>
        </p:txBody>
      </p:sp>
      <p:sp>
        <p:nvSpPr>
          <p:cNvPr id="6" name="矩形 5">
            <a:extLst xmlns:a="http://schemas.openxmlformats.org/drawingml/2006/main">
              <a:ext uri="{FF2B5EF4-FFF2-40B4-BE49-F238E27FC236}">
                <a16:creationId xmlns:a16="http://schemas.microsoft.com/office/drawing/2014/main" id="{52E8C8AC-3778-4900-9D7A-D534953F843F}"/>
              </a:ext>
            </a:extLst>
          </p:cNvPr>
          <p:cNvSpPr>
            <a:spLocks xmlns:a="http://schemas.openxmlformats.org/drawingml/2006/main" noGrp="1"/>
          </p:cNvSpPr>
          <p:nvPr/>
        </p:nvSpPr>
        <p:spPr>
          <a:xfrm xmlns:a="http://schemas.openxmlformats.org/drawingml/2006/main">
            <a:off x="4267200" y="2895600"/>
            <a:ext cx="3657600" cy="657225"/>
          </a:xfrm>
          <a:prstGeom xmlns:a="http://schemas.openxmlformats.org/drawingml/2006/main" prst="rect">
            <a:avLst/>
          </a:prstGeom>
        </p:spPr>
        <p:txBody>
          <a:bodyPr xmlns:a="http://schemas.openxmlformats.org/drawingml/2006/main" wrap="none" lIns="0" tIns="0" rIns="0" bIns="0">
            <a:normAutofit fontScale="21339"/>
          </a:bodyPr>
          <a:lstStyle xmlns:a="http://schemas.openxmlformats.org/drawingml/2006/main"/>
          <a:p xmlns:a="http://schemas.openxmlformats.org/drawingml/2006/main">
            <a:pPr marL="0">
              <a:lnSpc>
                <a:spcPct val="100000"/>
              </a:lnSpc>
              <a:spcBef>
                <a:spcPts val="0"/>
              </a:spcBef>
              <a:spcAft>
                <a:spcPts val="0"/>
              </a:spcAft>
              <a:buNone/>
            </a:pPr>
            <a:r>
              <a:rPr sz="7230" b="1">
                <a:solidFill>
                  <a:srgbClr val="1E4FA8"/>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7230" b="1">
                <a:solidFill>
                  <a:srgbClr val="1E4FA8"/>
                </a:solidFill>
                <a:latin typeface="微软雅黑"/>
                <a:ea typeface="微软雅黑"/>
                <a:cs typeface="微软雅黑"/>
              </a:rPr>
              <a:t>Chapter 1 · Getting Started with Java</a:t>
            </a:r>
          </a:p>
        </p:txBody>
      </p:sp>
      <p:sp>
        <p:nvSpPr>
          <p:cNvPr id="7" name="矩形 6">
            <a:extLst xmlns:a="http://schemas.openxmlformats.org/drawingml/2006/main">
              <a:ext uri="{FF2B5EF4-FFF2-40B4-BE49-F238E27FC236}">
                <a16:creationId xmlns:a16="http://schemas.microsoft.com/office/drawing/2014/main" id="{3EFFF3BA-DD89-4535-9DF0-88B36C62F1D4}"/>
              </a:ext>
            </a:extLst>
          </p:cNvPr>
          <p:cNvSpPr>
            <a:spLocks xmlns:a="http://schemas.openxmlformats.org/drawingml/2006/main" noGrp="1"/>
          </p:cNvSpPr>
          <p:nvPr/>
        </p:nvSpPr>
        <p:spPr>
          <a:xfrm xmlns:a="http://schemas.openxmlformats.org/drawingml/2006/main">
            <a:off x="5715000" y="3724275"/>
            <a:ext cx="7620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8" name="矩形 7">
            <a:extLst xmlns:a="http://schemas.openxmlformats.org/drawingml/2006/main">
              <a:ext uri="{FF2B5EF4-FFF2-40B4-BE49-F238E27FC236}">
                <a16:creationId xmlns:a16="http://schemas.microsoft.com/office/drawing/2014/main" id="{9882FB87-CA60-4723-82BB-2FD7C22BDFE6}"/>
              </a:ext>
            </a:extLst>
          </p:cNvPr>
          <p:cNvSpPr>
            <a:spLocks xmlns:a="http://schemas.openxmlformats.org/drawingml/2006/main" noGrp="1"/>
          </p:cNvSpPr>
          <p:nvPr/>
        </p:nvSpPr>
        <p:spPr>
          <a:xfrm xmlns:a="http://schemas.openxmlformats.org/drawingml/2006/main">
            <a:off x="2781300" y="5172075"/>
            <a:ext cx="6629400" cy="9525"/>
          </a:xfrm>
          <a:prstGeom xmlns:a="http://schemas.openxmlformats.org/drawingml/2006/main" prst="rect">
            <a:avLst/>
          </a:prstGeom>
          <a:solidFill xmlns:a="http://schemas.openxmlformats.org/drawingml/2006/main">
            <a:srgbClr val="D6DCE5"/>
          </a:solidFill>
        </p:spPr>
        <p:txBody>
          <a:bodyPr xmlns:a="http://schemas.openxmlformats.org/drawingml/2006/main"/>
          <a:lstStyle xmlns:a="http://schemas.openxmlformats.org/drawingml/2006/main"/>
          <a:p xmlns:a="http://schemas.openxmlformats.org/drawingml/2006/main"/>
        </p:txBody>
      </p:sp>
      <p:sp>
        <p:nvSpPr>
          <p:cNvPr id="9" name="矩形 8">
            <a:extLst xmlns:a="http://schemas.openxmlformats.org/drawingml/2006/main">
              <a:ext uri="{FF2B5EF4-FFF2-40B4-BE49-F238E27FC236}">
                <a16:creationId xmlns:a16="http://schemas.microsoft.com/office/drawing/2014/main" id="{25A50311-C8B3-40BB-9CC5-250EE67A8B2D}"/>
              </a:ext>
            </a:extLst>
          </p:cNvPr>
          <p:cNvSpPr>
            <a:spLocks xmlns:a="http://schemas.openxmlformats.org/drawingml/2006/main" noGrp="1"/>
          </p:cNvSpPr>
          <p:nvPr/>
        </p:nvSpPr>
        <p:spPr>
          <a:xfrm xmlns:a="http://schemas.openxmlformats.org/drawingml/2006/main">
            <a:off x="4419600" y="5314950"/>
            <a:ext cx="3352800" cy="257175"/>
          </a:xfrm>
          <a:prstGeom xmlns:a="http://schemas.openxmlformats.org/drawingml/2006/main" prst="rect">
            <a:avLst/>
          </a:prstGeom>
        </p:spPr>
        <p:txBody>
          <a:bodyPr xmlns:a="http://schemas.openxmlformats.org/drawingml/2006/main" wrap="none" lIns="0" tIns="0" rIns="0" bIns="0">
            <a:normAutofit fontScale="23373"/>
          </a:bodyPr>
          <a:lstStyle xmlns:a="http://schemas.openxmlformats.org/drawingml/2006/main"/>
          <a:p xmlns:a="http://schemas.openxmlformats.org/drawingml/2006/main">
            <a:pPr marL="0">
              <a:lnSpc>
                <a:spcPct val="100000"/>
              </a:lnSpc>
              <a:spcBef>
                <a:spcPts val="0"/>
              </a:spcBef>
              <a:spcAft>
                <a:spcPts val="0"/>
              </a:spcAft>
              <a:buNone/>
            </a:pPr>
            <a:r>
              <a:rPr sz="3610" b="1">
                <a:solidFill>
                  <a:srgbClr val="1A2230"/>
                </a:solidFill>
                <a:latin typeface="微软雅黑"/>
                <a:ea typeface="微软雅黑"/>
                <a:cs typeface="微软雅黑"/>
              </a:rPr>
              <a:t>中国石油大学（北京）克拉玛依校区</a:t>
            </a:r>
          </a:p>
          <a:p xmlns:a="http://schemas.openxmlformats.org/drawingml/2006/main">
            <a:pPr marL="0">
              <a:lnSpc>
                <a:spcPct val="100000"/>
              </a:lnSpc>
              <a:spcBef>
                <a:spcPts val="0"/>
              </a:spcBef>
              <a:spcAft>
                <a:spcPts val="0"/>
              </a:spcAft>
              <a:buNone/>
            </a:pPr>
            <a:r>
              <a:rPr sz="3610" b="1">
                <a:solidFill>
                  <a:srgbClr val="1A2230"/>
                </a:solidFill>
                <a:latin typeface="微软雅黑"/>
                <a:ea typeface="微软雅黑"/>
                <a:cs typeface="微软雅黑"/>
              </a:rPr>
              <a:t>China University of Petroleum (Beijing) Karamay Campus</a:t>
            </a:r>
          </a:p>
        </p:txBody>
      </p:sp>
      <p:sp>
        <p:nvSpPr>
          <p:cNvPr id="10" name="矩形 9">
            <a:extLst xmlns:a="http://schemas.openxmlformats.org/drawingml/2006/main">
              <a:ext uri="{FF2B5EF4-FFF2-40B4-BE49-F238E27FC236}">
                <a16:creationId xmlns:a16="http://schemas.microsoft.com/office/drawing/2014/main" id="{85A48357-FDA0-4A9F-A460-2D051EABC6C7}"/>
              </a:ext>
            </a:extLst>
          </p:cNvPr>
          <p:cNvSpPr>
            <a:spLocks xmlns:a="http://schemas.openxmlformats.org/drawingml/2006/main" noGrp="1"/>
          </p:cNvSpPr>
          <p:nvPr/>
        </p:nvSpPr>
        <p:spPr>
          <a:xfrm xmlns:a="http://schemas.openxmlformats.org/drawingml/2006/main">
            <a:off x="5372100" y="5705475"/>
            <a:ext cx="1447800" cy="219075"/>
          </a:xfrm>
          <a:prstGeom xmlns:a="http://schemas.openxmlformats.org/drawingml/2006/main" prst="rect">
            <a:avLst/>
          </a:prstGeom>
        </p:spPr>
        <p:txBody>
          <a:bodyPr xmlns:a="http://schemas.openxmlformats.org/drawingml/2006/main" wrap="none" lIns="0" tIns="0" rIns="0" bIns="0">
            <a:normAutofit fontScale="90439"/>
          </a:bodyPr>
          <a:lstStyle xmlns:a="http://schemas.openxmlformats.org/drawingml/2006/main"/>
          <a:p xmlns:a="http://schemas.openxmlformats.org/drawingml/2006/main">
            <a:pPr>
              <a:lnSpc>
                <a:spcPct val="100000"/>
              </a:lnSpc>
              <a:buNone/>
            </a:pPr>
            <a:endParaRPr sz="1425">
              <a:solidFill>
                <a:srgbClr val="4A5568"/>
              </a:solidFill>
              <a:latin typeface="微软雅黑"/>
              <a:ea typeface="微软雅黑"/>
              <a:cs typeface="微软雅黑"/>
            </a:endParaRPr>
          </a:p>
        </p:txBody>
      </p:sp>
    </p:spTree>
    <p:extLst>
      <p:ext uri="{BB962C8B-B14F-4D97-AF65-F5344CB8AC3E}">
        <p14:creationId xmlns:p14="http://schemas.microsoft.com/office/powerpoint/2010/main" val="12815400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2" name="矩形 181">
            <a:extLst xmlns:a="http://schemas.openxmlformats.org/drawingml/2006/main">
              <a:ext uri="{FF2B5EF4-FFF2-40B4-BE49-F238E27FC236}">
                <a16:creationId xmlns:a16="http://schemas.microsoft.com/office/drawing/2014/main" id="{3476D40E-2373-4537-BD30-3B8ABC1CFD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83" name="矩形 182">
            <a:extLst xmlns:a="http://schemas.openxmlformats.org/drawingml/2006/main">
              <a:ext uri="{FF2B5EF4-FFF2-40B4-BE49-F238E27FC236}">
                <a16:creationId xmlns:a16="http://schemas.microsoft.com/office/drawing/2014/main" id="{4103F04D-83F2-4ABD-BCA9-C376E3C6DFED}"/>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84" name="矩形 183">
            <a:extLst xmlns:a="http://schemas.openxmlformats.org/drawingml/2006/main">
              <a:ext uri="{FF2B5EF4-FFF2-40B4-BE49-F238E27FC236}">
                <a16:creationId xmlns:a16="http://schemas.microsoft.com/office/drawing/2014/main" id="{A13B74B2-3180-42CE-A50D-DB2097C5C33A}"/>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85" name="矩形 184">
            <a:extLst xmlns:a="http://schemas.openxmlformats.org/drawingml/2006/main">
              <a:ext uri="{FF2B5EF4-FFF2-40B4-BE49-F238E27FC236}">
                <a16:creationId xmlns:a16="http://schemas.microsoft.com/office/drawing/2014/main" id="{097B51AB-8227-4221-B041-13427B86E089}"/>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教材</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Textbooks</a:t>
            </a:r>
          </a:p>
        </p:txBody>
      </p:sp>
      <p:sp>
        <p:nvSpPr>
          <p:cNvPr id="186" name="矩形 185">
            <a:extLst xmlns:a="http://schemas.openxmlformats.org/drawingml/2006/main">
              <a:ext uri="{FF2B5EF4-FFF2-40B4-BE49-F238E27FC236}">
                <a16:creationId xmlns:a16="http://schemas.microsoft.com/office/drawing/2014/main" id="{C2F43845-8613-473C-AB88-19461F122391}"/>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本课程</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使用教材</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this course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Use textbooks</a:t>
            </a:r>
          </a:p>
        </p:txBody>
      </p:sp>
      <p:sp>
        <p:nvSpPr>
          <p:cNvPr id="187" name="矩形 186">
            <a:extLst xmlns:a="http://schemas.openxmlformats.org/drawingml/2006/main">
              <a:ext uri="{FF2B5EF4-FFF2-40B4-BE49-F238E27FC236}">
                <a16:creationId xmlns:a16="http://schemas.microsoft.com/office/drawing/2014/main" id="{8A84AA76-6B27-40C8-BBD1-A2A08904211C}"/>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8" name="矩形 187">
            <a:extLst xmlns:a="http://schemas.openxmlformats.org/drawingml/2006/main">
              <a:ext uri="{FF2B5EF4-FFF2-40B4-BE49-F238E27FC236}">
                <a16:creationId xmlns:a16="http://schemas.microsoft.com/office/drawing/2014/main" id="{4D58D4EB-9DDE-4A0C-BDDD-8AC9506D53A1}"/>
              </a:ext>
            </a:extLst>
          </p:cNvPr>
          <p:cNvSpPr>
            <a:spLocks xmlns:a="http://schemas.openxmlformats.org/drawingml/2006/main" noGrp="1"/>
          </p:cNvSpPr>
          <p:nvPr/>
        </p:nvSpPr>
        <p:spPr>
          <a:xfrm xmlns:a="http://schemas.openxmlformats.org/drawingml/2006/main">
            <a:off x="457200" y="3152775"/>
            <a:ext cx="3381375" cy="781050"/>
          </a:xfrm>
          <a:prstGeom xmlns:a="http://schemas.openxmlformats.org/drawingml/2006/main" prst="rect">
            <a:avLst/>
          </a:prstGeom>
        </p:spPr>
        <p:txBody>
          <a:bodyPr xmlns:a="http://schemas.openxmlformats.org/drawingml/2006/main" wrap="square" lIns="0" tIns="0" rIns="0" bIns="0">
            <a:normAutofit fontScale="34747"/>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教材与教学环境（JDK 21）保持一致，教学与时俱进</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The teaching materials and teaching environment (JDK 21) are consistent, and the teaching keeps pace with the times.</a:t>
            </a:r>
          </a:p>
        </p:txBody>
      </p:sp>
      <p:pic>
        <p:nvPicPr>
          <p:cNvPr id="220" name="图片 219"/>
          <p:cNvPicPr>
            <a:picLocks xmlns:a="http://schemas.openxmlformats.org/drawingml/2006/main" noChangeAspect="1"/>
          </p:cNvPicPr>
          <p:nvPr/>
        </p:nvPicPr>
        <p:blipFill>
          <a:blip xmlns:r="http://schemas.openxmlformats.org/officeDocument/2006/relationships" xmlns:a="http://schemas.openxmlformats.org/drawingml/2006/main" r:embed="R6bee8d6b1d324648"/>
          <a:srcRect xmlns:a="http://schemas.openxmlformats.org/drawingml/2006/main" l="0" t="24" r="0" b="24"/>
          <a:stretch xmlns:a="http://schemas.openxmlformats.org/drawingml/2006/main">
            <a:fillRect l="0" t="0" r="0" b="0"/>
          </a:stretch>
        </p:blipFill>
        <p:spPr>
          <a:xfrm xmlns:a="http://schemas.openxmlformats.org/drawingml/2006/main">
            <a:off x="5724525" y="1314450"/>
            <a:ext cx="4438650" cy="2762250"/>
          </a:xfrm>
          <a:prstGeom xmlns:a="http://schemas.openxmlformats.org/drawingml/2006/main" prst="roundRect">
            <a:avLst>
              <a:gd name="adj" fmla="val 3448"/>
            </a:avLst>
          </a:prstGeom>
          <a:effectLst xmlns:a="http://schemas.openxmlformats.org/drawingml/2006/main">
            <a:outerShdw blurRad="114300" dist="38100" dir="5400000">
              <a:srgbClr val="0F1C2E">
                <a:alpha val="12000"/>
              </a:srgbClr>
            </a:outerShdw>
          </a:effectLst>
        </p:spPr>
      </p:pic>
      <p:sp>
        <p:nvSpPr>
          <p:cNvPr id="190" name="圆角矩形 189">
            <a:extLst xmlns:a="http://schemas.openxmlformats.org/drawingml/2006/main">
              <a:ext uri="{FF2B5EF4-FFF2-40B4-BE49-F238E27FC236}">
                <a16:creationId xmlns:a16="http://schemas.microsoft.com/office/drawing/2014/main" id="{512E0257-AF99-4BE0-A46C-699D29E0EF7D}"/>
              </a:ext>
            </a:extLst>
          </p:cNvPr>
          <p:cNvSpPr>
            <a:spLocks xmlns:a="http://schemas.openxmlformats.org/drawingml/2006/main" noGrp="1"/>
          </p:cNvSpPr>
          <p:nvPr/>
        </p:nvSpPr>
        <p:spPr>
          <a:xfrm xmlns:a="http://schemas.openxmlformats.org/drawingml/2006/main">
            <a:off x="4143375" y="4210050"/>
            <a:ext cx="7591425" cy="1781175"/>
          </a:xfrm>
          <a:prstGeom xmlns:a="http://schemas.openxmlformats.org/drawingml/2006/main" prst="roundRect">
            <a:avLst>
              <a:gd name="adj" fmla="val 641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91" name="矩形 190">
            <a:extLst xmlns:a="http://schemas.openxmlformats.org/drawingml/2006/main">
              <a:ext uri="{FF2B5EF4-FFF2-40B4-BE49-F238E27FC236}">
                <a16:creationId xmlns:a16="http://schemas.microsoft.com/office/drawing/2014/main" id="{604ACD40-E3DB-4C43-B2F6-EC0EDA7D3BC3}"/>
              </a:ext>
            </a:extLst>
          </p:cNvPr>
          <p:cNvSpPr>
            <a:spLocks xmlns:a="http://schemas.openxmlformats.org/drawingml/2006/main" noGrp="1"/>
          </p:cNvSpPr>
          <p:nvPr/>
        </p:nvSpPr>
        <p:spPr>
          <a:xfrm xmlns:a="http://schemas.openxmlformats.org/drawingml/2006/main">
            <a:off x="4276725" y="4343400"/>
            <a:ext cx="73247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0E3F8C"/>
                </a:solidFill>
                <a:latin typeface="微软雅黑"/>
                <a:ea typeface="微软雅黑"/>
                <a:cs typeface="微软雅黑"/>
              </a:rPr>
              <a:t>本课程 9 章结构</a:t>
            </a:r>
          </a:p>
          <a:p xmlns:a="http://schemas.openxmlformats.org/drawingml/2006/main">
            <a:pPr marL="0">
              <a:lnSpc>
                <a:spcPct val="100000"/>
              </a:lnSpc>
              <a:spcBef>
                <a:spcPts val="0"/>
              </a:spcBef>
              <a:spcAft>
                <a:spcPts val="0"/>
              </a:spcAft>
              <a:buNone/>
            </a:pPr>
            <a:r>
              <a:rPr sz="2790" b="1">
                <a:solidFill>
                  <a:srgbClr val="0E3F8C"/>
                </a:solidFill>
                <a:latin typeface="微软雅黑"/>
                <a:ea typeface="微软雅黑"/>
                <a:cs typeface="微软雅黑"/>
              </a:rPr>
              <a:t>9 Chapter Structure of this Course</a:t>
            </a:r>
          </a:p>
        </p:txBody>
      </p:sp>
      <p:sp>
        <p:nvSpPr>
          <p:cNvPr id="192" name="圆角矩形 191">
            <a:extLst xmlns:a="http://schemas.openxmlformats.org/drawingml/2006/main">
              <a:ext uri="{FF2B5EF4-FFF2-40B4-BE49-F238E27FC236}">
                <a16:creationId xmlns:a16="http://schemas.microsoft.com/office/drawing/2014/main" id="{8BB2CF94-8FD4-43A6-8451-3A8F7BBB4DF0}"/>
              </a:ext>
            </a:extLst>
          </p:cNvPr>
          <p:cNvSpPr>
            <a:spLocks xmlns:a="http://schemas.openxmlformats.org/drawingml/2006/main" noGrp="1"/>
          </p:cNvSpPr>
          <p:nvPr/>
        </p:nvSpPr>
        <p:spPr>
          <a:xfrm xmlns:a="http://schemas.openxmlformats.org/drawingml/2006/main">
            <a:off x="4276725" y="4619625"/>
            <a:ext cx="19240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193" name="矩形 192">
            <a:extLst xmlns:a="http://schemas.openxmlformats.org/drawingml/2006/main">
              <a:ext uri="{FF2B5EF4-FFF2-40B4-BE49-F238E27FC236}">
                <a16:creationId xmlns:a16="http://schemas.microsoft.com/office/drawing/2014/main" id="{4882C3DC-694E-411C-9C47-BE79004EF4B8}"/>
              </a:ext>
            </a:extLst>
          </p:cNvPr>
          <p:cNvSpPr>
            <a:spLocks xmlns:a="http://schemas.openxmlformats.org/drawingml/2006/main" noGrp="1"/>
          </p:cNvSpPr>
          <p:nvPr/>
        </p:nvSpPr>
        <p:spPr>
          <a:xfrm xmlns:a="http://schemas.openxmlformats.org/drawingml/2006/main">
            <a:off x="4362450" y="4667250"/>
            <a:ext cx="17526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第1章 Java语言简介（2）</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1 Introduction to Java (2)</a:t>
            </a:r>
          </a:p>
        </p:txBody>
      </p:sp>
      <p:sp>
        <p:nvSpPr>
          <p:cNvPr id="194" name="圆角矩形 193">
            <a:extLst xmlns:a="http://schemas.openxmlformats.org/drawingml/2006/main">
              <a:ext uri="{FF2B5EF4-FFF2-40B4-BE49-F238E27FC236}">
                <a16:creationId xmlns:a16="http://schemas.microsoft.com/office/drawing/2014/main" id="{070E0435-1947-4723-A051-0DA47EF1B9C3}"/>
              </a:ext>
            </a:extLst>
          </p:cNvPr>
          <p:cNvSpPr>
            <a:spLocks xmlns:a="http://schemas.openxmlformats.org/drawingml/2006/main" noGrp="1"/>
          </p:cNvSpPr>
          <p:nvPr/>
        </p:nvSpPr>
        <p:spPr>
          <a:xfrm xmlns:a="http://schemas.openxmlformats.org/drawingml/2006/main">
            <a:off x="6257925" y="4619625"/>
            <a:ext cx="23812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195" name="矩形 194">
            <a:extLst xmlns:a="http://schemas.openxmlformats.org/drawingml/2006/main">
              <a:ext uri="{FF2B5EF4-FFF2-40B4-BE49-F238E27FC236}">
                <a16:creationId xmlns:a16="http://schemas.microsoft.com/office/drawing/2014/main" id="{DC3FC588-71E6-47F9-8515-0708DD4F86BF}"/>
              </a:ext>
            </a:extLst>
          </p:cNvPr>
          <p:cNvSpPr>
            <a:spLocks xmlns:a="http://schemas.openxmlformats.org/drawingml/2006/main" noGrp="1"/>
          </p:cNvSpPr>
          <p:nvPr/>
        </p:nvSpPr>
        <p:spPr>
          <a:xfrm xmlns:a="http://schemas.openxmlformats.org/drawingml/2006/main">
            <a:off x="6343650" y="4667250"/>
            <a:ext cx="22098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第2章 基本数据类型与数组（2）</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2 Basic Data Types and Arrays (2)</a:t>
            </a:r>
          </a:p>
        </p:txBody>
      </p:sp>
      <p:sp>
        <p:nvSpPr>
          <p:cNvPr id="196" name="圆角矩形 195">
            <a:extLst xmlns:a="http://schemas.openxmlformats.org/drawingml/2006/main">
              <a:ext uri="{FF2B5EF4-FFF2-40B4-BE49-F238E27FC236}">
                <a16:creationId xmlns:a16="http://schemas.microsoft.com/office/drawing/2014/main" id="{B427DCB2-D679-49AC-9BA6-D0B926A2D50E}"/>
              </a:ext>
            </a:extLst>
          </p:cNvPr>
          <p:cNvSpPr>
            <a:spLocks xmlns:a="http://schemas.openxmlformats.org/drawingml/2006/main" noGrp="1"/>
          </p:cNvSpPr>
          <p:nvPr/>
        </p:nvSpPr>
        <p:spPr>
          <a:xfrm xmlns:a="http://schemas.openxmlformats.org/drawingml/2006/main">
            <a:off x="8696325" y="4619625"/>
            <a:ext cx="25336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197" name="矩形 196">
            <a:extLst xmlns:a="http://schemas.openxmlformats.org/drawingml/2006/main">
              <a:ext uri="{FF2B5EF4-FFF2-40B4-BE49-F238E27FC236}">
                <a16:creationId xmlns:a16="http://schemas.microsoft.com/office/drawing/2014/main" id="{9D1844A8-20B6-4CDC-A4D7-EFD36A7AE26C}"/>
              </a:ext>
            </a:extLst>
          </p:cNvPr>
          <p:cNvSpPr>
            <a:spLocks xmlns:a="http://schemas.openxmlformats.org/drawingml/2006/main" noGrp="1"/>
          </p:cNvSpPr>
          <p:nvPr/>
        </p:nvSpPr>
        <p:spPr>
          <a:xfrm xmlns:a="http://schemas.openxmlformats.org/drawingml/2006/main">
            <a:off x="8782050" y="4667250"/>
            <a:ext cx="2362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第3章 运算符、表达式和语句（2）</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3 Operators, Expressions and Statements (2)</a:t>
            </a:r>
          </a:p>
        </p:txBody>
      </p:sp>
      <p:sp>
        <p:nvSpPr>
          <p:cNvPr id="198" name="圆角矩形 197">
            <a:extLst xmlns:a="http://schemas.openxmlformats.org/drawingml/2006/main">
              <a:ext uri="{FF2B5EF4-FFF2-40B4-BE49-F238E27FC236}">
                <a16:creationId xmlns:a16="http://schemas.microsoft.com/office/drawing/2014/main" id="{33FA4B0B-8DFE-4A44-B57F-E974E0542F3B}"/>
              </a:ext>
            </a:extLst>
          </p:cNvPr>
          <p:cNvSpPr>
            <a:spLocks xmlns:a="http://schemas.openxmlformats.org/drawingml/2006/main" noGrp="1"/>
          </p:cNvSpPr>
          <p:nvPr/>
        </p:nvSpPr>
        <p:spPr>
          <a:xfrm xmlns:a="http://schemas.openxmlformats.org/drawingml/2006/main">
            <a:off x="4276725" y="4962525"/>
            <a:ext cx="1895475" cy="285750"/>
          </a:xfrm>
          <a:prstGeom xmlns:a="http://schemas.openxmlformats.org/drawingml/2006/main" prst="roundRect">
            <a:avLst>
              <a:gd name="adj" fmla="val 2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99" name="矩形 198">
            <a:extLst xmlns:a="http://schemas.openxmlformats.org/drawingml/2006/main">
              <a:ext uri="{FF2B5EF4-FFF2-40B4-BE49-F238E27FC236}">
                <a16:creationId xmlns:a16="http://schemas.microsoft.com/office/drawing/2014/main" id="{B4607270-EE6B-4A00-BC20-086273D44CDE}"/>
              </a:ext>
            </a:extLst>
          </p:cNvPr>
          <p:cNvSpPr>
            <a:spLocks xmlns:a="http://schemas.openxmlformats.org/drawingml/2006/main" noGrp="1"/>
          </p:cNvSpPr>
          <p:nvPr/>
        </p:nvSpPr>
        <p:spPr>
          <a:xfrm xmlns:a="http://schemas.openxmlformats.org/drawingml/2006/main">
            <a:off x="4362450" y="5010150"/>
            <a:ext cx="172402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b="1">
                <a:solidFill>
                  <a:srgbClr val="FFFFFF"/>
                </a:solidFill>
                <a:latin typeface="微软雅黑"/>
                <a:ea typeface="微软雅黑"/>
                <a:cs typeface="微软雅黑"/>
              </a:rPr>
              <a:t>第4章 类与对象（10）· 核心</a:t>
            </a:r>
          </a:p>
          <a:p xmlns:a="http://schemas.openxmlformats.org/drawingml/2006/main">
            <a:pPr marL="0">
              <a:lnSpc>
                <a:spcPct val="100000"/>
              </a:lnSpc>
              <a:spcBef>
                <a:spcPts val="0"/>
              </a:spcBef>
              <a:spcAft>
                <a:spcPts val="0"/>
              </a:spcAft>
              <a:buNone/>
            </a:pPr>
            <a:r>
              <a:rPr sz="2300" b="1">
                <a:solidFill>
                  <a:srgbClr val="FFFFFF"/>
                </a:solidFill>
                <a:latin typeface="微软雅黑"/>
                <a:ea typeface="微软雅黑"/>
                <a:cs typeface="微软雅黑"/>
              </a:rPr>
              <a:t>Chapter 4 Classes and Objects (10) · Core</a:t>
            </a:r>
          </a:p>
        </p:txBody>
      </p:sp>
      <p:sp>
        <p:nvSpPr>
          <p:cNvPr id="200" name="圆角矩形 199">
            <a:extLst xmlns:a="http://schemas.openxmlformats.org/drawingml/2006/main">
              <a:ext uri="{FF2B5EF4-FFF2-40B4-BE49-F238E27FC236}">
                <a16:creationId xmlns:a16="http://schemas.microsoft.com/office/drawing/2014/main" id="{06D06D89-2649-414E-A2F5-5B96669AA7A6}"/>
              </a:ext>
            </a:extLst>
          </p:cNvPr>
          <p:cNvSpPr>
            <a:spLocks xmlns:a="http://schemas.openxmlformats.org/drawingml/2006/main" noGrp="1"/>
          </p:cNvSpPr>
          <p:nvPr/>
        </p:nvSpPr>
        <p:spPr>
          <a:xfrm xmlns:a="http://schemas.openxmlformats.org/drawingml/2006/main">
            <a:off x="6229350" y="4962525"/>
            <a:ext cx="17716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01" name="矩形 200">
            <a:extLst xmlns:a="http://schemas.openxmlformats.org/drawingml/2006/main">
              <a:ext uri="{FF2B5EF4-FFF2-40B4-BE49-F238E27FC236}">
                <a16:creationId xmlns:a16="http://schemas.microsoft.com/office/drawing/2014/main" id="{CCE4C95D-D058-41DC-BA63-20B9FE157685}"/>
              </a:ext>
            </a:extLst>
          </p:cNvPr>
          <p:cNvSpPr>
            <a:spLocks xmlns:a="http://schemas.openxmlformats.org/drawingml/2006/main" noGrp="1"/>
          </p:cNvSpPr>
          <p:nvPr/>
        </p:nvSpPr>
        <p:spPr>
          <a:xfrm xmlns:a="http://schemas.openxmlformats.org/drawingml/2006/main">
            <a:off x="6315075" y="5010150"/>
            <a:ext cx="1600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第5章 子类与继承（4）</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5 Subclassing and Inheritance (4)</a:t>
            </a:r>
          </a:p>
        </p:txBody>
      </p:sp>
      <p:sp>
        <p:nvSpPr>
          <p:cNvPr id="202" name="圆角矩形 201">
            <a:extLst xmlns:a="http://schemas.openxmlformats.org/drawingml/2006/main">
              <a:ext uri="{FF2B5EF4-FFF2-40B4-BE49-F238E27FC236}">
                <a16:creationId xmlns:a16="http://schemas.microsoft.com/office/drawing/2014/main" id="{683E4EDC-58D4-4C99-AEC3-70D21308CF96}"/>
              </a:ext>
            </a:extLst>
          </p:cNvPr>
          <p:cNvSpPr>
            <a:spLocks xmlns:a="http://schemas.openxmlformats.org/drawingml/2006/main" noGrp="1"/>
          </p:cNvSpPr>
          <p:nvPr/>
        </p:nvSpPr>
        <p:spPr>
          <a:xfrm xmlns:a="http://schemas.openxmlformats.org/drawingml/2006/main">
            <a:off x="8058150" y="4962525"/>
            <a:ext cx="17716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03" name="矩形 202">
            <a:extLst xmlns:a="http://schemas.openxmlformats.org/drawingml/2006/main">
              <a:ext uri="{FF2B5EF4-FFF2-40B4-BE49-F238E27FC236}">
                <a16:creationId xmlns:a16="http://schemas.microsoft.com/office/drawing/2014/main" id="{681C388E-0875-4D63-A71B-92E20E3C25BB}"/>
              </a:ext>
            </a:extLst>
          </p:cNvPr>
          <p:cNvSpPr>
            <a:spLocks xmlns:a="http://schemas.openxmlformats.org/drawingml/2006/main" noGrp="1"/>
          </p:cNvSpPr>
          <p:nvPr/>
        </p:nvSpPr>
        <p:spPr>
          <a:xfrm xmlns:a="http://schemas.openxmlformats.org/drawingml/2006/main">
            <a:off x="8143875" y="5010150"/>
            <a:ext cx="1600200" cy="190500"/>
          </a:xfrm>
          <a:prstGeom xmlns:a="http://schemas.openxmlformats.org/drawingml/2006/main" prst="rect">
            <a:avLst/>
          </a:prstGeom>
        </p:spPr>
        <p:txBody>
          <a:bodyPr xmlns:a="http://schemas.openxmlformats.org/drawingml/2006/main" wrap="none" lIns="0" tIns="0" rIns="0" bIns="0">
            <a:normAutofit fontScale="23075"/>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第6章 接口与实现（2）</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6 Interface and Implementation (2)</a:t>
            </a:r>
          </a:p>
        </p:txBody>
      </p:sp>
      <p:sp>
        <p:nvSpPr>
          <p:cNvPr id="204" name="圆角矩形 203">
            <a:extLst xmlns:a="http://schemas.openxmlformats.org/drawingml/2006/main">
              <a:ext uri="{FF2B5EF4-FFF2-40B4-BE49-F238E27FC236}">
                <a16:creationId xmlns:a16="http://schemas.microsoft.com/office/drawing/2014/main" id="{14371C3C-4EAA-4A1B-A03B-6A35B22B91D0}"/>
              </a:ext>
            </a:extLst>
          </p:cNvPr>
          <p:cNvSpPr>
            <a:spLocks xmlns:a="http://schemas.openxmlformats.org/drawingml/2006/main" noGrp="1"/>
          </p:cNvSpPr>
          <p:nvPr/>
        </p:nvSpPr>
        <p:spPr>
          <a:xfrm xmlns:a="http://schemas.openxmlformats.org/drawingml/2006/main">
            <a:off x="4276725" y="5305425"/>
            <a:ext cx="20764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05" name="矩形 204">
            <a:extLst xmlns:a="http://schemas.openxmlformats.org/drawingml/2006/main">
              <a:ext uri="{FF2B5EF4-FFF2-40B4-BE49-F238E27FC236}">
                <a16:creationId xmlns:a16="http://schemas.microsoft.com/office/drawing/2014/main" id="{674EF069-26E9-46D5-BD7C-7B41364DB107}"/>
              </a:ext>
            </a:extLst>
          </p:cNvPr>
          <p:cNvSpPr>
            <a:spLocks xmlns:a="http://schemas.openxmlformats.org/drawingml/2006/main" noGrp="1"/>
          </p:cNvSpPr>
          <p:nvPr/>
        </p:nvSpPr>
        <p:spPr>
          <a:xfrm xmlns:a="http://schemas.openxmlformats.org/drawingml/2006/main">
            <a:off x="4362450" y="5353050"/>
            <a:ext cx="1905000" cy="190500"/>
          </a:xfrm>
          <a:prstGeom xmlns:a="http://schemas.openxmlformats.org/drawingml/2006/main" prst="rect">
            <a:avLst/>
          </a:prstGeom>
        </p:spPr>
        <p:txBody>
          <a:bodyPr xmlns:a="http://schemas.openxmlformats.org/drawingml/2006/main" wrap="none" lIns="0" tIns="0" rIns="0" bIns="0">
            <a:normAutofit fontScale="23072"/>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第7章 内部类与异常类（4）</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7 Internal Classes and Exception Classes (4)</a:t>
            </a:r>
          </a:p>
        </p:txBody>
      </p:sp>
      <p:sp>
        <p:nvSpPr>
          <p:cNvPr id="206" name="圆角矩形 205">
            <a:extLst xmlns:a="http://schemas.openxmlformats.org/drawingml/2006/main">
              <a:ext uri="{FF2B5EF4-FFF2-40B4-BE49-F238E27FC236}">
                <a16:creationId xmlns:a16="http://schemas.microsoft.com/office/drawing/2014/main" id="{F025A452-D331-4183-852E-828BCDC92768}"/>
              </a:ext>
            </a:extLst>
          </p:cNvPr>
          <p:cNvSpPr>
            <a:spLocks xmlns:a="http://schemas.openxmlformats.org/drawingml/2006/main" noGrp="1"/>
          </p:cNvSpPr>
          <p:nvPr/>
        </p:nvSpPr>
        <p:spPr>
          <a:xfrm xmlns:a="http://schemas.openxmlformats.org/drawingml/2006/main">
            <a:off x="6410325" y="5305425"/>
            <a:ext cx="1771650"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07" name="矩形 206">
            <a:extLst xmlns:a="http://schemas.openxmlformats.org/drawingml/2006/main">
              <a:ext uri="{FF2B5EF4-FFF2-40B4-BE49-F238E27FC236}">
                <a16:creationId xmlns:a16="http://schemas.microsoft.com/office/drawing/2014/main" id="{BF33E4CC-4684-4FAF-8059-A973FC31E34B}"/>
              </a:ext>
            </a:extLst>
          </p:cNvPr>
          <p:cNvSpPr>
            <a:spLocks xmlns:a="http://schemas.openxmlformats.org/drawingml/2006/main" noGrp="1"/>
          </p:cNvSpPr>
          <p:nvPr/>
        </p:nvSpPr>
        <p:spPr>
          <a:xfrm xmlns:a="http://schemas.openxmlformats.org/drawingml/2006/main">
            <a:off x="6496050" y="5353050"/>
            <a:ext cx="1600200" cy="190500"/>
          </a:xfrm>
          <a:prstGeom xmlns:a="http://schemas.openxmlformats.org/drawingml/2006/main" prst="rect">
            <a:avLst/>
          </a:prstGeom>
        </p:spPr>
        <p:txBody>
          <a:bodyPr xmlns:a="http://schemas.openxmlformats.org/drawingml/2006/main" wrap="none" lIns="0" tIns="0" rIns="0" bIns="0">
            <a:normAutofit fontScale="22359"/>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第8章 常用实用类（4）</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8 Commonly Used Utility Classes (4)</a:t>
            </a:r>
          </a:p>
        </p:txBody>
      </p:sp>
      <p:sp>
        <p:nvSpPr>
          <p:cNvPr id="208" name="圆角矩形 207">
            <a:extLst xmlns:a="http://schemas.openxmlformats.org/drawingml/2006/main">
              <a:ext uri="{FF2B5EF4-FFF2-40B4-BE49-F238E27FC236}">
                <a16:creationId xmlns:a16="http://schemas.microsoft.com/office/drawing/2014/main" id="{A284CD90-C8BA-42B0-997A-4A97155A77C3}"/>
              </a:ext>
            </a:extLst>
          </p:cNvPr>
          <p:cNvSpPr>
            <a:spLocks xmlns:a="http://schemas.openxmlformats.org/drawingml/2006/main" noGrp="1"/>
          </p:cNvSpPr>
          <p:nvPr/>
        </p:nvSpPr>
        <p:spPr>
          <a:xfrm xmlns:a="http://schemas.openxmlformats.org/drawingml/2006/main">
            <a:off x="8239125" y="5305425"/>
            <a:ext cx="3000375" cy="2857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09" name="矩形 208">
            <a:extLst xmlns:a="http://schemas.openxmlformats.org/drawingml/2006/main">
              <a:ext uri="{FF2B5EF4-FFF2-40B4-BE49-F238E27FC236}">
                <a16:creationId xmlns:a16="http://schemas.microsoft.com/office/drawing/2014/main" id="{87E8703D-DBC8-49F9-AE96-CEA3889D5E77}"/>
              </a:ext>
            </a:extLst>
          </p:cNvPr>
          <p:cNvSpPr>
            <a:spLocks xmlns:a="http://schemas.openxmlformats.org/drawingml/2006/main" noGrp="1"/>
          </p:cNvSpPr>
          <p:nvPr/>
        </p:nvSpPr>
        <p:spPr>
          <a:xfrm xmlns:a="http://schemas.openxmlformats.org/drawingml/2006/main">
            <a:off x="8324850" y="5353050"/>
            <a:ext cx="28289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第9章 Lambda表达式与Stream API（2）</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Chapter 9 Lambda Expressions and Stream API (2)</a:t>
            </a:r>
          </a:p>
        </p:txBody>
      </p:sp>
      <p:sp>
        <p:nvSpPr>
          <p:cNvPr id="210" name="矩形 209">
            <a:extLst xmlns:a="http://schemas.openxmlformats.org/drawingml/2006/main">
              <a:ext uri="{FF2B5EF4-FFF2-40B4-BE49-F238E27FC236}">
                <a16:creationId xmlns:a16="http://schemas.microsoft.com/office/drawing/2014/main" id="{FB4463DC-6DE1-41BE-BB3C-09756DC41C2A}"/>
              </a:ext>
            </a:extLst>
          </p:cNvPr>
          <p:cNvSpPr>
            <a:spLocks xmlns:a="http://schemas.openxmlformats.org/drawingml/2006/main" noGrp="1"/>
          </p:cNvSpPr>
          <p:nvPr/>
        </p:nvSpPr>
        <p:spPr>
          <a:xfrm xmlns:a="http://schemas.openxmlformats.org/drawingml/2006/main">
            <a:off x="4276725" y="5686425"/>
            <a:ext cx="7324725" cy="171450"/>
          </a:xfrm>
          <a:prstGeom xmlns:a="http://schemas.openxmlformats.org/drawingml/2006/main" prst="rect">
            <a:avLst/>
          </a:prstGeom>
        </p:spPr>
        <p:txBody>
          <a:bodyPr xmlns:a="http://schemas.openxmlformats.org/drawingml/2006/main" wrap="none" lIns="0" tIns="0" rIns="0" bIns="0">
            <a:normAutofit fontScale="22866"/>
          </a:bodyPr>
          <a:lstStyle xmlns:a="http://schemas.openxmlformats.org/drawingml/2006/main"/>
          <a:p xmlns:a="http://schemas.openxmlformats.org/drawingml/2006/main">
            <a:pPr marL="0">
              <a:lnSpc>
                <a:spcPct val="100000"/>
              </a:lnSpc>
              <a:spcBef>
                <a:spcPts val="0"/>
              </a:spcBef>
              <a:spcAft>
                <a:spcPts val="0"/>
              </a:spcAft>
              <a:buNone/>
            </a:pPr>
            <a:r>
              <a:rPr sz="2460">
                <a:solidFill>
                  <a:srgbClr val="4A5568"/>
                </a:solidFill>
                <a:latin typeface="微软雅黑"/>
                <a:ea typeface="微软雅黑"/>
                <a:cs typeface="微软雅黑"/>
              </a:rPr>
              <a:t>合计 32 理论 + 16 上机 = 48 学时 · 第4章占比最高（10/32）</a:t>
            </a:r>
          </a:p>
          <a:p xmlns:a="http://schemas.openxmlformats.org/drawingml/2006/main">
            <a:pPr marL="0">
              <a:lnSpc>
                <a:spcPct val="100000"/>
              </a:lnSpc>
              <a:spcBef>
                <a:spcPts val="0"/>
              </a:spcBef>
              <a:spcAft>
                <a:spcPts val="0"/>
              </a:spcAft>
              <a:buNone/>
            </a:pPr>
            <a:r>
              <a:rPr sz="2460">
                <a:solidFill>
                  <a:srgbClr val="4A5568"/>
                </a:solidFill>
                <a:latin typeface="微软雅黑"/>
                <a:ea typeface="微软雅黑"/>
                <a:cs typeface="微软雅黑"/>
              </a:rPr>
              <a:t>Total 32 theory + 16 hands-on = 48 hours · Chapter 4 accounts for the highest proportion (10/32)</a:t>
            </a:r>
          </a:p>
        </p:txBody>
      </p:sp>
      <p:sp>
        <p:nvSpPr>
          <p:cNvPr id="211" name="矩形 210">
            <a:extLst xmlns:a="http://schemas.openxmlformats.org/drawingml/2006/main">
              <a:ext uri="{FF2B5EF4-FFF2-40B4-BE49-F238E27FC236}">
                <a16:creationId xmlns:a16="http://schemas.microsoft.com/office/drawing/2014/main" id="{70E1601C-2694-48E6-AE15-77BDD9BC93F1}"/>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9435879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88" name="矩形 387">
            <a:extLst xmlns:a="http://schemas.openxmlformats.org/drawingml/2006/main">
              <a:ext uri="{FF2B5EF4-FFF2-40B4-BE49-F238E27FC236}">
                <a16:creationId xmlns:a16="http://schemas.microsoft.com/office/drawing/2014/main" id="{1BE654D2-9F32-4EC9-8205-CEA0356C8F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89" name="矩形 388">
            <a:extLst xmlns:a="http://schemas.openxmlformats.org/drawingml/2006/main">
              <a:ext uri="{FF2B5EF4-FFF2-40B4-BE49-F238E27FC236}">
                <a16:creationId xmlns:a16="http://schemas.microsoft.com/office/drawing/2014/main" id="{E22C5F26-EAB4-4897-8615-E5E560E97FE4}"/>
              </a:ext>
            </a:extLst>
          </p:cNvPr>
          <p:cNvSpPr>
            <a:spLocks xmlns:a="http://schemas.openxmlformats.org/drawingml/2006/main" noGrp="1"/>
          </p:cNvSpPr>
          <p:nvPr/>
        </p:nvSpPr>
        <p:spPr>
          <a:xfrm xmlns:a="http://schemas.openxmlformats.org/drawingml/2006/main">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90" name="矩形 389">
            <a:extLst xmlns:a="http://schemas.openxmlformats.org/drawingml/2006/main">
              <a:ext uri="{FF2B5EF4-FFF2-40B4-BE49-F238E27FC236}">
                <a16:creationId xmlns:a16="http://schemas.microsoft.com/office/drawing/2014/main" id="{D3A611D8-9756-4BF4-AF53-C2766268D271}"/>
              </a:ext>
            </a:extLst>
          </p:cNvPr>
          <p:cNvSpPr>
            <a:spLocks xmlns:a="http://schemas.openxmlformats.org/drawingml/2006/main" noGrp="1"/>
          </p:cNvSpPr>
          <p:nvPr/>
        </p:nvSpPr>
        <p:spPr>
          <a:xfrm xmlns:a="http://schemas.openxmlformats.org/drawingml/2006/main">
            <a:off x="5486400" y="628650"/>
            <a:ext cx="122872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spc="450">
                <a:solidFill>
                  <a:srgbClr val="1E4FA8"/>
                </a:solidFill>
                <a:latin typeface="微软雅黑"/>
                <a:ea typeface="微软雅黑"/>
                <a:cs typeface="微软雅黑"/>
              </a:rPr>
              <a:t>CHAPTER</a:t>
            </a:r>
            <a:endParaRPr sz="1350" b="1" spc="450">
              <a:solidFill>
                <a:srgbClr val="1E4FA8"/>
              </a:solidFill>
              <a:latin typeface="微软雅黑"/>
              <a:ea typeface="微软雅黑"/>
              <a:cs typeface="微软雅黑"/>
            </a:endParaRPr>
          </a:p>
        </p:txBody>
      </p:sp>
      <p:sp>
        <p:nvSpPr>
          <p:cNvPr id="391" name="矩形 390">
            <a:extLst xmlns:a="http://schemas.openxmlformats.org/drawingml/2006/main">
              <a:ext uri="{FF2B5EF4-FFF2-40B4-BE49-F238E27FC236}">
                <a16:creationId xmlns:a16="http://schemas.microsoft.com/office/drawing/2014/main" id="{2196D6AD-00F0-4950-89D9-CB502A500440}"/>
              </a:ext>
            </a:extLst>
          </p:cNvPr>
          <p:cNvSpPr>
            <a:spLocks xmlns:a="http://schemas.openxmlformats.org/drawingml/2006/main" noGrp="1"/>
          </p:cNvSpPr>
          <p:nvPr/>
        </p:nvSpPr>
        <p:spPr>
          <a:xfrm xmlns:a="http://schemas.openxmlformats.org/drawingml/2006/main">
            <a:off x="4981575" y="1009650"/>
            <a:ext cx="2238375" cy="22860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5000" b="1" spc="-450">
                <a:solidFill>
                  <a:srgbClr val="0E3F8C"/>
                </a:solidFill>
                <a:latin typeface="微软雅黑"/>
                <a:ea typeface="微软雅黑"/>
                <a:cs typeface="微软雅黑"/>
              </a:rPr>
              <a:t>01</a:t>
            </a:r>
            <a:endParaRPr sz="15000" b="1" spc="-450">
              <a:solidFill>
                <a:srgbClr val="0E3F8C"/>
              </a:solidFill>
              <a:latin typeface="微软雅黑"/>
              <a:ea typeface="微软雅黑"/>
              <a:cs typeface="微软雅黑"/>
            </a:endParaRPr>
          </a:p>
        </p:txBody>
      </p:sp>
      <p:sp>
        <p:nvSpPr>
          <p:cNvPr id="392" name="矩形 391">
            <a:extLst xmlns:a="http://schemas.openxmlformats.org/drawingml/2006/main">
              <a:ext uri="{FF2B5EF4-FFF2-40B4-BE49-F238E27FC236}">
                <a16:creationId xmlns:a16="http://schemas.microsoft.com/office/drawing/2014/main" id="{A70E1765-4873-42E5-98CD-649DCDBA3991}"/>
              </a:ext>
            </a:extLst>
          </p:cNvPr>
          <p:cNvSpPr>
            <a:spLocks xmlns:a="http://schemas.openxmlformats.org/drawingml/2006/main" noGrp="1"/>
          </p:cNvSpPr>
          <p:nvPr/>
        </p:nvSpPr>
        <p:spPr>
          <a:xfrm xmlns:a="http://schemas.openxmlformats.org/drawingml/2006/main">
            <a:off x="5619750" y="3467100"/>
            <a:ext cx="9525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393" name="矩形 392">
            <a:extLst xmlns:a="http://schemas.openxmlformats.org/drawingml/2006/main">
              <a:ext uri="{FF2B5EF4-FFF2-40B4-BE49-F238E27FC236}">
                <a16:creationId xmlns:a16="http://schemas.microsoft.com/office/drawing/2014/main" id="{AF90DBBA-49C8-4AB6-9E52-113CD55BD7A0}"/>
              </a:ext>
            </a:extLst>
          </p:cNvPr>
          <p:cNvSpPr>
            <a:spLocks xmlns:a="http://schemas.openxmlformats.org/drawingml/2006/main" noGrp="1"/>
          </p:cNvSpPr>
          <p:nvPr/>
        </p:nvSpPr>
        <p:spPr>
          <a:xfrm xmlns:a="http://schemas.openxmlformats.org/drawingml/2006/main">
            <a:off x="5238750" y="3714750"/>
            <a:ext cx="1714500" cy="771525"/>
          </a:xfrm>
          <a:prstGeom xmlns:a="http://schemas.openxmlformats.org/drawingml/2006/main" prst="rect">
            <a:avLst/>
          </a:prstGeom>
        </p:spPr>
        <p:txBody>
          <a:bodyPr xmlns:a="http://schemas.openxmlformats.org/drawingml/2006/main" wrap="none" lIns="0" tIns="0" rIns="0" bIns="0">
            <a:normAutofit fontScale="27514"/>
          </a:bodyPr>
          <a:lstStyle xmlns:a="http://schemas.openxmlformats.org/drawingml/2006/main"/>
          <a:p xmlns:a="http://schemas.openxmlformats.org/drawingml/2006/main">
            <a:pPr marL="0">
              <a:lnSpc>
                <a:spcPct val="100000"/>
              </a:lnSpc>
              <a:spcBef>
                <a:spcPts val="0"/>
              </a:spcBef>
              <a:spcAft>
                <a:spcPts val="0"/>
              </a:spcAft>
              <a:buNone/>
            </a:pPr>
            <a:r>
              <a:rPr sz="9200" b="1">
                <a:solidFill>
                  <a:srgbClr val="0E3F8C"/>
                </a:solidFill>
                <a:latin typeface="微软雅黑"/>
                <a:ea typeface="微软雅黑"/>
                <a:cs typeface="微软雅黑"/>
              </a:rPr>
              <a:t>第 1 章</a:t>
            </a:r>
          </a:p>
          <a:p xmlns:a="http://schemas.openxmlformats.org/drawingml/2006/main">
            <a:pPr marL="0">
              <a:lnSpc>
                <a:spcPct val="100000"/>
              </a:lnSpc>
              <a:spcBef>
                <a:spcPts val="0"/>
              </a:spcBef>
              <a:spcAft>
                <a:spcPts val="0"/>
              </a:spcAft>
              <a:buNone/>
            </a:pPr>
            <a:r>
              <a:rPr sz="9200" b="1">
                <a:solidFill>
                  <a:srgbClr val="0E3F8C"/>
                </a:solidFill>
                <a:latin typeface="微软雅黑"/>
                <a:ea typeface="微软雅黑"/>
                <a:cs typeface="微软雅黑"/>
              </a:rPr>
              <a:t>Chapter 1</a:t>
            </a:r>
          </a:p>
        </p:txBody>
      </p:sp>
      <p:sp>
        <p:nvSpPr>
          <p:cNvPr id="394" name="矩形 393">
            <a:extLst xmlns:a="http://schemas.openxmlformats.org/drawingml/2006/main">
              <a:ext uri="{FF2B5EF4-FFF2-40B4-BE49-F238E27FC236}">
                <a16:creationId xmlns:a16="http://schemas.microsoft.com/office/drawing/2014/main" id="{85B3A483-4234-4301-A367-3B2B5ABC3D19}"/>
              </a:ext>
            </a:extLst>
          </p:cNvPr>
          <p:cNvSpPr>
            <a:spLocks xmlns:a="http://schemas.openxmlformats.org/drawingml/2006/main" noGrp="1"/>
          </p:cNvSpPr>
          <p:nvPr/>
        </p:nvSpPr>
        <p:spPr>
          <a:xfrm xmlns:a="http://schemas.openxmlformats.org/drawingml/2006/main">
            <a:off x="5076825" y="4543425"/>
            <a:ext cx="2047875" cy="714375"/>
          </a:xfrm>
          <a:prstGeom xmlns:a="http://schemas.openxmlformats.org/drawingml/2006/main" prst="rect">
            <a:avLst/>
          </a:prstGeom>
        </p:spPr>
        <p:txBody>
          <a:bodyPr xmlns:a="http://schemas.openxmlformats.org/drawingml/2006/main" wrap="none" lIns="0" tIns="0" rIns="0" bIns="0">
            <a:normAutofit fontScale="16042"/>
          </a:bodyPr>
          <a:lstStyle xmlns:a="http://schemas.openxmlformats.org/drawingml/2006/main"/>
          <a:p xmlns:a="http://schemas.openxmlformats.org/drawingml/2006/main">
            <a:pPr marL="0">
              <a:lnSpc>
                <a:spcPct val="100000"/>
              </a:lnSpc>
              <a:spcBef>
                <a:spcPts val="0"/>
              </a:spcBef>
              <a:spcAft>
                <a:spcPts val="0"/>
              </a:spcAft>
              <a:buNone/>
            </a:pPr>
            <a:r>
              <a:rPr sz="7890" b="1">
                <a:solidFill>
                  <a:srgbClr val="1E4FA8"/>
                </a:solidFill>
                <a:latin typeface="微软雅黑"/>
                <a:ea typeface="微软雅黑"/>
                <a:cs typeface="微软雅黑"/>
              </a:rPr>
              <a:t>Java 入门</a:t>
            </a:r>
          </a:p>
          <a:p xmlns:a="http://schemas.openxmlformats.org/drawingml/2006/main">
            <a:pPr marL="0">
              <a:lnSpc>
                <a:spcPct val="100000"/>
              </a:lnSpc>
              <a:spcBef>
                <a:spcPts val="0"/>
              </a:spcBef>
              <a:spcAft>
                <a:spcPts val="0"/>
              </a:spcAft>
              <a:buNone/>
            </a:pPr>
            <a:r>
              <a:rPr sz="7890" b="1">
                <a:solidFill>
                  <a:srgbClr val="1E4FA8"/>
                </a:solidFill>
                <a:latin typeface="微软雅黑"/>
                <a:ea typeface="微软雅黑"/>
                <a:cs typeface="微软雅黑"/>
              </a:rPr>
              <a:t>Getting Started with Java</a:t>
            </a:r>
          </a:p>
        </p:txBody>
      </p:sp>
      <p:sp>
        <p:nvSpPr>
          <p:cNvPr id="395" name="圆角矩形 394">
            <a:extLst xmlns:a="http://schemas.openxmlformats.org/drawingml/2006/main">
              <a:ext uri="{FF2B5EF4-FFF2-40B4-BE49-F238E27FC236}">
                <a16:creationId xmlns:a16="http://schemas.microsoft.com/office/drawing/2014/main" id="{9815F2A1-8297-47CC-858B-70F3FBA9DB66}"/>
              </a:ext>
            </a:extLst>
          </p:cNvPr>
          <p:cNvSpPr>
            <a:spLocks xmlns:a="http://schemas.openxmlformats.org/drawingml/2006/main" noGrp="1"/>
          </p:cNvSpPr>
          <p:nvPr/>
        </p:nvSpPr>
        <p:spPr>
          <a:xfrm xmlns:a="http://schemas.openxmlformats.org/drawingml/2006/main">
            <a:off x="571500" y="5486400"/>
            <a:ext cx="11049000" cy="1219200"/>
          </a:xfrm>
          <a:prstGeom xmlns:a="http://schemas.openxmlformats.org/drawingml/2006/main" prst="roundRect">
            <a:avLst>
              <a:gd name="adj" fmla="val 9375"/>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396" name="矩形 395">
            <a:extLst xmlns:a="http://schemas.openxmlformats.org/drawingml/2006/main">
              <a:ext uri="{FF2B5EF4-FFF2-40B4-BE49-F238E27FC236}">
                <a16:creationId xmlns:a16="http://schemas.microsoft.com/office/drawing/2014/main" id="{A9828971-163E-4BFE-AFFC-F1127EC59EDB}"/>
              </a:ext>
            </a:extLst>
          </p:cNvPr>
          <p:cNvSpPr>
            <a:spLocks xmlns:a="http://schemas.openxmlformats.org/drawingml/2006/main" noGrp="1"/>
          </p:cNvSpPr>
          <p:nvPr/>
        </p:nvSpPr>
        <p:spPr>
          <a:xfrm xmlns:a="http://schemas.openxmlformats.org/drawingml/2006/main">
            <a:off x="819150" y="5734050"/>
            <a:ext cx="10553700" cy="723900"/>
          </a:xfrm>
          <a:prstGeom xmlns:a="http://schemas.openxmlformats.org/drawingml/2006/main" prst="rect">
            <a:avLst/>
          </a:prstGeom>
        </p:spPr>
        <p:txBody>
          <a:bodyPr xmlns:a="http://schemas.openxmlformats.org/drawingml/2006/main" wrap="square" lIns="0" tIns="0" rIns="0" bIns="0">
            <a:normAutofit fontScale="33092"/>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0E3F8C"/>
                </a:solidFill>
                <a:latin typeface="微软雅黑"/>
                <a:ea typeface="微软雅黑"/>
                <a:cs typeface="微软雅黑"/>
              </a:rPr>
              <a:t>先掌握命令行，再用 IDE——本课程使用IntelliJ IDEA（2025.3 起统一版：核心 Java/Kotlin 功能免费；Ultimate 高级功能师生可凭教育授权免费申请）。掌握命令行后再用 IDE 不会有困难。</a:t>
            </a:r>
          </a:p>
          <a:p xmlns:a="http://schemas.openxmlformats.org/drawingml/2006/main">
            <a:pPr marL="0">
              <a:lnSpc>
                <a:spcPct val="100000"/>
              </a:lnSpc>
              <a:spcBef>
                <a:spcPts val="0"/>
              </a:spcBef>
              <a:spcAft>
                <a:spcPts val="0"/>
              </a:spcAft>
              <a:buNone/>
            </a:pPr>
            <a:r>
              <a:rPr sz="2960" b="1">
                <a:solidFill>
                  <a:srgbClr val="0E3F8C"/>
                </a:solidFill>
                <a:latin typeface="微软雅黑"/>
                <a:ea typeface="微软雅黑"/>
                <a:cs typeface="微软雅黑"/>
              </a:rPr>
              <a:t>Master the command line first, then use the IDE - this course uses IntelliJ IDEA (unified version starting from 2025.3: core Java/Kotlin functions are free; teachers and students can apply for Ultimate advanced functions for free with education authorization). Once you master the command line, you won't have any trouble using an IDE.</a:t>
            </a:r>
          </a:p>
        </p:txBody>
      </p:sp>
    </p:spTree>
    <p:extLst>
      <p:ext uri="{BB962C8B-B14F-4D97-AF65-F5344CB8AC3E}">
        <p14:creationId xmlns:p14="http://schemas.microsoft.com/office/powerpoint/2010/main" val="154494062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67" name="矩形 566">
            <a:extLst xmlns:a="http://schemas.openxmlformats.org/drawingml/2006/main">
              <a:ext uri="{FF2B5EF4-FFF2-40B4-BE49-F238E27FC236}">
                <a16:creationId xmlns:a16="http://schemas.microsoft.com/office/drawing/2014/main" id="{797F5271-D3E5-4DE5-84AE-21294D6721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68" name="矩形 567">
            <a:extLst xmlns:a="http://schemas.openxmlformats.org/drawingml/2006/main">
              <a:ext uri="{FF2B5EF4-FFF2-40B4-BE49-F238E27FC236}">
                <a16:creationId xmlns:a16="http://schemas.microsoft.com/office/drawing/2014/main" id="{5F887474-0D25-4827-B831-1ED29BC649F4}"/>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69" name="矩形 568">
            <a:extLst xmlns:a="http://schemas.openxmlformats.org/drawingml/2006/main">
              <a:ext uri="{FF2B5EF4-FFF2-40B4-BE49-F238E27FC236}">
                <a16:creationId xmlns:a16="http://schemas.microsoft.com/office/drawing/2014/main" id="{C110B58F-E1FD-4767-838D-0AE0A52F107F}"/>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70" name="矩形 569">
            <a:extLst xmlns:a="http://schemas.openxmlformats.org/drawingml/2006/main">
              <a:ext uri="{FF2B5EF4-FFF2-40B4-BE49-F238E27FC236}">
                <a16:creationId xmlns:a16="http://schemas.microsoft.com/office/drawing/2014/main" id="{BF8897EF-CC2C-4206-822A-066CD051EB91}"/>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 导读</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 Introduction</a:t>
            </a:r>
          </a:p>
        </p:txBody>
      </p:sp>
      <p:sp>
        <p:nvSpPr>
          <p:cNvPr id="571" name="矩形 570">
            <a:extLst xmlns:a="http://schemas.openxmlformats.org/drawingml/2006/main">
              <a:ext uri="{FF2B5EF4-FFF2-40B4-BE49-F238E27FC236}">
                <a16:creationId xmlns:a16="http://schemas.microsoft.com/office/drawing/2014/main" id="{107A9C50-DBC0-4A6E-84AF-570AB8A71A37}"/>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本章</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导读</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this chapter</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Introduction</a:t>
            </a:r>
          </a:p>
        </p:txBody>
      </p:sp>
      <p:sp>
        <p:nvSpPr>
          <p:cNvPr id="572" name="矩形 571">
            <a:extLst xmlns:a="http://schemas.openxmlformats.org/drawingml/2006/main">
              <a:ext uri="{FF2B5EF4-FFF2-40B4-BE49-F238E27FC236}">
                <a16:creationId xmlns:a16="http://schemas.microsoft.com/office/drawing/2014/main" id="{C26CC914-F3E1-435F-B27E-A5A27DA928FB}"/>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73" name="矩形 572">
            <a:extLst xmlns:a="http://schemas.openxmlformats.org/drawingml/2006/main">
              <a:ext uri="{FF2B5EF4-FFF2-40B4-BE49-F238E27FC236}">
                <a16:creationId xmlns:a16="http://schemas.microsoft.com/office/drawing/2014/main" id="{2E388FBE-2D48-469D-B543-35E6EE67480B}"/>
              </a:ext>
            </a:extLst>
          </p:cNvPr>
          <p:cNvSpPr>
            <a:spLocks xmlns:a="http://schemas.openxmlformats.org/drawingml/2006/main" noGrp="1"/>
          </p:cNvSpPr>
          <p:nvPr/>
        </p:nvSpPr>
        <p:spPr>
          <a:xfrm xmlns:a="http://schemas.openxmlformats.org/drawingml/2006/main">
            <a:off x="457200" y="3190875"/>
            <a:ext cx="3381375" cy="781050"/>
          </a:xfrm>
          <a:prstGeom xmlns:a="http://schemas.openxmlformats.org/drawingml/2006/main" prst="rect">
            <a:avLst/>
          </a:prstGeom>
        </p:spPr>
        <p:txBody>
          <a:bodyPr xmlns:a="http://schemas.openxmlformats.org/drawingml/2006/main" wrap="square" lIns="0" tIns="0" rIns="0" bIns="0">
            <a:normAutofit fontScale="3855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内容、重点、难点一目了然，合理分配学习投入</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The content, key points, and difficulties are clear at a glance, and learning investment is allocated reasonably.</a:t>
            </a:r>
          </a:p>
        </p:txBody>
      </p:sp>
      <p:sp>
        <p:nvSpPr>
          <p:cNvPr id="574" name="圆角矩形 573">
            <a:extLst xmlns:a="http://schemas.openxmlformats.org/drawingml/2006/main">
              <a:ext uri="{FF2B5EF4-FFF2-40B4-BE49-F238E27FC236}">
                <a16:creationId xmlns:a16="http://schemas.microsoft.com/office/drawing/2014/main" id="{3135AF70-B003-4253-941B-A15B8DDC3B21}"/>
              </a:ext>
            </a:extLst>
          </p:cNvPr>
          <p:cNvSpPr>
            <a:spLocks xmlns:a="http://schemas.openxmlformats.org/drawingml/2006/main" noGrp="1"/>
          </p:cNvSpPr>
          <p:nvPr/>
        </p:nvSpPr>
        <p:spPr>
          <a:xfrm xmlns:a="http://schemas.openxmlformats.org/drawingml/2006/main">
            <a:off x="4238625" y="1295400"/>
            <a:ext cx="7553325" cy="2209800"/>
          </a:xfrm>
          <a:prstGeom xmlns:a="http://schemas.openxmlformats.org/drawingml/2006/main" prst="roundRect">
            <a:avLst>
              <a:gd name="adj" fmla="val 344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75" name="任意多边形 574">
            <a:extLst xmlns:a="http://schemas.openxmlformats.org/drawingml/2006/main">
              <a:ext uri="{FF2B5EF4-FFF2-40B4-BE49-F238E27FC236}">
                <a16:creationId xmlns:a16="http://schemas.microsoft.com/office/drawing/2014/main" id="{8AFBAD57-E33C-4635-9DBC-D9595E63986F}"/>
              </a:ext>
            </a:extLst>
          </p:cNvPr>
          <p:cNvSpPr>
            <a:spLocks xmlns:a="http://schemas.openxmlformats.org/drawingml/2006/main" noGrp="1"/>
          </p:cNvSpPr>
          <p:nvPr/>
        </p:nvSpPr>
        <p:spPr>
          <a:xfrm xmlns:a="http://schemas.openxmlformats.org/drawingml/2006/main">
            <a:off x="4238625" y="1295400"/>
            <a:ext cx="7553325" cy="2209800"/>
          </a:xfrm>
          <a:custGeom xmlns:a="http://schemas.openxmlformats.org/drawingml/2006/main">
            <a:pathLst>
              <a:path w="793" h="232">
                <a:moveTo>
                  <a:pt x="8" y="0"/>
                </a:moveTo>
                <a:cubicBezTo>
                  <a:pt x="7" y="0"/>
                  <a:pt x="6" y="1"/>
                  <a:pt x="6" y="2"/>
                </a:cubicBezTo>
                <a:lnTo>
                  <a:pt x="6" y="230"/>
                </a:lnTo>
                <a:cubicBezTo>
                  <a:pt x="6" y="231"/>
                  <a:pt x="7" y="232"/>
                  <a:pt x="8" y="232"/>
                </a:cubicBezTo>
                <a:cubicBezTo>
                  <a:pt x="3" y="232"/>
                  <a:pt x="0" y="228"/>
                  <a:pt x="0" y="224"/>
                </a:cubicBezTo>
                <a:lnTo>
                  <a:pt x="0" y="8"/>
                </a:lnTo>
                <a:cubicBezTo>
                  <a:pt x="0" y="4"/>
                  <a:pt x="4" y="0"/>
                  <a:pt x="8"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76" name="矩形 575">
            <a:extLst xmlns:a="http://schemas.openxmlformats.org/drawingml/2006/main">
              <a:ext uri="{FF2B5EF4-FFF2-40B4-BE49-F238E27FC236}">
                <a16:creationId xmlns:a16="http://schemas.microsoft.com/office/drawing/2014/main" id="{3B1C20C8-107E-487F-BC02-4084AE4B511D}"/>
              </a:ext>
            </a:extLst>
          </p:cNvPr>
          <p:cNvSpPr>
            <a:spLocks xmlns:a="http://schemas.openxmlformats.org/drawingml/2006/main" noGrp="1"/>
          </p:cNvSpPr>
          <p:nvPr/>
        </p:nvSpPr>
        <p:spPr>
          <a:xfrm xmlns:a="http://schemas.openxmlformats.org/drawingml/2006/main">
            <a:off x="4371975" y="1428750"/>
            <a:ext cx="72294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主要内容</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Main content</a:t>
            </a:r>
          </a:p>
        </p:txBody>
      </p:sp>
      <p:sp>
        <p:nvSpPr>
          <p:cNvPr id="577" name="矩形 576">
            <a:extLst xmlns:a="http://schemas.openxmlformats.org/drawingml/2006/main">
              <a:ext uri="{FF2B5EF4-FFF2-40B4-BE49-F238E27FC236}">
                <a16:creationId xmlns:a16="http://schemas.microsoft.com/office/drawing/2014/main" id="{094BD7B6-78E5-4362-9666-758F2A414789}"/>
              </a:ext>
            </a:extLst>
          </p:cNvPr>
          <p:cNvSpPr>
            <a:spLocks xmlns:a="http://schemas.openxmlformats.org/drawingml/2006/main" noGrp="1"/>
          </p:cNvSpPr>
          <p:nvPr/>
        </p:nvSpPr>
        <p:spPr>
          <a:xfrm xmlns:a="http://schemas.openxmlformats.org/drawingml/2006/main">
            <a:off x="4371975" y="1714500"/>
            <a:ext cx="7229475" cy="781050"/>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的地位  · Java 诞生  · Java 的特点</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安装 JDK 21  · 简单的 Java 应用程序</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Status of Java · Birth of Java · Characteristics of Java</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Install JDK 21 · Simple Java application</a:t>
            </a:r>
          </a:p>
        </p:txBody>
      </p:sp>
      <p:sp>
        <p:nvSpPr>
          <p:cNvPr id="578" name="圆角矩形 577">
            <a:extLst xmlns:a="http://schemas.openxmlformats.org/drawingml/2006/main">
              <a:ext uri="{FF2B5EF4-FFF2-40B4-BE49-F238E27FC236}">
                <a16:creationId xmlns:a16="http://schemas.microsoft.com/office/drawing/2014/main" id="{2AAB3A38-7376-4E91-A59B-FFD8190A015E}"/>
              </a:ext>
            </a:extLst>
          </p:cNvPr>
          <p:cNvSpPr>
            <a:spLocks xmlns:a="http://schemas.openxmlformats.org/drawingml/2006/main" noGrp="1"/>
          </p:cNvSpPr>
          <p:nvPr/>
        </p:nvSpPr>
        <p:spPr>
          <a:xfrm xmlns:a="http://schemas.openxmlformats.org/drawingml/2006/main">
            <a:off x="4371975" y="2590800"/>
            <a:ext cx="7229475" cy="781050"/>
          </a:xfrm>
          <a:prstGeom xmlns:a="http://schemas.openxmlformats.org/drawingml/2006/main" prst="roundRect">
            <a:avLst>
              <a:gd name="adj" fmla="val 7317"/>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p:txBody>
      </p:sp>
      <p:sp>
        <p:nvSpPr>
          <p:cNvPr id="579" name="矩形 578">
            <a:extLst xmlns:a="http://schemas.openxmlformats.org/drawingml/2006/main">
              <a:ext uri="{FF2B5EF4-FFF2-40B4-BE49-F238E27FC236}">
                <a16:creationId xmlns:a16="http://schemas.microsoft.com/office/drawing/2014/main" id="{B0735D20-6F87-4AD2-A2D5-71300D70D475}"/>
              </a:ext>
            </a:extLst>
          </p:cNvPr>
          <p:cNvSpPr>
            <a:spLocks xmlns:a="http://schemas.openxmlformats.org/drawingml/2006/main" noGrp="1"/>
          </p:cNvSpPr>
          <p:nvPr/>
        </p:nvSpPr>
        <p:spPr>
          <a:xfrm xmlns:a="http://schemas.openxmlformats.org/drawingml/2006/main">
            <a:off x="4467225" y="2686050"/>
            <a:ext cx="7038975" cy="590550"/>
          </a:xfrm>
          <a:prstGeom xmlns:a="http://schemas.openxmlformats.org/drawingml/2006/main" prst="rect">
            <a:avLst/>
          </a:prstGeom>
        </p:spPr>
        <p:txBody>
          <a:bodyPr xmlns:a="http://schemas.openxmlformats.org/drawingml/2006/main" wrap="none" lIns="0" tIns="0" rIns="0" bIns="0">
            <a:normAutofit fontScale="36835"/>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 IntelliJ IDEA 环境配置（新增）</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 AI 编程助手简介与使用边界（新增）</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 IntelliJ IDEA environment configuration (new)</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★Introduction and usage boundaries of AI programming assistant (new)</a:t>
            </a:r>
          </a:p>
        </p:txBody>
      </p:sp>
      <p:sp>
        <p:nvSpPr>
          <p:cNvPr id="580" name="圆角矩形 579">
            <a:extLst xmlns:a="http://schemas.openxmlformats.org/drawingml/2006/main">
              <a:ext uri="{FF2B5EF4-FFF2-40B4-BE49-F238E27FC236}">
                <a16:creationId xmlns:a16="http://schemas.microsoft.com/office/drawing/2014/main" id="{4A28015E-D3CE-463C-A4FF-12F022BCAD1B}"/>
              </a:ext>
            </a:extLst>
          </p:cNvPr>
          <p:cNvSpPr>
            <a:spLocks xmlns:a="http://schemas.openxmlformats.org/drawingml/2006/main" noGrp="1"/>
          </p:cNvSpPr>
          <p:nvPr/>
        </p:nvSpPr>
        <p:spPr>
          <a:xfrm xmlns:a="http://schemas.openxmlformats.org/drawingml/2006/main">
            <a:off x="4238625" y="3619500"/>
            <a:ext cx="7553325" cy="1333500"/>
          </a:xfrm>
          <a:prstGeom xmlns:a="http://schemas.openxmlformats.org/drawingml/2006/main" prst="roundRect">
            <a:avLst>
              <a:gd name="adj" fmla="val 571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81" name="任意多边形 580">
            <a:extLst xmlns:a="http://schemas.openxmlformats.org/drawingml/2006/main">
              <a:ext uri="{FF2B5EF4-FFF2-40B4-BE49-F238E27FC236}">
                <a16:creationId xmlns:a16="http://schemas.microsoft.com/office/drawing/2014/main" id="{95B9274C-C0A6-4F83-A1D5-2A659CCEA564}"/>
              </a:ext>
            </a:extLst>
          </p:cNvPr>
          <p:cNvSpPr>
            <a:spLocks xmlns:a="http://schemas.openxmlformats.org/drawingml/2006/main" noGrp="1"/>
          </p:cNvSpPr>
          <p:nvPr/>
        </p:nvSpPr>
        <p:spPr>
          <a:xfrm xmlns:a="http://schemas.openxmlformats.org/drawingml/2006/main">
            <a:off x="4238625" y="3619500"/>
            <a:ext cx="7553325" cy="1333500"/>
          </a:xfrm>
          <a:custGeom xmlns:a="http://schemas.openxmlformats.org/drawingml/2006/main">
            <a:pathLst>
              <a:path w="793" h="140">
                <a:moveTo>
                  <a:pt x="8" y="0"/>
                </a:moveTo>
                <a:cubicBezTo>
                  <a:pt x="7" y="0"/>
                  <a:pt x="6" y="1"/>
                  <a:pt x="6" y="2"/>
                </a:cubicBezTo>
                <a:lnTo>
                  <a:pt x="6" y="138"/>
                </a:lnTo>
                <a:cubicBezTo>
                  <a:pt x="6" y="139"/>
                  <a:pt x="7" y="140"/>
                  <a:pt x="8" y="140"/>
                </a:cubicBezTo>
                <a:cubicBezTo>
                  <a:pt x="3" y="140"/>
                  <a:pt x="0" y="136"/>
                  <a:pt x="0" y="132"/>
                </a:cubicBezTo>
                <a:lnTo>
                  <a:pt x="0" y="8"/>
                </a:lnTo>
                <a:cubicBezTo>
                  <a:pt x="0" y="4"/>
                  <a:pt x="4" y="0"/>
                  <a:pt x="8"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582" name="矩形 581">
            <a:extLst xmlns:a="http://schemas.openxmlformats.org/drawingml/2006/main">
              <a:ext uri="{FF2B5EF4-FFF2-40B4-BE49-F238E27FC236}">
                <a16:creationId xmlns:a16="http://schemas.microsoft.com/office/drawing/2014/main" id="{456F6643-8856-432C-8C1C-B4F04A580B9A}"/>
              </a:ext>
            </a:extLst>
          </p:cNvPr>
          <p:cNvSpPr>
            <a:spLocks xmlns:a="http://schemas.openxmlformats.org/drawingml/2006/main" noGrp="1"/>
          </p:cNvSpPr>
          <p:nvPr/>
        </p:nvSpPr>
        <p:spPr>
          <a:xfrm xmlns:a="http://schemas.openxmlformats.org/drawingml/2006/main">
            <a:off x="4371975" y="3752850"/>
            <a:ext cx="72294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重点</a:t>
            </a:r>
          </a:p>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focus</a:t>
            </a:r>
          </a:p>
        </p:txBody>
      </p:sp>
      <p:sp>
        <p:nvSpPr>
          <p:cNvPr id="583" name="矩形 582">
            <a:extLst xmlns:a="http://schemas.openxmlformats.org/drawingml/2006/main">
              <a:ext uri="{FF2B5EF4-FFF2-40B4-BE49-F238E27FC236}">
                <a16:creationId xmlns:a16="http://schemas.microsoft.com/office/drawing/2014/main" id="{1556E84D-7C85-4E6E-A23E-E081F9AA5AE8}"/>
              </a:ext>
            </a:extLst>
          </p:cNvPr>
          <p:cNvSpPr>
            <a:spLocks xmlns:a="http://schemas.openxmlformats.org/drawingml/2006/main" noGrp="1"/>
          </p:cNvSpPr>
          <p:nvPr/>
        </p:nvSpPr>
        <p:spPr>
          <a:xfrm xmlns:a="http://schemas.openxmlformats.org/drawingml/2006/main">
            <a:off x="4371975" y="4038600"/>
            <a:ext cx="7229475" cy="781050"/>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平台无关性</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程序的结构</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platform independence</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Structure of Java programs</a:t>
            </a:r>
          </a:p>
        </p:txBody>
      </p:sp>
      <p:sp>
        <p:nvSpPr>
          <p:cNvPr id="584" name="圆角矩形 583">
            <a:extLst xmlns:a="http://schemas.openxmlformats.org/drawingml/2006/main">
              <a:ext uri="{FF2B5EF4-FFF2-40B4-BE49-F238E27FC236}">
                <a16:creationId xmlns:a16="http://schemas.microsoft.com/office/drawing/2014/main" id="{0297D52F-CA01-49CA-8793-1253B1229AE8}"/>
              </a:ext>
            </a:extLst>
          </p:cNvPr>
          <p:cNvSpPr>
            <a:spLocks xmlns:a="http://schemas.openxmlformats.org/drawingml/2006/main" noGrp="1"/>
          </p:cNvSpPr>
          <p:nvPr/>
        </p:nvSpPr>
        <p:spPr>
          <a:xfrm xmlns:a="http://schemas.openxmlformats.org/drawingml/2006/main">
            <a:off x="4238625" y="5067300"/>
            <a:ext cx="7553325" cy="942975"/>
          </a:xfrm>
          <a:prstGeom xmlns:a="http://schemas.openxmlformats.org/drawingml/2006/main" prst="roundRect">
            <a:avLst>
              <a:gd name="adj" fmla="val 8081"/>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85" name="任意多边形 584">
            <a:extLst xmlns:a="http://schemas.openxmlformats.org/drawingml/2006/main">
              <a:ext uri="{FF2B5EF4-FFF2-40B4-BE49-F238E27FC236}">
                <a16:creationId xmlns:a16="http://schemas.microsoft.com/office/drawing/2014/main" id="{A10D018D-D2AF-4FE6-830F-E93F5F99A8BF}"/>
              </a:ext>
            </a:extLst>
          </p:cNvPr>
          <p:cNvSpPr>
            <a:spLocks xmlns:a="http://schemas.openxmlformats.org/drawingml/2006/main" noGrp="1"/>
          </p:cNvSpPr>
          <p:nvPr/>
        </p:nvSpPr>
        <p:spPr>
          <a:xfrm xmlns:a="http://schemas.openxmlformats.org/drawingml/2006/main">
            <a:off x="4238625" y="5067300"/>
            <a:ext cx="7553325" cy="942975"/>
          </a:xfrm>
          <a:custGeom xmlns:a="http://schemas.openxmlformats.org/drawingml/2006/main">
            <a:pathLst>
              <a:path w="793" h="99">
                <a:moveTo>
                  <a:pt x="8" y="0"/>
                </a:moveTo>
                <a:cubicBezTo>
                  <a:pt x="7" y="0"/>
                  <a:pt x="6" y="1"/>
                  <a:pt x="6" y="2"/>
                </a:cubicBezTo>
                <a:lnTo>
                  <a:pt x="6" y="97"/>
                </a:lnTo>
                <a:cubicBezTo>
                  <a:pt x="6" y="98"/>
                  <a:pt x="7" y="99"/>
                  <a:pt x="8" y="99"/>
                </a:cubicBezTo>
                <a:cubicBezTo>
                  <a:pt x="3" y="99"/>
                  <a:pt x="0" y="95"/>
                  <a:pt x="0" y="91"/>
                </a:cubicBezTo>
                <a:lnTo>
                  <a:pt x="0" y="8"/>
                </a:lnTo>
                <a:cubicBezTo>
                  <a:pt x="0" y="4"/>
                  <a:pt x="4" y="0"/>
                  <a:pt x="8"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86" name="矩形 585">
            <a:extLst xmlns:a="http://schemas.openxmlformats.org/drawingml/2006/main">
              <a:ext uri="{FF2B5EF4-FFF2-40B4-BE49-F238E27FC236}">
                <a16:creationId xmlns:a16="http://schemas.microsoft.com/office/drawing/2014/main" id="{EF547E67-F1DD-48D2-8EE2-118AACA6079A}"/>
              </a:ext>
            </a:extLst>
          </p:cNvPr>
          <p:cNvSpPr>
            <a:spLocks xmlns:a="http://schemas.openxmlformats.org/drawingml/2006/main" noGrp="1"/>
          </p:cNvSpPr>
          <p:nvPr/>
        </p:nvSpPr>
        <p:spPr>
          <a:xfrm xmlns:a="http://schemas.openxmlformats.org/drawingml/2006/main">
            <a:off x="4371975" y="5200650"/>
            <a:ext cx="72294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难点</a:t>
            </a:r>
          </a:p>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difficulty</a:t>
            </a:r>
          </a:p>
        </p:txBody>
      </p:sp>
      <p:sp>
        <p:nvSpPr>
          <p:cNvPr id="587" name="矩形 586">
            <a:extLst xmlns:a="http://schemas.openxmlformats.org/drawingml/2006/main">
              <a:ext uri="{FF2B5EF4-FFF2-40B4-BE49-F238E27FC236}">
                <a16:creationId xmlns:a16="http://schemas.microsoft.com/office/drawing/2014/main" id="{A69A99D6-1C45-4051-8B0C-26532CAD2C9F}"/>
              </a:ext>
            </a:extLst>
          </p:cNvPr>
          <p:cNvSpPr>
            <a:spLocks xmlns:a="http://schemas.openxmlformats.org/drawingml/2006/main" noGrp="1"/>
          </p:cNvSpPr>
          <p:nvPr/>
        </p:nvSpPr>
        <p:spPr>
          <a:xfrm xmlns:a="http://schemas.openxmlformats.org/drawingml/2006/main">
            <a:off x="4371975" y="5486400"/>
            <a:ext cx="72294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程序的开发过程</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Java program development process</a:t>
            </a:r>
          </a:p>
        </p:txBody>
      </p:sp>
      <p:sp>
        <p:nvSpPr>
          <p:cNvPr id="588" name="矩形 587">
            <a:extLst xmlns:a="http://schemas.openxmlformats.org/drawingml/2006/main">
              <a:ext uri="{FF2B5EF4-FFF2-40B4-BE49-F238E27FC236}">
                <a16:creationId xmlns:a16="http://schemas.microsoft.com/office/drawing/2014/main" id="{4DBA40F7-E42C-495F-948B-742591AC5CB3}"/>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4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340180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97" name="矩形 596">
            <a:extLst xmlns:a="http://schemas.openxmlformats.org/drawingml/2006/main">
              <a:ext uri="{FF2B5EF4-FFF2-40B4-BE49-F238E27FC236}">
                <a16:creationId xmlns:a16="http://schemas.microsoft.com/office/drawing/2014/main" id="{869F6503-A326-4D46-934F-E619F7F8FF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8" name="矩形 597">
            <a:extLst xmlns:a="http://schemas.openxmlformats.org/drawingml/2006/main">
              <a:ext uri="{FF2B5EF4-FFF2-40B4-BE49-F238E27FC236}">
                <a16:creationId xmlns:a16="http://schemas.microsoft.com/office/drawing/2014/main" id="{DCBF76DC-113D-42DA-9FBD-C4E1CD313523}"/>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9" name="矩形 598">
            <a:extLst xmlns:a="http://schemas.openxmlformats.org/drawingml/2006/main">
              <a:ext uri="{FF2B5EF4-FFF2-40B4-BE49-F238E27FC236}">
                <a16:creationId xmlns:a16="http://schemas.microsoft.com/office/drawing/2014/main" id="{E9D37D21-94E7-4450-A37E-A1C3A4CE022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600" name="圆角矩形 599">
            <a:extLst xmlns:a="http://schemas.openxmlformats.org/drawingml/2006/main">
              <a:ext uri="{FF2B5EF4-FFF2-40B4-BE49-F238E27FC236}">
                <a16:creationId xmlns:a16="http://schemas.microsoft.com/office/drawing/2014/main" id="{754FCE2E-5630-4EBF-AC58-C04D286286A9}"/>
              </a:ext>
            </a:extLst>
          </p:cNvPr>
          <p:cNvSpPr>
            <a:spLocks xmlns:a="http://schemas.openxmlformats.org/drawingml/2006/main" noGrp="1"/>
          </p:cNvSpPr>
          <p:nvPr/>
        </p:nvSpPr>
        <p:spPr>
          <a:xfrm xmlns:a="http://schemas.openxmlformats.org/drawingml/2006/main">
            <a:off x="457200" y="1895475"/>
            <a:ext cx="4733925" cy="356235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618" name="图片 617"/>
          <p:cNvPicPr>
            <a:picLocks xmlns:a="http://schemas.openxmlformats.org/drawingml/2006/main" noChangeAspect="1"/>
          </p:cNvPicPr>
          <p:nvPr/>
        </p:nvPicPr>
        <p:blipFill>
          <a:blip xmlns:r="http://schemas.openxmlformats.org/officeDocument/2006/relationships" xmlns:a="http://schemas.openxmlformats.org/drawingml/2006/main" r:embed="Re5e5eb0e85d649da"/>
          <a:srcRect xmlns:a="http://schemas.openxmlformats.org/drawingml/2006/main" l="56" t="0" r="56" b="0"/>
          <a:stretch xmlns:a="http://schemas.openxmlformats.org/drawingml/2006/main">
            <a:fillRect l="0" t="0" r="0" b="0"/>
          </a:stretch>
        </p:blipFill>
        <p:spPr>
          <a:xfrm xmlns:a="http://schemas.openxmlformats.org/drawingml/2006/main">
            <a:off x="1019175" y="2238375"/>
            <a:ext cx="3619500" cy="2543175"/>
          </a:xfrm>
          <a:prstGeom xmlns:a="http://schemas.openxmlformats.org/drawingml/2006/main" prst="rect">
            <a:avLst/>
          </a:prstGeom>
        </p:spPr>
      </p:pic>
      <p:sp>
        <p:nvSpPr>
          <p:cNvPr id="602" name="矩形 601">
            <a:extLst xmlns:a="http://schemas.openxmlformats.org/drawingml/2006/main">
              <a:ext uri="{FF2B5EF4-FFF2-40B4-BE49-F238E27FC236}">
                <a16:creationId xmlns:a16="http://schemas.microsoft.com/office/drawing/2014/main" id="{221DE3DA-135D-4B45-AB78-A27047538E5B}"/>
              </a:ext>
            </a:extLst>
          </p:cNvPr>
          <p:cNvSpPr>
            <a:spLocks xmlns:a="http://schemas.openxmlformats.org/drawingml/2006/main" noGrp="1"/>
          </p:cNvSpPr>
          <p:nvPr/>
        </p:nvSpPr>
        <p:spPr>
          <a:xfrm xmlns:a="http://schemas.openxmlformats.org/drawingml/2006/main">
            <a:off x="1971675" y="4953000"/>
            <a:ext cx="17049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Java 官方 Logo · 自 1995 年</a:t>
            </a:r>
          </a:p>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Java Official Logo · Since 1995</a:t>
            </a:r>
          </a:p>
        </p:txBody>
      </p:sp>
      <p:sp>
        <p:nvSpPr>
          <p:cNvPr id="603" name="矩形 602">
            <a:extLst xmlns:a="http://schemas.openxmlformats.org/drawingml/2006/main">
              <a:ext uri="{FF2B5EF4-FFF2-40B4-BE49-F238E27FC236}">
                <a16:creationId xmlns:a16="http://schemas.microsoft.com/office/drawing/2014/main" id="{928762E1-5CE2-4A0B-AF25-14F3813EBA2D}"/>
              </a:ext>
            </a:extLst>
          </p:cNvPr>
          <p:cNvSpPr>
            <a:spLocks xmlns:a="http://schemas.openxmlformats.org/drawingml/2006/main" noGrp="1"/>
          </p:cNvSpPr>
          <p:nvPr/>
        </p:nvSpPr>
        <p:spPr>
          <a:xfrm xmlns:a="http://schemas.openxmlformats.org/drawingml/2006/main">
            <a:off x="5572125" y="1733550"/>
            <a:ext cx="61626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诞生</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Birth</a:t>
            </a:r>
          </a:p>
        </p:txBody>
      </p:sp>
      <p:sp>
        <p:nvSpPr>
          <p:cNvPr id="604" name="矩形 603">
            <a:extLst xmlns:a="http://schemas.openxmlformats.org/drawingml/2006/main">
              <a:ext uri="{FF2B5EF4-FFF2-40B4-BE49-F238E27FC236}">
                <a16:creationId xmlns:a16="http://schemas.microsoft.com/office/drawing/2014/main" id="{04209010-369F-44DA-BBFF-7DEBD2121CBF}"/>
              </a:ext>
            </a:extLst>
          </p:cNvPr>
          <p:cNvSpPr>
            <a:spLocks xmlns:a="http://schemas.openxmlformats.org/drawingml/2006/main" noGrp="1"/>
          </p:cNvSpPr>
          <p:nvPr/>
        </p:nvSpPr>
        <p:spPr>
          <a:xfrm xmlns:a="http://schemas.openxmlformats.org/drawingml/2006/main">
            <a:off x="5572125" y="2076450"/>
            <a:ext cx="61626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Java之父与</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的诞生</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The father of Java and</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The birth of Java</a:t>
            </a:r>
          </a:p>
        </p:txBody>
      </p:sp>
      <p:sp>
        <p:nvSpPr>
          <p:cNvPr id="605" name="矩形 604">
            <a:extLst xmlns:a="http://schemas.openxmlformats.org/drawingml/2006/main">
              <a:ext uri="{FF2B5EF4-FFF2-40B4-BE49-F238E27FC236}">
                <a16:creationId xmlns:a16="http://schemas.microsoft.com/office/drawing/2014/main" id="{2561F677-16FB-4E14-A0F7-BF2988C8F324}"/>
              </a:ext>
            </a:extLst>
          </p:cNvPr>
          <p:cNvSpPr>
            <a:spLocks xmlns:a="http://schemas.openxmlformats.org/drawingml/2006/main" noGrp="1"/>
          </p:cNvSpPr>
          <p:nvPr/>
        </p:nvSpPr>
        <p:spPr>
          <a:xfrm xmlns:a="http://schemas.openxmlformats.org/drawingml/2006/main">
            <a:off x="5572125" y="33909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6" name="矩形 605">
            <a:extLst xmlns:a="http://schemas.openxmlformats.org/drawingml/2006/main">
              <a:ext uri="{FF2B5EF4-FFF2-40B4-BE49-F238E27FC236}">
                <a16:creationId xmlns:a16="http://schemas.microsoft.com/office/drawing/2014/main" id="{2E827593-D1BC-459D-B528-DD12785C382E}"/>
              </a:ext>
            </a:extLst>
          </p:cNvPr>
          <p:cNvSpPr>
            <a:spLocks xmlns:a="http://schemas.openxmlformats.org/drawingml/2006/main" noGrp="1"/>
          </p:cNvSpPr>
          <p:nvPr/>
        </p:nvSpPr>
        <p:spPr>
          <a:xfrm xmlns:a="http://schemas.openxmlformats.org/drawingml/2006/main">
            <a:off x="5572125" y="3686175"/>
            <a:ext cx="6096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1E4FA8"/>
                </a:solidFill>
                <a:latin typeface="微软雅黑"/>
                <a:ea typeface="微软雅黑"/>
                <a:cs typeface="微软雅黑"/>
              </a:rPr>
              <a:t>1995</a:t>
            </a:r>
            <a:endParaRPr sz="1350" b="1">
              <a:solidFill>
                <a:srgbClr val="1E4FA8"/>
              </a:solidFill>
              <a:latin typeface="微软雅黑"/>
              <a:ea typeface="微软雅黑"/>
              <a:cs typeface="微软雅黑"/>
            </a:endParaRPr>
          </a:p>
        </p:txBody>
      </p:sp>
      <p:sp>
        <p:nvSpPr>
          <p:cNvPr id="607" name="矩形 606">
            <a:extLst xmlns:a="http://schemas.openxmlformats.org/drawingml/2006/main">
              <a:ext uri="{FF2B5EF4-FFF2-40B4-BE49-F238E27FC236}">
                <a16:creationId xmlns:a16="http://schemas.microsoft.com/office/drawing/2014/main" id="{5B829255-FD89-4920-ADBD-1BD8AFB2EA3D}"/>
              </a:ext>
            </a:extLst>
          </p:cNvPr>
          <p:cNvSpPr>
            <a:spLocks xmlns:a="http://schemas.openxmlformats.org/drawingml/2006/main" noGrp="1"/>
          </p:cNvSpPr>
          <p:nvPr/>
        </p:nvSpPr>
        <p:spPr>
          <a:xfrm xmlns:a="http://schemas.openxmlformats.org/drawingml/2006/main">
            <a:off x="6315075" y="3686175"/>
            <a:ext cx="5419725" cy="828675"/>
          </a:xfrm>
          <a:prstGeom xmlns:a="http://schemas.openxmlformats.org/drawingml/2006/main" prst="rect">
            <a:avLst/>
          </a:prstGeom>
        </p:spPr>
        <p:txBody>
          <a:bodyPr xmlns:a="http://schemas.openxmlformats.org/drawingml/2006/main" wrap="none" lIns="0" tIns="0" rIns="0" bIns="0">
            <a:normAutofit fontScale="34729"/>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6 月由 Sun 公司 发布的革命性编程语言</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（2010 年 Sun 被 Oracle 收购，现由 Oracle 维护）</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A revolutionary programming language released by Sun Microsystems in June</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(Sun was acquired by Oracle in 2010 and is now maintained by Oracle)</a:t>
            </a:r>
          </a:p>
        </p:txBody>
      </p:sp>
      <p:sp>
        <p:nvSpPr>
          <p:cNvPr id="608" name="矩形 607">
            <a:extLst xmlns:a="http://schemas.openxmlformats.org/drawingml/2006/main">
              <a:ext uri="{FF2B5EF4-FFF2-40B4-BE49-F238E27FC236}">
                <a16:creationId xmlns:a16="http://schemas.microsoft.com/office/drawing/2014/main" id="{8F44D111-8D7E-43EF-BC72-70BCDA4BF418}"/>
              </a:ext>
            </a:extLst>
          </p:cNvPr>
          <p:cNvSpPr>
            <a:spLocks xmlns:a="http://schemas.openxmlformats.org/drawingml/2006/main" noGrp="1"/>
          </p:cNvSpPr>
          <p:nvPr/>
        </p:nvSpPr>
        <p:spPr>
          <a:xfrm xmlns:a="http://schemas.openxmlformats.org/drawingml/2006/main">
            <a:off x="5572125" y="4648200"/>
            <a:ext cx="6096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1E4FA8"/>
                </a:solidFill>
                <a:latin typeface="微软雅黑"/>
                <a:ea typeface="微软雅黑"/>
                <a:cs typeface="微软雅黑"/>
              </a:rPr>
              <a:t>1990</a:t>
            </a:r>
            <a:endParaRPr sz="1350" b="1">
              <a:solidFill>
                <a:srgbClr val="1E4FA8"/>
              </a:solidFill>
              <a:latin typeface="微软雅黑"/>
              <a:ea typeface="微软雅黑"/>
              <a:cs typeface="微软雅黑"/>
            </a:endParaRPr>
          </a:p>
        </p:txBody>
      </p:sp>
      <p:sp>
        <p:nvSpPr>
          <p:cNvPr id="609" name="矩形 608">
            <a:extLst xmlns:a="http://schemas.openxmlformats.org/drawingml/2006/main">
              <a:ext uri="{FF2B5EF4-FFF2-40B4-BE49-F238E27FC236}">
                <a16:creationId xmlns:a16="http://schemas.microsoft.com/office/drawing/2014/main" id="{A6289342-61E0-4EB2-9579-0B8D1A42A765}"/>
              </a:ext>
            </a:extLst>
          </p:cNvPr>
          <p:cNvSpPr>
            <a:spLocks xmlns:a="http://schemas.openxmlformats.org/drawingml/2006/main" noGrp="1"/>
          </p:cNvSpPr>
          <p:nvPr/>
        </p:nvSpPr>
        <p:spPr>
          <a:xfrm xmlns:a="http://schemas.openxmlformats.org/drawingml/2006/main">
            <a:off x="6315075" y="4648200"/>
            <a:ext cx="5419725" cy="828675"/>
          </a:xfrm>
          <a:prstGeom xmlns:a="http://schemas.openxmlformats.org/drawingml/2006/main" prst="rect">
            <a:avLst/>
          </a:prstGeom>
        </p:spPr>
        <p:txBody>
          <a:bodyPr xmlns:a="http://schemas.openxmlformats.org/drawingml/2006/main" wrap="square" lIns="0" tIns="0" rIns="0" bIns="0">
            <a:normAutofit fontScale="41318"/>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Sun 公司成立由 James Gosling 领导的开发小组，致力于开发可移植、跨平台的语言</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Sun established a development team led by James Gosling to develop portable, cross-platform languages</a:t>
            </a:r>
          </a:p>
        </p:txBody>
      </p:sp>
      <p:sp>
        <p:nvSpPr>
          <p:cNvPr id="610" name="矩形 609">
            <a:extLst xmlns:a="http://schemas.openxmlformats.org/drawingml/2006/main">
              <a:ext uri="{FF2B5EF4-FFF2-40B4-BE49-F238E27FC236}">
                <a16:creationId xmlns:a16="http://schemas.microsoft.com/office/drawing/2014/main" id="{9E04004E-7F08-4970-8AD3-B667E3ABAA15}"/>
              </a:ext>
            </a:extLst>
          </p:cNvPr>
          <p:cNvSpPr>
            <a:spLocks xmlns:a="http://schemas.openxmlformats.org/drawingml/2006/main" noGrp="1"/>
          </p:cNvSpPr>
          <p:nvPr/>
        </p:nvSpPr>
        <p:spPr>
          <a:xfrm xmlns:a="http://schemas.openxmlformats.org/drawingml/2006/main">
            <a:off x="5572125" y="5610225"/>
            <a:ext cx="609600"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命名</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name</a:t>
            </a:r>
          </a:p>
        </p:txBody>
      </p:sp>
      <p:sp>
        <p:nvSpPr>
          <p:cNvPr id="611" name="矩形 610">
            <a:extLst xmlns:a="http://schemas.openxmlformats.org/drawingml/2006/main">
              <a:ext uri="{FF2B5EF4-FFF2-40B4-BE49-F238E27FC236}">
                <a16:creationId xmlns:a16="http://schemas.microsoft.com/office/drawing/2014/main" id="{D13CDE88-59A8-4C22-A267-D70B39142FF5}"/>
              </a:ext>
            </a:extLst>
          </p:cNvPr>
          <p:cNvSpPr>
            <a:spLocks xmlns:a="http://schemas.openxmlformats.org/drawingml/2006/main" noGrp="1"/>
          </p:cNvSpPr>
          <p:nvPr/>
        </p:nvSpPr>
        <p:spPr>
          <a:xfrm xmlns:a="http://schemas.openxmlformats.org/drawingml/2006/main">
            <a:off x="6315075" y="5610225"/>
            <a:ext cx="5419725" cy="828675"/>
          </a:xfrm>
          <a:prstGeom xmlns:a="http://schemas.openxmlformats.org/drawingml/2006/main" prst="rect">
            <a:avLst/>
          </a:prstGeom>
        </p:spPr>
        <p:txBody>
          <a:bodyPr xmlns:a="http://schemas.openxmlformats.org/drawingml/2006/main" wrap="square" lIns="0" tIns="0" rIns="0" bIns="0">
            <a:normAutofit fontScale="41318"/>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印度尼西亚盛产咖啡的岛屿 Java（爪哇），寓意"为世人端上一杯热咖啡"</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the island rich in coffee in Indonesia, means "bringing a cup of hot coffee to the world"</a:t>
            </a:r>
          </a:p>
        </p:txBody>
      </p:sp>
      <p:sp>
        <p:nvSpPr>
          <p:cNvPr id="612" name="矩形 611">
            <a:extLst xmlns:a="http://schemas.openxmlformats.org/drawingml/2006/main">
              <a:ext uri="{FF2B5EF4-FFF2-40B4-BE49-F238E27FC236}">
                <a16:creationId xmlns:a16="http://schemas.microsoft.com/office/drawing/2014/main" id="{48D09B8F-922E-4BF6-B8F3-06592F091507}"/>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5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1168264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14" name="矩形 613">
            <a:extLst xmlns:a="http://schemas.openxmlformats.org/drawingml/2006/main">
              <a:ext uri="{FF2B5EF4-FFF2-40B4-BE49-F238E27FC236}">
                <a16:creationId xmlns:a16="http://schemas.microsoft.com/office/drawing/2014/main" id="{7F6411F7-3D0C-41D1-B7AA-9DB5177D7B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15" name="矩形 614">
            <a:extLst xmlns:a="http://schemas.openxmlformats.org/drawingml/2006/main">
              <a:ext uri="{FF2B5EF4-FFF2-40B4-BE49-F238E27FC236}">
                <a16:creationId xmlns:a16="http://schemas.microsoft.com/office/drawing/2014/main" id="{709B07BD-40FA-4E3C-BB72-18F0E3CD2863}"/>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16" name="矩形 615">
            <a:extLst xmlns:a="http://schemas.openxmlformats.org/drawingml/2006/main">
              <a:ext uri="{FF2B5EF4-FFF2-40B4-BE49-F238E27FC236}">
                <a16:creationId xmlns:a16="http://schemas.microsoft.com/office/drawing/2014/main" id="{168C355E-805E-48C4-8E3C-789EA3CB2575}"/>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617" name="矩形 616">
            <a:extLst xmlns:a="http://schemas.openxmlformats.org/drawingml/2006/main">
              <a:ext uri="{FF2B5EF4-FFF2-40B4-BE49-F238E27FC236}">
                <a16:creationId xmlns:a16="http://schemas.microsoft.com/office/drawing/2014/main" id="{FFE51553-130A-49D8-BB77-8119885B23D8}"/>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§1.X 概览</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§1.X Overview</a:t>
            </a:r>
          </a:p>
        </p:txBody>
      </p:sp>
      <p:sp>
        <p:nvSpPr>
          <p:cNvPr id="618" name="矩形 617">
            <a:extLst xmlns:a="http://schemas.openxmlformats.org/drawingml/2006/main">
              <a:ext uri="{FF2B5EF4-FFF2-40B4-BE49-F238E27FC236}">
                <a16:creationId xmlns:a16="http://schemas.microsoft.com/office/drawing/2014/main" id="{C45D51D9-463A-4E17-872E-8CDD71E8F5D8}"/>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6204"/>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的先导知识</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与后继技术</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Preliminary knowledge of Java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and successor technologies</a:t>
            </a:r>
          </a:p>
        </p:txBody>
      </p:sp>
      <p:sp>
        <p:nvSpPr>
          <p:cNvPr id="619" name="矩形 618">
            <a:extLst xmlns:a="http://schemas.openxmlformats.org/drawingml/2006/main">
              <a:ext uri="{FF2B5EF4-FFF2-40B4-BE49-F238E27FC236}">
                <a16:creationId xmlns:a16="http://schemas.microsoft.com/office/drawing/2014/main" id="{0CDC5DA8-25C8-45D9-BEFA-1380133BA02B}"/>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20" name="矩形 619">
            <a:extLst xmlns:a="http://schemas.openxmlformats.org/drawingml/2006/main">
              <a:ext uri="{FF2B5EF4-FFF2-40B4-BE49-F238E27FC236}">
                <a16:creationId xmlns:a16="http://schemas.microsoft.com/office/drawing/2014/main" id="{0A39CE85-A5CD-4D4A-AE6A-F131902161A8}"/>
              </a:ext>
            </a:extLst>
          </p:cNvPr>
          <p:cNvSpPr>
            <a:spLocks xmlns:a="http://schemas.openxmlformats.org/drawingml/2006/main" noGrp="1"/>
          </p:cNvSpPr>
          <p:nvPr/>
        </p:nvSpPr>
        <p:spPr>
          <a:xfrm xmlns:a="http://schemas.openxmlformats.org/drawingml/2006/main">
            <a:off x="457200" y="3190875"/>
            <a:ext cx="3381375" cy="781050"/>
          </a:xfrm>
          <a:prstGeom xmlns:a="http://schemas.openxmlformats.org/drawingml/2006/main" prst="rect">
            <a:avLst/>
          </a:prstGeom>
        </p:spPr>
        <p:txBody>
          <a:bodyPr xmlns:a="http://schemas.openxmlformats.org/drawingml/2006/main" wrap="squar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先学 C，再学 Java；Java 之后可以继续哪些方向？</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Learn C first, then learn Java; in what directions can you continue after Java?</a:t>
            </a:r>
          </a:p>
        </p:txBody>
      </p:sp>
      <p:sp>
        <p:nvSpPr>
          <p:cNvPr id="621" name="圆角矩形 620">
            <a:extLst xmlns:a="http://schemas.openxmlformats.org/drawingml/2006/main">
              <a:ext uri="{FF2B5EF4-FFF2-40B4-BE49-F238E27FC236}">
                <a16:creationId xmlns:a16="http://schemas.microsoft.com/office/drawing/2014/main" id="{C3FDCB97-4F67-4B36-A0AA-F9FBADBC7BC8}"/>
              </a:ext>
            </a:extLst>
          </p:cNvPr>
          <p:cNvSpPr>
            <a:spLocks xmlns:a="http://schemas.openxmlformats.org/drawingml/2006/main" noGrp="1"/>
          </p:cNvSpPr>
          <p:nvPr/>
        </p:nvSpPr>
        <p:spPr>
          <a:xfrm xmlns:a="http://schemas.openxmlformats.org/drawingml/2006/main">
            <a:off x="4181475" y="2428875"/>
            <a:ext cx="933450" cy="514350"/>
          </a:xfrm>
          <a:prstGeom xmlns:a="http://schemas.openxmlformats.org/drawingml/2006/main" prst="roundRect">
            <a:avLst>
              <a:gd name="adj" fmla="val 18519"/>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622" name="矩形 621">
            <a:extLst xmlns:a="http://schemas.openxmlformats.org/drawingml/2006/main">
              <a:ext uri="{FF2B5EF4-FFF2-40B4-BE49-F238E27FC236}">
                <a16:creationId xmlns:a16="http://schemas.microsoft.com/office/drawing/2014/main" id="{55780AFA-4B34-4075-B86C-A64E0D03E3EA}"/>
              </a:ext>
            </a:extLst>
          </p:cNvPr>
          <p:cNvSpPr>
            <a:spLocks xmlns:a="http://schemas.openxmlformats.org/drawingml/2006/main" noGrp="1"/>
          </p:cNvSpPr>
          <p:nvPr/>
        </p:nvSpPr>
        <p:spPr>
          <a:xfrm xmlns:a="http://schemas.openxmlformats.org/drawingml/2006/main">
            <a:off x="4391025" y="2581275"/>
            <a:ext cx="514350"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A2230"/>
                </a:solidFill>
                <a:latin typeface="微软雅黑"/>
                <a:ea typeface="微软雅黑"/>
                <a:cs typeface="微软雅黑"/>
              </a:rPr>
              <a:t>C 语言</a:t>
            </a:r>
          </a:p>
          <a:p xmlns:a="http://schemas.openxmlformats.org/drawingml/2006/main">
            <a:pPr marL="0">
              <a:lnSpc>
                <a:spcPct val="100000"/>
              </a:lnSpc>
              <a:spcBef>
                <a:spcPts val="0"/>
              </a:spcBef>
              <a:spcAft>
                <a:spcPts val="0"/>
              </a:spcAft>
              <a:buNone/>
            </a:pPr>
            <a:r>
              <a:rPr sz="2960" b="1">
                <a:solidFill>
                  <a:srgbClr val="1A2230"/>
                </a:solidFill>
                <a:latin typeface="微软雅黑"/>
                <a:ea typeface="微软雅黑"/>
                <a:cs typeface="微软雅黑"/>
              </a:rPr>
              <a:t>C language</a:t>
            </a:r>
          </a:p>
        </p:txBody>
      </p:sp>
      <p:sp>
        <p:nvSpPr>
          <p:cNvPr id="623" name="矩形 622">
            <a:extLst xmlns:a="http://schemas.openxmlformats.org/drawingml/2006/main">
              <a:ext uri="{FF2B5EF4-FFF2-40B4-BE49-F238E27FC236}">
                <a16:creationId xmlns:a16="http://schemas.microsoft.com/office/drawing/2014/main" id="{00BBB7E5-5553-46FF-BFE7-7E8D7D30A639}"/>
              </a:ext>
            </a:extLst>
          </p:cNvPr>
          <p:cNvSpPr>
            <a:spLocks xmlns:a="http://schemas.openxmlformats.org/drawingml/2006/main" noGrp="1"/>
          </p:cNvSpPr>
          <p:nvPr/>
        </p:nvSpPr>
        <p:spPr>
          <a:xfrm xmlns:a="http://schemas.openxmlformats.org/drawingml/2006/main">
            <a:off x="5267325" y="2524125"/>
            <a:ext cx="266700" cy="3238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2100">
                <a:solidFill>
                  <a:srgbClr val="1E4FA8"/>
                </a:solidFill>
                <a:latin typeface="微软雅黑"/>
                <a:ea typeface="微软雅黑"/>
                <a:cs typeface="微软雅黑"/>
              </a:rPr>
              <a:t>→</a:t>
            </a:r>
            <a:endParaRPr sz="2100">
              <a:solidFill>
                <a:srgbClr val="1E4FA8"/>
              </a:solidFill>
              <a:latin typeface="微软雅黑"/>
              <a:ea typeface="微软雅黑"/>
              <a:cs typeface="微软雅黑"/>
            </a:endParaRPr>
          </a:p>
        </p:txBody>
      </p:sp>
      <p:sp>
        <p:nvSpPr>
          <p:cNvPr id="624" name="圆角矩形 623">
            <a:extLst xmlns:a="http://schemas.openxmlformats.org/drawingml/2006/main">
              <a:ext uri="{FF2B5EF4-FFF2-40B4-BE49-F238E27FC236}">
                <a16:creationId xmlns:a16="http://schemas.microsoft.com/office/drawing/2014/main" id="{4B5B9819-63CA-487A-9CA1-AD2503ADEBC6}"/>
              </a:ext>
            </a:extLst>
          </p:cNvPr>
          <p:cNvSpPr>
            <a:spLocks xmlns:a="http://schemas.openxmlformats.org/drawingml/2006/main" noGrp="1"/>
          </p:cNvSpPr>
          <p:nvPr/>
        </p:nvSpPr>
        <p:spPr>
          <a:xfrm xmlns:a="http://schemas.openxmlformats.org/drawingml/2006/main">
            <a:off x="5686425" y="2428875"/>
            <a:ext cx="1190625" cy="514350"/>
          </a:xfrm>
          <a:prstGeom xmlns:a="http://schemas.openxmlformats.org/drawingml/2006/main" prst="roundRect">
            <a:avLst>
              <a:gd name="adj" fmla="val 18519"/>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25" name="矩形 624">
            <a:extLst xmlns:a="http://schemas.openxmlformats.org/drawingml/2006/main">
              <a:ext uri="{FF2B5EF4-FFF2-40B4-BE49-F238E27FC236}">
                <a16:creationId xmlns:a16="http://schemas.microsoft.com/office/drawing/2014/main" id="{1281E0C8-AE9A-45A5-BD1E-784F94E6DD34}"/>
              </a:ext>
            </a:extLst>
          </p:cNvPr>
          <p:cNvSpPr>
            <a:spLocks xmlns:a="http://schemas.openxmlformats.org/drawingml/2006/main" noGrp="1"/>
          </p:cNvSpPr>
          <p:nvPr/>
        </p:nvSpPr>
        <p:spPr>
          <a:xfrm xmlns:a="http://schemas.openxmlformats.org/drawingml/2006/main">
            <a:off x="5895975" y="2581275"/>
            <a:ext cx="7715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Java 语言</a:t>
            </a:r>
          </a:p>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Java</a:t>
            </a:r>
          </a:p>
        </p:txBody>
      </p:sp>
      <p:sp>
        <p:nvSpPr>
          <p:cNvPr id="626" name="矩形 625">
            <a:extLst xmlns:a="http://schemas.openxmlformats.org/drawingml/2006/main">
              <a:ext uri="{FF2B5EF4-FFF2-40B4-BE49-F238E27FC236}">
                <a16:creationId xmlns:a16="http://schemas.microsoft.com/office/drawing/2014/main" id="{06A10ED5-335C-41DF-AFF3-322C4014A674}"/>
              </a:ext>
            </a:extLst>
          </p:cNvPr>
          <p:cNvSpPr>
            <a:spLocks xmlns:a="http://schemas.openxmlformats.org/drawingml/2006/main" noGrp="1"/>
          </p:cNvSpPr>
          <p:nvPr/>
        </p:nvSpPr>
        <p:spPr>
          <a:xfrm xmlns:a="http://schemas.openxmlformats.org/drawingml/2006/main">
            <a:off x="7029450" y="2524125"/>
            <a:ext cx="266700" cy="3238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2100">
                <a:solidFill>
                  <a:srgbClr val="1E4FA8"/>
                </a:solidFill>
                <a:latin typeface="微软雅黑"/>
                <a:ea typeface="微软雅黑"/>
                <a:cs typeface="微软雅黑"/>
              </a:rPr>
              <a:t>→</a:t>
            </a:r>
            <a:endParaRPr sz="2100">
              <a:solidFill>
                <a:srgbClr val="1E4FA8"/>
              </a:solidFill>
              <a:latin typeface="微软雅黑"/>
              <a:ea typeface="微软雅黑"/>
              <a:cs typeface="微软雅黑"/>
            </a:endParaRPr>
          </a:p>
        </p:txBody>
      </p:sp>
      <p:sp>
        <p:nvSpPr>
          <p:cNvPr id="627" name="圆角矩形 626">
            <a:extLst xmlns:a="http://schemas.openxmlformats.org/drawingml/2006/main">
              <a:ext uri="{FF2B5EF4-FFF2-40B4-BE49-F238E27FC236}">
                <a16:creationId xmlns:a16="http://schemas.microsoft.com/office/drawing/2014/main" id="{6E1E53F1-AD84-4974-AF8E-401B0BB7C3DA}"/>
              </a:ext>
            </a:extLst>
          </p:cNvPr>
          <p:cNvSpPr>
            <a:spLocks xmlns:a="http://schemas.openxmlformats.org/drawingml/2006/main" noGrp="1"/>
          </p:cNvSpPr>
          <p:nvPr/>
        </p:nvSpPr>
        <p:spPr>
          <a:xfrm xmlns:a="http://schemas.openxmlformats.org/drawingml/2006/main">
            <a:off x="7448550" y="2428875"/>
            <a:ext cx="1104900" cy="514350"/>
          </a:xfrm>
          <a:prstGeom xmlns:a="http://schemas.openxmlformats.org/drawingml/2006/main" prst="roundRect">
            <a:avLst>
              <a:gd name="adj" fmla="val 1851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628" name="矩形 627">
            <a:extLst xmlns:a="http://schemas.openxmlformats.org/drawingml/2006/main">
              <a:ext uri="{FF2B5EF4-FFF2-40B4-BE49-F238E27FC236}">
                <a16:creationId xmlns:a16="http://schemas.microsoft.com/office/drawing/2014/main" id="{5B3DA982-0373-46F8-8FE8-AE00B0F5747E}"/>
              </a:ext>
            </a:extLst>
          </p:cNvPr>
          <p:cNvSpPr>
            <a:spLocks xmlns:a="http://schemas.openxmlformats.org/drawingml/2006/main" noGrp="1"/>
          </p:cNvSpPr>
          <p:nvPr/>
        </p:nvSpPr>
        <p:spPr>
          <a:xfrm xmlns:a="http://schemas.openxmlformats.org/drawingml/2006/main">
            <a:off x="7658100" y="2581275"/>
            <a:ext cx="685800" cy="209550"/>
          </a:xfrm>
          <a:prstGeom xmlns:a="http://schemas.openxmlformats.org/drawingml/2006/main" prst="rect">
            <a:avLst/>
          </a:prstGeom>
        </p:spPr>
        <p:txBody>
          <a:bodyPr xmlns:a="http://schemas.openxmlformats.org/drawingml/2006/main" wrap="none" lIns="0" tIns="0" rIns="0" bIns="0">
            <a:normAutofit fontScale="22154"/>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A2230"/>
                </a:solidFill>
                <a:latin typeface="微软雅黑"/>
                <a:ea typeface="微软雅黑"/>
                <a:cs typeface="微软雅黑"/>
              </a:rPr>
              <a:t>现代生态</a:t>
            </a:r>
          </a:p>
          <a:p xmlns:a="http://schemas.openxmlformats.org/drawingml/2006/main">
            <a:pPr marL="0">
              <a:lnSpc>
                <a:spcPct val="100000"/>
              </a:lnSpc>
              <a:spcBef>
                <a:spcPts val="0"/>
              </a:spcBef>
              <a:spcAft>
                <a:spcPts val="0"/>
              </a:spcAft>
              <a:buNone/>
            </a:pPr>
            <a:r>
              <a:rPr sz="2960" b="1">
                <a:solidFill>
                  <a:srgbClr val="1A2230"/>
                </a:solidFill>
                <a:latin typeface="微软雅黑"/>
                <a:ea typeface="微软雅黑"/>
                <a:cs typeface="微软雅黑"/>
              </a:rPr>
              <a:t>modern ecology</a:t>
            </a:r>
          </a:p>
        </p:txBody>
      </p:sp>
      <p:sp>
        <p:nvSpPr>
          <p:cNvPr id="629" name="圆角矩形 628">
            <a:extLst xmlns:a="http://schemas.openxmlformats.org/drawingml/2006/main">
              <a:ext uri="{FF2B5EF4-FFF2-40B4-BE49-F238E27FC236}">
                <a16:creationId xmlns:a16="http://schemas.microsoft.com/office/drawing/2014/main" id="{E24FF07C-36AF-458F-A4F4-FA0FB3CB8585}"/>
              </a:ext>
            </a:extLst>
          </p:cNvPr>
          <p:cNvSpPr>
            <a:spLocks xmlns:a="http://schemas.openxmlformats.org/drawingml/2006/main" noGrp="1"/>
          </p:cNvSpPr>
          <p:nvPr/>
        </p:nvSpPr>
        <p:spPr>
          <a:xfrm xmlns:a="http://schemas.openxmlformats.org/drawingml/2006/main">
            <a:off x="4181475" y="3114675"/>
            <a:ext cx="7553325" cy="1800225"/>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630" name="矩形 629">
            <a:extLst xmlns:a="http://schemas.openxmlformats.org/drawingml/2006/main">
              <a:ext uri="{FF2B5EF4-FFF2-40B4-BE49-F238E27FC236}">
                <a16:creationId xmlns:a16="http://schemas.microsoft.com/office/drawing/2014/main" id="{025012BE-54B5-423E-BF74-15DCB5993388}"/>
              </a:ext>
            </a:extLst>
          </p:cNvPr>
          <p:cNvSpPr>
            <a:spLocks xmlns:a="http://schemas.openxmlformats.org/drawingml/2006/main" noGrp="1"/>
          </p:cNvSpPr>
          <p:nvPr/>
        </p:nvSpPr>
        <p:spPr>
          <a:xfrm xmlns:a="http://schemas.openxmlformats.org/drawingml/2006/main">
            <a:off x="4410075" y="3343275"/>
            <a:ext cx="70961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0E3F8C"/>
                </a:solidFill>
                <a:latin typeface="微软雅黑"/>
                <a:ea typeface="微软雅黑"/>
                <a:cs typeface="微软雅黑"/>
              </a:rPr>
              <a:t>后继方向（了解即可，不做考核要求）</a:t>
            </a:r>
          </a:p>
          <a:p xmlns:a="http://schemas.openxmlformats.org/drawingml/2006/main">
            <a:pPr marL="0">
              <a:lnSpc>
                <a:spcPct val="100000"/>
              </a:lnSpc>
              <a:spcBef>
                <a:spcPts val="0"/>
              </a:spcBef>
              <a:spcAft>
                <a:spcPts val="0"/>
              </a:spcAft>
              <a:buNone/>
            </a:pPr>
            <a:r>
              <a:rPr sz="2960" b="1">
                <a:solidFill>
                  <a:srgbClr val="0E3F8C"/>
                </a:solidFill>
                <a:latin typeface="微软雅黑"/>
                <a:ea typeface="微软雅黑"/>
                <a:cs typeface="微软雅黑"/>
              </a:rPr>
              <a:t>Future direction (just understand it, no assessment requirements)</a:t>
            </a:r>
          </a:p>
        </p:txBody>
      </p:sp>
      <p:sp>
        <p:nvSpPr>
          <p:cNvPr id="631" name="圆角矩形 630">
            <a:extLst xmlns:a="http://schemas.openxmlformats.org/drawingml/2006/main">
              <a:ext uri="{FF2B5EF4-FFF2-40B4-BE49-F238E27FC236}">
                <a16:creationId xmlns:a16="http://schemas.microsoft.com/office/drawing/2014/main" id="{91089AE2-AB2B-468A-BEAC-DDF2EDC7E0D1}"/>
              </a:ext>
            </a:extLst>
          </p:cNvPr>
          <p:cNvSpPr>
            <a:spLocks xmlns:a="http://schemas.openxmlformats.org/drawingml/2006/main" noGrp="1"/>
          </p:cNvSpPr>
          <p:nvPr/>
        </p:nvSpPr>
        <p:spPr>
          <a:xfrm xmlns:a="http://schemas.openxmlformats.org/drawingml/2006/main">
            <a:off x="4410075" y="3686175"/>
            <a:ext cx="1343025" cy="1000125"/>
          </a:xfrm>
          <a:prstGeom xmlns:a="http://schemas.openxmlformats.org/drawingml/2006/main" prst="roundRect">
            <a:avLst>
              <a:gd name="adj" fmla="val 761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32" name="矩形 631">
            <a:extLst xmlns:a="http://schemas.openxmlformats.org/drawingml/2006/main">
              <a:ext uri="{FF2B5EF4-FFF2-40B4-BE49-F238E27FC236}">
                <a16:creationId xmlns:a16="http://schemas.microsoft.com/office/drawing/2014/main" id="{07CE8405-08C5-40CC-8A7C-A7F21DBCE135}"/>
              </a:ext>
            </a:extLst>
          </p:cNvPr>
          <p:cNvSpPr>
            <a:spLocks xmlns:a="http://schemas.openxmlformats.org/drawingml/2006/main" noGrp="1"/>
          </p:cNvSpPr>
          <p:nvPr/>
        </p:nvSpPr>
        <p:spPr>
          <a:xfrm xmlns:a="http://schemas.openxmlformats.org/drawingml/2006/main">
            <a:off x="4505325" y="3800475"/>
            <a:ext cx="11525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企业级 / Web</a:t>
            </a:r>
          </a:p>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Enterprise/Web</a:t>
            </a:r>
          </a:p>
        </p:txBody>
      </p:sp>
      <p:sp>
        <p:nvSpPr>
          <p:cNvPr id="633" name="矩形 632">
            <a:extLst xmlns:a="http://schemas.openxmlformats.org/drawingml/2006/main">
              <a:ext uri="{FF2B5EF4-FFF2-40B4-BE49-F238E27FC236}">
                <a16:creationId xmlns:a16="http://schemas.microsoft.com/office/drawing/2014/main" id="{4DBF7B61-F28F-42F4-8B78-BC25C5404783}"/>
              </a:ext>
            </a:extLst>
          </p:cNvPr>
          <p:cNvSpPr>
            <a:spLocks xmlns:a="http://schemas.openxmlformats.org/drawingml/2006/main" noGrp="1"/>
          </p:cNvSpPr>
          <p:nvPr/>
        </p:nvSpPr>
        <p:spPr>
          <a:xfrm xmlns:a="http://schemas.openxmlformats.org/drawingml/2006/main">
            <a:off x="4505325" y="4038600"/>
            <a:ext cx="1152525" cy="533400"/>
          </a:xfrm>
          <a:prstGeom xmlns:a="http://schemas.openxmlformats.org/drawingml/2006/main" prst="rect">
            <a:avLst/>
          </a:prstGeom>
        </p:spPr>
        <p:txBody>
          <a:bodyPr xmlns:a="http://schemas.openxmlformats.org/drawingml/2006/main" wrap="square" lIns="0" tIns="0" rIns="0" bIns="0">
            <a:normAutofit/>
          </a:bodyPr>
          <a:lstStyle xmlns:a="http://schemas.openxmlformats.org/drawingml/2006/main"/>
          <a:p xmlns:a="http://schemas.openxmlformats.org/drawingml/2006/main">
            <a:pPr>
              <a:lnSpc>
                <a:spcPct val="145000"/>
              </a:lnSpc>
              <a:buNone/>
            </a:pPr>
            <a:r>
              <a:rPr sz="1200">
                <a:solidFill>
                  <a:srgbClr val="1A2230"/>
                </a:solidFill>
                <a:latin typeface="微软雅黑"/>
                <a:ea typeface="微软雅黑"/>
                <a:cs typeface="微软雅黑"/>
              </a:rPr>
              <a:t>Spring Boot · Jakarta EE</a:t>
            </a:r>
            <a:endParaRPr sz="1200">
              <a:solidFill>
                <a:srgbClr val="1A2230"/>
              </a:solidFill>
              <a:latin typeface="微软雅黑"/>
              <a:ea typeface="微软雅黑"/>
              <a:cs typeface="微软雅黑"/>
            </a:endParaRPr>
          </a:p>
        </p:txBody>
      </p:sp>
      <p:sp>
        <p:nvSpPr>
          <p:cNvPr id="634" name="圆角矩形 633">
            <a:extLst xmlns:a="http://schemas.openxmlformats.org/drawingml/2006/main">
              <a:ext uri="{FF2B5EF4-FFF2-40B4-BE49-F238E27FC236}">
                <a16:creationId xmlns:a16="http://schemas.microsoft.com/office/drawing/2014/main" id="{CDC9F7C7-57A8-4537-A3AA-747B60279337}"/>
              </a:ext>
            </a:extLst>
          </p:cNvPr>
          <p:cNvSpPr>
            <a:spLocks xmlns:a="http://schemas.openxmlformats.org/drawingml/2006/main" noGrp="1"/>
          </p:cNvSpPr>
          <p:nvPr/>
        </p:nvSpPr>
        <p:spPr>
          <a:xfrm xmlns:a="http://schemas.openxmlformats.org/drawingml/2006/main">
            <a:off x="5848350" y="3686175"/>
            <a:ext cx="1343025" cy="1000125"/>
          </a:xfrm>
          <a:prstGeom xmlns:a="http://schemas.openxmlformats.org/drawingml/2006/main" prst="roundRect">
            <a:avLst>
              <a:gd name="adj" fmla="val 761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35" name="矩形 634">
            <a:extLst xmlns:a="http://schemas.openxmlformats.org/drawingml/2006/main">
              <a:ext uri="{FF2B5EF4-FFF2-40B4-BE49-F238E27FC236}">
                <a16:creationId xmlns:a16="http://schemas.microsoft.com/office/drawing/2014/main" id="{86A9615D-B7B2-489E-957E-979F9620A3A2}"/>
              </a:ext>
            </a:extLst>
          </p:cNvPr>
          <p:cNvSpPr>
            <a:spLocks xmlns:a="http://schemas.openxmlformats.org/drawingml/2006/main" noGrp="1"/>
          </p:cNvSpPr>
          <p:nvPr/>
        </p:nvSpPr>
        <p:spPr>
          <a:xfrm xmlns:a="http://schemas.openxmlformats.org/drawingml/2006/main">
            <a:off x="5943600" y="3800475"/>
            <a:ext cx="11525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移动端</a:t>
            </a:r>
          </a:p>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Mobile terminal</a:t>
            </a:r>
          </a:p>
        </p:txBody>
      </p:sp>
      <p:sp>
        <p:nvSpPr>
          <p:cNvPr id="636" name="矩形 635">
            <a:extLst xmlns:a="http://schemas.openxmlformats.org/drawingml/2006/main">
              <a:ext uri="{FF2B5EF4-FFF2-40B4-BE49-F238E27FC236}">
                <a16:creationId xmlns:a16="http://schemas.microsoft.com/office/drawing/2014/main" id="{EE0B8795-FC7B-4761-8FDE-E27800388D30}"/>
              </a:ext>
            </a:extLst>
          </p:cNvPr>
          <p:cNvSpPr>
            <a:spLocks xmlns:a="http://schemas.openxmlformats.org/drawingml/2006/main" noGrp="1"/>
          </p:cNvSpPr>
          <p:nvPr/>
        </p:nvSpPr>
        <p:spPr>
          <a:xfrm xmlns:a="http://schemas.openxmlformats.org/drawingml/2006/main">
            <a:off x="5943600" y="4038600"/>
            <a:ext cx="1323975" cy="533400"/>
          </a:xfrm>
          <a:prstGeom xmlns:a="http://schemas.openxmlformats.org/drawingml/2006/main" prst="rect">
            <a:avLst/>
          </a:prstGeom>
        </p:spPr>
        <p:txBody>
          <a:bodyPr xmlns:a="http://schemas.openxmlformats.org/drawingml/2006/main" wrap="square" lIns="0" tIns="0" rIns="0" bIns="0">
            <a:normAutofit/>
          </a:bodyPr>
          <a:lstStyle xmlns:a="http://schemas.openxmlformats.org/drawingml/2006/main"/>
          <a:p xmlns:a="http://schemas.openxmlformats.org/drawingml/2006/main">
            <a:pPr>
              <a:lnSpc>
                <a:spcPct val="145000"/>
              </a:lnSpc>
              <a:buNone/>
            </a:pPr>
            <a:r>
              <a:rPr sz="1200">
                <a:solidFill>
                  <a:srgbClr val="1A2230"/>
                </a:solidFill>
                <a:latin typeface="微软雅黑"/>
                <a:ea typeface="微软雅黑"/>
                <a:cs typeface="微软雅黑"/>
              </a:rPr>
              <a:t>Android</a:t>
            </a:r>
            <a:r>
              <a:rPr sz="1200">
                <a:solidFill>
                  <a:srgbClr val="1A2230"/>
                </a:solidFill>
                <a:latin typeface="微软雅黑"/>
                <a:ea typeface="微软雅黑"/>
                <a:cs typeface="微软雅黑"/>
              </a:rPr>
              <a:t>（</a:t>
            </a:r>
            <a:r>
              <a:rPr sz="1200">
                <a:solidFill>
                  <a:srgbClr val="1A2230"/>
                </a:solidFill>
                <a:latin typeface="微软雅黑"/>
                <a:ea typeface="微软雅黑"/>
                <a:cs typeface="微软雅黑"/>
              </a:rPr>
              <a:t>Kotlin</a:t>
            </a:r>
            <a:r>
              <a:rPr sz="1200">
                <a:solidFill>
                  <a:srgbClr val="1A2230"/>
                </a:solidFill>
                <a:latin typeface="微软雅黑"/>
                <a:ea typeface="微软雅黑"/>
                <a:cs typeface="微软雅黑"/>
              </a:rPr>
              <a:t>）</a:t>
            </a:r>
            <a:r>
              <a:rPr sz="1200">
                <a:solidFill>
                  <a:srgbClr val="1A2230"/>
                </a:solidFill>
                <a:latin typeface="微软雅黑"/>
                <a:ea typeface="微软雅黑"/>
                <a:cs typeface="微软雅黑"/>
              </a:rPr>
              <a:t> · HarmonyOS</a:t>
            </a:r>
            <a:endParaRPr sz="1200">
              <a:solidFill>
                <a:srgbClr val="1A2230"/>
              </a:solidFill>
              <a:latin typeface="微软雅黑"/>
              <a:ea typeface="微软雅黑"/>
              <a:cs typeface="微软雅黑"/>
            </a:endParaRPr>
          </a:p>
        </p:txBody>
      </p:sp>
      <p:sp>
        <p:nvSpPr>
          <p:cNvPr id="637" name="圆角矩形 636">
            <a:extLst xmlns:a="http://schemas.openxmlformats.org/drawingml/2006/main">
              <a:ext uri="{FF2B5EF4-FFF2-40B4-BE49-F238E27FC236}">
                <a16:creationId xmlns:a16="http://schemas.microsoft.com/office/drawing/2014/main" id="{05C144D7-37E0-4DF0-A7BE-12635E0B353B}"/>
              </a:ext>
            </a:extLst>
          </p:cNvPr>
          <p:cNvSpPr>
            <a:spLocks xmlns:a="http://schemas.openxmlformats.org/drawingml/2006/main" noGrp="1"/>
          </p:cNvSpPr>
          <p:nvPr/>
        </p:nvSpPr>
        <p:spPr>
          <a:xfrm xmlns:a="http://schemas.openxmlformats.org/drawingml/2006/main">
            <a:off x="7286625" y="3686175"/>
            <a:ext cx="1343025" cy="1000125"/>
          </a:xfrm>
          <a:prstGeom xmlns:a="http://schemas.openxmlformats.org/drawingml/2006/main" prst="roundRect">
            <a:avLst>
              <a:gd name="adj" fmla="val 761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38" name="矩形 637">
            <a:extLst xmlns:a="http://schemas.openxmlformats.org/drawingml/2006/main">
              <a:ext uri="{FF2B5EF4-FFF2-40B4-BE49-F238E27FC236}">
                <a16:creationId xmlns:a16="http://schemas.microsoft.com/office/drawing/2014/main" id="{96726878-C264-4FD6-87CB-9F442CCD5C06}"/>
              </a:ext>
            </a:extLst>
          </p:cNvPr>
          <p:cNvSpPr>
            <a:spLocks xmlns:a="http://schemas.openxmlformats.org/drawingml/2006/main" noGrp="1"/>
          </p:cNvSpPr>
          <p:nvPr/>
        </p:nvSpPr>
        <p:spPr>
          <a:xfrm xmlns:a="http://schemas.openxmlformats.org/drawingml/2006/main">
            <a:off x="7381875" y="3800475"/>
            <a:ext cx="11525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数据交换</a:t>
            </a:r>
          </a:p>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data exchange</a:t>
            </a:r>
          </a:p>
        </p:txBody>
      </p:sp>
      <p:sp>
        <p:nvSpPr>
          <p:cNvPr id="639" name="矩形 638">
            <a:extLst xmlns:a="http://schemas.openxmlformats.org/drawingml/2006/main">
              <a:ext uri="{FF2B5EF4-FFF2-40B4-BE49-F238E27FC236}">
                <a16:creationId xmlns:a16="http://schemas.microsoft.com/office/drawing/2014/main" id="{79D9F8AB-B9DC-4A2B-A7FB-6F02A7FD2821}"/>
              </a:ext>
            </a:extLst>
          </p:cNvPr>
          <p:cNvSpPr>
            <a:spLocks xmlns:a="http://schemas.openxmlformats.org/drawingml/2006/main" noGrp="1"/>
          </p:cNvSpPr>
          <p:nvPr/>
        </p:nvSpPr>
        <p:spPr>
          <a:xfrm xmlns:a="http://schemas.openxmlformats.org/drawingml/2006/main">
            <a:off x="7381875" y="4038600"/>
            <a:ext cx="1152525" cy="2667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45000"/>
              </a:lnSpc>
              <a:buNone/>
            </a:pPr>
            <a:r>
              <a:rPr sz="1200">
                <a:solidFill>
                  <a:srgbClr val="1A2230"/>
                </a:solidFill>
                <a:latin typeface="微软雅黑"/>
                <a:ea typeface="微软雅黑"/>
                <a:cs typeface="微软雅黑"/>
              </a:rPr>
              <a:t>JSON</a:t>
            </a:r>
            <a:endParaRPr sz="1200">
              <a:solidFill>
                <a:srgbClr val="1A2230"/>
              </a:solidFill>
              <a:latin typeface="微软雅黑"/>
              <a:ea typeface="微软雅黑"/>
              <a:cs typeface="微软雅黑"/>
            </a:endParaRPr>
          </a:p>
        </p:txBody>
      </p:sp>
      <p:sp>
        <p:nvSpPr>
          <p:cNvPr id="640" name="圆角矩形 639">
            <a:extLst xmlns:a="http://schemas.openxmlformats.org/drawingml/2006/main">
              <a:ext uri="{FF2B5EF4-FFF2-40B4-BE49-F238E27FC236}">
                <a16:creationId xmlns:a16="http://schemas.microsoft.com/office/drawing/2014/main" id="{DACCFA3E-7BA8-4256-B1AC-BA9C84C387B5}"/>
              </a:ext>
            </a:extLst>
          </p:cNvPr>
          <p:cNvSpPr>
            <a:spLocks xmlns:a="http://schemas.openxmlformats.org/drawingml/2006/main" noGrp="1"/>
          </p:cNvSpPr>
          <p:nvPr/>
        </p:nvSpPr>
        <p:spPr>
          <a:xfrm xmlns:a="http://schemas.openxmlformats.org/drawingml/2006/main">
            <a:off x="8724900" y="3686175"/>
            <a:ext cx="1343025" cy="1000125"/>
          </a:xfrm>
          <a:prstGeom xmlns:a="http://schemas.openxmlformats.org/drawingml/2006/main" prst="roundRect">
            <a:avLst>
              <a:gd name="adj" fmla="val 761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41" name="矩形 640">
            <a:extLst xmlns:a="http://schemas.openxmlformats.org/drawingml/2006/main">
              <a:ext uri="{FF2B5EF4-FFF2-40B4-BE49-F238E27FC236}">
                <a16:creationId xmlns:a16="http://schemas.microsoft.com/office/drawing/2014/main" id="{B2CCE786-1D92-4E0A-ADD6-2D3236CAC1D3}"/>
              </a:ext>
            </a:extLst>
          </p:cNvPr>
          <p:cNvSpPr>
            <a:spLocks xmlns:a="http://schemas.openxmlformats.org/drawingml/2006/main" noGrp="1"/>
          </p:cNvSpPr>
          <p:nvPr/>
        </p:nvSpPr>
        <p:spPr>
          <a:xfrm xmlns:a="http://schemas.openxmlformats.org/drawingml/2006/main">
            <a:off x="8820150" y="3800475"/>
            <a:ext cx="11525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大数据 / 云</a:t>
            </a:r>
          </a:p>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Big Data/Cloud</a:t>
            </a:r>
          </a:p>
        </p:txBody>
      </p:sp>
      <p:sp>
        <p:nvSpPr>
          <p:cNvPr id="642" name="矩形 641">
            <a:extLst xmlns:a="http://schemas.openxmlformats.org/drawingml/2006/main">
              <a:ext uri="{FF2B5EF4-FFF2-40B4-BE49-F238E27FC236}">
                <a16:creationId xmlns:a16="http://schemas.microsoft.com/office/drawing/2014/main" id="{EB51F0F0-2004-49CC-9AB8-DE211FE50C39}"/>
              </a:ext>
            </a:extLst>
          </p:cNvPr>
          <p:cNvSpPr>
            <a:spLocks xmlns:a="http://schemas.openxmlformats.org/drawingml/2006/main" noGrp="1"/>
          </p:cNvSpPr>
          <p:nvPr/>
        </p:nvSpPr>
        <p:spPr>
          <a:xfrm xmlns:a="http://schemas.openxmlformats.org/drawingml/2006/main">
            <a:off x="8820150" y="4038600"/>
            <a:ext cx="1152525" cy="533400"/>
          </a:xfrm>
          <a:prstGeom xmlns:a="http://schemas.openxmlformats.org/drawingml/2006/main" prst="rect">
            <a:avLst/>
          </a:prstGeom>
        </p:spPr>
        <p:txBody>
          <a:bodyPr xmlns:a="http://schemas.openxmlformats.org/drawingml/2006/main" wrap="square" lIns="0" tIns="0" rIns="0" bIns="0">
            <a:normAutofit/>
          </a:bodyPr>
          <a:lstStyle xmlns:a="http://schemas.openxmlformats.org/drawingml/2006/main"/>
          <a:p xmlns:a="http://schemas.openxmlformats.org/drawingml/2006/main">
            <a:pPr>
              <a:lnSpc>
                <a:spcPct val="145000"/>
              </a:lnSpc>
              <a:buNone/>
            </a:pPr>
            <a:r>
              <a:rPr sz="1200">
                <a:solidFill>
                  <a:srgbClr val="1A2230"/>
                </a:solidFill>
                <a:latin typeface="微软雅黑"/>
                <a:ea typeface="微软雅黑"/>
                <a:cs typeface="微软雅黑"/>
              </a:rPr>
              <a:t>Hadoop · Spark · Flink</a:t>
            </a:r>
            <a:endParaRPr sz="1200">
              <a:solidFill>
                <a:srgbClr val="1A2230"/>
              </a:solidFill>
              <a:latin typeface="微软雅黑"/>
              <a:ea typeface="微软雅黑"/>
              <a:cs typeface="微软雅黑"/>
            </a:endParaRPr>
          </a:p>
        </p:txBody>
      </p:sp>
      <p:sp>
        <p:nvSpPr>
          <p:cNvPr id="643" name="圆角矩形 642">
            <a:extLst xmlns:a="http://schemas.openxmlformats.org/drawingml/2006/main">
              <a:ext uri="{FF2B5EF4-FFF2-40B4-BE49-F238E27FC236}">
                <a16:creationId xmlns:a16="http://schemas.microsoft.com/office/drawing/2014/main" id="{87A8C065-49D5-49EE-891F-D672D554BF05}"/>
              </a:ext>
            </a:extLst>
          </p:cNvPr>
          <p:cNvSpPr>
            <a:spLocks xmlns:a="http://schemas.openxmlformats.org/drawingml/2006/main" noGrp="1"/>
          </p:cNvSpPr>
          <p:nvPr/>
        </p:nvSpPr>
        <p:spPr>
          <a:xfrm xmlns:a="http://schemas.openxmlformats.org/drawingml/2006/main">
            <a:off x="10163175" y="3686175"/>
            <a:ext cx="1343025" cy="1000125"/>
          </a:xfrm>
          <a:prstGeom xmlns:a="http://schemas.openxmlformats.org/drawingml/2006/main" prst="roundRect">
            <a:avLst>
              <a:gd name="adj" fmla="val 761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644" name="矩形 643">
            <a:extLst xmlns:a="http://schemas.openxmlformats.org/drawingml/2006/main">
              <a:ext uri="{FF2B5EF4-FFF2-40B4-BE49-F238E27FC236}">
                <a16:creationId xmlns:a16="http://schemas.microsoft.com/office/drawing/2014/main" id="{69A64AED-599A-41F7-9737-A17A245BC6F1}"/>
              </a:ext>
            </a:extLst>
          </p:cNvPr>
          <p:cNvSpPr>
            <a:spLocks xmlns:a="http://schemas.openxmlformats.org/drawingml/2006/main" noGrp="1"/>
          </p:cNvSpPr>
          <p:nvPr/>
        </p:nvSpPr>
        <p:spPr>
          <a:xfrm xmlns:a="http://schemas.openxmlformats.org/drawingml/2006/main">
            <a:off x="10258425" y="3800475"/>
            <a:ext cx="11525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AI / 服务端</a:t>
            </a:r>
          </a:p>
          <a:p xmlns:a="http://schemas.openxmlformats.org/drawingml/2006/main">
            <a:pPr marL="0">
              <a:lnSpc>
                <a:spcPct val="100000"/>
              </a:lnSpc>
              <a:spcBef>
                <a:spcPts val="0"/>
              </a:spcBef>
              <a:spcAft>
                <a:spcPts val="0"/>
              </a:spcAft>
              <a:buNone/>
            </a:pPr>
            <a:r>
              <a:rPr sz="2790" b="1">
                <a:solidFill>
                  <a:srgbClr val="1E4FA8"/>
                </a:solidFill>
                <a:latin typeface="微软雅黑"/>
                <a:ea typeface="微软雅黑"/>
                <a:cs typeface="微软雅黑"/>
              </a:rPr>
              <a:t>AI / server</a:t>
            </a:r>
          </a:p>
        </p:txBody>
      </p:sp>
      <p:sp>
        <p:nvSpPr>
          <p:cNvPr id="645" name="矩形 644">
            <a:extLst xmlns:a="http://schemas.openxmlformats.org/drawingml/2006/main">
              <a:ext uri="{FF2B5EF4-FFF2-40B4-BE49-F238E27FC236}">
                <a16:creationId xmlns:a16="http://schemas.microsoft.com/office/drawing/2014/main" id="{B961C04E-1EA5-456B-A4EF-C52130D025B8}"/>
              </a:ext>
            </a:extLst>
          </p:cNvPr>
          <p:cNvSpPr>
            <a:spLocks xmlns:a="http://schemas.openxmlformats.org/drawingml/2006/main" noGrp="1"/>
          </p:cNvSpPr>
          <p:nvPr/>
        </p:nvSpPr>
        <p:spPr>
          <a:xfrm xmlns:a="http://schemas.openxmlformats.org/drawingml/2006/main">
            <a:off x="10258425" y="4038600"/>
            <a:ext cx="1152525" cy="533400"/>
          </a:xfrm>
          <a:prstGeom xmlns:a="http://schemas.openxmlformats.org/drawingml/2006/main" prst="rect">
            <a:avLst/>
          </a:prstGeom>
        </p:spPr>
        <p:txBody>
          <a:bodyPr xmlns:a="http://schemas.openxmlformats.org/drawingml/2006/main" wrap="square" lIns="0" tIns="0" rIns="0" bIns="0">
            <a:normAutofit fontScale="33270"/>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Python 工具链 + Java 后端</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Python toolchain + Java backend</a:t>
            </a:r>
          </a:p>
        </p:txBody>
      </p:sp>
      <p:sp>
        <p:nvSpPr>
          <p:cNvPr id="646" name="矩形 645">
            <a:extLst xmlns:a="http://schemas.openxmlformats.org/drawingml/2006/main">
              <a:ext uri="{FF2B5EF4-FFF2-40B4-BE49-F238E27FC236}">
                <a16:creationId xmlns:a16="http://schemas.microsoft.com/office/drawing/2014/main" id="{2D1307BE-4A3C-47A7-B21A-0732D17418DE}"/>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6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5117165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48" name="矩形 647">
            <a:extLst xmlns:a="http://schemas.openxmlformats.org/drawingml/2006/main">
              <a:ext uri="{FF2B5EF4-FFF2-40B4-BE49-F238E27FC236}">
                <a16:creationId xmlns:a16="http://schemas.microsoft.com/office/drawing/2014/main" id="{1CF9F1FF-461F-4978-A12B-C99CC45B2D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49" name="矩形 648">
            <a:extLst xmlns:a="http://schemas.openxmlformats.org/drawingml/2006/main">
              <a:ext uri="{FF2B5EF4-FFF2-40B4-BE49-F238E27FC236}">
                <a16:creationId xmlns:a16="http://schemas.microsoft.com/office/drawing/2014/main" id="{A0C358D5-ABB2-4A83-AD07-A38BB28A16D3}"/>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50" name="矩形 649">
            <a:extLst xmlns:a="http://schemas.openxmlformats.org/drawingml/2006/main">
              <a:ext uri="{FF2B5EF4-FFF2-40B4-BE49-F238E27FC236}">
                <a16:creationId xmlns:a16="http://schemas.microsoft.com/office/drawing/2014/main" id="{CBADE788-C656-468D-BEB2-FCAED0847F33}"/>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651" name="矩形 650">
            <a:extLst xmlns:a="http://schemas.openxmlformats.org/drawingml/2006/main">
              <a:ext uri="{FF2B5EF4-FFF2-40B4-BE49-F238E27FC236}">
                <a16:creationId xmlns:a16="http://schemas.microsoft.com/office/drawing/2014/main" id="{4853E73B-D358-42FE-8771-C8D558109E62}"/>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§1.1 地位</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§1.1 Status</a:t>
            </a:r>
          </a:p>
        </p:txBody>
      </p:sp>
      <p:sp>
        <p:nvSpPr>
          <p:cNvPr id="652" name="矩形 651">
            <a:extLst xmlns:a="http://schemas.openxmlformats.org/drawingml/2006/main">
              <a:ext uri="{FF2B5EF4-FFF2-40B4-BE49-F238E27FC236}">
                <a16:creationId xmlns:a16="http://schemas.microsoft.com/office/drawing/2014/main" id="{35DB5D72-F8B4-4D26-B6BA-80EB1BD7FF59}"/>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的</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地位</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status</a:t>
            </a:r>
          </a:p>
        </p:txBody>
      </p:sp>
      <p:sp>
        <p:nvSpPr>
          <p:cNvPr id="653" name="矩形 652">
            <a:extLst xmlns:a="http://schemas.openxmlformats.org/drawingml/2006/main">
              <a:ext uri="{FF2B5EF4-FFF2-40B4-BE49-F238E27FC236}">
                <a16:creationId xmlns:a16="http://schemas.microsoft.com/office/drawing/2014/main" id="{65CDB232-21B0-4410-AD6B-E7D9F5CEA86C}"/>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4" name="矩形 653">
            <a:extLst xmlns:a="http://schemas.openxmlformats.org/drawingml/2006/main">
              <a:ext uri="{FF2B5EF4-FFF2-40B4-BE49-F238E27FC236}">
                <a16:creationId xmlns:a16="http://schemas.microsoft.com/office/drawing/2014/main" id="{93B0587E-AD7F-48D4-81E5-62DBC1B031E7}"/>
              </a:ext>
            </a:extLst>
          </p:cNvPr>
          <p:cNvSpPr>
            <a:spLocks xmlns:a="http://schemas.openxmlformats.org/drawingml/2006/main" noGrp="1"/>
          </p:cNvSpPr>
          <p:nvPr/>
        </p:nvSpPr>
        <p:spPr>
          <a:xfrm xmlns:a="http://schemas.openxmlformats.org/drawingml/2006/main">
            <a:off x="457200" y="3190875"/>
            <a:ext cx="3381375" cy="781050"/>
          </a:xfrm>
          <a:prstGeom xmlns:a="http://schemas.openxmlformats.org/drawingml/2006/main" prst="rect">
            <a:avLst/>
          </a:prstGeom>
        </p:spPr>
        <p:txBody>
          <a:bodyPr xmlns:a="http://schemas.openxmlformats.org/drawingml/2006/main" wrap="square" lIns="0" tIns="0" rIns="0" bIns="0">
            <a:normAutofit fontScale="3741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从网络、语言、需求三个维度理解 Java 的重要性</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Understand the importance of Java from the three dimensions of network, language, and requirements</a:t>
            </a:r>
          </a:p>
        </p:txBody>
      </p:sp>
      <p:sp>
        <p:nvSpPr>
          <p:cNvPr id="655" name="圆角矩形 654">
            <a:extLst xmlns:a="http://schemas.openxmlformats.org/drawingml/2006/main">
              <a:ext uri="{FF2B5EF4-FFF2-40B4-BE49-F238E27FC236}">
                <a16:creationId xmlns:a16="http://schemas.microsoft.com/office/drawing/2014/main" id="{5BA2A55E-C88D-440D-837A-1DD96412EE57}"/>
              </a:ext>
            </a:extLst>
          </p:cNvPr>
          <p:cNvSpPr>
            <a:spLocks xmlns:a="http://schemas.openxmlformats.org/drawingml/2006/main" noGrp="1"/>
          </p:cNvSpPr>
          <p:nvPr/>
        </p:nvSpPr>
        <p:spPr>
          <a:xfrm xmlns:a="http://schemas.openxmlformats.org/drawingml/2006/main">
            <a:off x="4181475" y="1181100"/>
            <a:ext cx="7553325"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76200" dist="19050" dir="5400000">
              <a:srgbClr val="0F1C2E">
                <a:alpha val="6000"/>
              </a:srgbClr>
            </a:outerShdw>
          </a:effectLst>
        </p:spPr>
        <p:txBody>
          <a:bodyPr xmlns:a="http://schemas.openxmlformats.org/drawingml/2006/main"/>
          <a:lstStyle xmlns:a="http://schemas.openxmlformats.org/drawingml/2006/main"/>
          <a:p xmlns:a="http://schemas.openxmlformats.org/drawingml/2006/main"/>
        </p:txBody>
      </p:sp>
      <p:sp>
        <p:nvSpPr>
          <p:cNvPr id="656" name="矩形 655">
            <a:extLst xmlns:a="http://schemas.openxmlformats.org/drawingml/2006/main">
              <a:ext uri="{FF2B5EF4-FFF2-40B4-BE49-F238E27FC236}">
                <a16:creationId xmlns:a16="http://schemas.microsoft.com/office/drawing/2014/main" id="{5A6F0EDA-D5DB-4E9D-A16A-7BC60BA19C0E}"/>
              </a:ext>
            </a:extLst>
          </p:cNvPr>
          <p:cNvSpPr>
            <a:spLocks xmlns:a="http://schemas.openxmlformats.org/drawingml/2006/main" noGrp="1"/>
          </p:cNvSpPr>
          <p:nvPr/>
        </p:nvSpPr>
        <p:spPr>
          <a:xfrm xmlns:a="http://schemas.openxmlformats.org/drawingml/2006/main">
            <a:off x="4410075" y="1409700"/>
            <a:ext cx="70961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1.1.1 网络地位</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1.1.1 Network status</a:t>
            </a:r>
          </a:p>
        </p:txBody>
      </p:sp>
      <p:sp>
        <p:nvSpPr>
          <p:cNvPr id="657" name="矩形 656">
            <a:extLst xmlns:a="http://schemas.openxmlformats.org/drawingml/2006/main">
              <a:ext uri="{FF2B5EF4-FFF2-40B4-BE49-F238E27FC236}">
                <a16:creationId xmlns:a16="http://schemas.microsoft.com/office/drawing/2014/main" id="{76614AED-F45B-4554-B9D4-F0E2E6149D6C}"/>
              </a:ext>
            </a:extLst>
          </p:cNvPr>
          <p:cNvSpPr>
            <a:spLocks xmlns:a="http://schemas.openxmlformats.org/drawingml/2006/main" noGrp="1"/>
          </p:cNvSpPr>
          <p:nvPr/>
        </p:nvSpPr>
        <p:spPr>
          <a:xfrm xmlns:a="http://schemas.openxmlformats.org/drawingml/2006/main">
            <a:off x="4410075" y="1714500"/>
            <a:ext cx="7096125" cy="800100"/>
          </a:xfrm>
          <a:prstGeom xmlns:a="http://schemas.openxmlformats.org/drawingml/2006/main" prst="rect">
            <a:avLst/>
          </a:prstGeom>
        </p:spPr>
        <p:txBody>
          <a:bodyPr xmlns:a="http://schemas.openxmlformats.org/drawingml/2006/main" wrap="square" lIns="0" tIns="0" rIns="0" bIns="0">
            <a:normAutofit fontScale="31915"/>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的平台无关性让它成为编写网络应用程序的佼佼者；Java 也提供了许多以网络应用为核心的技术，特别适合网络应用软件的设计与开发。</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Java's platform independence makes it a leader in writing network applications; Java also provides many technologies with network applications as the core, which is particularly suitable for the design and development of network application software.</a:t>
            </a:r>
          </a:p>
        </p:txBody>
      </p:sp>
      <p:sp>
        <p:nvSpPr>
          <p:cNvPr id="658" name="圆角矩形 657">
            <a:extLst xmlns:a="http://schemas.openxmlformats.org/drawingml/2006/main">
              <a:ext uri="{FF2B5EF4-FFF2-40B4-BE49-F238E27FC236}">
                <a16:creationId xmlns:a16="http://schemas.microsoft.com/office/drawing/2014/main" id="{1A010BAA-64A4-43FF-8853-EF298C6CC8E4}"/>
              </a:ext>
            </a:extLst>
          </p:cNvPr>
          <p:cNvSpPr>
            <a:spLocks xmlns:a="http://schemas.openxmlformats.org/drawingml/2006/main" noGrp="1"/>
          </p:cNvSpPr>
          <p:nvPr/>
        </p:nvSpPr>
        <p:spPr>
          <a:xfrm xmlns:a="http://schemas.openxmlformats.org/drawingml/2006/main">
            <a:off x="4181475" y="2895600"/>
            <a:ext cx="7553325"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76200" dist="19050" dir="5400000">
              <a:srgbClr val="0F1C2E">
                <a:alpha val="6000"/>
              </a:srgbClr>
            </a:outerShdw>
          </a:effectLst>
        </p:spPr>
        <p:txBody>
          <a:bodyPr xmlns:a="http://schemas.openxmlformats.org/drawingml/2006/main"/>
          <a:lstStyle xmlns:a="http://schemas.openxmlformats.org/drawingml/2006/main"/>
          <a:p xmlns:a="http://schemas.openxmlformats.org/drawingml/2006/main"/>
        </p:txBody>
      </p:sp>
      <p:sp>
        <p:nvSpPr>
          <p:cNvPr id="659" name="矩形 658">
            <a:extLst xmlns:a="http://schemas.openxmlformats.org/drawingml/2006/main">
              <a:ext uri="{FF2B5EF4-FFF2-40B4-BE49-F238E27FC236}">
                <a16:creationId xmlns:a16="http://schemas.microsoft.com/office/drawing/2014/main" id="{2FA92560-2713-4E87-8F9D-4026559320DA}"/>
              </a:ext>
            </a:extLst>
          </p:cNvPr>
          <p:cNvSpPr>
            <a:spLocks xmlns:a="http://schemas.openxmlformats.org/drawingml/2006/main" noGrp="1"/>
          </p:cNvSpPr>
          <p:nvPr/>
        </p:nvSpPr>
        <p:spPr>
          <a:xfrm xmlns:a="http://schemas.openxmlformats.org/drawingml/2006/main">
            <a:off x="4410075" y="3124200"/>
            <a:ext cx="70961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1.1.2 语言地位</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1.1.2 Language status</a:t>
            </a:r>
          </a:p>
        </p:txBody>
      </p:sp>
      <p:sp>
        <p:nvSpPr>
          <p:cNvPr id="660" name="矩形 659">
            <a:extLst xmlns:a="http://schemas.openxmlformats.org/drawingml/2006/main">
              <a:ext uri="{FF2B5EF4-FFF2-40B4-BE49-F238E27FC236}">
                <a16:creationId xmlns:a16="http://schemas.microsoft.com/office/drawing/2014/main" id="{E1813FDB-9C87-4E0F-8CF3-B2312BBA98ED}"/>
              </a:ext>
            </a:extLst>
          </p:cNvPr>
          <p:cNvSpPr>
            <a:spLocks xmlns:a="http://schemas.openxmlformats.org/drawingml/2006/main" noGrp="1"/>
          </p:cNvSpPr>
          <p:nvPr/>
        </p:nvSpPr>
        <p:spPr>
          <a:xfrm xmlns:a="http://schemas.openxmlformats.org/drawingml/2006/main">
            <a:off x="4410075" y="3429000"/>
            <a:ext cx="7096125" cy="800100"/>
          </a:xfrm>
          <a:prstGeom xmlns:a="http://schemas.openxmlformats.org/drawingml/2006/main" prst="rect">
            <a:avLst/>
          </a:prstGeom>
        </p:spPr>
        <p:txBody>
          <a:bodyPr xmlns:a="http://schemas.openxmlformats.org/drawingml/2006/main" wrap="square" lIns="0" tIns="0" rIns="0" bIns="0">
            <a:normAutofit fontScale="3913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是一门优秀的面向对象语言。通过学习 Java，可以掌握怎样使用对象来完成任务、理解面向对象编程的基本思想。</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is an excellent object-oriented language. By learning Java, you can master how to use objects to complete tasks and understand the basic ideas of object-oriented programming.</a:t>
            </a:r>
          </a:p>
        </p:txBody>
      </p:sp>
      <p:sp>
        <p:nvSpPr>
          <p:cNvPr id="661" name="圆角矩形 660">
            <a:extLst xmlns:a="http://schemas.openxmlformats.org/drawingml/2006/main">
              <a:ext uri="{FF2B5EF4-FFF2-40B4-BE49-F238E27FC236}">
                <a16:creationId xmlns:a16="http://schemas.microsoft.com/office/drawing/2014/main" id="{C3BC9FFB-E1CB-4A00-9D2E-C97D29BAD665}"/>
              </a:ext>
            </a:extLst>
          </p:cNvPr>
          <p:cNvSpPr>
            <a:spLocks xmlns:a="http://schemas.openxmlformats.org/drawingml/2006/main" noGrp="1"/>
          </p:cNvSpPr>
          <p:nvPr/>
        </p:nvSpPr>
        <p:spPr>
          <a:xfrm xmlns:a="http://schemas.openxmlformats.org/drawingml/2006/main">
            <a:off x="4181475" y="4610100"/>
            <a:ext cx="7553325"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76200" dist="19050" dir="5400000">
              <a:srgbClr val="0F1C2E">
                <a:alpha val="6000"/>
              </a:srgbClr>
            </a:outerShdw>
          </a:effectLst>
        </p:spPr>
        <p:txBody>
          <a:bodyPr xmlns:a="http://schemas.openxmlformats.org/drawingml/2006/main"/>
          <a:lstStyle xmlns:a="http://schemas.openxmlformats.org/drawingml/2006/main"/>
          <a:p xmlns:a="http://schemas.openxmlformats.org/drawingml/2006/main"/>
        </p:txBody>
      </p:sp>
      <p:sp>
        <p:nvSpPr>
          <p:cNvPr id="662" name="矩形 661">
            <a:extLst xmlns:a="http://schemas.openxmlformats.org/drawingml/2006/main">
              <a:ext uri="{FF2B5EF4-FFF2-40B4-BE49-F238E27FC236}">
                <a16:creationId xmlns:a16="http://schemas.microsoft.com/office/drawing/2014/main" id="{874FF9E9-811A-442B-83EA-81FF8D746CB8}"/>
              </a:ext>
            </a:extLst>
          </p:cNvPr>
          <p:cNvSpPr>
            <a:spLocks xmlns:a="http://schemas.openxmlformats.org/drawingml/2006/main" noGrp="1"/>
          </p:cNvSpPr>
          <p:nvPr/>
        </p:nvSpPr>
        <p:spPr>
          <a:xfrm xmlns:a="http://schemas.openxmlformats.org/drawingml/2006/main">
            <a:off x="4410075" y="4838700"/>
            <a:ext cx="70961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1.1.3 需求地位</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1.1.3 Demand status</a:t>
            </a:r>
          </a:p>
        </p:txBody>
      </p:sp>
      <p:sp>
        <p:nvSpPr>
          <p:cNvPr id="663" name="矩形 662">
            <a:extLst xmlns:a="http://schemas.openxmlformats.org/drawingml/2006/main">
              <a:ext uri="{FF2B5EF4-FFF2-40B4-BE49-F238E27FC236}">
                <a16:creationId xmlns:a16="http://schemas.microsoft.com/office/drawing/2014/main" id="{D739441D-1313-4C4D-AB77-ED61C18355D5}"/>
              </a:ext>
            </a:extLst>
          </p:cNvPr>
          <p:cNvSpPr>
            <a:spLocks xmlns:a="http://schemas.openxmlformats.org/drawingml/2006/main" noGrp="1"/>
          </p:cNvSpPr>
          <p:nvPr/>
        </p:nvSpPr>
        <p:spPr>
          <a:xfrm xmlns:a="http://schemas.openxmlformats.org/drawingml/2006/main">
            <a:off x="4410075" y="5143500"/>
            <a:ext cx="7096125" cy="800100"/>
          </a:xfrm>
          <a:prstGeom xmlns:a="http://schemas.openxmlformats.org/drawingml/2006/main" prst="rect">
            <a:avLst/>
          </a:prstGeom>
        </p:spPr>
        <p:txBody>
          <a:bodyPr xmlns:a="http://schemas.openxmlformats.org/drawingml/2006/main" wrap="squar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IT 行业对 Java 人才的需求持续增长，掌握 Java 语言及其相关技术意味着较好的就业前景和工作酬金。</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demand for Java talents in the IT industry continues to grow. Mastering the Java and its related technologies means better employment prospects and work remuneration.</a:t>
            </a:r>
          </a:p>
        </p:txBody>
      </p:sp>
      <p:sp>
        <p:nvSpPr>
          <p:cNvPr id="664" name="矩形 663">
            <a:extLst xmlns:a="http://schemas.openxmlformats.org/drawingml/2006/main">
              <a:ext uri="{FF2B5EF4-FFF2-40B4-BE49-F238E27FC236}">
                <a16:creationId xmlns:a16="http://schemas.microsoft.com/office/drawing/2014/main" id="{81BE0DEE-75CA-49FA-BBCD-6F4ECB1022F0}"/>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7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976831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66" name="矩形 665">
            <a:extLst xmlns:a="http://schemas.openxmlformats.org/drawingml/2006/main">
              <a:ext uri="{FF2B5EF4-FFF2-40B4-BE49-F238E27FC236}">
                <a16:creationId xmlns:a16="http://schemas.microsoft.com/office/drawing/2014/main" id="{1EACF982-F5DF-494D-A373-87901D1C6B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67" name="矩形 666">
            <a:extLst xmlns:a="http://schemas.openxmlformats.org/drawingml/2006/main">
              <a:ext uri="{FF2B5EF4-FFF2-40B4-BE49-F238E27FC236}">
                <a16:creationId xmlns:a16="http://schemas.microsoft.com/office/drawing/2014/main" id="{11F0D078-543B-431A-A76E-D45579CED05F}"/>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68" name="矩形 667">
            <a:extLst xmlns:a="http://schemas.openxmlformats.org/drawingml/2006/main">
              <a:ext uri="{FF2B5EF4-FFF2-40B4-BE49-F238E27FC236}">
                <a16:creationId xmlns:a16="http://schemas.microsoft.com/office/drawing/2014/main" id="{6B30CFAE-549D-45E1-B3F9-7965D5D948A5}"/>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669" name="矩形 668">
            <a:extLst xmlns:a="http://schemas.openxmlformats.org/drawingml/2006/main">
              <a:ext uri="{FF2B5EF4-FFF2-40B4-BE49-F238E27FC236}">
                <a16:creationId xmlns:a16="http://schemas.microsoft.com/office/drawing/2014/main" id="{0AF5F207-D070-4DFF-830D-121D78728C9C}"/>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特点（一）</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Features (1)</a:t>
            </a:r>
          </a:p>
        </p:txBody>
      </p:sp>
      <p:sp>
        <p:nvSpPr>
          <p:cNvPr id="670" name="矩形 669">
            <a:extLst xmlns:a="http://schemas.openxmlformats.org/drawingml/2006/main">
              <a:ext uri="{FF2B5EF4-FFF2-40B4-BE49-F238E27FC236}">
                <a16:creationId xmlns:a16="http://schemas.microsoft.com/office/drawing/2014/main" id="{1D8A97F3-D147-467A-96C0-096AEFC5FDA3}"/>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的</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特点（一）</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Features (1)</a:t>
            </a:r>
          </a:p>
        </p:txBody>
      </p:sp>
      <p:sp>
        <p:nvSpPr>
          <p:cNvPr id="671" name="矩形 670">
            <a:extLst xmlns:a="http://schemas.openxmlformats.org/drawingml/2006/main">
              <a:ext uri="{FF2B5EF4-FFF2-40B4-BE49-F238E27FC236}">
                <a16:creationId xmlns:a16="http://schemas.microsoft.com/office/drawing/2014/main" id="{E7E21FEA-06AA-4F58-A841-919C33C7CB95}"/>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2" name="矩形 671">
            <a:extLst xmlns:a="http://schemas.openxmlformats.org/drawingml/2006/main">
              <a:ext uri="{FF2B5EF4-FFF2-40B4-BE49-F238E27FC236}">
                <a16:creationId xmlns:a16="http://schemas.microsoft.com/office/drawing/2014/main" id="{EB08EE58-5D1E-4145-8420-D425CF8796BD}"/>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6769"/>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简单 · 面向对象 · 平台无关</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Simple·Object-oriented·Platform-independent</a:t>
            </a:r>
          </a:p>
        </p:txBody>
      </p:sp>
      <p:sp>
        <p:nvSpPr>
          <p:cNvPr id="673" name="圆角矩形 672">
            <a:extLst xmlns:a="http://schemas.openxmlformats.org/drawingml/2006/main">
              <a:ext uri="{FF2B5EF4-FFF2-40B4-BE49-F238E27FC236}">
                <a16:creationId xmlns:a16="http://schemas.microsoft.com/office/drawing/2014/main" id="{99642EAA-C2DE-4577-970E-745AF387F207}"/>
              </a:ext>
            </a:extLst>
          </p:cNvPr>
          <p:cNvSpPr>
            <a:spLocks xmlns:a="http://schemas.openxmlformats.org/drawingml/2006/main" noGrp="1"/>
          </p:cNvSpPr>
          <p:nvPr/>
        </p:nvSpPr>
        <p:spPr>
          <a:xfrm xmlns:a="http://schemas.openxmlformats.org/drawingml/2006/main">
            <a:off x="4238625" y="1181100"/>
            <a:ext cx="7553325" cy="1562100"/>
          </a:xfrm>
          <a:prstGeom xmlns:a="http://schemas.openxmlformats.org/drawingml/2006/main" prst="roundRect">
            <a:avLst>
              <a:gd name="adj" fmla="val 609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74" name="任意多边形 673">
            <a:extLst xmlns:a="http://schemas.openxmlformats.org/drawingml/2006/main">
              <a:ext uri="{FF2B5EF4-FFF2-40B4-BE49-F238E27FC236}">
                <a16:creationId xmlns:a16="http://schemas.microsoft.com/office/drawing/2014/main" id="{DADC76FA-9957-4DE8-9A79-58236639FA9F}"/>
              </a:ext>
            </a:extLst>
          </p:cNvPr>
          <p:cNvSpPr>
            <a:spLocks xmlns:a="http://schemas.openxmlformats.org/drawingml/2006/main" noGrp="1"/>
          </p:cNvSpPr>
          <p:nvPr/>
        </p:nvSpPr>
        <p:spPr>
          <a:xfrm xmlns:a="http://schemas.openxmlformats.org/drawingml/2006/main">
            <a:off x="4238625" y="1181100"/>
            <a:ext cx="7553325" cy="1562100"/>
          </a:xfrm>
          <a:custGeom xmlns:a="http://schemas.openxmlformats.org/drawingml/2006/main">
            <a:pathLst>
              <a:path w="793" h="164">
                <a:moveTo>
                  <a:pt x="10" y="0"/>
                </a:moveTo>
                <a:cubicBezTo>
                  <a:pt x="8" y="0"/>
                  <a:pt x="6" y="2"/>
                  <a:pt x="6" y="4"/>
                </a:cubicBezTo>
                <a:lnTo>
                  <a:pt x="6" y="160"/>
                </a:lnTo>
                <a:cubicBezTo>
                  <a:pt x="6" y="162"/>
                  <a:pt x="8" y="164"/>
                  <a:pt x="10" y="164"/>
                </a:cubicBezTo>
                <a:cubicBezTo>
                  <a:pt x="4" y="164"/>
                  <a:pt x="0" y="159"/>
                  <a:pt x="0" y="15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5" name="矩形 674">
            <a:extLst xmlns:a="http://schemas.openxmlformats.org/drawingml/2006/main">
              <a:ext uri="{FF2B5EF4-FFF2-40B4-BE49-F238E27FC236}">
                <a16:creationId xmlns:a16="http://schemas.microsoft.com/office/drawing/2014/main" id="{48004473-67EA-4CA5-91F3-37BC32181D84}"/>
              </a:ext>
            </a:extLst>
          </p:cNvPr>
          <p:cNvSpPr>
            <a:spLocks xmlns:a="http://schemas.openxmlformats.org/drawingml/2006/main" noGrp="1"/>
          </p:cNvSpPr>
          <p:nvPr/>
        </p:nvSpPr>
        <p:spPr>
          <a:xfrm xmlns:a="http://schemas.openxmlformats.org/drawingml/2006/main">
            <a:off x="4467225" y="1409700"/>
            <a:ext cx="70389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1.2.1 简单</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1.2.1 Simple</a:t>
            </a:r>
          </a:p>
        </p:txBody>
      </p:sp>
      <p:sp>
        <p:nvSpPr>
          <p:cNvPr id="676" name="矩形 675">
            <a:extLst xmlns:a="http://schemas.openxmlformats.org/drawingml/2006/main">
              <a:ext uri="{FF2B5EF4-FFF2-40B4-BE49-F238E27FC236}">
                <a16:creationId xmlns:a16="http://schemas.microsoft.com/office/drawing/2014/main" id="{56C4B8DD-8737-43D0-9560-7A191DD538E0}"/>
              </a:ext>
            </a:extLst>
          </p:cNvPr>
          <p:cNvSpPr>
            <a:spLocks xmlns:a="http://schemas.openxmlformats.org/drawingml/2006/main" noGrp="1"/>
          </p:cNvSpPr>
          <p:nvPr/>
        </p:nvSpPr>
        <p:spPr>
          <a:xfrm xmlns:a="http://schemas.openxmlformats.org/drawingml/2006/main">
            <a:off x="4467225" y="1714500"/>
            <a:ext cx="7038975" cy="800100"/>
          </a:xfrm>
          <a:prstGeom xmlns:a="http://schemas.openxmlformats.org/drawingml/2006/main" prst="rect">
            <a:avLst/>
          </a:prstGeom>
        </p:spPr>
        <p:txBody>
          <a:bodyPr xmlns:a="http://schemas.openxmlformats.org/drawingml/2006/main" wrap="squar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比 C++ 简单。C++ 中许多容易混淆的概念，或者被 Java 弃之不用，或者以更清晰、更容易理解的方式实现。</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is simpler than C++. Many confusing concepts in C++ have either been abandoned in Java or implemented in a clearer, easier-to-understand way.</a:t>
            </a:r>
          </a:p>
        </p:txBody>
      </p:sp>
      <p:sp>
        <p:nvSpPr>
          <p:cNvPr id="677" name="圆角矩形 676">
            <a:extLst xmlns:a="http://schemas.openxmlformats.org/drawingml/2006/main">
              <a:ext uri="{FF2B5EF4-FFF2-40B4-BE49-F238E27FC236}">
                <a16:creationId xmlns:a16="http://schemas.microsoft.com/office/drawing/2014/main" id="{56601782-723B-467F-8C24-356FAA0D94B8}"/>
              </a:ext>
            </a:extLst>
          </p:cNvPr>
          <p:cNvSpPr>
            <a:spLocks xmlns:a="http://schemas.openxmlformats.org/drawingml/2006/main" noGrp="1"/>
          </p:cNvSpPr>
          <p:nvPr/>
        </p:nvSpPr>
        <p:spPr>
          <a:xfrm xmlns:a="http://schemas.openxmlformats.org/drawingml/2006/main">
            <a:off x="4238625" y="2895600"/>
            <a:ext cx="7553325" cy="1562100"/>
          </a:xfrm>
          <a:prstGeom xmlns:a="http://schemas.openxmlformats.org/drawingml/2006/main" prst="roundRect">
            <a:avLst>
              <a:gd name="adj" fmla="val 609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78" name="任意多边形 677">
            <a:extLst xmlns:a="http://schemas.openxmlformats.org/drawingml/2006/main">
              <a:ext uri="{FF2B5EF4-FFF2-40B4-BE49-F238E27FC236}">
                <a16:creationId xmlns:a16="http://schemas.microsoft.com/office/drawing/2014/main" id="{CA62E5E6-0354-4431-A2C1-CF8604D952EF}"/>
              </a:ext>
            </a:extLst>
          </p:cNvPr>
          <p:cNvSpPr>
            <a:spLocks xmlns:a="http://schemas.openxmlformats.org/drawingml/2006/main" noGrp="1"/>
          </p:cNvSpPr>
          <p:nvPr/>
        </p:nvSpPr>
        <p:spPr>
          <a:xfrm xmlns:a="http://schemas.openxmlformats.org/drawingml/2006/main">
            <a:off x="4238625" y="2895600"/>
            <a:ext cx="7553325" cy="1562100"/>
          </a:xfrm>
          <a:custGeom xmlns:a="http://schemas.openxmlformats.org/drawingml/2006/main">
            <a:pathLst>
              <a:path w="793" h="164">
                <a:moveTo>
                  <a:pt x="10" y="0"/>
                </a:moveTo>
                <a:cubicBezTo>
                  <a:pt x="8" y="0"/>
                  <a:pt x="6" y="2"/>
                  <a:pt x="6" y="4"/>
                </a:cubicBezTo>
                <a:lnTo>
                  <a:pt x="6" y="160"/>
                </a:lnTo>
                <a:cubicBezTo>
                  <a:pt x="6" y="162"/>
                  <a:pt x="8" y="164"/>
                  <a:pt x="10" y="164"/>
                </a:cubicBezTo>
                <a:cubicBezTo>
                  <a:pt x="4" y="164"/>
                  <a:pt x="0" y="159"/>
                  <a:pt x="0" y="15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9" name="矩形 678">
            <a:extLst xmlns:a="http://schemas.openxmlformats.org/drawingml/2006/main">
              <a:ext uri="{FF2B5EF4-FFF2-40B4-BE49-F238E27FC236}">
                <a16:creationId xmlns:a16="http://schemas.microsoft.com/office/drawing/2014/main" id="{EACDA7CE-9A3A-4380-A3C7-495AD8CFAE7E}"/>
              </a:ext>
            </a:extLst>
          </p:cNvPr>
          <p:cNvSpPr>
            <a:spLocks xmlns:a="http://schemas.openxmlformats.org/drawingml/2006/main" noGrp="1"/>
          </p:cNvSpPr>
          <p:nvPr/>
        </p:nvSpPr>
        <p:spPr>
          <a:xfrm xmlns:a="http://schemas.openxmlformats.org/drawingml/2006/main">
            <a:off x="4467225" y="3124200"/>
            <a:ext cx="70389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1.2.2 面向对象</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1.2.2 Object-oriented</a:t>
            </a:r>
          </a:p>
        </p:txBody>
      </p:sp>
      <p:sp>
        <p:nvSpPr>
          <p:cNvPr id="680" name="矩形 679">
            <a:extLst xmlns:a="http://schemas.openxmlformats.org/drawingml/2006/main">
              <a:ext uri="{FF2B5EF4-FFF2-40B4-BE49-F238E27FC236}">
                <a16:creationId xmlns:a16="http://schemas.microsoft.com/office/drawing/2014/main" id="{80950154-67D5-4BFA-81DD-635D15293533}"/>
              </a:ext>
            </a:extLst>
          </p:cNvPr>
          <p:cNvSpPr>
            <a:spLocks xmlns:a="http://schemas.openxmlformats.org/drawingml/2006/main" noGrp="1"/>
          </p:cNvSpPr>
          <p:nvPr/>
        </p:nvSpPr>
        <p:spPr>
          <a:xfrm xmlns:a="http://schemas.openxmlformats.org/drawingml/2006/main">
            <a:off x="4467225" y="3429000"/>
            <a:ext cx="7038975" cy="800100"/>
          </a:xfrm>
          <a:prstGeom xmlns:a="http://schemas.openxmlformats.org/drawingml/2006/main" prst="rect">
            <a:avLst/>
          </a:prstGeom>
        </p:spPr>
        <p:txBody>
          <a:bodyPr xmlns:a="http://schemas.openxmlformats.org/drawingml/2006/main" wrap="square" lIns="0" tIns="0" rIns="0" bIns="0">
            <a:normAutofit fontScale="3781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是面向对象的编程语言。类、对象、继承、多态、接口等重要概念将在第 4、5、6 章详细讨论。</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is an object-oriented programming language. Important concepts such as classes, objects, inheritance, polymorphism, and interfaces will be discussed in detail in Chapters 4, 5, and 6.</a:t>
            </a:r>
          </a:p>
        </p:txBody>
      </p:sp>
      <p:sp>
        <p:nvSpPr>
          <p:cNvPr id="681" name="圆角矩形 680">
            <a:extLst xmlns:a="http://schemas.openxmlformats.org/drawingml/2006/main">
              <a:ext uri="{FF2B5EF4-FFF2-40B4-BE49-F238E27FC236}">
                <a16:creationId xmlns:a16="http://schemas.microsoft.com/office/drawing/2014/main" id="{E2CF6869-EE1B-4EAB-AAC7-EDC28BD7C651}"/>
              </a:ext>
            </a:extLst>
          </p:cNvPr>
          <p:cNvSpPr>
            <a:spLocks xmlns:a="http://schemas.openxmlformats.org/drawingml/2006/main" noGrp="1"/>
          </p:cNvSpPr>
          <p:nvPr/>
        </p:nvSpPr>
        <p:spPr>
          <a:xfrm xmlns:a="http://schemas.openxmlformats.org/drawingml/2006/main">
            <a:off x="4238625" y="4610100"/>
            <a:ext cx="7553325" cy="1562100"/>
          </a:xfrm>
          <a:prstGeom xmlns:a="http://schemas.openxmlformats.org/drawingml/2006/main" prst="roundRect">
            <a:avLst>
              <a:gd name="adj" fmla="val 609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82" name="任意多边形 681">
            <a:extLst xmlns:a="http://schemas.openxmlformats.org/drawingml/2006/main">
              <a:ext uri="{FF2B5EF4-FFF2-40B4-BE49-F238E27FC236}">
                <a16:creationId xmlns:a16="http://schemas.microsoft.com/office/drawing/2014/main" id="{A94324D7-C0D9-45D0-9E76-79C3861F8275}"/>
              </a:ext>
            </a:extLst>
          </p:cNvPr>
          <p:cNvSpPr>
            <a:spLocks xmlns:a="http://schemas.openxmlformats.org/drawingml/2006/main" noGrp="1"/>
          </p:cNvSpPr>
          <p:nvPr/>
        </p:nvSpPr>
        <p:spPr>
          <a:xfrm xmlns:a="http://schemas.openxmlformats.org/drawingml/2006/main">
            <a:off x="4238625" y="4610100"/>
            <a:ext cx="7553325" cy="1562100"/>
          </a:xfrm>
          <a:custGeom xmlns:a="http://schemas.openxmlformats.org/drawingml/2006/main">
            <a:pathLst>
              <a:path w="793" h="164">
                <a:moveTo>
                  <a:pt x="10" y="0"/>
                </a:moveTo>
                <a:cubicBezTo>
                  <a:pt x="8" y="0"/>
                  <a:pt x="6" y="2"/>
                  <a:pt x="6" y="4"/>
                </a:cubicBezTo>
                <a:lnTo>
                  <a:pt x="6" y="160"/>
                </a:lnTo>
                <a:cubicBezTo>
                  <a:pt x="6" y="162"/>
                  <a:pt x="8" y="164"/>
                  <a:pt x="10" y="164"/>
                </a:cubicBezTo>
                <a:cubicBezTo>
                  <a:pt x="4" y="164"/>
                  <a:pt x="0" y="159"/>
                  <a:pt x="0" y="154"/>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683" name="矩形 682">
            <a:extLst xmlns:a="http://schemas.openxmlformats.org/drawingml/2006/main">
              <a:ext uri="{FF2B5EF4-FFF2-40B4-BE49-F238E27FC236}">
                <a16:creationId xmlns:a16="http://schemas.microsoft.com/office/drawing/2014/main" id="{DC7F9CBD-B128-4E96-884A-20288DA939DC}"/>
              </a:ext>
            </a:extLst>
          </p:cNvPr>
          <p:cNvSpPr>
            <a:spLocks xmlns:a="http://schemas.openxmlformats.org/drawingml/2006/main" noGrp="1"/>
          </p:cNvSpPr>
          <p:nvPr/>
        </p:nvSpPr>
        <p:spPr>
          <a:xfrm xmlns:a="http://schemas.openxmlformats.org/drawingml/2006/main">
            <a:off x="4467225" y="4838700"/>
            <a:ext cx="70389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1.2.3 平台无关 ⭐</a:t>
            </a:r>
          </a:p>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1.2.3 Platform independent ⭐</a:t>
            </a:r>
          </a:p>
        </p:txBody>
      </p:sp>
      <p:sp>
        <p:nvSpPr>
          <p:cNvPr id="684" name="矩形 683">
            <a:extLst xmlns:a="http://schemas.openxmlformats.org/drawingml/2006/main">
              <a:ext uri="{FF2B5EF4-FFF2-40B4-BE49-F238E27FC236}">
                <a16:creationId xmlns:a16="http://schemas.microsoft.com/office/drawing/2014/main" id="{6A2D163F-B640-438B-9CDC-4C84D5C6A84A}"/>
              </a:ext>
            </a:extLst>
          </p:cNvPr>
          <p:cNvSpPr>
            <a:spLocks xmlns:a="http://schemas.openxmlformats.org/drawingml/2006/main" noGrp="1"/>
          </p:cNvSpPr>
          <p:nvPr/>
        </p:nvSpPr>
        <p:spPr>
          <a:xfrm xmlns:a="http://schemas.openxmlformats.org/drawingml/2006/main">
            <a:off x="4467225" y="5143500"/>
            <a:ext cx="7038975" cy="800100"/>
          </a:xfrm>
          <a:prstGeom xmlns:a="http://schemas.openxmlformats.org/drawingml/2006/main" prst="rect">
            <a:avLst/>
          </a:prstGeom>
        </p:spPr>
        <p:txBody>
          <a:bodyPr xmlns:a="http://schemas.openxmlformats.org/drawingml/2006/main" wrap="square" lIns="0" tIns="0" rIns="0" bIns="0">
            <a:normAutofit fontScale="31915"/>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在一台计算机上编译得到的字节码文件，可复制到任何安装了 Java 运行环境的计算机上直接使用。JVM 负责将字节码翻译成本地机器码。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bytecode file compiled on one computer can be copied to any computer with the Java runtime environment installed and used directly. The JVM is responsible for translating the bytecode into native machine code.</a:t>
            </a:r>
          </a:p>
        </p:txBody>
      </p:sp>
      <p:sp>
        <p:nvSpPr>
          <p:cNvPr id="685" name="矩形 684">
            <a:extLst xmlns:a="http://schemas.openxmlformats.org/drawingml/2006/main">
              <a:ext uri="{FF2B5EF4-FFF2-40B4-BE49-F238E27FC236}">
                <a16:creationId xmlns:a16="http://schemas.microsoft.com/office/drawing/2014/main" id="{BBE1DCA8-16F6-440E-BCF4-FC8B48E77272}"/>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8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6179588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87" name="矩形 686">
            <a:extLst xmlns:a="http://schemas.openxmlformats.org/drawingml/2006/main">
              <a:ext uri="{FF2B5EF4-FFF2-40B4-BE49-F238E27FC236}">
                <a16:creationId xmlns:a16="http://schemas.microsoft.com/office/drawing/2014/main" id="{978A98A1-B713-46DC-BE37-D843C421DF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88" name="矩形 687">
            <a:extLst xmlns:a="http://schemas.openxmlformats.org/drawingml/2006/main">
              <a:ext uri="{FF2B5EF4-FFF2-40B4-BE49-F238E27FC236}">
                <a16:creationId xmlns:a16="http://schemas.microsoft.com/office/drawing/2014/main" id="{8383DEEF-A926-47B3-BA48-62D82203A326}"/>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89" name="矩形 688">
            <a:extLst xmlns:a="http://schemas.openxmlformats.org/drawingml/2006/main">
              <a:ext uri="{FF2B5EF4-FFF2-40B4-BE49-F238E27FC236}">
                <a16:creationId xmlns:a16="http://schemas.microsoft.com/office/drawing/2014/main" id="{5FDFF82C-E9F8-40BD-B8AB-75CF1ECA8A5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690" name="矩形 689">
            <a:extLst xmlns:a="http://schemas.openxmlformats.org/drawingml/2006/main">
              <a:ext uri="{FF2B5EF4-FFF2-40B4-BE49-F238E27FC236}">
                <a16:creationId xmlns:a16="http://schemas.microsoft.com/office/drawing/2014/main" id="{A6120F4E-3177-42BC-94AA-3FB57B694A00}"/>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平台与指令</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Platform and instructions</a:t>
            </a:r>
          </a:p>
        </p:txBody>
      </p:sp>
      <p:sp>
        <p:nvSpPr>
          <p:cNvPr id="691" name="矩形 690">
            <a:extLst xmlns:a="http://schemas.openxmlformats.org/drawingml/2006/main">
              <a:ext uri="{FF2B5EF4-FFF2-40B4-BE49-F238E27FC236}">
                <a16:creationId xmlns:a16="http://schemas.microsoft.com/office/drawing/2014/main" id="{E23758F5-7156-4F84-A3DD-DA145853C552}"/>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平台与</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机器指令</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Platform and</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machine instructions</a:t>
            </a:r>
          </a:p>
        </p:txBody>
      </p:sp>
      <p:sp>
        <p:nvSpPr>
          <p:cNvPr id="692" name="矩形 691">
            <a:extLst xmlns:a="http://schemas.openxmlformats.org/drawingml/2006/main">
              <a:ext uri="{FF2B5EF4-FFF2-40B4-BE49-F238E27FC236}">
                <a16:creationId xmlns:a16="http://schemas.microsoft.com/office/drawing/2014/main" id="{6AF125D3-98D4-47D7-864C-ECB1B86FC7F4}"/>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93" name="矩形 692">
            <a:extLst xmlns:a="http://schemas.openxmlformats.org/drawingml/2006/main">
              <a:ext uri="{FF2B5EF4-FFF2-40B4-BE49-F238E27FC236}">
                <a16:creationId xmlns:a16="http://schemas.microsoft.com/office/drawing/2014/main" id="{743FF3FD-782E-4A3E-9525-47E552AB6324}"/>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0475"/>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理解 Java 平台无关性的概念铺垫</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Understand the concept of Java platform independence</a:t>
            </a:r>
          </a:p>
        </p:txBody>
      </p:sp>
      <p:sp>
        <p:nvSpPr>
          <p:cNvPr id="694" name="圆角矩形 693">
            <a:extLst xmlns:a="http://schemas.openxmlformats.org/drawingml/2006/main">
              <a:ext uri="{FF2B5EF4-FFF2-40B4-BE49-F238E27FC236}">
                <a16:creationId xmlns:a16="http://schemas.microsoft.com/office/drawing/2014/main" id="{FB7B0040-5E03-4F71-984F-7C3021857752}"/>
              </a:ext>
            </a:extLst>
          </p:cNvPr>
          <p:cNvSpPr>
            <a:spLocks xmlns:a="http://schemas.openxmlformats.org/drawingml/2006/main" noGrp="1"/>
          </p:cNvSpPr>
          <p:nvPr/>
        </p:nvSpPr>
        <p:spPr>
          <a:xfrm xmlns:a="http://schemas.openxmlformats.org/drawingml/2006/main">
            <a:off x="4181475" y="1533525"/>
            <a:ext cx="7553325" cy="1647825"/>
          </a:xfrm>
          <a:prstGeom xmlns:a="http://schemas.openxmlformats.org/drawingml/2006/main" prst="roundRect">
            <a:avLst>
              <a:gd name="adj" fmla="val 6936"/>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695" name="矩形 694">
            <a:extLst xmlns:a="http://schemas.openxmlformats.org/drawingml/2006/main">
              <a:ext uri="{FF2B5EF4-FFF2-40B4-BE49-F238E27FC236}">
                <a16:creationId xmlns:a16="http://schemas.microsoft.com/office/drawing/2014/main" id="{3EC69FC9-E2F2-477E-B9C8-A1FABD931887}"/>
              </a:ext>
            </a:extLst>
          </p:cNvPr>
          <p:cNvSpPr>
            <a:spLocks xmlns:a="http://schemas.openxmlformats.org/drawingml/2006/main" noGrp="1"/>
          </p:cNvSpPr>
          <p:nvPr/>
        </p:nvSpPr>
        <p:spPr>
          <a:xfrm xmlns:a="http://schemas.openxmlformats.org/drawingml/2006/main">
            <a:off x="4429125" y="1781175"/>
            <a:ext cx="70580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什么是“平台”？</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What is a "platform"?</a:t>
            </a:r>
          </a:p>
        </p:txBody>
      </p:sp>
      <p:sp>
        <p:nvSpPr>
          <p:cNvPr id="696" name="矩形 695">
            <a:extLst xmlns:a="http://schemas.openxmlformats.org/drawingml/2006/main">
              <a:ext uri="{FF2B5EF4-FFF2-40B4-BE49-F238E27FC236}">
                <a16:creationId xmlns:a16="http://schemas.microsoft.com/office/drawing/2014/main" id="{35153675-FC1F-4906-A267-303BAE5A3EBD}"/>
              </a:ext>
            </a:extLst>
          </p:cNvPr>
          <p:cNvSpPr>
            <a:spLocks xmlns:a="http://schemas.openxmlformats.org/drawingml/2006/main" noGrp="1"/>
          </p:cNvSpPr>
          <p:nvPr/>
        </p:nvSpPr>
        <p:spPr>
          <a:xfrm xmlns:a="http://schemas.openxmlformats.org/drawingml/2006/main">
            <a:off x="4429125" y="2105025"/>
            <a:ext cx="7058025" cy="828675"/>
          </a:xfrm>
          <a:prstGeom xmlns:a="http://schemas.openxmlformats.org/drawingml/2006/main" prst="rect">
            <a:avLst/>
          </a:prstGeom>
        </p:spPr>
        <p:txBody>
          <a:bodyPr xmlns:a="http://schemas.openxmlformats.org/drawingml/2006/main" wrap="square" lIns="0" tIns="0" rIns="0" bIns="0">
            <a:normAutofit fontScale="33055"/>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平台由 操作系统（OS） 和 处理器（CPU） 构成。 与平台无关是指软件的运行不因操作系统、处理器的变化而无法运行或出现错误。</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platform consists of an operating system (OS) and a processor (CPU). Platform-independent means that the operation of the software will not fail or cause errors due to changes in the operating system or processor.</a:t>
            </a:r>
          </a:p>
        </p:txBody>
      </p:sp>
      <p:sp>
        <p:nvSpPr>
          <p:cNvPr id="697" name="圆角矩形 696">
            <a:extLst xmlns:a="http://schemas.openxmlformats.org/drawingml/2006/main">
              <a:ext uri="{FF2B5EF4-FFF2-40B4-BE49-F238E27FC236}">
                <a16:creationId xmlns:a16="http://schemas.microsoft.com/office/drawing/2014/main" id="{0995A252-63EA-4EA0-8638-44FD904B220C}"/>
              </a:ext>
            </a:extLst>
          </p:cNvPr>
          <p:cNvSpPr>
            <a:spLocks xmlns:a="http://schemas.openxmlformats.org/drawingml/2006/main" noGrp="1"/>
          </p:cNvSpPr>
          <p:nvPr/>
        </p:nvSpPr>
        <p:spPr>
          <a:xfrm xmlns:a="http://schemas.openxmlformats.org/drawingml/2006/main">
            <a:off x="4181475" y="3352800"/>
            <a:ext cx="7553325" cy="24574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698" name="矩形 697">
            <a:extLst xmlns:a="http://schemas.openxmlformats.org/drawingml/2006/main">
              <a:ext uri="{FF2B5EF4-FFF2-40B4-BE49-F238E27FC236}">
                <a16:creationId xmlns:a16="http://schemas.microsoft.com/office/drawing/2014/main" id="{A2E43F85-EF8D-4677-975B-57297D99011A}"/>
              </a:ext>
            </a:extLst>
          </p:cNvPr>
          <p:cNvSpPr>
            <a:spLocks xmlns:a="http://schemas.openxmlformats.org/drawingml/2006/main" noGrp="1"/>
          </p:cNvSpPr>
          <p:nvPr/>
        </p:nvSpPr>
        <p:spPr>
          <a:xfrm xmlns:a="http://schemas.openxmlformats.org/drawingml/2006/main">
            <a:off x="4429125" y="3600450"/>
            <a:ext cx="70580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什么是“机器指令”？</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What are "machine instructions"?</a:t>
            </a:r>
          </a:p>
        </p:txBody>
      </p:sp>
      <p:sp>
        <p:nvSpPr>
          <p:cNvPr id="699" name="矩形 698">
            <a:extLst xmlns:a="http://schemas.openxmlformats.org/drawingml/2006/main">
              <a:ext uri="{FF2B5EF4-FFF2-40B4-BE49-F238E27FC236}">
                <a16:creationId xmlns:a16="http://schemas.microsoft.com/office/drawing/2014/main" id="{A1BD2F58-0024-46F5-9EC4-3E284DAE316E}"/>
              </a:ext>
            </a:extLst>
          </p:cNvPr>
          <p:cNvSpPr>
            <a:spLocks xmlns:a="http://schemas.openxmlformats.org/drawingml/2006/main" noGrp="1"/>
          </p:cNvSpPr>
          <p:nvPr/>
        </p:nvSpPr>
        <p:spPr>
          <a:xfrm xmlns:a="http://schemas.openxmlformats.org/drawingml/2006/main">
            <a:off x="4429125" y="3924300"/>
            <a:ext cx="7058025" cy="828675"/>
          </a:xfrm>
          <a:prstGeom xmlns:a="http://schemas.openxmlformats.org/drawingml/2006/main" prst="rect">
            <a:avLst/>
          </a:prstGeom>
        </p:spPr>
        <p:txBody>
          <a:bodyPr xmlns:a="http://schemas.openxmlformats.org/drawingml/2006/main" wrap="square" lIns="0" tIns="0" rIns="0" bIns="0">
            <a:normAutofit fontScale="44652"/>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每个平台都有自己独特的机器指令：可以被该平台直接识别、执行的 0、1 序列代码。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Each platform has its own unique machine instructions: sequences of 0s and 1s that can be directly recognized and executed by that platform.</a:t>
            </a:r>
          </a:p>
        </p:txBody>
      </p:sp>
      <p:sp>
        <p:nvSpPr>
          <p:cNvPr id="700" name="圆角矩形 699">
            <a:extLst xmlns:a="http://schemas.openxmlformats.org/drawingml/2006/main">
              <a:ext uri="{FF2B5EF4-FFF2-40B4-BE49-F238E27FC236}">
                <a16:creationId xmlns:a16="http://schemas.microsoft.com/office/drawing/2014/main" id="{DEE85963-018B-4DE1-8762-F78BDDE754B1}"/>
              </a:ext>
            </a:extLst>
          </p:cNvPr>
          <p:cNvSpPr>
            <a:spLocks xmlns:a="http://schemas.openxmlformats.org/drawingml/2006/main" noGrp="1"/>
          </p:cNvSpPr>
          <p:nvPr/>
        </p:nvSpPr>
        <p:spPr>
          <a:xfrm xmlns:a="http://schemas.openxmlformats.org/drawingml/2006/main">
            <a:off x="4429125" y="4924425"/>
            <a:ext cx="7058025" cy="638175"/>
          </a:xfrm>
          <a:prstGeom xmlns:a="http://schemas.openxmlformats.org/drawingml/2006/main" prst="roundRect">
            <a:avLst>
              <a:gd name="adj" fmla="val 11940"/>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701" name="矩形 700">
            <a:extLst xmlns:a="http://schemas.openxmlformats.org/drawingml/2006/main">
              <a:ext uri="{FF2B5EF4-FFF2-40B4-BE49-F238E27FC236}">
                <a16:creationId xmlns:a16="http://schemas.microsoft.com/office/drawing/2014/main" id="{8FC0DBB0-6BF5-4B2F-A300-B296D2608B12}"/>
              </a:ext>
            </a:extLst>
          </p:cNvPr>
          <p:cNvSpPr>
            <a:spLocks xmlns:a="http://schemas.openxmlformats.org/drawingml/2006/main" noGrp="1"/>
          </p:cNvSpPr>
          <p:nvPr/>
        </p:nvSpPr>
        <p:spPr>
          <a:xfrm xmlns:a="http://schemas.openxmlformats.org/drawingml/2006/main">
            <a:off x="4562475" y="5057775"/>
            <a:ext cx="6791325" cy="371475"/>
          </a:xfrm>
          <a:prstGeom xmlns:a="http://schemas.openxmlformats.org/drawingml/2006/main" prst="rect">
            <a:avLst/>
          </a:prstGeom>
        </p:spPr>
        <p:txBody>
          <a:bodyPr xmlns:a="http://schemas.openxmlformats.org/drawingml/2006/main" wrap="none" lIns="0" tIns="0" rIns="0" bIns="0">
            <a:normAutofit fontScale="23170"/>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平台 A：00001111 表示加法 · 10000001 表示减法</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平台 B：10101010 表示加法 · 10010011 表示减法</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Platform A: 00001111 represents addition · 10000001 represents subtraction</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Platform B: 10101010 means addition · 10010011 means subtraction</a:t>
            </a:r>
          </a:p>
        </p:txBody>
      </p:sp>
      <p:sp>
        <p:nvSpPr>
          <p:cNvPr id="702" name="矩形 701">
            <a:extLst xmlns:a="http://schemas.openxmlformats.org/drawingml/2006/main">
              <a:ext uri="{FF2B5EF4-FFF2-40B4-BE49-F238E27FC236}">
                <a16:creationId xmlns:a16="http://schemas.microsoft.com/office/drawing/2014/main" id="{3CAEB86C-2460-4A57-83A5-21D7013DB86B}"/>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9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9881191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矩形 11">
            <a:extLst xmlns:a="http://schemas.openxmlformats.org/drawingml/2006/main">
              <a:ext uri="{FF2B5EF4-FFF2-40B4-BE49-F238E27FC236}">
                <a16:creationId xmlns:a16="http://schemas.microsoft.com/office/drawing/2014/main" id="{62421AFD-5E4C-4FCF-B139-72DF1C1DD7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 name="矩形 12">
            <a:extLst xmlns:a="http://schemas.openxmlformats.org/drawingml/2006/main">
              <a:ext uri="{FF2B5EF4-FFF2-40B4-BE49-F238E27FC236}">
                <a16:creationId xmlns:a16="http://schemas.microsoft.com/office/drawing/2014/main" id="{1E36C639-708F-49D6-B438-879DFC2F87E1}"/>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4" name="矩形 13">
            <a:extLst xmlns:a="http://schemas.openxmlformats.org/drawingml/2006/main">
              <a:ext uri="{FF2B5EF4-FFF2-40B4-BE49-F238E27FC236}">
                <a16:creationId xmlns:a16="http://schemas.microsoft.com/office/drawing/2014/main" id="{85D93567-609D-4EA5-B525-94814763D24A}"/>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5" name="圆角矩形 14">
            <a:extLst xmlns:a="http://schemas.openxmlformats.org/drawingml/2006/main">
              <a:ext uri="{FF2B5EF4-FFF2-40B4-BE49-F238E27FC236}">
                <a16:creationId xmlns:a16="http://schemas.microsoft.com/office/drawing/2014/main" id="{8A521E11-6180-4FE7-AC89-1BBB67B38C3E}"/>
              </a:ext>
            </a:extLst>
          </p:cNvPr>
          <p:cNvSpPr>
            <a:spLocks xmlns:a="http://schemas.openxmlformats.org/drawingml/2006/main" noGrp="1"/>
          </p:cNvSpPr>
          <p:nvPr/>
        </p:nvSpPr>
        <p:spPr>
          <a:xfrm xmlns:a="http://schemas.openxmlformats.org/drawingml/2006/main">
            <a:off x="457200" y="2543175"/>
            <a:ext cx="6086475" cy="2257425"/>
          </a:xfrm>
          <a:prstGeom xmlns:a="http://schemas.openxmlformats.org/drawingml/2006/main" prst="roundRect">
            <a:avLst>
              <a:gd name="adj" fmla="val 5063"/>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29" name="图片 28"/>
          <p:cNvPicPr>
            <a:picLocks xmlns:a="http://schemas.openxmlformats.org/drawingml/2006/main" noChangeAspect="1"/>
          </p:cNvPicPr>
          <p:nvPr/>
        </p:nvPicPr>
        <p:blipFill>
          <a:blip xmlns:r="http://schemas.openxmlformats.org/officeDocument/2006/relationships" xmlns:a="http://schemas.openxmlformats.org/drawingml/2006/main" r:embed="R0e41133c5ff14c5e"/>
          <a:srcRect xmlns:a="http://schemas.openxmlformats.org/drawingml/2006/main" l="142" t="0" r="142" b="0"/>
          <a:stretch xmlns:a="http://schemas.openxmlformats.org/drawingml/2006/main">
            <a:fillRect l="0" t="0" r="0" b="0"/>
          </a:stretch>
        </p:blipFill>
        <p:spPr>
          <a:xfrm xmlns:a="http://schemas.openxmlformats.org/drawingml/2006/main">
            <a:off x="685800" y="2771775"/>
            <a:ext cx="5334000" cy="1800225"/>
          </a:xfrm>
          <a:prstGeom xmlns:a="http://schemas.openxmlformats.org/drawingml/2006/main" prst="rect">
            <a:avLst/>
          </a:prstGeom>
        </p:spPr>
      </p:pic>
      <p:sp>
        <p:nvSpPr>
          <p:cNvPr id="17" name="矩形 16">
            <a:extLst xmlns:a="http://schemas.openxmlformats.org/drawingml/2006/main">
              <a:ext uri="{FF2B5EF4-FFF2-40B4-BE49-F238E27FC236}">
                <a16:creationId xmlns:a16="http://schemas.microsoft.com/office/drawing/2014/main" id="{0B082BDA-FF31-47A9-BAF6-E45A76845708}"/>
              </a:ext>
            </a:extLst>
          </p:cNvPr>
          <p:cNvSpPr>
            <a:spLocks xmlns:a="http://schemas.openxmlformats.org/drawingml/2006/main" noGrp="1"/>
          </p:cNvSpPr>
          <p:nvPr/>
        </p:nvSpPr>
        <p:spPr>
          <a:xfrm xmlns:a="http://schemas.openxmlformats.org/drawingml/2006/main">
            <a:off x="6924675" y="2105025"/>
            <a:ext cx="48101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图 1.2</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Figure 1.2</a:t>
            </a:r>
          </a:p>
        </p:txBody>
      </p:sp>
      <p:sp>
        <p:nvSpPr>
          <p:cNvPr id="18" name="矩形 17">
            <a:extLst xmlns:a="http://schemas.openxmlformats.org/drawingml/2006/main">
              <a:ext uri="{FF2B5EF4-FFF2-40B4-BE49-F238E27FC236}">
                <a16:creationId xmlns:a16="http://schemas.microsoft.com/office/drawing/2014/main" id="{679C1E4C-8C29-452F-8458-17E5B91C5E7E}"/>
              </a:ext>
            </a:extLst>
          </p:cNvPr>
          <p:cNvSpPr>
            <a:spLocks xmlns:a="http://schemas.openxmlformats.org/drawingml/2006/main" noGrp="1"/>
          </p:cNvSpPr>
          <p:nvPr/>
        </p:nvSpPr>
        <p:spPr>
          <a:xfrm xmlns:a="http://schemas.openxmlformats.org/drawingml/2006/main">
            <a:off x="6924675" y="2447925"/>
            <a:ext cx="4810125"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C/C++ 程序</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依赖平台</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C/C++ program</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Dependent on platform</a:t>
            </a:r>
          </a:p>
        </p:txBody>
      </p:sp>
      <p:sp>
        <p:nvSpPr>
          <p:cNvPr id="19" name="矩形 18">
            <a:extLst xmlns:a="http://schemas.openxmlformats.org/drawingml/2006/main">
              <a:ext uri="{FF2B5EF4-FFF2-40B4-BE49-F238E27FC236}">
                <a16:creationId xmlns:a16="http://schemas.microsoft.com/office/drawing/2014/main" id="{0CED4432-5333-4A3B-B86D-7517A312AD60}"/>
              </a:ext>
            </a:extLst>
          </p:cNvPr>
          <p:cNvSpPr>
            <a:spLocks xmlns:a="http://schemas.openxmlformats.org/drawingml/2006/main" noGrp="1"/>
          </p:cNvSpPr>
          <p:nvPr/>
        </p:nvSpPr>
        <p:spPr>
          <a:xfrm xmlns:a="http://schemas.openxmlformats.org/drawingml/2006/main">
            <a:off x="6924675" y="3743325"/>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 name="矩形 19">
            <a:extLst xmlns:a="http://schemas.openxmlformats.org/drawingml/2006/main">
              <a:ext uri="{FF2B5EF4-FFF2-40B4-BE49-F238E27FC236}">
                <a16:creationId xmlns:a16="http://schemas.microsoft.com/office/drawing/2014/main" id="{E07FCA9D-480E-4706-8F28-09A100D06D6F}"/>
              </a:ext>
            </a:extLst>
          </p:cNvPr>
          <p:cNvSpPr>
            <a:spLocks xmlns:a="http://schemas.openxmlformats.org/drawingml/2006/main" noGrp="1"/>
          </p:cNvSpPr>
          <p:nvPr/>
        </p:nvSpPr>
        <p:spPr>
          <a:xfrm xmlns:a="http://schemas.openxmlformats.org/drawingml/2006/main">
            <a:off x="6924675" y="4019550"/>
            <a:ext cx="4810125" cy="847725"/>
          </a:xfrm>
          <a:prstGeom xmlns:a="http://schemas.openxmlformats.org/drawingml/2006/main" prst="rect">
            <a:avLst/>
          </a:prstGeom>
        </p:spPr>
        <p:txBody>
          <a:bodyPr xmlns:a="http://schemas.openxmlformats.org/drawingml/2006/main" wrap="square" lIns="0" tIns="0" rIns="0" bIns="0">
            <a:normAutofit fontScale="28198"/>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C/C++ 针对当前源程序所在的特定平台进行编译、链接，生成该平台的机器指令（即可执行文件）。</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C/C++ compiles and links for the specific platform where the current source program is located, and generates machine instructions (ie, executable files) for that platform.</a:t>
            </a:r>
          </a:p>
        </p:txBody>
      </p:sp>
      <p:sp>
        <p:nvSpPr>
          <p:cNvPr id="21" name="圆角矩形 20">
            <a:extLst xmlns:a="http://schemas.openxmlformats.org/drawingml/2006/main">
              <a:ext uri="{FF2B5EF4-FFF2-40B4-BE49-F238E27FC236}">
                <a16:creationId xmlns:a16="http://schemas.microsoft.com/office/drawing/2014/main" id="{640C52A9-537A-427F-9923-4BA2276CB079}"/>
              </a:ext>
            </a:extLst>
          </p:cNvPr>
          <p:cNvSpPr>
            <a:spLocks xmlns:a="http://schemas.openxmlformats.org/drawingml/2006/main" noGrp="1"/>
          </p:cNvSpPr>
          <p:nvPr/>
        </p:nvSpPr>
        <p:spPr>
          <a:xfrm xmlns:a="http://schemas.openxmlformats.org/drawingml/2006/main">
            <a:off x="6924675" y="5076825"/>
            <a:ext cx="4810125" cy="895350"/>
          </a:xfrm>
          <a:prstGeom xmlns:a="http://schemas.openxmlformats.org/drawingml/2006/main" prst="roundRect">
            <a:avLst>
              <a:gd name="adj" fmla="val 8511"/>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p:txBody>
      </p:sp>
      <p:sp>
        <p:nvSpPr>
          <p:cNvPr id="22" name="矩形 21">
            <a:extLst xmlns:a="http://schemas.openxmlformats.org/drawingml/2006/main">
              <a:ext uri="{FF2B5EF4-FFF2-40B4-BE49-F238E27FC236}">
                <a16:creationId xmlns:a16="http://schemas.microsoft.com/office/drawing/2014/main" id="{ACC05DD8-36A6-4F83-BD6F-CE7C4F63C74B}"/>
              </a:ext>
            </a:extLst>
          </p:cNvPr>
          <p:cNvSpPr>
            <a:spLocks xmlns:a="http://schemas.openxmlformats.org/drawingml/2006/main" noGrp="1"/>
          </p:cNvSpPr>
          <p:nvPr/>
        </p:nvSpPr>
        <p:spPr>
          <a:xfrm xmlns:a="http://schemas.openxmlformats.org/drawingml/2006/main">
            <a:off x="7058025" y="5210175"/>
            <a:ext cx="4543425" cy="628650"/>
          </a:xfrm>
          <a:prstGeom xmlns:a="http://schemas.openxmlformats.org/drawingml/2006/main" prst="rect">
            <a:avLst/>
          </a:prstGeom>
        </p:spPr>
        <p:txBody>
          <a:bodyPr xmlns:a="http://schemas.openxmlformats.org/drawingml/2006/main" wrap="square" lIns="0" tIns="0" rIns="0" bIns="0">
            <a:normAutofit fontScale="36067"/>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不同平台可能具有不同的机器指令，因此不能保证同一份可执行文件在所有平台上都正确运行。</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Different platforms may have different machine instructions, so there is no guarantee that the same executable file will run correctly on all platforms.</a:t>
            </a:r>
          </a:p>
        </p:txBody>
      </p:sp>
      <p:sp>
        <p:nvSpPr>
          <p:cNvPr id="23" name="矩形 22">
            <a:extLst xmlns:a="http://schemas.openxmlformats.org/drawingml/2006/main">
              <a:ext uri="{FF2B5EF4-FFF2-40B4-BE49-F238E27FC236}">
                <a16:creationId xmlns:a16="http://schemas.microsoft.com/office/drawing/2014/main" id="{A219D77D-0DD8-4BE8-A14C-48F91D3A7F35}"/>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10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4094648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5" name="矩形 24">
            <a:extLst xmlns:a="http://schemas.openxmlformats.org/drawingml/2006/main">
              <a:ext uri="{FF2B5EF4-FFF2-40B4-BE49-F238E27FC236}">
                <a16:creationId xmlns:a16="http://schemas.microsoft.com/office/drawing/2014/main" id="{5BC90A69-87E7-4EB1-A2E7-85917D889D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6" name="矩形 25">
            <a:extLst xmlns:a="http://schemas.openxmlformats.org/drawingml/2006/main">
              <a:ext uri="{FF2B5EF4-FFF2-40B4-BE49-F238E27FC236}">
                <a16:creationId xmlns:a16="http://schemas.microsoft.com/office/drawing/2014/main" id="{F11FFA05-9212-4EF8-B487-35F7BC2761B2}"/>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7" name="矩形 26">
            <a:extLst xmlns:a="http://schemas.openxmlformats.org/drawingml/2006/main">
              <a:ext uri="{FF2B5EF4-FFF2-40B4-BE49-F238E27FC236}">
                <a16:creationId xmlns:a16="http://schemas.microsoft.com/office/drawing/2014/main" id="{A1377237-EBB5-4470-90FF-4C0B09887036}"/>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8" name="圆角矩形 27">
            <a:extLst xmlns:a="http://schemas.openxmlformats.org/drawingml/2006/main">
              <a:ext uri="{FF2B5EF4-FFF2-40B4-BE49-F238E27FC236}">
                <a16:creationId xmlns:a16="http://schemas.microsoft.com/office/drawing/2014/main" id="{0259D745-78E0-4364-874D-EAE0AFCCA3E0}"/>
              </a:ext>
            </a:extLst>
          </p:cNvPr>
          <p:cNvSpPr>
            <a:spLocks xmlns:a="http://schemas.openxmlformats.org/drawingml/2006/main" noGrp="1"/>
          </p:cNvSpPr>
          <p:nvPr/>
        </p:nvSpPr>
        <p:spPr>
          <a:xfrm xmlns:a="http://schemas.openxmlformats.org/drawingml/2006/main">
            <a:off x="457200" y="2219325"/>
            <a:ext cx="6086475" cy="2914650"/>
          </a:xfrm>
          <a:prstGeom xmlns:a="http://schemas.openxmlformats.org/drawingml/2006/main" prst="roundRect">
            <a:avLst>
              <a:gd name="adj" fmla="val 392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41" name="图片 40"/>
          <p:cNvPicPr>
            <a:picLocks xmlns:a="http://schemas.openxmlformats.org/drawingml/2006/main" noChangeAspect="1"/>
          </p:cNvPicPr>
          <p:nvPr/>
        </p:nvPicPr>
        <p:blipFill>
          <a:blip xmlns:r="http://schemas.openxmlformats.org/officeDocument/2006/relationships" xmlns:a="http://schemas.openxmlformats.org/drawingml/2006/main" r:embed="R79146d25c0254484"/>
          <a:srcRect xmlns:a="http://schemas.openxmlformats.org/drawingml/2006/main" l="52" t="0" r="52" b="0"/>
          <a:stretch xmlns:a="http://schemas.openxmlformats.org/drawingml/2006/main">
            <a:fillRect l="0" t="0" r="0" b="0"/>
          </a:stretch>
        </p:blipFill>
        <p:spPr>
          <a:xfrm xmlns:a="http://schemas.openxmlformats.org/drawingml/2006/main">
            <a:off x="685800" y="2447925"/>
            <a:ext cx="5334000" cy="2457450"/>
          </a:xfrm>
          <a:prstGeom xmlns:a="http://schemas.openxmlformats.org/drawingml/2006/main" prst="rect">
            <a:avLst/>
          </a:prstGeom>
        </p:spPr>
      </p:pic>
      <p:sp>
        <p:nvSpPr>
          <p:cNvPr id="30" name="矩形 29">
            <a:extLst xmlns:a="http://schemas.openxmlformats.org/drawingml/2006/main">
              <a:ext uri="{FF2B5EF4-FFF2-40B4-BE49-F238E27FC236}">
                <a16:creationId xmlns:a16="http://schemas.microsoft.com/office/drawing/2014/main" id="{AD360208-FD60-483A-8B9E-428B265B2629}"/>
              </a:ext>
            </a:extLst>
          </p:cNvPr>
          <p:cNvSpPr>
            <a:spLocks xmlns:a="http://schemas.openxmlformats.org/drawingml/2006/main" noGrp="1"/>
          </p:cNvSpPr>
          <p:nvPr/>
        </p:nvSpPr>
        <p:spPr>
          <a:xfrm xmlns:a="http://schemas.openxmlformats.org/drawingml/2006/main">
            <a:off x="6924675" y="2209800"/>
            <a:ext cx="48101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图 1.3</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Figure 1.3</a:t>
            </a:r>
          </a:p>
        </p:txBody>
      </p:sp>
      <p:sp>
        <p:nvSpPr>
          <p:cNvPr id="31" name="矩形 30">
            <a:extLst xmlns:a="http://schemas.openxmlformats.org/drawingml/2006/main">
              <a:ext uri="{FF2B5EF4-FFF2-40B4-BE49-F238E27FC236}">
                <a16:creationId xmlns:a16="http://schemas.microsoft.com/office/drawing/2014/main" id="{5BDE0B6A-5884-4F27-BF1C-8C23456B4520}"/>
              </a:ext>
            </a:extLst>
          </p:cNvPr>
          <p:cNvSpPr>
            <a:spLocks xmlns:a="http://schemas.openxmlformats.org/drawingml/2006/main" noGrp="1"/>
          </p:cNvSpPr>
          <p:nvPr/>
        </p:nvSpPr>
        <p:spPr>
          <a:xfrm xmlns:a="http://schemas.openxmlformats.org/drawingml/2006/main">
            <a:off x="6924675" y="2552700"/>
            <a:ext cx="4810125"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Java 虚拟机</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与字节码</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Java virtual machine</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with bytecode</a:t>
            </a:r>
          </a:p>
        </p:txBody>
      </p:sp>
      <p:sp>
        <p:nvSpPr>
          <p:cNvPr id="32" name="矩形 31">
            <a:extLst xmlns:a="http://schemas.openxmlformats.org/drawingml/2006/main">
              <a:ext uri="{FF2B5EF4-FFF2-40B4-BE49-F238E27FC236}">
                <a16:creationId xmlns:a16="http://schemas.microsoft.com/office/drawing/2014/main" id="{EF5271A9-33DD-4936-9794-BEED97DE0D7C}"/>
              </a:ext>
            </a:extLst>
          </p:cNvPr>
          <p:cNvSpPr>
            <a:spLocks xmlns:a="http://schemas.openxmlformats.org/drawingml/2006/main" noGrp="1"/>
          </p:cNvSpPr>
          <p:nvPr/>
        </p:nvSpPr>
        <p:spPr>
          <a:xfrm xmlns:a="http://schemas.openxmlformats.org/drawingml/2006/main">
            <a:off x="6924675" y="38481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3" name="矩形 32">
            <a:extLst xmlns:a="http://schemas.openxmlformats.org/drawingml/2006/main">
              <a:ext uri="{FF2B5EF4-FFF2-40B4-BE49-F238E27FC236}">
                <a16:creationId xmlns:a16="http://schemas.microsoft.com/office/drawing/2014/main" id="{43D24ACF-451F-48F4-AFEF-CF1FD860A3FB}"/>
              </a:ext>
            </a:extLst>
          </p:cNvPr>
          <p:cNvSpPr>
            <a:spLocks xmlns:a="http://schemas.openxmlformats.org/drawingml/2006/main" noGrp="1"/>
          </p:cNvSpPr>
          <p:nvPr/>
        </p:nvSpPr>
        <p:spPr>
          <a:xfrm xmlns:a="http://schemas.openxmlformats.org/drawingml/2006/main">
            <a:off x="6924675" y="4124325"/>
            <a:ext cx="4810125" cy="847725"/>
          </a:xfrm>
          <a:prstGeom xmlns:a="http://schemas.openxmlformats.org/drawingml/2006/main" prst="rect">
            <a:avLst/>
          </a:prstGeom>
        </p:spPr>
        <p:txBody>
          <a:bodyPr xmlns:a="http://schemas.openxmlformats.org/drawingml/2006/main" wrap="square" lIns="0" tIns="0" rIns="0" bIns="0">
            <a:normAutofit fontScale="34608"/>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编译器不针对特定 OS/CPU，而是针对 Java 虚拟机（JVM） 把源程序编译成 字节码。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Java compiler does not target a specific OS/CPU, but compiles the source program into bytecode for the Java Virtual Machine (JVM).</a:t>
            </a:r>
          </a:p>
        </p:txBody>
      </p:sp>
      <p:sp>
        <p:nvSpPr>
          <p:cNvPr id="34" name="矩形 33">
            <a:extLst xmlns:a="http://schemas.openxmlformats.org/drawingml/2006/main">
              <a:ext uri="{FF2B5EF4-FFF2-40B4-BE49-F238E27FC236}">
                <a16:creationId xmlns:a16="http://schemas.microsoft.com/office/drawing/2014/main" id="{DAA9A9E6-FA42-4C3E-A9D6-770CAC0C3C09}"/>
              </a:ext>
            </a:extLst>
          </p:cNvPr>
          <p:cNvSpPr>
            <a:spLocks xmlns:a="http://schemas.openxmlformats.org/drawingml/2006/main" noGrp="1"/>
          </p:cNvSpPr>
          <p:nvPr/>
        </p:nvSpPr>
        <p:spPr>
          <a:xfrm xmlns:a="http://schemas.openxmlformats.org/drawingml/2006/main">
            <a:off x="6924675" y="5124450"/>
            <a:ext cx="4810125" cy="847725"/>
          </a:xfrm>
          <a:prstGeom xmlns:a="http://schemas.openxmlformats.org/drawingml/2006/main" prst="rect">
            <a:avLst/>
          </a:prstGeom>
        </p:spPr>
        <p:txBody>
          <a:bodyPr xmlns:a="http://schemas.openxmlformats.org/drawingml/2006/main" wrap="square" lIns="0" tIns="0" rIns="0" bIns="0">
            <a:normAutofit fontScale="33815"/>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不同平台的 JVM 字节码指令相同；JVM 负责把字节码翻译成当前平台的机器码并运行。</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JVM bytecode instructions of different platforms are the same; the JVM is responsible for translating the bytecode into the machine code of the current platform and running it.</a:t>
            </a:r>
          </a:p>
        </p:txBody>
      </p:sp>
      <p:sp>
        <p:nvSpPr>
          <p:cNvPr id="35" name="矩形 34">
            <a:extLst xmlns:a="http://schemas.openxmlformats.org/drawingml/2006/main">
              <a:ext uri="{FF2B5EF4-FFF2-40B4-BE49-F238E27FC236}">
                <a16:creationId xmlns:a16="http://schemas.microsoft.com/office/drawing/2014/main" id="{13BE7307-60EA-46C6-8A87-5A4D5359EC00}"/>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11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60557070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7" name="矩形 36">
            <a:extLst xmlns:a="http://schemas.openxmlformats.org/drawingml/2006/main">
              <a:ext uri="{FF2B5EF4-FFF2-40B4-BE49-F238E27FC236}">
                <a16:creationId xmlns:a16="http://schemas.microsoft.com/office/drawing/2014/main" id="{0AA55467-342F-428C-8144-6B7396570B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8" name="矩形 37">
            <a:extLst xmlns:a="http://schemas.openxmlformats.org/drawingml/2006/main">
              <a:ext uri="{FF2B5EF4-FFF2-40B4-BE49-F238E27FC236}">
                <a16:creationId xmlns:a16="http://schemas.microsoft.com/office/drawing/2014/main" id="{22E023FF-C1A0-44F0-A343-AA455052FB84}"/>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9" name="矩形 38">
            <a:extLst xmlns:a="http://schemas.openxmlformats.org/drawingml/2006/main">
              <a:ext uri="{FF2B5EF4-FFF2-40B4-BE49-F238E27FC236}">
                <a16:creationId xmlns:a16="http://schemas.microsoft.com/office/drawing/2014/main" id="{5846FBDA-DBE9-4DCA-BAB5-BAD358DC033A}"/>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0" name="矩形 39">
            <a:extLst xmlns:a="http://schemas.openxmlformats.org/drawingml/2006/main">
              <a:ext uri="{FF2B5EF4-FFF2-40B4-BE49-F238E27FC236}">
                <a16:creationId xmlns:a16="http://schemas.microsoft.com/office/drawing/2014/main" id="{3FB985E1-8D65-496C-9969-5500158A4712}"/>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特点（二）</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§1.2 Features (2)</a:t>
            </a:r>
          </a:p>
        </p:txBody>
      </p:sp>
      <p:sp>
        <p:nvSpPr>
          <p:cNvPr id="41" name="矩形 40">
            <a:extLst xmlns:a="http://schemas.openxmlformats.org/drawingml/2006/main">
              <a:ext uri="{FF2B5EF4-FFF2-40B4-BE49-F238E27FC236}">
                <a16:creationId xmlns:a16="http://schemas.microsoft.com/office/drawing/2014/main" id="{42BCBBC7-B8E5-45C0-83D9-5E36576CF264}"/>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的</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特点（二）</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Features (2)</a:t>
            </a:r>
          </a:p>
        </p:txBody>
      </p:sp>
      <p:sp>
        <p:nvSpPr>
          <p:cNvPr id="42" name="矩形 41">
            <a:extLst xmlns:a="http://schemas.openxmlformats.org/drawingml/2006/main">
              <a:ext uri="{FF2B5EF4-FFF2-40B4-BE49-F238E27FC236}">
                <a16:creationId xmlns:a16="http://schemas.microsoft.com/office/drawing/2014/main" id="{018D8A66-7575-4BEE-83BC-AA2C11AF394C}"/>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3" name="矩形 42">
            <a:extLst xmlns:a="http://schemas.openxmlformats.org/drawingml/2006/main">
              <a:ext uri="{FF2B5EF4-FFF2-40B4-BE49-F238E27FC236}">
                <a16:creationId xmlns:a16="http://schemas.microsoft.com/office/drawing/2014/main" id="{BC3448DE-B5D8-44C4-BA9A-3B7B8DB39D2C}"/>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多线程 · 动态</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Multi-threaded · Dynamic</a:t>
            </a:r>
          </a:p>
        </p:txBody>
      </p:sp>
      <p:sp>
        <p:nvSpPr>
          <p:cNvPr id="44" name="圆角矩形 43">
            <a:extLst xmlns:a="http://schemas.openxmlformats.org/drawingml/2006/main">
              <a:ext uri="{FF2B5EF4-FFF2-40B4-BE49-F238E27FC236}">
                <a16:creationId xmlns:a16="http://schemas.microsoft.com/office/drawing/2014/main" id="{694CCBE9-E7E7-41F2-BF00-7D3D40F2FCBF}"/>
              </a:ext>
            </a:extLst>
          </p:cNvPr>
          <p:cNvSpPr>
            <a:spLocks xmlns:a="http://schemas.openxmlformats.org/drawingml/2006/main" noGrp="1"/>
          </p:cNvSpPr>
          <p:nvPr/>
        </p:nvSpPr>
        <p:spPr>
          <a:xfrm xmlns:a="http://schemas.openxmlformats.org/drawingml/2006/main">
            <a:off x="4238625" y="1819275"/>
            <a:ext cx="7553325" cy="1762125"/>
          </a:xfrm>
          <a:prstGeom xmlns:a="http://schemas.openxmlformats.org/drawingml/2006/main" prst="roundRect">
            <a:avLst>
              <a:gd name="adj" fmla="val 540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45" name="任意多边形 44">
            <a:extLst xmlns:a="http://schemas.openxmlformats.org/drawingml/2006/main">
              <a:ext uri="{FF2B5EF4-FFF2-40B4-BE49-F238E27FC236}">
                <a16:creationId xmlns:a16="http://schemas.microsoft.com/office/drawing/2014/main" id="{185AA9FD-370E-46EF-B0B2-81498473CF5C}"/>
              </a:ext>
            </a:extLst>
          </p:cNvPr>
          <p:cNvSpPr>
            <a:spLocks xmlns:a="http://schemas.openxmlformats.org/drawingml/2006/main" noGrp="1"/>
          </p:cNvSpPr>
          <p:nvPr/>
        </p:nvSpPr>
        <p:spPr>
          <a:xfrm xmlns:a="http://schemas.openxmlformats.org/drawingml/2006/main">
            <a:off x="4238625" y="1819275"/>
            <a:ext cx="7553325" cy="1762125"/>
          </a:xfrm>
          <a:custGeom xmlns:a="http://schemas.openxmlformats.org/drawingml/2006/main">
            <a:pathLst>
              <a:path w="793" h="185">
                <a:moveTo>
                  <a:pt x="10" y="0"/>
                </a:moveTo>
                <a:cubicBezTo>
                  <a:pt x="8" y="0"/>
                  <a:pt x="6" y="2"/>
                  <a:pt x="6" y="4"/>
                </a:cubicBezTo>
                <a:lnTo>
                  <a:pt x="6" y="181"/>
                </a:lnTo>
                <a:cubicBezTo>
                  <a:pt x="6" y="183"/>
                  <a:pt x="8" y="185"/>
                  <a:pt x="10" y="185"/>
                </a:cubicBezTo>
                <a:cubicBezTo>
                  <a:pt x="4" y="185"/>
                  <a:pt x="0" y="180"/>
                  <a:pt x="0" y="175"/>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6" name="矩形 45">
            <a:extLst xmlns:a="http://schemas.openxmlformats.org/drawingml/2006/main">
              <a:ext uri="{FF2B5EF4-FFF2-40B4-BE49-F238E27FC236}">
                <a16:creationId xmlns:a16="http://schemas.microsoft.com/office/drawing/2014/main" id="{69518490-5411-42EA-9273-4107A9620EEF}"/>
              </a:ext>
            </a:extLst>
          </p:cNvPr>
          <p:cNvSpPr>
            <a:spLocks xmlns:a="http://schemas.openxmlformats.org/drawingml/2006/main" noGrp="1"/>
          </p:cNvSpPr>
          <p:nvPr/>
        </p:nvSpPr>
        <p:spPr>
          <a:xfrm xmlns:a="http://schemas.openxmlformats.org/drawingml/2006/main">
            <a:off x="4524375" y="2105025"/>
            <a:ext cx="692467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b="1">
                <a:solidFill>
                  <a:srgbClr val="1E4FA8"/>
                </a:solidFill>
                <a:latin typeface="微软雅黑"/>
                <a:ea typeface="微软雅黑"/>
                <a:cs typeface="微软雅黑"/>
              </a:rPr>
              <a:t>1.2.4 多线程</a:t>
            </a:r>
          </a:p>
          <a:p xmlns:a="http://schemas.openxmlformats.org/drawingml/2006/main">
            <a:pPr marL="0">
              <a:lnSpc>
                <a:spcPct val="100000"/>
              </a:lnSpc>
              <a:spcBef>
                <a:spcPts val="0"/>
              </a:spcBef>
              <a:spcAft>
                <a:spcPts val="0"/>
              </a:spcAft>
              <a:buNone/>
            </a:pPr>
            <a:r>
              <a:rPr sz="3290" b="1">
                <a:solidFill>
                  <a:srgbClr val="1E4FA8"/>
                </a:solidFill>
                <a:latin typeface="微软雅黑"/>
                <a:ea typeface="微软雅黑"/>
                <a:cs typeface="微软雅黑"/>
              </a:rPr>
              <a:t>1.2.4 Multithreading</a:t>
            </a:r>
          </a:p>
        </p:txBody>
      </p:sp>
      <p:sp>
        <p:nvSpPr>
          <p:cNvPr id="47" name="矩形 46">
            <a:extLst xmlns:a="http://schemas.openxmlformats.org/drawingml/2006/main">
              <a:ext uri="{FF2B5EF4-FFF2-40B4-BE49-F238E27FC236}">
                <a16:creationId xmlns:a16="http://schemas.microsoft.com/office/drawing/2014/main" id="{B746073E-08CD-4856-A297-4D2E0FCAE87C}"/>
              </a:ext>
            </a:extLst>
          </p:cNvPr>
          <p:cNvSpPr>
            <a:spLocks xmlns:a="http://schemas.openxmlformats.org/drawingml/2006/main" noGrp="1"/>
          </p:cNvSpPr>
          <p:nvPr/>
        </p:nvSpPr>
        <p:spPr>
          <a:xfrm xmlns:a="http://schemas.openxmlformats.org/drawingml/2006/main">
            <a:off x="4524375" y="2447925"/>
            <a:ext cx="6924675" cy="847725"/>
          </a:xfrm>
          <a:prstGeom xmlns:a="http://schemas.openxmlformats.org/drawingml/2006/main" prst="rect">
            <a:avLst/>
          </a:prstGeom>
        </p:spPr>
        <p:txBody>
          <a:bodyPr xmlns:a="http://schemas.openxmlformats.org/drawingml/2006/main" wrap="square" lIns="0" tIns="0" rIns="0" bIns="0">
            <a:normAutofit fontScale="3667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内置对多线程的支持。多线程允许程序同时完成多个任务，例如一边下载文件一边响应用户操作。</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has built-in support for multithreading. Multithreading allows a program to complete multiple tasks at the same time, such as downloading files while responding to user operations.</a:t>
            </a:r>
          </a:p>
        </p:txBody>
      </p:sp>
      <p:sp>
        <p:nvSpPr>
          <p:cNvPr id="48" name="圆角矩形 47">
            <a:extLst xmlns:a="http://schemas.openxmlformats.org/drawingml/2006/main">
              <a:ext uri="{FF2B5EF4-FFF2-40B4-BE49-F238E27FC236}">
                <a16:creationId xmlns:a16="http://schemas.microsoft.com/office/drawing/2014/main" id="{941CE62B-84A7-42F1-B431-1E01AF2D9965}"/>
              </a:ext>
            </a:extLst>
          </p:cNvPr>
          <p:cNvSpPr>
            <a:spLocks xmlns:a="http://schemas.openxmlformats.org/drawingml/2006/main" noGrp="1"/>
          </p:cNvSpPr>
          <p:nvPr/>
        </p:nvSpPr>
        <p:spPr>
          <a:xfrm xmlns:a="http://schemas.openxmlformats.org/drawingml/2006/main">
            <a:off x="4238625" y="3771900"/>
            <a:ext cx="7553325" cy="1762125"/>
          </a:xfrm>
          <a:prstGeom xmlns:a="http://schemas.openxmlformats.org/drawingml/2006/main" prst="roundRect">
            <a:avLst>
              <a:gd name="adj" fmla="val 540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49" name="任意多边形 48">
            <a:extLst xmlns:a="http://schemas.openxmlformats.org/drawingml/2006/main">
              <a:ext uri="{FF2B5EF4-FFF2-40B4-BE49-F238E27FC236}">
                <a16:creationId xmlns:a16="http://schemas.microsoft.com/office/drawing/2014/main" id="{2B52A7F9-DDB8-40D5-A9F2-7EA0964CA376}"/>
              </a:ext>
            </a:extLst>
          </p:cNvPr>
          <p:cNvSpPr>
            <a:spLocks xmlns:a="http://schemas.openxmlformats.org/drawingml/2006/main" noGrp="1"/>
          </p:cNvSpPr>
          <p:nvPr/>
        </p:nvSpPr>
        <p:spPr>
          <a:xfrm xmlns:a="http://schemas.openxmlformats.org/drawingml/2006/main">
            <a:off x="4238625" y="3771900"/>
            <a:ext cx="7553325" cy="1762125"/>
          </a:xfrm>
          <a:custGeom xmlns:a="http://schemas.openxmlformats.org/drawingml/2006/main">
            <a:pathLst>
              <a:path w="793" h="185">
                <a:moveTo>
                  <a:pt x="10" y="0"/>
                </a:moveTo>
                <a:cubicBezTo>
                  <a:pt x="8" y="0"/>
                  <a:pt x="6" y="2"/>
                  <a:pt x="6" y="4"/>
                </a:cubicBezTo>
                <a:lnTo>
                  <a:pt x="6" y="181"/>
                </a:lnTo>
                <a:cubicBezTo>
                  <a:pt x="6" y="183"/>
                  <a:pt x="8" y="185"/>
                  <a:pt x="10" y="185"/>
                </a:cubicBezTo>
                <a:cubicBezTo>
                  <a:pt x="4" y="185"/>
                  <a:pt x="0" y="180"/>
                  <a:pt x="0" y="175"/>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0" name="矩形 49">
            <a:extLst xmlns:a="http://schemas.openxmlformats.org/drawingml/2006/main">
              <a:ext uri="{FF2B5EF4-FFF2-40B4-BE49-F238E27FC236}">
                <a16:creationId xmlns:a16="http://schemas.microsoft.com/office/drawing/2014/main" id="{141C73BC-9BEB-47F8-BD4A-5A72F9F79992}"/>
              </a:ext>
            </a:extLst>
          </p:cNvPr>
          <p:cNvSpPr>
            <a:spLocks xmlns:a="http://schemas.openxmlformats.org/drawingml/2006/main" noGrp="1"/>
          </p:cNvSpPr>
          <p:nvPr/>
        </p:nvSpPr>
        <p:spPr>
          <a:xfrm xmlns:a="http://schemas.openxmlformats.org/drawingml/2006/main">
            <a:off x="4524375" y="4057650"/>
            <a:ext cx="692467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b="1">
                <a:solidFill>
                  <a:srgbClr val="1E4FA8"/>
                </a:solidFill>
                <a:latin typeface="微软雅黑"/>
                <a:ea typeface="微软雅黑"/>
                <a:cs typeface="微软雅黑"/>
              </a:rPr>
              <a:t>1.2.5 动态</a:t>
            </a:r>
          </a:p>
          <a:p xmlns:a="http://schemas.openxmlformats.org/drawingml/2006/main">
            <a:pPr marL="0">
              <a:lnSpc>
                <a:spcPct val="100000"/>
              </a:lnSpc>
              <a:spcBef>
                <a:spcPts val="0"/>
              </a:spcBef>
              <a:spcAft>
                <a:spcPts val="0"/>
              </a:spcAft>
              <a:buNone/>
            </a:pPr>
            <a:r>
              <a:rPr sz="3290" b="1">
                <a:solidFill>
                  <a:srgbClr val="1E4FA8"/>
                </a:solidFill>
                <a:latin typeface="微软雅黑"/>
                <a:ea typeface="微软雅黑"/>
                <a:cs typeface="微软雅黑"/>
              </a:rPr>
              <a:t>1.2.5 Dynamic</a:t>
            </a:r>
          </a:p>
        </p:txBody>
      </p:sp>
      <p:sp>
        <p:nvSpPr>
          <p:cNvPr id="51" name="矩形 50">
            <a:extLst xmlns:a="http://schemas.openxmlformats.org/drawingml/2006/main">
              <a:ext uri="{FF2B5EF4-FFF2-40B4-BE49-F238E27FC236}">
                <a16:creationId xmlns:a16="http://schemas.microsoft.com/office/drawing/2014/main" id="{362278E9-C135-4D82-BEED-34F51C1F650D}"/>
              </a:ext>
            </a:extLst>
          </p:cNvPr>
          <p:cNvSpPr>
            <a:spLocks xmlns:a="http://schemas.openxmlformats.org/drawingml/2006/main" noGrp="1"/>
          </p:cNvSpPr>
          <p:nvPr/>
        </p:nvSpPr>
        <p:spPr>
          <a:xfrm xmlns:a="http://schemas.openxmlformats.org/drawingml/2006/main">
            <a:off x="4524375" y="4400550"/>
            <a:ext cx="6924675" cy="847725"/>
          </a:xfrm>
          <a:prstGeom xmlns:a="http://schemas.openxmlformats.org/drawingml/2006/main" prst="rect">
            <a:avLst/>
          </a:prstGeom>
        </p:spPr>
        <p:txBody>
          <a:bodyPr xmlns:a="http://schemas.openxmlformats.org/drawingml/2006/main" wrap="square" lIns="0" tIns="0" rIns="0" bIns="0">
            <a:normAutofit fontScale="2980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程序的基本组成单元是类。类可以在运行时动态装载，既可以使用自己编写的类，也可以引入类库，便于在分布环境中动态维护程序。</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basic building block of a Java program is a class. Classes can be loaded dynamically at runtime. You can use your own classes or introduce class libraries to facilitate dynamic maintenance of programs in a distributed environment.</a:t>
            </a:r>
          </a:p>
        </p:txBody>
      </p:sp>
      <p:sp>
        <p:nvSpPr>
          <p:cNvPr id="52" name="矩形 51">
            <a:extLst xmlns:a="http://schemas.openxmlformats.org/drawingml/2006/main">
              <a:ext uri="{FF2B5EF4-FFF2-40B4-BE49-F238E27FC236}">
                <a16:creationId xmlns:a16="http://schemas.microsoft.com/office/drawing/2014/main" id="{FF851B48-1B77-4437-B6AA-ECA3C75B7328}"/>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12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10182248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4" name="矩形 53">
            <a:extLst xmlns:a="http://schemas.openxmlformats.org/drawingml/2006/main">
              <a:ext uri="{FF2B5EF4-FFF2-40B4-BE49-F238E27FC236}">
                <a16:creationId xmlns:a16="http://schemas.microsoft.com/office/drawing/2014/main" id="{6E7EE38A-99CF-4615-8D7E-47B2AFA452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5" name="矩形 54">
            <a:extLst xmlns:a="http://schemas.openxmlformats.org/drawingml/2006/main">
              <a:ext uri="{FF2B5EF4-FFF2-40B4-BE49-F238E27FC236}">
                <a16:creationId xmlns:a16="http://schemas.microsoft.com/office/drawing/2014/main" id="{842FFBFD-9977-4372-A05A-B4320559762E}"/>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6" name="矩形 55">
            <a:extLst xmlns:a="http://schemas.openxmlformats.org/drawingml/2006/main">
              <a:ext uri="{FF2B5EF4-FFF2-40B4-BE49-F238E27FC236}">
                <a16:creationId xmlns:a16="http://schemas.microsoft.com/office/drawing/2014/main" id="{4D7AABC4-FCE0-443C-B467-7A24077C50FC}"/>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7" name="矩形 56">
            <a:extLst xmlns:a="http://schemas.openxmlformats.org/drawingml/2006/main">
              <a:ext uri="{FF2B5EF4-FFF2-40B4-BE49-F238E27FC236}">
                <a16:creationId xmlns:a16="http://schemas.microsoft.com/office/drawing/2014/main" id="{3BBA1974-1627-48A9-8CDF-DE2A01E3B35A}"/>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 安装</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 Installation</a:t>
            </a:r>
          </a:p>
        </p:txBody>
      </p:sp>
      <p:sp>
        <p:nvSpPr>
          <p:cNvPr id="58" name="矩形 57">
            <a:extLst xmlns:a="http://schemas.openxmlformats.org/drawingml/2006/main">
              <a:ext uri="{FF2B5EF4-FFF2-40B4-BE49-F238E27FC236}">
                <a16:creationId xmlns:a16="http://schemas.microsoft.com/office/drawing/2014/main" id="{FA56DF44-2D53-473A-BA9D-42F4249E1B83}"/>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三种平台</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简介</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Three platforms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Introduction</a:t>
            </a:r>
          </a:p>
        </p:txBody>
      </p:sp>
      <p:sp>
        <p:nvSpPr>
          <p:cNvPr id="59" name="矩形 58">
            <a:extLst xmlns:a="http://schemas.openxmlformats.org/drawingml/2006/main">
              <a:ext uri="{FF2B5EF4-FFF2-40B4-BE49-F238E27FC236}">
                <a16:creationId xmlns:a16="http://schemas.microsoft.com/office/drawing/2014/main" id="{1368B8E7-5EFF-4E4C-BE4B-4FF97C228454}"/>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 name="矩形 59">
            <a:extLst xmlns:a="http://schemas.openxmlformats.org/drawingml/2006/main">
              <a:ext uri="{FF2B5EF4-FFF2-40B4-BE49-F238E27FC236}">
                <a16:creationId xmlns:a16="http://schemas.microsoft.com/office/drawing/2014/main" id="{2F54D8B1-336F-460B-AA12-4DD7973DAF61}"/>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500">
                <a:solidFill>
                  <a:srgbClr val="4A5568"/>
                </a:solidFill>
                <a:latin typeface="微软雅黑"/>
                <a:ea typeface="微软雅黑"/>
                <a:cs typeface="微软雅黑"/>
              </a:rPr>
              <a:t>Java SE / Jakarta EE / Java ME</a:t>
            </a:r>
            <a:endParaRPr sz="1500">
              <a:solidFill>
                <a:srgbClr val="4A5568"/>
              </a:solidFill>
              <a:latin typeface="微软雅黑"/>
              <a:ea typeface="微软雅黑"/>
              <a:cs typeface="微软雅黑"/>
            </a:endParaRPr>
          </a:p>
        </p:txBody>
      </p:sp>
      <p:sp>
        <p:nvSpPr>
          <p:cNvPr id="61" name="圆角矩形 60">
            <a:extLst xmlns:a="http://schemas.openxmlformats.org/drawingml/2006/main">
              <a:ext uri="{FF2B5EF4-FFF2-40B4-BE49-F238E27FC236}">
                <a16:creationId xmlns:a16="http://schemas.microsoft.com/office/drawing/2014/main" id="{5C239BF9-EA0D-4EB5-B4D6-104370A5D234}"/>
              </a:ext>
            </a:extLst>
          </p:cNvPr>
          <p:cNvSpPr>
            <a:spLocks xmlns:a="http://schemas.openxmlformats.org/drawingml/2006/main" noGrp="1"/>
          </p:cNvSpPr>
          <p:nvPr/>
        </p:nvSpPr>
        <p:spPr>
          <a:xfrm xmlns:a="http://schemas.openxmlformats.org/drawingml/2006/main">
            <a:off x="4238625" y="1543050"/>
            <a:ext cx="7553325" cy="1028700"/>
          </a:xfrm>
          <a:prstGeom xmlns:a="http://schemas.openxmlformats.org/drawingml/2006/main" prst="roundRect">
            <a:avLst>
              <a:gd name="adj" fmla="val 9259"/>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2" name="任意多边形 61">
            <a:extLst xmlns:a="http://schemas.openxmlformats.org/drawingml/2006/main">
              <a:ext uri="{FF2B5EF4-FFF2-40B4-BE49-F238E27FC236}">
                <a16:creationId xmlns:a16="http://schemas.microsoft.com/office/drawing/2014/main" id="{88BA4C19-DED6-4B1A-BE4E-9C62C3F646B3}"/>
              </a:ext>
            </a:extLst>
          </p:cNvPr>
          <p:cNvSpPr>
            <a:spLocks xmlns:a="http://schemas.openxmlformats.org/drawingml/2006/main" noGrp="1"/>
          </p:cNvSpPr>
          <p:nvPr/>
        </p:nvSpPr>
        <p:spPr>
          <a:xfrm xmlns:a="http://schemas.openxmlformats.org/drawingml/2006/main">
            <a:off x="4238625" y="1543050"/>
            <a:ext cx="7553325" cy="1028700"/>
          </a:xfrm>
          <a:custGeom xmlns:a="http://schemas.openxmlformats.org/drawingml/2006/main">
            <a:pathLst>
              <a:path w="793" h="108">
                <a:moveTo>
                  <a:pt x="10" y="0"/>
                </a:moveTo>
                <a:cubicBezTo>
                  <a:pt x="8" y="0"/>
                  <a:pt x="6" y="2"/>
                  <a:pt x="6" y="4"/>
                </a:cubicBezTo>
                <a:lnTo>
                  <a:pt x="6" y="104"/>
                </a:lnTo>
                <a:cubicBezTo>
                  <a:pt x="6" y="106"/>
                  <a:pt x="8" y="108"/>
                  <a:pt x="10" y="108"/>
                </a:cubicBezTo>
                <a:cubicBezTo>
                  <a:pt x="4" y="108"/>
                  <a:pt x="0" y="103"/>
                  <a:pt x="0" y="98"/>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3" name="矩形 62">
            <a:extLst xmlns:a="http://schemas.openxmlformats.org/drawingml/2006/main">
              <a:ext uri="{FF2B5EF4-FFF2-40B4-BE49-F238E27FC236}">
                <a16:creationId xmlns:a16="http://schemas.microsoft.com/office/drawing/2014/main" id="{83350736-C410-471B-86EB-1CC92D306A2A}"/>
              </a:ext>
            </a:extLst>
          </p:cNvPr>
          <p:cNvSpPr>
            <a:spLocks xmlns:a="http://schemas.openxmlformats.org/drawingml/2006/main" noGrp="1"/>
          </p:cNvSpPr>
          <p:nvPr/>
        </p:nvSpPr>
        <p:spPr>
          <a:xfrm xmlns:a="http://schemas.openxmlformats.org/drawingml/2006/main">
            <a:off x="4448175" y="1752600"/>
            <a:ext cx="70770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Java SE（Standard Edition，标准版）</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Java SE (Standard Edition, Standard Edition)</a:t>
            </a:r>
          </a:p>
        </p:txBody>
      </p:sp>
      <p:sp>
        <p:nvSpPr>
          <p:cNvPr id="64" name="矩形 63">
            <a:extLst xmlns:a="http://schemas.openxmlformats.org/drawingml/2006/main">
              <a:ext uri="{FF2B5EF4-FFF2-40B4-BE49-F238E27FC236}">
                <a16:creationId xmlns:a16="http://schemas.microsoft.com/office/drawing/2014/main" id="{480DA922-4FC6-43FD-B2C0-58D95142574D}"/>
              </a:ext>
            </a:extLst>
          </p:cNvPr>
          <p:cNvSpPr>
            <a:spLocks xmlns:a="http://schemas.openxmlformats.org/drawingml/2006/main" noGrp="1"/>
          </p:cNvSpPr>
          <p:nvPr/>
        </p:nvSpPr>
        <p:spPr>
          <a:xfrm xmlns:a="http://schemas.openxmlformats.org/drawingml/2006/main">
            <a:off x="4448175" y="2038350"/>
            <a:ext cx="7077075" cy="323850"/>
          </a:xfrm>
          <a:prstGeom xmlns:a="http://schemas.openxmlformats.org/drawingml/2006/main" prst="rect">
            <a:avLst/>
          </a:prstGeom>
        </p:spPr>
        <p:txBody>
          <a:bodyPr xmlns:a="http://schemas.openxmlformats.org/drawingml/2006/main" wrap="none" lIns="0" tIns="0" rIns="0" bIns="0">
            <a:normAutofit fontScale="39957"/>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Java 核心与基础，提供 JVM 与基础类库。本课程全程使用 Java SE 21（LTS）。</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Java core and foundation, providing JVM and basic class libraries. This course uses Java SE 21 (LTS) throughout.</a:t>
            </a:r>
          </a:p>
        </p:txBody>
      </p:sp>
      <p:sp>
        <p:nvSpPr>
          <p:cNvPr id="65" name="圆角矩形 64">
            <a:extLst xmlns:a="http://schemas.openxmlformats.org/drawingml/2006/main">
              <a:ext uri="{FF2B5EF4-FFF2-40B4-BE49-F238E27FC236}">
                <a16:creationId xmlns:a16="http://schemas.microsoft.com/office/drawing/2014/main" id="{BB2E766C-BABC-4A52-851F-01DC53E60148}"/>
              </a:ext>
            </a:extLst>
          </p:cNvPr>
          <p:cNvSpPr>
            <a:spLocks xmlns:a="http://schemas.openxmlformats.org/drawingml/2006/main" noGrp="1"/>
          </p:cNvSpPr>
          <p:nvPr/>
        </p:nvSpPr>
        <p:spPr>
          <a:xfrm xmlns:a="http://schemas.openxmlformats.org/drawingml/2006/main">
            <a:off x="4238625" y="2705100"/>
            <a:ext cx="7553325" cy="1352550"/>
          </a:xfrm>
          <a:prstGeom xmlns:a="http://schemas.openxmlformats.org/drawingml/2006/main" prst="roundRect">
            <a:avLst>
              <a:gd name="adj" fmla="val 704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6" name="任意多边形 65">
            <a:extLst xmlns:a="http://schemas.openxmlformats.org/drawingml/2006/main">
              <a:ext uri="{FF2B5EF4-FFF2-40B4-BE49-F238E27FC236}">
                <a16:creationId xmlns:a16="http://schemas.microsoft.com/office/drawing/2014/main" id="{F78232DF-83CB-4915-920B-37D9E3049ABD}"/>
              </a:ext>
            </a:extLst>
          </p:cNvPr>
          <p:cNvSpPr>
            <a:spLocks xmlns:a="http://schemas.openxmlformats.org/drawingml/2006/main" noGrp="1"/>
          </p:cNvSpPr>
          <p:nvPr/>
        </p:nvSpPr>
        <p:spPr>
          <a:xfrm xmlns:a="http://schemas.openxmlformats.org/drawingml/2006/main">
            <a:off x="4238625" y="2705100"/>
            <a:ext cx="7553325" cy="1352550"/>
          </a:xfrm>
          <a:custGeom xmlns:a="http://schemas.openxmlformats.org/drawingml/2006/main">
            <a:pathLst>
              <a:path w="793" h="142">
                <a:moveTo>
                  <a:pt x="10" y="0"/>
                </a:moveTo>
                <a:cubicBezTo>
                  <a:pt x="8" y="0"/>
                  <a:pt x="6" y="2"/>
                  <a:pt x="6" y="4"/>
                </a:cubicBezTo>
                <a:lnTo>
                  <a:pt x="6" y="138"/>
                </a:lnTo>
                <a:cubicBezTo>
                  <a:pt x="6" y="140"/>
                  <a:pt x="8" y="142"/>
                  <a:pt x="10" y="142"/>
                </a:cubicBezTo>
                <a:cubicBezTo>
                  <a:pt x="4" y="142"/>
                  <a:pt x="0" y="137"/>
                  <a:pt x="0" y="132"/>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67" name="矩形 66">
            <a:extLst xmlns:a="http://schemas.openxmlformats.org/drawingml/2006/main">
              <a:ext uri="{FF2B5EF4-FFF2-40B4-BE49-F238E27FC236}">
                <a16:creationId xmlns:a16="http://schemas.microsoft.com/office/drawing/2014/main" id="{AF6C4AC0-7995-4051-989C-69923BEEE477}"/>
              </a:ext>
            </a:extLst>
          </p:cNvPr>
          <p:cNvSpPr>
            <a:spLocks xmlns:a="http://schemas.openxmlformats.org/drawingml/2006/main" noGrp="1"/>
          </p:cNvSpPr>
          <p:nvPr/>
        </p:nvSpPr>
        <p:spPr>
          <a:xfrm xmlns:a="http://schemas.openxmlformats.org/drawingml/2006/main">
            <a:off x="4448175" y="2914650"/>
            <a:ext cx="70770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Jakarta EE（原 Java EE，企业版）</a:t>
            </a:r>
          </a:p>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Jakarta EE (formerly Java EE, Enterprise Edition)</a:t>
            </a:r>
          </a:p>
        </p:txBody>
      </p:sp>
      <p:sp>
        <p:nvSpPr>
          <p:cNvPr id="68" name="矩形 67">
            <a:extLst xmlns:a="http://schemas.openxmlformats.org/drawingml/2006/main">
              <a:ext uri="{FF2B5EF4-FFF2-40B4-BE49-F238E27FC236}">
                <a16:creationId xmlns:a16="http://schemas.microsoft.com/office/drawing/2014/main" id="{EA89AAE5-EF10-47C8-834E-781B30BC4A98}"/>
              </a:ext>
            </a:extLst>
          </p:cNvPr>
          <p:cNvSpPr>
            <a:spLocks xmlns:a="http://schemas.openxmlformats.org/drawingml/2006/main" noGrp="1"/>
          </p:cNvSpPr>
          <p:nvPr/>
        </p:nvSpPr>
        <p:spPr>
          <a:xfrm xmlns:a="http://schemas.openxmlformats.org/drawingml/2006/main">
            <a:off x="4448175" y="3200400"/>
            <a:ext cx="7077075" cy="647700"/>
          </a:xfrm>
          <a:prstGeom xmlns:a="http://schemas.openxmlformats.org/drawingml/2006/main" prst="rect">
            <a:avLst/>
          </a:prstGeom>
        </p:spPr>
        <p:txBody>
          <a:bodyPr xmlns:a="http://schemas.openxmlformats.org/drawingml/2006/main" wrap="square" lIns="0" tIns="0" rIns="0" bIns="0">
            <a:normAutofit fontScale="41585"/>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面向服务器端 / 分布式企业应用。2018 年起由 Oracle 移交 Eclipse 基金会并更名，包名由 javax.* 改为 jakarta.*。</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For server-side/distributed enterprise applications. Since 2018, Oracle has transferred it to the Eclipse Foundation and changed its name. The package name has been changed from javax.* to jakarta.*.</a:t>
            </a:r>
          </a:p>
        </p:txBody>
      </p:sp>
      <p:sp>
        <p:nvSpPr>
          <p:cNvPr id="69" name="圆角矩形 68">
            <a:extLst xmlns:a="http://schemas.openxmlformats.org/drawingml/2006/main">
              <a:ext uri="{FF2B5EF4-FFF2-40B4-BE49-F238E27FC236}">
                <a16:creationId xmlns:a16="http://schemas.microsoft.com/office/drawing/2014/main" id="{843D08C2-5C52-420A-BDF8-7C71A3E62BB5}"/>
              </a:ext>
            </a:extLst>
          </p:cNvPr>
          <p:cNvSpPr>
            <a:spLocks xmlns:a="http://schemas.openxmlformats.org/drawingml/2006/main" noGrp="1"/>
          </p:cNvSpPr>
          <p:nvPr/>
        </p:nvSpPr>
        <p:spPr>
          <a:xfrm xmlns:a="http://schemas.openxmlformats.org/drawingml/2006/main">
            <a:off x="4238625" y="4191000"/>
            <a:ext cx="7553325" cy="1028700"/>
          </a:xfrm>
          <a:prstGeom xmlns:a="http://schemas.openxmlformats.org/drawingml/2006/main" prst="roundRect">
            <a:avLst>
              <a:gd name="adj" fmla="val 9259"/>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70" name="任意多边形 69">
            <a:extLst xmlns:a="http://schemas.openxmlformats.org/drawingml/2006/main">
              <a:ext uri="{FF2B5EF4-FFF2-40B4-BE49-F238E27FC236}">
                <a16:creationId xmlns:a16="http://schemas.microsoft.com/office/drawing/2014/main" id="{E60D047B-125B-4BAE-ACE9-14C44C0BF42A}"/>
              </a:ext>
            </a:extLst>
          </p:cNvPr>
          <p:cNvSpPr>
            <a:spLocks xmlns:a="http://schemas.openxmlformats.org/drawingml/2006/main" noGrp="1"/>
          </p:cNvSpPr>
          <p:nvPr/>
        </p:nvSpPr>
        <p:spPr>
          <a:xfrm xmlns:a="http://schemas.openxmlformats.org/drawingml/2006/main">
            <a:off x="4238625" y="4191000"/>
            <a:ext cx="7553325" cy="1028700"/>
          </a:xfrm>
          <a:custGeom xmlns:a="http://schemas.openxmlformats.org/drawingml/2006/main">
            <a:pathLst>
              <a:path w="793" h="108">
                <a:moveTo>
                  <a:pt x="10" y="0"/>
                </a:moveTo>
                <a:cubicBezTo>
                  <a:pt x="8" y="0"/>
                  <a:pt x="6" y="2"/>
                  <a:pt x="6" y="4"/>
                </a:cubicBezTo>
                <a:lnTo>
                  <a:pt x="6" y="104"/>
                </a:lnTo>
                <a:cubicBezTo>
                  <a:pt x="6" y="106"/>
                  <a:pt x="8" y="108"/>
                  <a:pt x="10" y="108"/>
                </a:cubicBezTo>
                <a:cubicBezTo>
                  <a:pt x="4" y="108"/>
                  <a:pt x="0" y="103"/>
                  <a:pt x="0" y="98"/>
                </a:cubicBezTo>
                <a:lnTo>
                  <a:pt x="0" y="10"/>
                </a:lnTo>
                <a:cubicBezTo>
                  <a:pt x="0" y="5"/>
                  <a:pt x="4" y="0"/>
                  <a:pt x="10" y="0"/>
                </a:cubicBezTo>
                <a:close/>
              </a:path>
            </a:pathLst>
          </a:custGeom>
          <a:solidFill xmlns:a="http://schemas.openxmlformats.org/drawingml/2006/main">
            <a:srgbClr val="8B97A8"/>
          </a:solidFill>
        </p:spPr>
        <p:txBody>
          <a:bodyPr xmlns:a="http://schemas.openxmlformats.org/drawingml/2006/main"/>
          <a:lstStyle xmlns:a="http://schemas.openxmlformats.org/drawingml/2006/main"/>
          <a:p xmlns:a="http://schemas.openxmlformats.org/drawingml/2006/main"/>
        </p:txBody>
      </p:sp>
      <p:sp>
        <p:nvSpPr>
          <p:cNvPr id="71" name="矩形 70">
            <a:extLst xmlns:a="http://schemas.openxmlformats.org/drawingml/2006/main">
              <a:ext uri="{FF2B5EF4-FFF2-40B4-BE49-F238E27FC236}">
                <a16:creationId xmlns:a16="http://schemas.microsoft.com/office/drawing/2014/main" id="{45BD39C8-2424-410E-99BC-360DFC7E3717}"/>
              </a:ext>
            </a:extLst>
          </p:cNvPr>
          <p:cNvSpPr>
            <a:spLocks xmlns:a="http://schemas.openxmlformats.org/drawingml/2006/main" noGrp="1"/>
          </p:cNvSpPr>
          <p:nvPr/>
        </p:nvSpPr>
        <p:spPr>
          <a:xfrm xmlns:a="http://schemas.openxmlformats.org/drawingml/2006/main">
            <a:off x="4448175" y="4400550"/>
            <a:ext cx="70770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8B97A8"/>
                </a:solidFill>
                <a:latin typeface="微软雅黑"/>
                <a:ea typeface="微软雅黑"/>
                <a:cs typeface="微软雅黑"/>
              </a:rPr>
              <a:t>Java ME（Micro Edition，微型版）</a:t>
            </a:r>
          </a:p>
          <a:p xmlns:a="http://schemas.openxmlformats.org/drawingml/2006/main">
            <a:pPr marL="0">
              <a:lnSpc>
                <a:spcPct val="100000"/>
              </a:lnSpc>
              <a:spcBef>
                <a:spcPts val="0"/>
              </a:spcBef>
              <a:spcAft>
                <a:spcPts val="0"/>
              </a:spcAft>
              <a:buNone/>
            </a:pPr>
            <a:r>
              <a:rPr sz="2960" b="1">
                <a:solidFill>
                  <a:srgbClr val="8B97A8"/>
                </a:solidFill>
                <a:latin typeface="微软雅黑"/>
                <a:ea typeface="微软雅黑"/>
                <a:cs typeface="微软雅黑"/>
              </a:rPr>
              <a:t>Java ME (Micro Edition, micro version)</a:t>
            </a:r>
          </a:p>
        </p:txBody>
      </p:sp>
      <p:sp>
        <p:nvSpPr>
          <p:cNvPr id="72" name="矩形 71">
            <a:extLst xmlns:a="http://schemas.openxmlformats.org/drawingml/2006/main">
              <a:ext uri="{FF2B5EF4-FFF2-40B4-BE49-F238E27FC236}">
                <a16:creationId xmlns:a16="http://schemas.microsoft.com/office/drawing/2014/main" id="{497F554F-BECD-470B-A08B-2C2C4965DCDF}"/>
              </a:ext>
            </a:extLst>
          </p:cNvPr>
          <p:cNvSpPr>
            <a:spLocks xmlns:a="http://schemas.openxmlformats.org/drawingml/2006/main" noGrp="1"/>
          </p:cNvSpPr>
          <p:nvPr/>
        </p:nvSpPr>
        <p:spPr>
          <a:xfrm xmlns:a="http://schemas.openxmlformats.org/drawingml/2006/main">
            <a:off x="4448175" y="4686300"/>
            <a:ext cx="7077075" cy="323850"/>
          </a:xfrm>
          <a:prstGeom xmlns:a="http://schemas.openxmlformats.org/drawingml/2006/main" prst="rect">
            <a:avLst/>
          </a:prstGeom>
        </p:spPr>
        <p:txBody>
          <a:bodyPr xmlns:a="http://schemas.openxmlformats.org/drawingml/2006/main" wrap="none" lIns="0" tIns="0" rIns="0" bIns="0">
            <a:normAutofit fontScale="28875"/>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曾面向嵌入式 / 功能机，现基本被 Android、嵌入式 Linux 取代；本课程不涉及。</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It was once oriented to embedded/feature machines, but has now been basically replaced by Android and embedded Linux; this course does not cover it.</a:t>
            </a:r>
          </a:p>
        </p:txBody>
      </p:sp>
      <p:sp>
        <p:nvSpPr>
          <p:cNvPr id="73" name="圆角矩形 72">
            <a:extLst xmlns:a="http://schemas.openxmlformats.org/drawingml/2006/main">
              <a:ext uri="{FF2B5EF4-FFF2-40B4-BE49-F238E27FC236}">
                <a16:creationId xmlns:a16="http://schemas.microsoft.com/office/drawing/2014/main" id="{DDED5AFC-D759-4ABE-A6E3-00B861B49501}"/>
              </a:ext>
            </a:extLst>
          </p:cNvPr>
          <p:cNvSpPr>
            <a:spLocks xmlns:a="http://schemas.openxmlformats.org/drawingml/2006/main" noGrp="1"/>
          </p:cNvSpPr>
          <p:nvPr/>
        </p:nvSpPr>
        <p:spPr>
          <a:xfrm xmlns:a="http://schemas.openxmlformats.org/drawingml/2006/main">
            <a:off x="4181475" y="5353050"/>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74" name="矩形 73">
            <a:extLst xmlns:a="http://schemas.openxmlformats.org/drawingml/2006/main">
              <a:ext uri="{FF2B5EF4-FFF2-40B4-BE49-F238E27FC236}">
                <a16:creationId xmlns:a16="http://schemas.microsoft.com/office/drawing/2014/main" id="{37ADE1A5-715F-4D58-8DF4-95B295F85403}"/>
              </a:ext>
            </a:extLst>
          </p:cNvPr>
          <p:cNvSpPr>
            <a:spLocks xmlns:a="http://schemas.openxmlformats.org/drawingml/2006/main" noGrp="1"/>
          </p:cNvSpPr>
          <p:nvPr/>
        </p:nvSpPr>
        <p:spPr>
          <a:xfrm xmlns:a="http://schemas.openxmlformats.org/drawingml/2006/main">
            <a:off x="4314825" y="5486400"/>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无论哪个平台，底层都是同一套 JVM 与字节码思想。</a:t>
            </a:r>
          </a:p>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Regardless of the platform, the bottom layer is the same set of JVM and bytecode ideas.</a:t>
            </a:r>
          </a:p>
        </p:txBody>
      </p:sp>
      <p:sp>
        <p:nvSpPr>
          <p:cNvPr id="75" name="矩形 74">
            <a:extLst xmlns:a="http://schemas.openxmlformats.org/drawingml/2006/main">
              <a:ext uri="{FF2B5EF4-FFF2-40B4-BE49-F238E27FC236}">
                <a16:creationId xmlns:a16="http://schemas.microsoft.com/office/drawing/2014/main" id="{478C21A6-BA2A-4321-887D-84E967B407F6}"/>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13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585797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7" name="矩形 76">
            <a:extLst xmlns:a="http://schemas.openxmlformats.org/drawingml/2006/main">
              <a:ext uri="{FF2B5EF4-FFF2-40B4-BE49-F238E27FC236}">
                <a16:creationId xmlns:a16="http://schemas.microsoft.com/office/drawing/2014/main" id="{EE4F3EAC-048F-49D8-8D55-A7D7D8DD1E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8" name="矩形 77">
            <a:extLst xmlns:a="http://schemas.openxmlformats.org/drawingml/2006/main">
              <a:ext uri="{FF2B5EF4-FFF2-40B4-BE49-F238E27FC236}">
                <a16:creationId xmlns:a16="http://schemas.microsoft.com/office/drawing/2014/main" id="{8AD5FB0D-7F7E-4A42-A978-C8D1129A46DC}"/>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9" name="矩形 78">
            <a:extLst xmlns:a="http://schemas.openxmlformats.org/drawingml/2006/main">
              <a:ext uri="{FF2B5EF4-FFF2-40B4-BE49-F238E27FC236}">
                <a16:creationId xmlns:a16="http://schemas.microsoft.com/office/drawing/2014/main" id="{2D2F03C6-AA1E-447C-99B6-123DE98BC004}"/>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80" name="矩形 79">
            <a:extLst xmlns:a="http://schemas.openxmlformats.org/drawingml/2006/main">
              <a:ext uri="{FF2B5EF4-FFF2-40B4-BE49-F238E27FC236}">
                <a16:creationId xmlns:a16="http://schemas.microsoft.com/office/drawing/2014/main" id="{0730B76E-68DF-4E73-950E-3622E0EC4396}"/>
              </a:ext>
            </a:extLst>
          </p:cNvPr>
          <p:cNvSpPr>
            <a:spLocks xmlns:a="http://schemas.openxmlformats.org/drawingml/2006/main" noGrp="1"/>
          </p:cNvSpPr>
          <p:nvPr/>
        </p:nvSpPr>
        <p:spPr>
          <a:xfrm xmlns:a="http://schemas.openxmlformats.org/drawingml/2006/main">
            <a:off x="457200" y="12192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安装</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Installation</a:t>
            </a:r>
          </a:p>
        </p:txBody>
      </p:sp>
      <p:sp>
        <p:nvSpPr>
          <p:cNvPr id="81" name="矩形 80">
            <a:extLst xmlns:a="http://schemas.openxmlformats.org/drawingml/2006/main">
              <a:ext uri="{FF2B5EF4-FFF2-40B4-BE49-F238E27FC236}">
                <a16:creationId xmlns:a16="http://schemas.microsoft.com/office/drawing/2014/main" id="{CE1BC03C-8B78-4E3E-B5EB-241F42DD14BB}"/>
              </a:ext>
            </a:extLst>
          </p:cNvPr>
          <p:cNvSpPr>
            <a:spLocks xmlns:a="http://schemas.openxmlformats.org/drawingml/2006/main" noGrp="1"/>
          </p:cNvSpPr>
          <p:nvPr/>
        </p:nvSpPr>
        <p:spPr>
          <a:xfrm xmlns:a="http://schemas.openxmlformats.org/drawingml/2006/main">
            <a:off x="457200" y="15240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安装 Java SE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平台</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Install Java SE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Platform</a:t>
            </a:r>
          </a:p>
        </p:txBody>
      </p:sp>
      <p:sp>
        <p:nvSpPr>
          <p:cNvPr id="82" name="矩形 81">
            <a:extLst xmlns:a="http://schemas.openxmlformats.org/drawingml/2006/main">
              <a:ext uri="{FF2B5EF4-FFF2-40B4-BE49-F238E27FC236}">
                <a16:creationId xmlns:a16="http://schemas.microsoft.com/office/drawing/2014/main" id="{094D0CDF-0F02-4AC7-B0ED-FE2A2C38510A}"/>
              </a:ext>
            </a:extLst>
          </p:cNvPr>
          <p:cNvSpPr>
            <a:spLocks xmlns:a="http://schemas.openxmlformats.org/drawingml/2006/main" noGrp="1"/>
          </p:cNvSpPr>
          <p:nvPr/>
        </p:nvSpPr>
        <p:spPr>
          <a:xfrm xmlns:a="http://schemas.openxmlformats.org/drawingml/2006/main">
            <a:off x="457200" y="28575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3" name="矩形 82">
            <a:extLst xmlns:a="http://schemas.openxmlformats.org/drawingml/2006/main">
              <a:ext uri="{FF2B5EF4-FFF2-40B4-BE49-F238E27FC236}">
                <a16:creationId xmlns:a16="http://schemas.microsoft.com/office/drawing/2014/main" id="{0619FCF4-4E2A-4D84-AB8C-18B590BCC45D}"/>
              </a:ext>
            </a:extLst>
          </p:cNvPr>
          <p:cNvSpPr>
            <a:spLocks xmlns:a="http://schemas.openxmlformats.org/drawingml/2006/main" noGrp="1"/>
          </p:cNvSpPr>
          <p:nvPr/>
        </p:nvSpPr>
        <p:spPr>
          <a:xfrm xmlns:a="http://schemas.openxmlformats.org/drawingml/2006/main">
            <a:off x="457200" y="3114675"/>
            <a:ext cx="3381375" cy="371475"/>
          </a:xfrm>
          <a:prstGeom xmlns:a="http://schemas.openxmlformats.org/drawingml/2006/main" prst="rect">
            <a:avLst/>
          </a:prstGeom>
        </p:spPr>
        <p:txBody>
          <a:bodyPr xmlns:a="http://schemas.openxmlformats.org/drawingml/2006/main" wrap="none" lIns="0" tIns="0" rIns="0" bIns="0">
            <a:normAutofit fontScale="370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下载 JDK 21 并解压到 C:\jdk-21</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Download JDK 21 and extract to C:\JDK-21</a:t>
            </a:r>
          </a:p>
        </p:txBody>
      </p:sp>
      <p:sp>
        <p:nvSpPr>
          <p:cNvPr id="84" name="圆角矩形 83">
            <a:extLst xmlns:a="http://schemas.openxmlformats.org/drawingml/2006/main">
              <a:ext uri="{FF2B5EF4-FFF2-40B4-BE49-F238E27FC236}">
                <a16:creationId xmlns:a16="http://schemas.microsoft.com/office/drawing/2014/main" id="{B3969AAD-82A2-4FB5-A224-02E71169C031}"/>
              </a:ext>
            </a:extLst>
          </p:cNvPr>
          <p:cNvSpPr>
            <a:spLocks xmlns:a="http://schemas.openxmlformats.org/drawingml/2006/main" noGrp="1"/>
          </p:cNvSpPr>
          <p:nvPr/>
        </p:nvSpPr>
        <p:spPr>
          <a:xfrm xmlns:a="http://schemas.openxmlformats.org/drawingml/2006/main">
            <a:off x="4143375" y="1057275"/>
            <a:ext cx="7591425" cy="24574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85" name="矩形 84">
            <a:extLst xmlns:a="http://schemas.openxmlformats.org/drawingml/2006/main">
              <a:ext uri="{FF2B5EF4-FFF2-40B4-BE49-F238E27FC236}">
                <a16:creationId xmlns:a16="http://schemas.microsoft.com/office/drawing/2014/main" id="{064B23DB-B804-4F88-8600-0235FD7CB9D2}"/>
              </a:ext>
            </a:extLst>
          </p:cNvPr>
          <p:cNvSpPr>
            <a:spLocks xmlns:a="http://schemas.openxmlformats.org/drawingml/2006/main" noGrp="1"/>
          </p:cNvSpPr>
          <p:nvPr/>
        </p:nvSpPr>
        <p:spPr>
          <a:xfrm xmlns:a="http://schemas.openxmlformats.org/drawingml/2006/main">
            <a:off x="4295775" y="1209675"/>
            <a:ext cx="7286625" cy="666750"/>
          </a:xfrm>
          <a:prstGeom xmlns:a="http://schemas.openxmlformats.org/drawingml/2006/main" prst="rect">
            <a:avLst/>
          </a:prstGeom>
        </p:spPr>
        <p:txBody>
          <a:bodyPr xmlns:a="http://schemas.openxmlformats.org/drawingml/2006/main" wrap="square" lIns="0" tIns="0" rIns="0" bIns="0">
            <a:normAutofit fontScale="38634"/>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Java SE 平台是学习掌握 Java 语言的最佳平台，掌握 Java SE 又是进一步学习 Jakarta EE 和 Android 所必需的。</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The Java SE platform is the best platform to learn and master the Java. Mastering Java SE is necessary for further learning Jakarta EE and Android.</a:t>
            </a:r>
          </a:p>
        </p:txBody>
      </p:sp>
      <p:sp>
        <p:nvSpPr>
          <p:cNvPr id="86" name="圆角矩形 85">
            <a:extLst xmlns:a="http://schemas.openxmlformats.org/drawingml/2006/main">
              <a:ext uri="{FF2B5EF4-FFF2-40B4-BE49-F238E27FC236}">
                <a16:creationId xmlns:a16="http://schemas.microsoft.com/office/drawing/2014/main" id="{DBE85ACD-2BC4-42C9-8915-B1371FCEB856}"/>
              </a:ext>
            </a:extLst>
          </p:cNvPr>
          <p:cNvSpPr>
            <a:spLocks xmlns:a="http://schemas.openxmlformats.org/drawingml/2006/main" noGrp="1"/>
          </p:cNvSpPr>
          <p:nvPr/>
        </p:nvSpPr>
        <p:spPr>
          <a:xfrm xmlns:a="http://schemas.openxmlformats.org/drawingml/2006/main">
            <a:off x="4295775" y="1971675"/>
            <a:ext cx="7286625" cy="1390650"/>
          </a:xfrm>
          <a:prstGeom xmlns:a="http://schemas.openxmlformats.org/drawingml/2006/main" prst="roundRect">
            <a:avLst>
              <a:gd name="adj" fmla="val 547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87" name="矩形 86">
            <a:extLst xmlns:a="http://schemas.openxmlformats.org/drawingml/2006/main">
              <a:ext uri="{FF2B5EF4-FFF2-40B4-BE49-F238E27FC236}">
                <a16:creationId xmlns:a16="http://schemas.microsoft.com/office/drawing/2014/main" id="{6FA243CC-EC0C-4985-BFBF-65F44BCF1A32}"/>
              </a:ext>
            </a:extLst>
          </p:cNvPr>
          <p:cNvSpPr>
            <a:spLocks xmlns:a="http://schemas.openxmlformats.org/drawingml/2006/main" noGrp="1"/>
          </p:cNvSpPr>
          <p:nvPr/>
        </p:nvSpPr>
        <p:spPr>
          <a:xfrm xmlns:a="http://schemas.openxmlformats.org/drawingml/2006/main">
            <a:off x="4410075" y="2085975"/>
            <a:ext cx="7058025" cy="200025"/>
          </a:xfrm>
          <a:prstGeom xmlns:a="http://schemas.openxmlformats.org/drawingml/2006/main" prst="rect">
            <a:avLst/>
          </a:prstGeom>
        </p:spPr>
        <p:txBody>
          <a:bodyPr xmlns:a="http://schemas.openxmlformats.org/drawingml/2006/main" wrap="none" lIns="0" tIns="0" rIns="0" bIns="0">
            <a:normAutofit fontScale="23521"/>
          </a:bodyPr>
          <a:lstStyle xmlns:a="http://schemas.openxmlformats.org/drawingml/2006/main"/>
          <a:p xmlns:a="http://schemas.openxmlformats.org/drawingml/2006/main">
            <a:pPr marL="0">
              <a:lnSpc>
                <a:spcPct val="100000"/>
              </a:lnSpc>
              <a:spcBef>
                <a:spcPts val="0"/>
              </a:spcBef>
              <a:spcAft>
                <a:spcPts val="0"/>
              </a:spcAft>
              <a:buNone/>
            </a:pPr>
            <a:r>
              <a:rPr sz="2790" b="1">
                <a:solidFill>
                  <a:srgbClr val="0E3F8C"/>
                </a:solidFill>
                <a:latin typeface="微软雅黑"/>
                <a:ea typeface="微软雅黑"/>
                <a:cs typeface="微软雅黑"/>
              </a:rPr>
              <a:t>推荐步骤</a:t>
            </a:r>
          </a:p>
          <a:p xmlns:a="http://schemas.openxmlformats.org/drawingml/2006/main">
            <a:pPr marL="0">
              <a:lnSpc>
                <a:spcPct val="100000"/>
              </a:lnSpc>
              <a:spcBef>
                <a:spcPts val="0"/>
              </a:spcBef>
              <a:spcAft>
                <a:spcPts val="0"/>
              </a:spcAft>
              <a:buNone/>
            </a:pPr>
            <a:r>
              <a:rPr sz="2790" b="1">
                <a:solidFill>
                  <a:srgbClr val="0E3F8C"/>
                </a:solidFill>
                <a:latin typeface="微软雅黑"/>
                <a:ea typeface="微软雅黑"/>
                <a:cs typeface="微软雅黑"/>
              </a:rPr>
              <a:t>Recommended steps</a:t>
            </a:r>
          </a:p>
        </p:txBody>
      </p:sp>
      <p:sp>
        <p:nvSpPr>
          <p:cNvPr id="88" name="矩形 87">
            <a:extLst xmlns:a="http://schemas.openxmlformats.org/drawingml/2006/main">
              <a:ext uri="{FF2B5EF4-FFF2-40B4-BE49-F238E27FC236}">
                <a16:creationId xmlns:a16="http://schemas.microsoft.com/office/drawing/2014/main" id="{B8391031-0557-4C6D-8DF7-49036A05920C}"/>
              </a:ext>
            </a:extLst>
          </p:cNvPr>
          <p:cNvSpPr>
            <a:spLocks xmlns:a="http://schemas.openxmlformats.org/drawingml/2006/main" noGrp="1"/>
          </p:cNvSpPr>
          <p:nvPr/>
        </p:nvSpPr>
        <p:spPr>
          <a:xfrm xmlns:a="http://schemas.openxmlformats.org/drawingml/2006/main">
            <a:off x="4410075" y="2362200"/>
            <a:ext cx="7058025" cy="885825"/>
          </a:xfrm>
          <a:prstGeom xmlns:a="http://schemas.openxmlformats.org/drawingml/2006/main" prst="rect">
            <a:avLst/>
          </a:prstGeom>
        </p:spPr>
        <p:txBody>
          <a:bodyPr xmlns:a="http://schemas.openxmlformats.org/drawingml/2006/main" wrap="none" lIns="0" tIns="0" rIns="0" bIns="0">
            <a:normAutofit fontScale="36835"/>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1. 下载 JDK 21（LTS）：jdk-21_windows-x64_bin.zip</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2. 解压到 C:\，目录名建议为 C:\jdk-21</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3. 本书（第 7 版）全部代码基于 JDK 21，与课程环境一致</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1. Download JDK 21 (LTS): JDK-21_windows-x64_bin.zip</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2. Unzip to C:\, the directory name is recommended to be C:\JDK-21</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3. All codes in this book (7th edition) are based on JDK 21, consistent with the course environment</a:t>
            </a:r>
          </a:p>
        </p:txBody>
      </p:sp>
      <p:sp>
        <p:nvSpPr>
          <p:cNvPr id="89" name="圆角矩形 88">
            <a:extLst xmlns:a="http://schemas.openxmlformats.org/drawingml/2006/main">
              <a:ext uri="{FF2B5EF4-FFF2-40B4-BE49-F238E27FC236}">
                <a16:creationId xmlns:a16="http://schemas.microsoft.com/office/drawing/2014/main" id="{E5DF4423-C42C-45FF-BA6D-C8D6611CF213}"/>
              </a:ext>
            </a:extLst>
          </p:cNvPr>
          <p:cNvSpPr>
            <a:spLocks xmlns:a="http://schemas.openxmlformats.org/drawingml/2006/main" noGrp="1"/>
          </p:cNvSpPr>
          <p:nvPr/>
        </p:nvSpPr>
        <p:spPr>
          <a:xfrm xmlns:a="http://schemas.openxmlformats.org/drawingml/2006/main">
            <a:off x="4143375" y="3629025"/>
            <a:ext cx="7591425"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90" name="矩形 89">
            <a:extLst xmlns:a="http://schemas.openxmlformats.org/drawingml/2006/main">
              <a:ext uri="{FF2B5EF4-FFF2-40B4-BE49-F238E27FC236}">
                <a16:creationId xmlns:a16="http://schemas.microsoft.com/office/drawing/2014/main" id="{E2E3CBE3-2265-4272-AC07-361F850F6179}"/>
              </a:ext>
            </a:extLst>
          </p:cNvPr>
          <p:cNvSpPr>
            <a:spLocks xmlns:a="http://schemas.openxmlformats.org/drawingml/2006/main" noGrp="1"/>
          </p:cNvSpPr>
          <p:nvPr/>
        </p:nvSpPr>
        <p:spPr>
          <a:xfrm xmlns:a="http://schemas.openxmlformats.org/drawingml/2006/main">
            <a:off x="4257675" y="3743325"/>
            <a:ext cx="73628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4A5568"/>
                </a:solidFill>
                <a:latin typeface="微软雅黑"/>
                <a:ea typeface="微软雅黑"/>
                <a:cs typeface="微软雅黑"/>
              </a:rPr>
              <a:t>解压后 C:\jdk-21 目录结构示意</a:t>
            </a:r>
          </a:p>
          <a:p xmlns:a="http://schemas.openxmlformats.org/drawingml/2006/main">
            <a:pPr marL="0">
              <a:lnSpc>
                <a:spcPct val="100000"/>
              </a:lnSpc>
              <a:spcBef>
                <a:spcPts val="0"/>
              </a:spcBef>
              <a:spcAft>
                <a:spcPts val="0"/>
              </a:spcAft>
              <a:buNone/>
            </a:pPr>
            <a:r>
              <a:rPr sz="2630" b="1">
                <a:solidFill>
                  <a:srgbClr val="4A5568"/>
                </a:solidFill>
                <a:latin typeface="微软雅黑"/>
                <a:ea typeface="微软雅黑"/>
                <a:cs typeface="微软雅黑"/>
              </a:rPr>
              <a:t>C:\JDK-21 directory structure after decompression</a:t>
            </a:r>
          </a:p>
        </p:txBody>
      </p:sp>
      <p:sp>
        <p:nvSpPr>
          <p:cNvPr id="91" name="圆角矩形 90">
            <a:extLst xmlns:a="http://schemas.openxmlformats.org/drawingml/2006/main">
              <a:ext uri="{FF2B5EF4-FFF2-40B4-BE49-F238E27FC236}">
                <a16:creationId xmlns:a16="http://schemas.microsoft.com/office/drawing/2014/main" id="{226B06B9-5A43-45E4-9029-7DF00CDAD298}"/>
              </a:ext>
            </a:extLst>
          </p:cNvPr>
          <p:cNvSpPr>
            <a:spLocks xmlns:a="http://schemas.openxmlformats.org/drawingml/2006/main" noGrp="1"/>
          </p:cNvSpPr>
          <p:nvPr/>
        </p:nvSpPr>
        <p:spPr>
          <a:xfrm xmlns:a="http://schemas.openxmlformats.org/drawingml/2006/main">
            <a:off x="4257675" y="4010025"/>
            <a:ext cx="7362825" cy="2590800"/>
          </a:xfrm>
          <a:prstGeom xmlns:a="http://schemas.openxmlformats.org/drawingml/2006/main" prst="roundRect">
            <a:avLst>
              <a:gd name="adj" fmla="val 2206"/>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92" name="矩形 91">
            <a:extLst xmlns:a="http://schemas.openxmlformats.org/drawingml/2006/main">
              <a:ext uri="{FF2B5EF4-FFF2-40B4-BE49-F238E27FC236}">
                <a16:creationId xmlns:a16="http://schemas.microsoft.com/office/drawing/2014/main" id="{E0B63005-D83A-46F4-86D1-F44AC751570B}"/>
              </a:ext>
            </a:extLst>
          </p:cNvPr>
          <p:cNvSpPr>
            <a:spLocks xmlns:a="http://schemas.openxmlformats.org/drawingml/2006/main" noGrp="1"/>
          </p:cNvSpPr>
          <p:nvPr/>
        </p:nvSpPr>
        <p:spPr>
          <a:xfrm xmlns:a="http://schemas.openxmlformats.org/drawingml/2006/main">
            <a:off x="4352925" y="4105275"/>
            <a:ext cx="7172325" cy="2400300"/>
          </a:xfrm>
          <a:prstGeom xmlns:a="http://schemas.openxmlformats.org/drawingml/2006/main" prst="rect">
            <a:avLst/>
          </a:prstGeom>
        </p:spPr>
        <p:txBody>
          <a:bodyPr xmlns:a="http://schemas.openxmlformats.org/drawingml/2006/main" wrap="none" lIns="0" tIns="0" rIns="0" bIns="0">
            <a:normAutofit fontScale="341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C:\jdk-21</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bin/          ← javac.exe、java.exe 在这里</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conf/</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include/</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jmods/</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legal/</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lib/</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C:\JDK-21</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bin/ ← javac.exe, java.exe are here</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├─conf/</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include/</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jmods/</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 legal/</a:t>
            </a:r>
          </a:p>
          <a:p xmlns:a="http://schemas.openxmlformats.org/drawingml/2006/main">
            <a:pPr marL="0">
              <a:lnSpc>
                <a:spcPct val="100000"/>
              </a:lnSpc>
              <a:spcBef>
                <a:spcPts val="0"/>
              </a:spcBef>
              <a:spcAft>
                <a:spcPts val="0"/>
              </a:spcAft>
              <a:buNone/>
            </a:pPr>
            <a:r>
              <a:rPr sz="3290">
                <a:solidFill>
                  <a:srgbClr val="1A2230"/>
                </a:solidFill>
                <a:latin typeface="Consolas"/>
                <a:ea typeface="Consolas"/>
                <a:cs typeface="Consolas"/>
              </a:rPr>
              <a:t>└─lib/</a:t>
            </a:r>
          </a:p>
        </p:txBody>
      </p:sp>
      <p:sp>
        <p:nvSpPr>
          <p:cNvPr id="93" name="矩形 92">
            <a:extLst xmlns:a="http://schemas.openxmlformats.org/drawingml/2006/main">
              <a:ext uri="{FF2B5EF4-FFF2-40B4-BE49-F238E27FC236}">
                <a16:creationId xmlns:a16="http://schemas.microsoft.com/office/drawing/2014/main" id="{1AB4EF03-1D85-4661-A12A-3258372C4DE4}"/>
              </a:ext>
            </a:extLst>
          </p:cNvPr>
          <p:cNvSpPr>
            <a:spLocks xmlns:a="http://schemas.openxmlformats.org/drawingml/2006/main" noGrp="1"/>
          </p:cNvSpPr>
          <p:nvPr/>
        </p:nvSpPr>
        <p:spPr>
          <a:xfrm xmlns:a="http://schemas.openxmlformats.org/drawingml/2006/main">
            <a:off x="11258550" y="66579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14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0329992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95" name="矩形 94">
            <a:extLst xmlns:a="http://schemas.openxmlformats.org/drawingml/2006/main">
              <a:ext uri="{FF2B5EF4-FFF2-40B4-BE49-F238E27FC236}">
                <a16:creationId xmlns:a16="http://schemas.microsoft.com/office/drawing/2014/main" id="{58A18F08-53D9-4425-A1C9-D9A02CFC1F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6" name="矩形 95">
            <a:extLst xmlns:a="http://schemas.openxmlformats.org/drawingml/2006/main">
              <a:ext uri="{FF2B5EF4-FFF2-40B4-BE49-F238E27FC236}">
                <a16:creationId xmlns:a16="http://schemas.microsoft.com/office/drawing/2014/main" id="{048F1472-50D5-4624-8974-1F1E8B61424D}"/>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7" name="矩形 96">
            <a:extLst xmlns:a="http://schemas.openxmlformats.org/drawingml/2006/main">
              <a:ext uri="{FF2B5EF4-FFF2-40B4-BE49-F238E27FC236}">
                <a16:creationId xmlns:a16="http://schemas.microsoft.com/office/drawing/2014/main" id="{BE54D24F-99F4-4AB1-9D70-F4E63A87529F}"/>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98" name="矩形 97">
            <a:extLst xmlns:a="http://schemas.openxmlformats.org/drawingml/2006/main">
              <a:ext uri="{FF2B5EF4-FFF2-40B4-BE49-F238E27FC236}">
                <a16:creationId xmlns:a16="http://schemas.microsoft.com/office/drawing/2014/main" id="{DB567CF4-9D34-4415-A90B-D37F0F4BCA89}"/>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环境变量</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Environment variables</a:t>
            </a:r>
          </a:p>
        </p:txBody>
      </p:sp>
      <p:sp>
        <p:nvSpPr>
          <p:cNvPr id="99" name="矩形 98">
            <a:extLst xmlns:a="http://schemas.openxmlformats.org/drawingml/2006/main">
              <a:ext uri="{FF2B5EF4-FFF2-40B4-BE49-F238E27FC236}">
                <a16:creationId xmlns:a16="http://schemas.microsoft.com/office/drawing/2014/main" id="{16CA1F68-EF78-4092-B975-D05B7EB37722}"/>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设置</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JAVA_HOME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settings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JAVA_HOME</a:t>
            </a:r>
          </a:p>
        </p:txBody>
      </p:sp>
      <p:sp>
        <p:nvSpPr>
          <p:cNvPr id="100" name="矩形 99">
            <a:extLst xmlns:a="http://schemas.openxmlformats.org/drawingml/2006/main">
              <a:ext uri="{FF2B5EF4-FFF2-40B4-BE49-F238E27FC236}">
                <a16:creationId xmlns:a16="http://schemas.microsoft.com/office/drawing/2014/main" id="{0E40E65C-FB50-4A9F-9165-D8C31FA1B6A7}"/>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1" name="矩形 100">
            <a:extLst xmlns:a="http://schemas.openxmlformats.org/drawingml/2006/main">
              <a:ext uri="{FF2B5EF4-FFF2-40B4-BE49-F238E27FC236}">
                <a16:creationId xmlns:a16="http://schemas.microsoft.com/office/drawing/2014/main" id="{287DB43A-AB28-481C-9FEB-D08A3BF1FFD8}"/>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给 JDK 指定一个“家庭住址”</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Assign a "home address" to the JDK</a:t>
            </a:r>
          </a:p>
        </p:txBody>
      </p:sp>
      <p:sp>
        <p:nvSpPr>
          <p:cNvPr id="102" name="圆角矩形 101">
            <a:extLst xmlns:a="http://schemas.openxmlformats.org/drawingml/2006/main">
              <a:ext uri="{FF2B5EF4-FFF2-40B4-BE49-F238E27FC236}">
                <a16:creationId xmlns:a16="http://schemas.microsoft.com/office/drawing/2014/main" id="{3C8B7FE6-F7E8-4B20-AC43-E21955245FEB}"/>
              </a:ext>
            </a:extLst>
          </p:cNvPr>
          <p:cNvSpPr>
            <a:spLocks xmlns:a="http://schemas.openxmlformats.org/drawingml/2006/main" noGrp="1"/>
          </p:cNvSpPr>
          <p:nvPr/>
        </p:nvSpPr>
        <p:spPr>
          <a:xfrm xmlns:a="http://schemas.openxmlformats.org/drawingml/2006/main">
            <a:off x="4181475" y="1771650"/>
            <a:ext cx="7553325"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103" name="矩形 102">
            <a:extLst xmlns:a="http://schemas.openxmlformats.org/drawingml/2006/main">
              <a:ext uri="{FF2B5EF4-FFF2-40B4-BE49-F238E27FC236}">
                <a16:creationId xmlns:a16="http://schemas.microsoft.com/office/drawing/2014/main" id="{F4B98FE5-8F72-4FFA-91A3-E94825159993}"/>
              </a:ext>
            </a:extLst>
          </p:cNvPr>
          <p:cNvSpPr>
            <a:spLocks xmlns:a="http://schemas.openxmlformats.org/drawingml/2006/main" noGrp="1"/>
          </p:cNvSpPr>
          <p:nvPr/>
        </p:nvSpPr>
        <p:spPr>
          <a:xfrm xmlns:a="http://schemas.openxmlformats.org/drawingml/2006/main">
            <a:off x="4429125" y="2019300"/>
            <a:ext cx="7058025" cy="428625"/>
          </a:xfrm>
          <a:prstGeom xmlns:a="http://schemas.openxmlformats.org/drawingml/2006/main" prst="rect">
            <a:avLst/>
          </a:prstGeom>
        </p:spPr>
        <p:txBody>
          <a:bodyPr xmlns:a="http://schemas.openxmlformats.org/drawingml/2006/main" wrap="none" lIns="0" tIns="0" rIns="0" bIns="0">
            <a:normAutofit fontScale="3931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右键“此电脑” → 属性 → 高级系统设置 → 环境变量。</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Right-click "This PC" → Properties → Advanced System Settings → Environment Variables.</a:t>
            </a:r>
          </a:p>
        </p:txBody>
      </p:sp>
      <p:sp>
        <p:nvSpPr>
          <p:cNvPr id="104" name="矩形 103">
            <a:extLst xmlns:a="http://schemas.openxmlformats.org/drawingml/2006/main">
              <a:ext uri="{FF2B5EF4-FFF2-40B4-BE49-F238E27FC236}">
                <a16:creationId xmlns:a16="http://schemas.microsoft.com/office/drawing/2014/main" id="{9713D271-D167-4167-AA92-0AD5B396BC1E}"/>
              </a:ext>
            </a:extLst>
          </p:cNvPr>
          <p:cNvSpPr>
            <a:spLocks xmlns:a="http://schemas.openxmlformats.org/drawingml/2006/main" noGrp="1"/>
          </p:cNvSpPr>
          <p:nvPr/>
        </p:nvSpPr>
        <p:spPr>
          <a:xfrm xmlns:a="http://schemas.openxmlformats.org/drawingml/2006/main">
            <a:off x="4429125" y="2562225"/>
            <a:ext cx="7058025" cy="428625"/>
          </a:xfrm>
          <a:prstGeom xmlns:a="http://schemas.openxmlformats.org/drawingml/2006/main" prst="rect">
            <a:avLst/>
          </a:prstGeom>
        </p:spPr>
        <p:txBody>
          <a:bodyPr xmlns:a="http://schemas.openxmlformats.org/drawingml/2006/main" wrap="none" lIns="0" tIns="0" rIns="0" bIns="0">
            <a:normAutofit fontScale="4274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添加 系统变量：</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Add system variables:</a:t>
            </a:r>
          </a:p>
        </p:txBody>
      </p:sp>
      <p:sp>
        <p:nvSpPr>
          <p:cNvPr id="105" name="圆角矩形 104">
            <a:extLst xmlns:a="http://schemas.openxmlformats.org/drawingml/2006/main">
              <a:ext uri="{FF2B5EF4-FFF2-40B4-BE49-F238E27FC236}">
                <a16:creationId xmlns:a16="http://schemas.microsoft.com/office/drawing/2014/main" id="{99D54838-4ACC-4951-A811-E7DCBF400BCC}"/>
              </a:ext>
            </a:extLst>
          </p:cNvPr>
          <p:cNvSpPr>
            <a:spLocks xmlns:a="http://schemas.openxmlformats.org/drawingml/2006/main" noGrp="1"/>
          </p:cNvSpPr>
          <p:nvPr/>
        </p:nvSpPr>
        <p:spPr>
          <a:xfrm xmlns:a="http://schemas.openxmlformats.org/drawingml/2006/main">
            <a:off x="4429125" y="3162300"/>
            <a:ext cx="7058025" cy="552450"/>
          </a:xfrm>
          <a:prstGeom xmlns:a="http://schemas.openxmlformats.org/drawingml/2006/main" prst="roundRect">
            <a:avLst>
              <a:gd name="adj" fmla="val 13793"/>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06" name="矩形 105">
            <a:extLst xmlns:a="http://schemas.openxmlformats.org/drawingml/2006/main">
              <a:ext uri="{FF2B5EF4-FFF2-40B4-BE49-F238E27FC236}">
                <a16:creationId xmlns:a16="http://schemas.microsoft.com/office/drawing/2014/main" id="{5B81E7E1-D562-46F6-8781-13CD09773697}"/>
              </a:ext>
            </a:extLst>
          </p:cNvPr>
          <p:cNvSpPr>
            <a:spLocks xmlns:a="http://schemas.openxmlformats.org/drawingml/2006/main" noGrp="1"/>
          </p:cNvSpPr>
          <p:nvPr/>
        </p:nvSpPr>
        <p:spPr>
          <a:xfrm xmlns:a="http://schemas.openxmlformats.org/drawingml/2006/main">
            <a:off x="4600575" y="3333750"/>
            <a:ext cx="671512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JAVA_HOME = C:\jdk-21</a:t>
            </a:r>
            <a:endParaRPr sz="1350" b="1">
              <a:solidFill>
                <a:srgbClr val="0E3F8C"/>
              </a:solidFill>
              <a:latin typeface="Consolas"/>
              <a:ea typeface="Consolas"/>
              <a:cs typeface="Consolas"/>
            </a:endParaRPr>
          </a:p>
        </p:txBody>
      </p:sp>
      <p:sp>
        <p:nvSpPr>
          <p:cNvPr id="107" name="圆角矩形 106">
            <a:extLst xmlns:a="http://schemas.openxmlformats.org/drawingml/2006/main">
              <a:ext uri="{FF2B5EF4-FFF2-40B4-BE49-F238E27FC236}">
                <a16:creationId xmlns:a16="http://schemas.microsoft.com/office/drawing/2014/main" id="{12714764-4CBC-4A16-A11B-DC2F7E46368D}"/>
              </a:ext>
            </a:extLst>
          </p:cNvPr>
          <p:cNvSpPr>
            <a:spLocks xmlns:a="http://schemas.openxmlformats.org/drawingml/2006/main" noGrp="1"/>
          </p:cNvSpPr>
          <p:nvPr/>
        </p:nvSpPr>
        <p:spPr>
          <a:xfrm xmlns:a="http://schemas.openxmlformats.org/drawingml/2006/main">
            <a:off x="4181475" y="4133850"/>
            <a:ext cx="7553325" cy="1438275"/>
          </a:xfrm>
          <a:prstGeom xmlns:a="http://schemas.openxmlformats.org/drawingml/2006/main" prst="roundRect">
            <a:avLst>
              <a:gd name="adj" fmla="val 7947"/>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108" name="矩形 107">
            <a:extLst xmlns:a="http://schemas.openxmlformats.org/drawingml/2006/main">
              <a:ext uri="{FF2B5EF4-FFF2-40B4-BE49-F238E27FC236}">
                <a16:creationId xmlns:a16="http://schemas.microsoft.com/office/drawing/2014/main" id="{EF41499D-51A3-469F-B16F-C3AB8CE2C63B}"/>
              </a:ext>
            </a:extLst>
          </p:cNvPr>
          <p:cNvSpPr>
            <a:spLocks xmlns:a="http://schemas.openxmlformats.org/drawingml/2006/main" noGrp="1"/>
          </p:cNvSpPr>
          <p:nvPr/>
        </p:nvSpPr>
        <p:spPr>
          <a:xfrm xmlns:a="http://schemas.openxmlformats.org/drawingml/2006/main">
            <a:off x="4371975" y="4324350"/>
            <a:ext cx="71723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4A5568"/>
                </a:solidFill>
                <a:latin typeface="微软雅黑"/>
                <a:ea typeface="微软雅黑"/>
                <a:cs typeface="微软雅黑"/>
              </a:rPr>
              <a:t>系统变量对话框示意</a:t>
            </a:r>
          </a:p>
          <a:p xmlns:a="http://schemas.openxmlformats.org/drawingml/2006/main">
            <a:pPr marL="0">
              <a:lnSpc>
                <a:spcPct val="100000"/>
              </a:lnSpc>
              <a:spcBef>
                <a:spcPts val="0"/>
              </a:spcBef>
              <a:spcAft>
                <a:spcPts val="0"/>
              </a:spcAft>
              <a:buNone/>
            </a:pPr>
            <a:r>
              <a:rPr sz="2630" b="1">
                <a:solidFill>
                  <a:srgbClr val="4A5568"/>
                </a:solidFill>
                <a:latin typeface="微软雅黑"/>
                <a:ea typeface="微软雅黑"/>
                <a:cs typeface="微软雅黑"/>
              </a:rPr>
              <a:t>System variables dialog box</a:t>
            </a:r>
          </a:p>
        </p:txBody>
      </p:sp>
      <p:sp>
        <p:nvSpPr>
          <p:cNvPr id="109" name="圆角矩形 108">
            <a:extLst xmlns:a="http://schemas.openxmlformats.org/drawingml/2006/main">
              <a:ext uri="{FF2B5EF4-FFF2-40B4-BE49-F238E27FC236}">
                <a16:creationId xmlns:a16="http://schemas.microsoft.com/office/drawing/2014/main" id="{11D9A510-2D47-4DE2-A943-28561C0F9334}"/>
              </a:ext>
            </a:extLst>
          </p:cNvPr>
          <p:cNvSpPr>
            <a:spLocks xmlns:a="http://schemas.openxmlformats.org/drawingml/2006/main" noGrp="1"/>
          </p:cNvSpPr>
          <p:nvPr/>
        </p:nvSpPr>
        <p:spPr>
          <a:xfrm xmlns:a="http://schemas.openxmlformats.org/drawingml/2006/main">
            <a:off x="4371975" y="4610100"/>
            <a:ext cx="7172325" cy="771525"/>
          </a:xfrm>
          <a:prstGeom xmlns:a="http://schemas.openxmlformats.org/drawingml/2006/main" prst="roundRect">
            <a:avLst>
              <a:gd name="adj" fmla="val 740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10" name="矩形 109">
            <a:extLst xmlns:a="http://schemas.openxmlformats.org/drawingml/2006/main">
              <a:ext uri="{FF2B5EF4-FFF2-40B4-BE49-F238E27FC236}">
                <a16:creationId xmlns:a16="http://schemas.microsoft.com/office/drawing/2014/main" id="{D0392EC0-23E6-4B47-9D72-1AA54256217F}"/>
              </a:ext>
            </a:extLst>
          </p:cNvPr>
          <p:cNvSpPr>
            <a:spLocks xmlns:a="http://schemas.openxmlformats.org/drawingml/2006/main" noGrp="1"/>
          </p:cNvSpPr>
          <p:nvPr/>
        </p:nvSpPr>
        <p:spPr>
          <a:xfrm xmlns:a="http://schemas.openxmlformats.org/drawingml/2006/main">
            <a:off x="4524375" y="4762500"/>
            <a:ext cx="571500" cy="190500"/>
          </a:xfrm>
          <a:prstGeom xmlns:a="http://schemas.openxmlformats.org/drawingml/2006/main" prst="rect">
            <a:avLst/>
          </a:prstGeom>
        </p:spPr>
        <p:txBody>
          <a:bodyPr xmlns:a="http://schemas.openxmlformats.org/drawingml/2006/main" wrap="none" lIns="0" tIns="0" rIns="0" bIns="0">
            <a:normAutofit fontScale="27174"/>
          </a:bodyPr>
          <a:lstStyle xmlns:a="http://schemas.openxmlformats.org/drawingml/2006/main"/>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变量名：</a:t>
            </a:r>
          </a:p>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Variable name:</a:t>
            </a:r>
          </a:p>
        </p:txBody>
      </p:sp>
      <p:sp>
        <p:nvSpPr>
          <p:cNvPr id="111" name="矩形 110">
            <a:extLst xmlns:a="http://schemas.openxmlformats.org/drawingml/2006/main">
              <a:ext uri="{FF2B5EF4-FFF2-40B4-BE49-F238E27FC236}">
                <a16:creationId xmlns:a16="http://schemas.microsoft.com/office/drawing/2014/main" id="{0658A917-99C4-472E-961A-02C9D6B81535}"/>
              </a:ext>
            </a:extLst>
          </p:cNvPr>
          <p:cNvSpPr>
            <a:spLocks xmlns:a="http://schemas.openxmlformats.org/drawingml/2006/main" noGrp="1"/>
          </p:cNvSpPr>
          <p:nvPr/>
        </p:nvSpPr>
        <p:spPr>
          <a:xfrm xmlns:a="http://schemas.openxmlformats.org/drawingml/2006/main">
            <a:off x="5172075" y="4762500"/>
            <a:ext cx="762000"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a:solidFill>
                  <a:srgbClr val="1A2230"/>
                </a:solidFill>
                <a:latin typeface="Consolas"/>
                <a:ea typeface="Consolas"/>
                <a:cs typeface="Consolas"/>
              </a:rPr>
              <a:t>JAVA_HOME</a:t>
            </a:r>
            <a:endParaRPr sz="1200" b="1">
              <a:solidFill>
                <a:srgbClr val="1A2230"/>
              </a:solidFill>
              <a:latin typeface="Consolas"/>
              <a:ea typeface="Consolas"/>
              <a:cs typeface="Consolas"/>
            </a:endParaRPr>
          </a:p>
        </p:txBody>
      </p:sp>
      <p:sp>
        <p:nvSpPr>
          <p:cNvPr id="112" name="矩形 111">
            <a:extLst xmlns:a="http://schemas.openxmlformats.org/drawingml/2006/main">
              <a:ext uri="{FF2B5EF4-FFF2-40B4-BE49-F238E27FC236}">
                <a16:creationId xmlns:a16="http://schemas.microsoft.com/office/drawing/2014/main" id="{471D3532-21D3-4EF7-9235-93B560B899EB}"/>
              </a:ext>
            </a:extLst>
          </p:cNvPr>
          <p:cNvSpPr>
            <a:spLocks xmlns:a="http://schemas.openxmlformats.org/drawingml/2006/main" noGrp="1"/>
          </p:cNvSpPr>
          <p:nvPr/>
        </p:nvSpPr>
        <p:spPr>
          <a:xfrm xmlns:a="http://schemas.openxmlformats.org/drawingml/2006/main">
            <a:off x="4524375" y="5029200"/>
            <a:ext cx="571500" cy="200025"/>
          </a:xfrm>
          <a:prstGeom xmlns:a="http://schemas.openxmlformats.org/drawingml/2006/main" prst="rect">
            <a:avLst/>
          </a:prstGeom>
        </p:spPr>
        <p:txBody>
          <a:bodyPr xmlns:a="http://schemas.openxmlformats.org/drawingml/2006/main" wrap="none" lIns="0" tIns="0" rIns="0" bIns="0">
            <a:normAutofit fontScale="28492"/>
          </a:bodyPr>
          <a:lstStyle xmlns:a="http://schemas.openxmlformats.org/drawingml/2006/main"/>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变量值：</a:t>
            </a:r>
          </a:p>
          <a:p xmlns:a="http://schemas.openxmlformats.org/drawingml/2006/main">
            <a:pPr marL="0">
              <a:lnSpc>
                <a:spcPct val="100000"/>
              </a:lnSpc>
              <a:spcBef>
                <a:spcPts val="0"/>
              </a:spcBef>
              <a:spcAft>
                <a:spcPts val="0"/>
              </a:spcAft>
              <a:buNone/>
            </a:pPr>
            <a:r>
              <a:rPr sz="2300">
                <a:solidFill>
                  <a:srgbClr val="8B97A8"/>
                </a:solidFill>
                <a:latin typeface="微软雅黑"/>
                <a:ea typeface="微软雅黑"/>
                <a:cs typeface="微软雅黑"/>
              </a:rPr>
              <a:t>Variable value:</a:t>
            </a:r>
          </a:p>
        </p:txBody>
      </p:sp>
      <p:sp>
        <p:nvSpPr>
          <p:cNvPr id="113" name="矩形 112">
            <a:extLst xmlns:a="http://schemas.openxmlformats.org/drawingml/2006/main">
              <a:ext uri="{FF2B5EF4-FFF2-40B4-BE49-F238E27FC236}">
                <a16:creationId xmlns:a16="http://schemas.microsoft.com/office/drawing/2014/main" id="{932CBC19-9762-431F-AB97-86A7E7FB66F0}"/>
              </a:ext>
            </a:extLst>
          </p:cNvPr>
          <p:cNvSpPr>
            <a:spLocks xmlns:a="http://schemas.openxmlformats.org/drawingml/2006/main" noGrp="1"/>
          </p:cNvSpPr>
          <p:nvPr/>
        </p:nvSpPr>
        <p:spPr>
          <a:xfrm xmlns:a="http://schemas.openxmlformats.org/drawingml/2006/main">
            <a:off x="5172075" y="5029200"/>
            <a:ext cx="809625" cy="2000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75" b="1">
                <a:solidFill>
                  <a:srgbClr val="1E4FA8"/>
                </a:solidFill>
                <a:latin typeface="Consolas"/>
                <a:ea typeface="Consolas"/>
                <a:cs typeface="Consolas"/>
              </a:rPr>
              <a:t>C:\jdk-21</a:t>
            </a:r>
            <a:endParaRPr sz="1275" b="1">
              <a:solidFill>
                <a:srgbClr val="1E4FA8"/>
              </a:solidFill>
              <a:latin typeface="Consolas"/>
              <a:ea typeface="Consolas"/>
              <a:cs typeface="Consolas"/>
            </a:endParaRPr>
          </a:p>
        </p:txBody>
      </p:sp>
      <p:sp>
        <p:nvSpPr>
          <p:cNvPr id="114" name="矩形 113">
            <a:extLst xmlns:a="http://schemas.openxmlformats.org/drawingml/2006/main">
              <a:ext uri="{FF2B5EF4-FFF2-40B4-BE49-F238E27FC236}">
                <a16:creationId xmlns:a16="http://schemas.microsoft.com/office/drawing/2014/main" id="{982A9107-AE20-4AFA-A7A9-7D5A78523681}"/>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15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6186462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6" name="矩形 115">
            <a:extLst xmlns:a="http://schemas.openxmlformats.org/drawingml/2006/main">
              <a:ext uri="{FF2B5EF4-FFF2-40B4-BE49-F238E27FC236}">
                <a16:creationId xmlns:a16="http://schemas.microsoft.com/office/drawing/2014/main" id="{BAC39AF0-89B4-4956-A5AD-BCDAB7A713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17" name="矩形 116">
            <a:extLst xmlns:a="http://schemas.openxmlformats.org/drawingml/2006/main">
              <a:ext uri="{FF2B5EF4-FFF2-40B4-BE49-F238E27FC236}">
                <a16:creationId xmlns:a16="http://schemas.microsoft.com/office/drawing/2014/main" id="{C049C1E5-6496-4C1E-9E2F-47F4C4F84B20}"/>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18" name="矩形 117">
            <a:extLst xmlns:a="http://schemas.openxmlformats.org/drawingml/2006/main">
              <a:ext uri="{FF2B5EF4-FFF2-40B4-BE49-F238E27FC236}">
                <a16:creationId xmlns:a16="http://schemas.microsoft.com/office/drawing/2014/main" id="{25F6B990-A175-4D1F-943F-CD26F4351EC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19" name="圆角矩形 118">
            <a:extLst xmlns:a="http://schemas.openxmlformats.org/drawingml/2006/main">
              <a:ext uri="{FF2B5EF4-FFF2-40B4-BE49-F238E27FC236}">
                <a16:creationId xmlns:a16="http://schemas.microsoft.com/office/drawing/2014/main" id="{A019FD32-49A7-4483-A780-C8BFCB660C1B}"/>
              </a:ext>
            </a:extLst>
          </p:cNvPr>
          <p:cNvSpPr>
            <a:spLocks xmlns:a="http://schemas.openxmlformats.org/drawingml/2006/main" noGrp="1"/>
          </p:cNvSpPr>
          <p:nvPr/>
        </p:nvSpPr>
        <p:spPr>
          <a:xfrm xmlns:a="http://schemas.openxmlformats.org/drawingml/2006/main">
            <a:off x="457200" y="1295400"/>
            <a:ext cx="5867400" cy="4762500"/>
          </a:xfrm>
          <a:prstGeom xmlns:a="http://schemas.openxmlformats.org/drawingml/2006/main" prst="roundRect">
            <a:avLst>
              <a:gd name="adj" fmla="val 2400"/>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135" name="图片 134"/>
          <p:cNvPicPr>
            <a:picLocks xmlns:a="http://schemas.openxmlformats.org/drawingml/2006/main" noChangeAspect="1"/>
          </p:cNvPicPr>
          <p:nvPr/>
        </p:nvPicPr>
        <p:blipFill>
          <a:blip xmlns:r="http://schemas.openxmlformats.org/officeDocument/2006/relationships" xmlns:a="http://schemas.openxmlformats.org/drawingml/2006/main" r:embed="Ra21eeaaabcff4071"/>
          <a:srcRect xmlns:a="http://schemas.openxmlformats.org/drawingml/2006/main" l="0" t="8" r="0" b="8"/>
          <a:stretch xmlns:a="http://schemas.openxmlformats.org/drawingml/2006/main">
            <a:fillRect l="0" t="0" r="0" b="0"/>
          </a:stretch>
        </p:blipFill>
        <p:spPr>
          <a:xfrm xmlns:a="http://schemas.openxmlformats.org/drawingml/2006/main">
            <a:off x="647700" y="1485900"/>
            <a:ext cx="4552950" cy="4381500"/>
          </a:xfrm>
          <a:prstGeom xmlns:a="http://schemas.openxmlformats.org/drawingml/2006/main" prst="rect">
            <a:avLst/>
          </a:prstGeom>
        </p:spPr>
      </p:pic>
      <p:sp>
        <p:nvSpPr>
          <p:cNvPr id="121" name="矩形 120">
            <a:extLst xmlns:a="http://schemas.openxmlformats.org/drawingml/2006/main">
              <a:ext uri="{FF2B5EF4-FFF2-40B4-BE49-F238E27FC236}">
                <a16:creationId xmlns:a16="http://schemas.microsoft.com/office/drawing/2014/main" id="{65E18AE3-6608-4FFC-9BB6-71CB17B0B373}"/>
              </a:ext>
            </a:extLst>
          </p:cNvPr>
          <p:cNvSpPr>
            <a:spLocks xmlns:a="http://schemas.openxmlformats.org/drawingml/2006/main" noGrp="1"/>
          </p:cNvSpPr>
          <p:nvPr/>
        </p:nvSpPr>
        <p:spPr>
          <a:xfrm xmlns:a="http://schemas.openxmlformats.org/drawingml/2006/main">
            <a:off x="6705600" y="1800225"/>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环境变量</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§1.3.2 Environment variables</a:t>
            </a:r>
          </a:p>
        </p:txBody>
      </p:sp>
      <p:sp>
        <p:nvSpPr>
          <p:cNvPr id="122" name="矩形 121">
            <a:extLst xmlns:a="http://schemas.openxmlformats.org/drawingml/2006/main">
              <a:ext uri="{FF2B5EF4-FFF2-40B4-BE49-F238E27FC236}">
                <a16:creationId xmlns:a16="http://schemas.microsoft.com/office/drawing/2014/main" id="{79A0ABE2-CB55-4FA5-BF27-C6F5E67EBF5C}"/>
              </a:ext>
            </a:extLst>
          </p:cNvPr>
          <p:cNvSpPr>
            <a:spLocks xmlns:a="http://schemas.openxmlformats.org/drawingml/2006/main" noGrp="1"/>
          </p:cNvSpPr>
          <p:nvPr/>
        </p:nvSpPr>
        <p:spPr>
          <a:xfrm xmlns:a="http://schemas.openxmlformats.org/drawingml/2006/main">
            <a:off x="6705600" y="2143125"/>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设置系统</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环境 path</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Set up the system</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environment path</a:t>
            </a:r>
          </a:p>
        </p:txBody>
      </p:sp>
      <p:sp>
        <p:nvSpPr>
          <p:cNvPr id="123" name="矩形 122">
            <a:extLst xmlns:a="http://schemas.openxmlformats.org/drawingml/2006/main">
              <a:ext uri="{FF2B5EF4-FFF2-40B4-BE49-F238E27FC236}">
                <a16:creationId xmlns:a16="http://schemas.microsoft.com/office/drawing/2014/main" id="{51E2A5D3-2901-46D0-99DD-0FF0E7D98610}"/>
              </a:ext>
            </a:extLst>
          </p:cNvPr>
          <p:cNvSpPr>
            <a:spLocks xmlns:a="http://schemas.openxmlformats.org/drawingml/2006/main" noGrp="1"/>
          </p:cNvSpPr>
          <p:nvPr/>
        </p:nvSpPr>
        <p:spPr>
          <a:xfrm xmlns:a="http://schemas.openxmlformats.org/drawingml/2006/main">
            <a:off x="6705600" y="3438525"/>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24" name="矩形 123">
            <a:extLst xmlns:a="http://schemas.openxmlformats.org/drawingml/2006/main">
              <a:ext uri="{FF2B5EF4-FFF2-40B4-BE49-F238E27FC236}">
                <a16:creationId xmlns:a16="http://schemas.microsoft.com/office/drawing/2014/main" id="{F8EEBCA4-EAA4-4C28-81EB-73DCA70C5901}"/>
              </a:ext>
            </a:extLst>
          </p:cNvPr>
          <p:cNvSpPr>
            <a:spLocks xmlns:a="http://schemas.openxmlformats.org/drawingml/2006/main" noGrp="1"/>
          </p:cNvSpPr>
          <p:nvPr/>
        </p:nvSpPr>
        <p:spPr>
          <a:xfrm xmlns:a="http://schemas.openxmlformats.org/drawingml/2006/main">
            <a:off x="6705600" y="3714750"/>
            <a:ext cx="5029200" cy="428625"/>
          </a:xfrm>
          <a:prstGeom xmlns:a="http://schemas.openxmlformats.org/drawingml/2006/main" prst="rect">
            <a:avLst/>
          </a:prstGeom>
        </p:spPr>
        <p:txBody>
          <a:bodyPr xmlns:a="http://schemas.openxmlformats.org/drawingml/2006/main" wrap="none" lIns="0" tIns="0" rIns="0" bIns="0">
            <a:normAutofit fontScale="4274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在 path 中新建一项：</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Create a new entry in path:</a:t>
            </a:r>
          </a:p>
        </p:txBody>
      </p:sp>
      <p:sp>
        <p:nvSpPr>
          <p:cNvPr id="125" name="圆角矩形 124">
            <a:extLst xmlns:a="http://schemas.openxmlformats.org/drawingml/2006/main">
              <a:ext uri="{FF2B5EF4-FFF2-40B4-BE49-F238E27FC236}">
                <a16:creationId xmlns:a16="http://schemas.microsoft.com/office/drawing/2014/main" id="{8C53CBCD-34AD-4C94-99CC-6D8FB62DBF23}"/>
              </a:ext>
            </a:extLst>
          </p:cNvPr>
          <p:cNvSpPr>
            <a:spLocks xmlns:a="http://schemas.openxmlformats.org/drawingml/2006/main" noGrp="1"/>
          </p:cNvSpPr>
          <p:nvPr/>
        </p:nvSpPr>
        <p:spPr>
          <a:xfrm xmlns:a="http://schemas.openxmlformats.org/drawingml/2006/main">
            <a:off x="6705600" y="4295775"/>
            <a:ext cx="5029200" cy="476250"/>
          </a:xfrm>
          <a:prstGeom xmlns:a="http://schemas.openxmlformats.org/drawingml/2006/main" prst="roundRect">
            <a:avLst>
              <a:gd name="adj" fmla="val 16000"/>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26" name="矩形 125">
            <a:extLst xmlns:a="http://schemas.openxmlformats.org/drawingml/2006/main">
              <a:ext uri="{FF2B5EF4-FFF2-40B4-BE49-F238E27FC236}">
                <a16:creationId xmlns:a16="http://schemas.microsoft.com/office/drawing/2014/main" id="{D4204042-DA2E-4A84-92CD-C7380F454D85}"/>
              </a:ext>
            </a:extLst>
          </p:cNvPr>
          <p:cNvSpPr>
            <a:spLocks xmlns:a="http://schemas.openxmlformats.org/drawingml/2006/main" noGrp="1"/>
          </p:cNvSpPr>
          <p:nvPr/>
        </p:nvSpPr>
        <p:spPr>
          <a:xfrm xmlns:a="http://schemas.openxmlformats.org/drawingml/2006/main">
            <a:off x="6838950" y="4429125"/>
            <a:ext cx="47625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%JAVA_HOME%in</a:t>
            </a:r>
            <a:endParaRPr sz="1350" b="1">
              <a:solidFill>
                <a:srgbClr val="0E3F8C"/>
              </a:solidFill>
              <a:latin typeface="Consolas"/>
              <a:ea typeface="Consolas"/>
              <a:cs typeface="Consolas"/>
            </a:endParaRPr>
          </a:p>
        </p:txBody>
      </p:sp>
      <p:sp>
        <p:nvSpPr>
          <p:cNvPr id="127" name="圆角矩形 126">
            <a:extLst xmlns:a="http://schemas.openxmlformats.org/drawingml/2006/main">
              <a:ext uri="{FF2B5EF4-FFF2-40B4-BE49-F238E27FC236}">
                <a16:creationId xmlns:a16="http://schemas.microsoft.com/office/drawing/2014/main" id="{BB07825B-FA4E-4ABD-A58A-E4C134A27BC5}"/>
              </a:ext>
            </a:extLst>
          </p:cNvPr>
          <p:cNvSpPr>
            <a:spLocks xmlns:a="http://schemas.openxmlformats.org/drawingml/2006/main" noGrp="1"/>
          </p:cNvSpPr>
          <p:nvPr/>
        </p:nvSpPr>
        <p:spPr>
          <a:xfrm xmlns:a="http://schemas.openxmlformats.org/drawingml/2006/main">
            <a:off x="6705600" y="4981575"/>
            <a:ext cx="5029200" cy="895350"/>
          </a:xfrm>
          <a:prstGeom xmlns:a="http://schemas.openxmlformats.org/drawingml/2006/main" prst="roundRect">
            <a:avLst>
              <a:gd name="adj" fmla="val 8511"/>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p:txBody>
      </p:sp>
      <p:sp>
        <p:nvSpPr>
          <p:cNvPr id="128" name="矩形 127">
            <a:extLst xmlns:a="http://schemas.openxmlformats.org/drawingml/2006/main">
              <a:ext uri="{FF2B5EF4-FFF2-40B4-BE49-F238E27FC236}">
                <a16:creationId xmlns:a16="http://schemas.microsoft.com/office/drawing/2014/main" id="{2E01E2D7-9CE2-40A2-A590-E7642FC5BBB9}"/>
              </a:ext>
            </a:extLst>
          </p:cNvPr>
          <p:cNvSpPr>
            <a:spLocks xmlns:a="http://schemas.openxmlformats.org/drawingml/2006/main" noGrp="1"/>
          </p:cNvSpPr>
          <p:nvPr/>
        </p:nvSpPr>
        <p:spPr>
          <a:xfrm xmlns:a="http://schemas.openxmlformats.org/drawingml/2006/main">
            <a:off x="6838950" y="5114925"/>
            <a:ext cx="4762500" cy="628650"/>
          </a:xfrm>
          <a:prstGeom xmlns:a="http://schemas.openxmlformats.org/drawingml/2006/main" prst="rect">
            <a:avLst/>
          </a:prstGeom>
        </p:spPr>
        <p:txBody>
          <a:bodyPr xmlns:a="http://schemas.openxmlformats.org/drawingml/2006/main" wrap="square" lIns="0" tIns="0" rIns="0" bIns="0">
            <a:normAutofit fontScale="39190"/>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建议移到列表最上方。当计算机安装了多个 JDK 版本时，默认使用最上方的版本。</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It is recommended to move it to the top of the list. When multiple JDK versions are installed on the computer, the top version is used by default.</a:t>
            </a:r>
          </a:p>
        </p:txBody>
      </p:sp>
      <p:sp>
        <p:nvSpPr>
          <p:cNvPr id="129" name="矩形 128">
            <a:extLst xmlns:a="http://schemas.openxmlformats.org/drawingml/2006/main">
              <a:ext uri="{FF2B5EF4-FFF2-40B4-BE49-F238E27FC236}">
                <a16:creationId xmlns:a16="http://schemas.microsoft.com/office/drawing/2014/main" id="{94F58C92-B831-479F-B3D6-F4B4E0A86813}"/>
              </a:ext>
            </a:extLst>
          </p:cNvPr>
          <p:cNvSpPr>
            <a:spLocks xmlns:a="http://schemas.openxmlformats.org/drawingml/2006/main" noGrp="1"/>
          </p:cNvSpPr>
          <p:nvPr/>
        </p:nvSpPr>
        <p:spPr>
          <a:xfrm xmlns:a="http://schemas.openxmlformats.org/drawingml/2006/main">
            <a:off x="11258550" y="6248400"/>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16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28908556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31" name="矩形 130">
            <a:extLst xmlns:a="http://schemas.openxmlformats.org/drawingml/2006/main">
              <a:ext uri="{FF2B5EF4-FFF2-40B4-BE49-F238E27FC236}">
                <a16:creationId xmlns:a16="http://schemas.microsoft.com/office/drawing/2014/main" id="{730A2F68-C242-4592-9552-311E25D6B2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2" name="矩形 131">
            <a:extLst xmlns:a="http://schemas.openxmlformats.org/drawingml/2006/main">
              <a:ext uri="{FF2B5EF4-FFF2-40B4-BE49-F238E27FC236}">
                <a16:creationId xmlns:a16="http://schemas.microsoft.com/office/drawing/2014/main" id="{91BB5A94-8961-4C28-B0C3-A5DBFCA389DE}"/>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33" name="矩形 132">
            <a:extLst xmlns:a="http://schemas.openxmlformats.org/drawingml/2006/main">
              <a:ext uri="{FF2B5EF4-FFF2-40B4-BE49-F238E27FC236}">
                <a16:creationId xmlns:a16="http://schemas.microsoft.com/office/drawing/2014/main" id="{FCE57CCB-BA7F-46EA-AAC4-98EF53E0653B}"/>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34" name="圆角矩形 133">
            <a:extLst xmlns:a="http://schemas.openxmlformats.org/drawingml/2006/main">
              <a:ext uri="{FF2B5EF4-FFF2-40B4-BE49-F238E27FC236}">
                <a16:creationId xmlns:a16="http://schemas.microsoft.com/office/drawing/2014/main" id="{9B73674F-0F4D-40BD-9CF4-851907F15B88}"/>
              </a:ext>
            </a:extLst>
          </p:cNvPr>
          <p:cNvSpPr>
            <a:spLocks xmlns:a="http://schemas.openxmlformats.org/drawingml/2006/main" noGrp="1"/>
          </p:cNvSpPr>
          <p:nvPr/>
        </p:nvSpPr>
        <p:spPr>
          <a:xfrm xmlns:a="http://schemas.openxmlformats.org/drawingml/2006/main">
            <a:off x="457200" y="2819400"/>
            <a:ext cx="5867400" cy="1704975"/>
          </a:xfrm>
          <a:prstGeom xmlns:a="http://schemas.openxmlformats.org/drawingml/2006/main" prst="roundRect">
            <a:avLst>
              <a:gd name="adj" fmla="val 6704"/>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157" name="图片 156"/>
          <p:cNvPicPr>
            <a:picLocks xmlns:a="http://schemas.openxmlformats.org/drawingml/2006/main" noChangeAspect="1"/>
          </p:cNvPicPr>
          <p:nvPr/>
        </p:nvPicPr>
        <p:blipFill>
          <a:blip xmlns:r="http://schemas.openxmlformats.org/officeDocument/2006/relationships" xmlns:a="http://schemas.openxmlformats.org/drawingml/2006/main" r:embed="R38946c52ff1e453f"/>
          <a:srcRect xmlns:a="http://schemas.openxmlformats.org/drawingml/2006/main" l="0" t="53" r="0" b="53"/>
          <a:stretch xmlns:a="http://schemas.openxmlformats.org/drawingml/2006/main">
            <a:fillRect l="0" t="0" r="0" b="0"/>
          </a:stretch>
        </p:blipFill>
        <p:spPr>
          <a:xfrm xmlns:a="http://schemas.openxmlformats.org/drawingml/2006/main">
            <a:off x="685800" y="3048000"/>
            <a:ext cx="5334000" cy="1247775"/>
          </a:xfrm>
          <a:prstGeom xmlns:a="http://schemas.openxmlformats.org/drawingml/2006/main" prst="rect">
            <a:avLst/>
          </a:prstGeom>
        </p:spPr>
      </p:pic>
      <p:sp>
        <p:nvSpPr>
          <p:cNvPr id="136" name="矩形 135">
            <a:extLst xmlns:a="http://schemas.openxmlformats.org/drawingml/2006/main">
              <a:ext uri="{FF2B5EF4-FFF2-40B4-BE49-F238E27FC236}">
                <a16:creationId xmlns:a16="http://schemas.microsoft.com/office/drawing/2014/main" id="{C59810B1-BD21-4CD8-99FA-60C5055D93B3}"/>
              </a:ext>
            </a:extLst>
          </p:cNvPr>
          <p:cNvSpPr>
            <a:spLocks xmlns:a="http://schemas.openxmlformats.org/drawingml/2006/main" noGrp="1"/>
          </p:cNvSpPr>
          <p:nvPr/>
        </p:nvSpPr>
        <p:spPr>
          <a:xfrm xmlns:a="http://schemas.openxmlformats.org/drawingml/2006/main">
            <a:off x="6705600" y="1466850"/>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§1.4 开发步骤</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§1.4 Development steps</a:t>
            </a:r>
          </a:p>
        </p:txBody>
      </p:sp>
      <p:sp>
        <p:nvSpPr>
          <p:cNvPr id="137" name="矩形 136">
            <a:extLst xmlns:a="http://schemas.openxmlformats.org/drawingml/2006/main">
              <a:ext uri="{FF2B5EF4-FFF2-40B4-BE49-F238E27FC236}">
                <a16:creationId xmlns:a16="http://schemas.microsoft.com/office/drawing/2014/main" id="{DFE06B04-FD31-48BD-912F-1C0AFACDEDB9}"/>
              </a:ext>
            </a:extLst>
          </p:cNvPr>
          <p:cNvSpPr>
            <a:spLocks xmlns:a="http://schemas.openxmlformats.org/drawingml/2006/main" noGrp="1"/>
          </p:cNvSpPr>
          <p:nvPr/>
        </p:nvSpPr>
        <p:spPr>
          <a:xfrm xmlns:a="http://schemas.openxmlformats.org/drawingml/2006/main">
            <a:off x="6705600" y="1790700"/>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Java 程序的</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开发步骤</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Java program</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Development steps</a:t>
            </a:r>
          </a:p>
        </p:txBody>
      </p:sp>
      <p:sp>
        <p:nvSpPr>
          <p:cNvPr id="138" name="矩形 137">
            <a:extLst xmlns:a="http://schemas.openxmlformats.org/drawingml/2006/main">
              <a:ext uri="{FF2B5EF4-FFF2-40B4-BE49-F238E27FC236}">
                <a16:creationId xmlns:a16="http://schemas.microsoft.com/office/drawing/2014/main" id="{D6536FF6-AEA8-4FE0-9084-AD5F77138411}"/>
              </a:ext>
            </a:extLst>
          </p:cNvPr>
          <p:cNvSpPr>
            <a:spLocks xmlns:a="http://schemas.openxmlformats.org/drawingml/2006/main" noGrp="1"/>
          </p:cNvSpPr>
          <p:nvPr/>
        </p:nvSpPr>
        <p:spPr>
          <a:xfrm xmlns:a="http://schemas.openxmlformats.org/drawingml/2006/main">
            <a:off x="6705600" y="30670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39" name="圆角矩形 138">
            <a:extLst xmlns:a="http://schemas.openxmlformats.org/drawingml/2006/main">
              <a:ext uri="{FF2B5EF4-FFF2-40B4-BE49-F238E27FC236}">
                <a16:creationId xmlns:a16="http://schemas.microsoft.com/office/drawing/2014/main" id="{DC9392E8-BEE9-4106-A621-DCAC48A6899B}"/>
              </a:ext>
            </a:extLst>
          </p:cNvPr>
          <p:cNvSpPr>
            <a:spLocks xmlns:a="http://schemas.openxmlformats.org/drawingml/2006/main" noGrp="1"/>
          </p:cNvSpPr>
          <p:nvPr/>
        </p:nvSpPr>
        <p:spPr>
          <a:xfrm xmlns:a="http://schemas.openxmlformats.org/drawingml/2006/main">
            <a:off x="6762750" y="3324225"/>
            <a:ext cx="5029200" cy="762000"/>
          </a:xfrm>
          <a:prstGeom xmlns:a="http://schemas.openxmlformats.org/drawingml/2006/main" prst="roundRect">
            <a:avLst>
              <a:gd name="adj" fmla="val 1250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40" name="任意多边形 139">
            <a:extLst xmlns:a="http://schemas.openxmlformats.org/drawingml/2006/main">
              <a:ext uri="{FF2B5EF4-FFF2-40B4-BE49-F238E27FC236}">
                <a16:creationId xmlns:a16="http://schemas.microsoft.com/office/drawing/2014/main" id="{FF307A0F-912A-46C8-8107-538EC6D2DF82}"/>
              </a:ext>
            </a:extLst>
          </p:cNvPr>
          <p:cNvSpPr>
            <a:spLocks xmlns:a="http://schemas.openxmlformats.org/drawingml/2006/main" noGrp="1"/>
          </p:cNvSpPr>
          <p:nvPr/>
        </p:nvSpPr>
        <p:spPr>
          <a:xfrm xmlns:a="http://schemas.openxmlformats.org/drawingml/2006/main">
            <a:off x="6762750" y="3324225"/>
            <a:ext cx="5029200" cy="762000"/>
          </a:xfrm>
          <a:custGeom xmlns:a="http://schemas.openxmlformats.org/drawingml/2006/main">
            <a:pathLst>
              <a:path w="528" h="80">
                <a:moveTo>
                  <a:pt x="10" y="0"/>
                </a:moveTo>
                <a:cubicBezTo>
                  <a:pt x="8" y="0"/>
                  <a:pt x="6" y="2"/>
                  <a:pt x="6" y="4"/>
                </a:cubicBezTo>
                <a:lnTo>
                  <a:pt x="6" y="76"/>
                </a:lnTo>
                <a:cubicBezTo>
                  <a:pt x="6" y="78"/>
                  <a:pt x="8" y="80"/>
                  <a:pt x="10" y="80"/>
                </a:cubicBezTo>
                <a:cubicBezTo>
                  <a:pt x="4" y="80"/>
                  <a:pt x="0" y="75"/>
                  <a:pt x="0" y="70"/>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41" name="矩形 140">
            <a:extLst xmlns:a="http://schemas.openxmlformats.org/drawingml/2006/main">
              <a:ext uri="{FF2B5EF4-FFF2-40B4-BE49-F238E27FC236}">
                <a16:creationId xmlns:a16="http://schemas.microsoft.com/office/drawing/2014/main" id="{77D98563-9D7F-49F7-B2D8-E5C1F9C020AB}"/>
              </a:ext>
            </a:extLst>
          </p:cNvPr>
          <p:cNvSpPr>
            <a:spLocks xmlns:a="http://schemas.openxmlformats.org/drawingml/2006/main" noGrp="1"/>
          </p:cNvSpPr>
          <p:nvPr/>
        </p:nvSpPr>
        <p:spPr>
          <a:xfrm xmlns:a="http://schemas.openxmlformats.org/drawingml/2006/main">
            <a:off x="6915150" y="3476625"/>
            <a:ext cx="4667250"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 编写源文件</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1. Write source files</a:t>
            </a:r>
          </a:p>
        </p:txBody>
      </p:sp>
      <p:sp>
        <p:nvSpPr>
          <p:cNvPr id="142" name="矩形 141">
            <a:extLst xmlns:a="http://schemas.openxmlformats.org/drawingml/2006/main">
              <a:ext uri="{FF2B5EF4-FFF2-40B4-BE49-F238E27FC236}">
                <a16:creationId xmlns:a16="http://schemas.microsoft.com/office/drawing/2014/main" id="{4B909077-2D29-4AAA-960F-06E90F7F2BBA}"/>
              </a:ext>
            </a:extLst>
          </p:cNvPr>
          <p:cNvSpPr>
            <a:spLocks xmlns:a="http://schemas.openxmlformats.org/drawingml/2006/main" noGrp="1"/>
          </p:cNvSpPr>
          <p:nvPr/>
        </p:nvSpPr>
        <p:spPr>
          <a:xfrm xmlns:a="http://schemas.openxmlformats.org/drawingml/2006/main">
            <a:off x="6915150" y="3743325"/>
            <a:ext cx="466725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扩展名必须是  .java </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Extension must be.java</a:t>
            </a:r>
          </a:p>
        </p:txBody>
      </p:sp>
      <p:sp>
        <p:nvSpPr>
          <p:cNvPr id="143" name="圆角矩形 142">
            <a:extLst xmlns:a="http://schemas.openxmlformats.org/drawingml/2006/main">
              <a:ext uri="{FF2B5EF4-FFF2-40B4-BE49-F238E27FC236}">
                <a16:creationId xmlns:a16="http://schemas.microsoft.com/office/drawing/2014/main" id="{3FE3E32D-3153-4F22-8D90-CBB9CF09042E}"/>
              </a:ext>
            </a:extLst>
          </p:cNvPr>
          <p:cNvSpPr>
            <a:spLocks xmlns:a="http://schemas.openxmlformats.org/drawingml/2006/main" noGrp="1"/>
          </p:cNvSpPr>
          <p:nvPr/>
        </p:nvSpPr>
        <p:spPr>
          <a:xfrm xmlns:a="http://schemas.openxmlformats.org/drawingml/2006/main">
            <a:off x="6762750" y="4219575"/>
            <a:ext cx="5029200" cy="762000"/>
          </a:xfrm>
          <a:prstGeom xmlns:a="http://schemas.openxmlformats.org/drawingml/2006/main" prst="roundRect">
            <a:avLst>
              <a:gd name="adj" fmla="val 1250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44" name="任意多边形 143">
            <a:extLst xmlns:a="http://schemas.openxmlformats.org/drawingml/2006/main">
              <a:ext uri="{FF2B5EF4-FFF2-40B4-BE49-F238E27FC236}">
                <a16:creationId xmlns:a16="http://schemas.microsoft.com/office/drawing/2014/main" id="{A80A53D7-426B-4CBF-9C2A-210270544D0E}"/>
              </a:ext>
            </a:extLst>
          </p:cNvPr>
          <p:cNvSpPr>
            <a:spLocks xmlns:a="http://schemas.openxmlformats.org/drawingml/2006/main" noGrp="1"/>
          </p:cNvSpPr>
          <p:nvPr/>
        </p:nvSpPr>
        <p:spPr>
          <a:xfrm xmlns:a="http://schemas.openxmlformats.org/drawingml/2006/main">
            <a:off x="6762750" y="4219575"/>
            <a:ext cx="5029200" cy="762000"/>
          </a:xfrm>
          <a:custGeom xmlns:a="http://schemas.openxmlformats.org/drawingml/2006/main">
            <a:pathLst>
              <a:path w="528" h="80">
                <a:moveTo>
                  <a:pt x="10" y="0"/>
                </a:moveTo>
                <a:cubicBezTo>
                  <a:pt x="8" y="0"/>
                  <a:pt x="6" y="2"/>
                  <a:pt x="6" y="4"/>
                </a:cubicBezTo>
                <a:lnTo>
                  <a:pt x="6" y="76"/>
                </a:lnTo>
                <a:cubicBezTo>
                  <a:pt x="6" y="78"/>
                  <a:pt x="8" y="80"/>
                  <a:pt x="10" y="80"/>
                </a:cubicBezTo>
                <a:cubicBezTo>
                  <a:pt x="4" y="80"/>
                  <a:pt x="0" y="75"/>
                  <a:pt x="0" y="70"/>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145" name="矩形 144">
            <a:extLst xmlns:a="http://schemas.openxmlformats.org/drawingml/2006/main">
              <a:ext uri="{FF2B5EF4-FFF2-40B4-BE49-F238E27FC236}">
                <a16:creationId xmlns:a16="http://schemas.microsoft.com/office/drawing/2014/main" id="{513DB542-8384-444C-9699-2655E373127D}"/>
              </a:ext>
            </a:extLst>
          </p:cNvPr>
          <p:cNvSpPr>
            <a:spLocks xmlns:a="http://schemas.openxmlformats.org/drawingml/2006/main" noGrp="1"/>
          </p:cNvSpPr>
          <p:nvPr/>
        </p:nvSpPr>
        <p:spPr>
          <a:xfrm xmlns:a="http://schemas.openxmlformats.org/drawingml/2006/main">
            <a:off x="6915150" y="4371975"/>
            <a:ext cx="4667250"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2. 编译源程序</a:t>
            </a:r>
          </a:p>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2. Compile source program</a:t>
            </a:r>
          </a:p>
        </p:txBody>
      </p:sp>
      <p:sp>
        <p:nvSpPr>
          <p:cNvPr id="146" name="矩形 145">
            <a:extLst xmlns:a="http://schemas.openxmlformats.org/drawingml/2006/main">
              <a:ext uri="{FF2B5EF4-FFF2-40B4-BE49-F238E27FC236}">
                <a16:creationId xmlns:a16="http://schemas.microsoft.com/office/drawing/2014/main" id="{94891D7D-6048-4856-A150-E7660AD89F4D}"/>
              </a:ext>
            </a:extLst>
          </p:cNvPr>
          <p:cNvSpPr>
            <a:spLocks xmlns:a="http://schemas.openxmlformats.org/drawingml/2006/main" noGrp="1"/>
          </p:cNvSpPr>
          <p:nvPr/>
        </p:nvSpPr>
        <p:spPr>
          <a:xfrm xmlns:a="http://schemas.openxmlformats.org/drawingml/2006/main">
            <a:off x="6915150" y="4638675"/>
            <a:ext cx="466725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用 javac.exe 生成字节码  .class </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Use javac.exe to generate bytecode.class</a:t>
            </a:r>
          </a:p>
        </p:txBody>
      </p:sp>
      <p:sp>
        <p:nvSpPr>
          <p:cNvPr id="147" name="圆角矩形 146">
            <a:extLst xmlns:a="http://schemas.openxmlformats.org/drawingml/2006/main">
              <a:ext uri="{FF2B5EF4-FFF2-40B4-BE49-F238E27FC236}">
                <a16:creationId xmlns:a16="http://schemas.microsoft.com/office/drawing/2014/main" id="{EF5F546C-EBC1-4C92-BE0F-17B7DB544137}"/>
              </a:ext>
            </a:extLst>
          </p:cNvPr>
          <p:cNvSpPr>
            <a:spLocks xmlns:a="http://schemas.openxmlformats.org/drawingml/2006/main" noGrp="1"/>
          </p:cNvSpPr>
          <p:nvPr/>
        </p:nvSpPr>
        <p:spPr>
          <a:xfrm xmlns:a="http://schemas.openxmlformats.org/drawingml/2006/main">
            <a:off x="6762750" y="5114925"/>
            <a:ext cx="5029200" cy="762000"/>
          </a:xfrm>
          <a:prstGeom xmlns:a="http://schemas.openxmlformats.org/drawingml/2006/main" prst="roundRect">
            <a:avLst>
              <a:gd name="adj" fmla="val 12500"/>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48" name="任意多边形 147">
            <a:extLst xmlns:a="http://schemas.openxmlformats.org/drawingml/2006/main">
              <a:ext uri="{FF2B5EF4-FFF2-40B4-BE49-F238E27FC236}">
                <a16:creationId xmlns:a16="http://schemas.microsoft.com/office/drawing/2014/main" id="{FDA0AB5D-AB62-4AAC-BBC4-E172136CC9F9}"/>
              </a:ext>
            </a:extLst>
          </p:cNvPr>
          <p:cNvSpPr>
            <a:spLocks xmlns:a="http://schemas.openxmlformats.org/drawingml/2006/main" noGrp="1"/>
          </p:cNvSpPr>
          <p:nvPr/>
        </p:nvSpPr>
        <p:spPr>
          <a:xfrm xmlns:a="http://schemas.openxmlformats.org/drawingml/2006/main">
            <a:off x="6762750" y="5114925"/>
            <a:ext cx="5029200" cy="762000"/>
          </a:xfrm>
          <a:custGeom xmlns:a="http://schemas.openxmlformats.org/drawingml/2006/main">
            <a:pathLst>
              <a:path w="528" h="80">
                <a:moveTo>
                  <a:pt x="10" y="0"/>
                </a:moveTo>
                <a:cubicBezTo>
                  <a:pt x="8" y="0"/>
                  <a:pt x="6" y="2"/>
                  <a:pt x="6" y="4"/>
                </a:cubicBezTo>
                <a:lnTo>
                  <a:pt x="6" y="76"/>
                </a:lnTo>
                <a:cubicBezTo>
                  <a:pt x="6" y="78"/>
                  <a:pt x="8" y="80"/>
                  <a:pt x="10" y="80"/>
                </a:cubicBezTo>
                <a:cubicBezTo>
                  <a:pt x="4" y="80"/>
                  <a:pt x="0" y="75"/>
                  <a:pt x="0" y="70"/>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49" name="矩形 148">
            <a:extLst xmlns:a="http://schemas.openxmlformats.org/drawingml/2006/main">
              <a:ext uri="{FF2B5EF4-FFF2-40B4-BE49-F238E27FC236}">
                <a16:creationId xmlns:a16="http://schemas.microsoft.com/office/drawing/2014/main" id="{51C890E6-35A8-4C61-A132-F78288B88F65}"/>
              </a:ext>
            </a:extLst>
          </p:cNvPr>
          <p:cNvSpPr>
            <a:spLocks xmlns:a="http://schemas.openxmlformats.org/drawingml/2006/main" noGrp="1"/>
          </p:cNvSpPr>
          <p:nvPr/>
        </p:nvSpPr>
        <p:spPr>
          <a:xfrm xmlns:a="http://schemas.openxmlformats.org/drawingml/2006/main">
            <a:off x="6915150" y="5267325"/>
            <a:ext cx="4667250"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3. 运行 Java 程序</a:t>
            </a:r>
          </a:p>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3. Run the Java program</a:t>
            </a:r>
          </a:p>
        </p:txBody>
      </p:sp>
      <p:sp>
        <p:nvSpPr>
          <p:cNvPr id="150" name="矩形 149">
            <a:extLst xmlns:a="http://schemas.openxmlformats.org/drawingml/2006/main">
              <a:ext uri="{FF2B5EF4-FFF2-40B4-BE49-F238E27FC236}">
                <a16:creationId xmlns:a16="http://schemas.microsoft.com/office/drawing/2014/main" id="{C4ED7B1D-18A2-4811-B64F-E09D8FDBD3FD}"/>
              </a:ext>
            </a:extLst>
          </p:cNvPr>
          <p:cNvSpPr>
            <a:spLocks xmlns:a="http://schemas.openxmlformats.org/drawingml/2006/main" noGrp="1"/>
          </p:cNvSpPr>
          <p:nvPr/>
        </p:nvSpPr>
        <p:spPr>
          <a:xfrm xmlns:a="http://schemas.openxmlformats.org/drawingml/2006/main">
            <a:off x="6915150" y="5534025"/>
            <a:ext cx="466725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用 java.exe 解释执行字节码</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Use java.exe to interpret and execute bytecode</a:t>
            </a:r>
          </a:p>
        </p:txBody>
      </p:sp>
      <p:sp>
        <p:nvSpPr>
          <p:cNvPr id="151" name="矩形 150">
            <a:extLst xmlns:a="http://schemas.openxmlformats.org/drawingml/2006/main">
              <a:ext uri="{FF2B5EF4-FFF2-40B4-BE49-F238E27FC236}">
                <a16:creationId xmlns:a16="http://schemas.microsoft.com/office/drawing/2014/main" id="{41674FEE-E6C4-4573-A6DB-E81C06FA3EF9}"/>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17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7115990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53" name="矩形 152">
            <a:extLst xmlns:a="http://schemas.openxmlformats.org/drawingml/2006/main">
              <a:ext uri="{FF2B5EF4-FFF2-40B4-BE49-F238E27FC236}">
                <a16:creationId xmlns:a16="http://schemas.microsoft.com/office/drawing/2014/main" id="{7F376345-7A79-4523-ADBE-CD0EDBA262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54" name="矩形 153">
            <a:extLst xmlns:a="http://schemas.openxmlformats.org/drawingml/2006/main">
              <a:ext uri="{FF2B5EF4-FFF2-40B4-BE49-F238E27FC236}">
                <a16:creationId xmlns:a16="http://schemas.microsoft.com/office/drawing/2014/main" id="{A714311D-1051-4EE2-BEE2-D9AE98E561BF}"/>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55" name="矩形 154">
            <a:extLst xmlns:a="http://schemas.openxmlformats.org/drawingml/2006/main">
              <a:ext uri="{FF2B5EF4-FFF2-40B4-BE49-F238E27FC236}">
                <a16:creationId xmlns:a16="http://schemas.microsoft.com/office/drawing/2014/main" id="{0C2A444B-073A-43FA-AE4B-2E3C51A4963A}"/>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56" name="矩形 155">
            <a:extLst xmlns:a="http://schemas.openxmlformats.org/drawingml/2006/main">
              <a:ext uri="{FF2B5EF4-FFF2-40B4-BE49-F238E27FC236}">
                <a16:creationId xmlns:a16="http://schemas.microsoft.com/office/drawing/2014/main" id="{9189A2C2-D38E-4A75-A7FD-3DEDBEEF0F1C}"/>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应用程序</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Application</a:t>
            </a:r>
          </a:p>
        </p:txBody>
      </p:sp>
      <p:sp>
        <p:nvSpPr>
          <p:cNvPr id="157" name="矩形 156">
            <a:extLst xmlns:a="http://schemas.openxmlformats.org/drawingml/2006/main">
              <a:ext uri="{FF2B5EF4-FFF2-40B4-BE49-F238E27FC236}">
                <a16:creationId xmlns:a16="http://schemas.microsoft.com/office/drawing/2014/main" id="{25BA0DEA-F16B-4BC7-BE56-495385A3286F}"/>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简单的 Java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应用程序</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Simple Java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application</a:t>
            </a:r>
          </a:p>
        </p:txBody>
      </p:sp>
      <p:sp>
        <p:nvSpPr>
          <p:cNvPr id="158" name="矩形 157">
            <a:extLst xmlns:a="http://schemas.openxmlformats.org/drawingml/2006/main">
              <a:ext uri="{FF2B5EF4-FFF2-40B4-BE49-F238E27FC236}">
                <a16:creationId xmlns:a16="http://schemas.microsoft.com/office/drawing/2014/main" id="{10BF0933-85B6-4A49-BFD3-82E2A7BAADAD}"/>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59" name="矩形 158">
            <a:extLst xmlns:a="http://schemas.openxmlformats.org/drawingml/2006/main">
              <a:ext uri="{FF2B5EF4-FFF2-40B4-BE49-F238E27FC236}">
                <a16:creationId xmlns:a16="http://schemas.microsoft.com/office/drawing/2014/main" id="{1E90E084-3CFB-4660-8596-A3E92C337D89}"/>
              </a:ext>
            </a:extLst>
          </p:cNvPr>
          <p:cNvSpPr>
            <a:spLocks xmlns:a="http://schemas.openxmlformats.org/drawingml/2006/main" noGrp="1"/>
          </p:cNvSpPr>
          <p:nvPr/>
        </p:nvSpPr>
        <p:spPr>
          <a:xfrm xmlns:a="http://schemas.openxmlformats.org/drawingml/2006/main">
            <a:off x="457200" y="3152775"/>
            <a:ext cx="3381375" cy="1171575"/>
          </a:xfrm>
          <a:prstGeom xmlns:a="http://schemas.openxmlformats.org/drawingml/2006/main" prst="rect">
            <a:avLst/>
          </a:prstGeom>
        </p:spPr>
        <p:txBody>
          <a:bodyPr xmlns:a="http://schemas.openxmlformats.org/drawingml/2006/main" wrap="squar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Java 源文件由若干相互独立的类组成。例子 1 由 Hello（主类，含 main）与 Student 组成。</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Java source files consist of several independent classes. Example 1 consists of Hello (main class, including main) and Student.</a:t>
            </a:r>
          </a:p>
        </p:txBody>
      </p:sp>
      <p:pic>
        <p:nvPicPr>
          <p:cNvPr id="170" name="图片 169"/>
          <p:cNvPicPr>
            <a:picLocks xmlns:a="http://schemas.openxmlformats.org/drawingml/2006/main" noChangeAspect="1"/>
          </p:cNvPicPr>
          <p:nvPr/>
        </p:nvPicPr>
        <p:blipFill>
          <a:blip xmlns:r="http://schemas.openxmlformats.org/officeDocument/2006/relationships" xmlns:a="http://schemas.openxmlformats.org/drawingml/2006/main" r:embed="R6345116d48d34adf"/>
          <a:srcRect xmlns:a="http://schemas.openxmlformats.org/drawingml/2006/main" l="35" t="0" r="35" b="0"/>
          <a:stretch xmlns:a="http://schemas.openxmlformats.org/drawingml/2006/main">
            <a:fillRect l="0" t="0" r="0" b="0"/>
          </a:stretch>
        </p:blipFill>
        <p:spPr>
          <a:xfrm xmlns:a="http://schemas.openxmlformats.org/drawingml/2006/main">
            <a:off x="4143375" y="1419225"/>
            <a:ext cx="6096000" cy="4476750"/>
          </a:xfrm>
          <a:prstGeom xmlns:a="http://schemas.openxmlformats.org/drawingml/2006/main" prst="roundRect">
            <a:avLst>
              <a:gd name="adj" fmla="val 2553"/>
            </a:avLst>
          </a:prstGeom>
          <a:effectLst xmlns:a="http://schemas.openxmlformats.org/drawingml/2006/main">
            <a:outerShdw blurRad="152400" dist="38100" dir="5400000">
              <a:srgbClr val="0F1C2E">
                <a:alpha val="8000"/>
              </a:srgbClr>
            </a:outerShdw>
          </a:effectLst>
        </p:spPr>
      </p:pic>
      <p:sp>
        <p:nvSpPr>
          <p:cNvPr id="161" name="矩形 160">
            <a:extLst xmlns:a="http://schemas.openxmlformats.org/drawingml/2006/main">
              <a:ext uri="{FF2B5EF4-FFF2-40B4-BE49-F238E27FC236}">
                <a16:creationId xmlns:a16="http://schemas.microsoft.com/office/drawing/2014/main" id="{77829674-F8FD-4FE6-BC23-3E5EA5C1AABE}"/>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18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48297085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63" name="矩形 162">
            <a:extLst xmlns:a="http://schemas.openxmlformats.org/drawingml/2006/main">
              <a:ext uri="{FF2B5EF4-FFF2-40B4-BE49-F238E27FC236}">
                <a16:creationId xmlns:a16="http://schemas.microsoft.com/office/drawing/2014/main" id="{D990EDA6-4C9D-4659-87F3-7AA6C5930E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64" name="矩形 163">
            <a:extLst xmlns:a="http://schemas.openxmlformats.org/drawingml/2006/main">
              <a:ext uri="{FF2B5EF4-FFF2-40B4-BE49-F238E27FC236}">
                <a16:creationId xmlns:a16="http://schemas.microsoft.com/office/drawing/2014/main" id="{1BB749CA-CCBB-4837-9471-7CFFD9F5242D}"/>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65" name="矩形 164">
            <a:extLst xmlns:a="http://schemas.openxmlformats.org/drawingml/2006/main">
              <a:ext uri="{FF2B5EF4-FFF2-40B4-BE49-F238E27FC236}">
                <a16:creationId xmlns:a16="http://schemas.microsoft.com/office/drawing/2014/main" id="{F10B5D4F-44BF-49DE-BA01-EFCB83013984}"/>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166" name="矩形 165">
            <a:extLst xmlns:a="http://schemas.openxmlformats.org/drawingml/2006/main">
              <a:ext uri="{FF2B5EF4-FFF2-40B4-BE49-F238E27FC236}">
                <a16:creationId xmlns:a16="http://schemas.microsoft.com/office/drawing/2014/main" id="{DCD71EF7-DE63-4F0D-9139-51B901959066}"/>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§1.5.1 保存</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§1.5.1 Save</a:t>
            </a:r>
          </a:p>
        </p:txBody>
      </p:sp>
      <p:sp>
        <p:nvSpPr>
          <p:cNvPr id="167" name="矩形 166">
            <a:extLst xmlns:a="http://schemas.openxmlformats.org/drawingml/2006/main">
              <a:ext uri="{FF2B5EF4-FFF2-40B4-BE49-F238E27FC236}">
                <a16:creationId xmlns:a16="http://schemas.microsoft.com/office/drawing/2014/main" id="{E5CB546F-340B-40C2-AFCE-D7392C00692E}"/>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编写与保存</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源文件</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Write and save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source file</a:t>
            </a:r>
          </a:p>
        </p:txBody>
      </p:sp>
      <p:sp>
        <p:nvSpPr>
          <p:cNvPr id="168" name="矩形 167">
            <a:extLst xmlns:a="http://schemas.openxmlformats.org/drawingml/2006/main">
              <a:ext uri="{FF2B5EF4-FFF2-40B4-BE49-F238E27FC236}">
                <a16:creationId xmlns:a16="http://schemas.microsoft.com/office/drawing/2014/main" id="{F15AE04D-8DC5-4FFE-82B9-EAE2E55DC38F}"/>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69" name="矩形 168">
            <a:extLst xmlns:a="http://schemas.openxmlformats.org/drawingml/2006/main">
              <a:ext uri="{FF2B5EF4-FFF2-40B4-BE49-F238E27FC236}">
                <a16:creationId xmlns:a16="http://schemas.microsoft.com/office/drawing/2014/main" id="{9BF1093F-F3CF-42F0-BE3C-7E87277292F0}"/>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6555"/>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几个新手最容易踩的坑</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Some of the most common pitfalls for novices</a:t>
            </a:r>
          </a:p>
        </p:txBody>
      </p:sp>
      <p:sp>
        <p:nvSpPr>
          <p:cNvPr id="170" name="圆角矩形 169">
            <a:extLst xmlns:a="http://schemas.openxmlformats.org/drawingml/2006/main">
              <a:ext uri="{FF2B5EF4-FFF2-40B4-BE49-F238E27FC236}">
                <a16:creationId xmlns:a16="http://schemas.microsoft.com/office/drawing/2014/main" id="{7BE040B3-C929-4574-A26B-1F707F89143E}"/>
              </a:ext>
            </a:extLst>
          </p:cNvPr>
          <p:cNvSpPr>
            <a:spLocks xmlns:a="http://schemas.openxmlformats.org/drawingml/2006/main" noGrp="1"/>
          </p:cNvSpPr>
          <p:nvPr/>
        </p:nvSpPr>
        <p:spPr>
          <a:xfrm xmlns:a="http://schemas.openxmlformats.org/drawingml/2006/main">
            <a:off x="4238625" y="2190750"/>
            <a:ext cx="7553325" cy="1104900"/>
          </a:xfrm>
          <a:prstGeom xmlns:a="http://schemas.openxmlformats.org/drawingml/2006/main" prst="roundRect">
            <a:avLst>
              <a:gd name="adj" fmla="val 8621"/>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71" name="任意多边形 170">
            <a:extLst xmlns:a="http://schemas.openxmlformats.org/drawingml/2006/main">
              <a:ext uri="{FF2B5EF4-FFF2-40B4-BE49-F238E27FC236}">
                <a16:creationId xmlns:a16="http://schemas.microsoft.com/office/drawing/2014/main" id="{4E73933E-F014-426D-AEB7-C9F8A8E4B4AA}"/>
              </a:ext>
            </a:extLst>
          </p:cNvPr>
          <p:cNvSpPr>
            <a:spLocks xmlns:a="http://schemas.openxmlformats.org/drawingml/2006/main" noGrp="1"/>
          </p:cNvSpPr>
          <p:nvPr/>
        </p:nvSpPr>
        <p:spPr>
          <a:xfrm xmlns:a="http://schemas.openxmlformats.org/drawingml/2006/main">
            <a:off x="4238625" y="2190750"/>
            <a:ext cx="7553325" cy="1104900"/>
          </a:xfrm>
          <a:custGeom xmlns:a="http://schemas.openxmlformats.org/drawingml/2006/main">
            <a:pathLst>
              <a:path w="793" h="116">
                <a:moveTo>
                  <a:pt x="10" y="0"/>
                </a:moveTo>
                <a:cubicBezTo>
                  <a:pt x="8" y="0"/>
                  <a:pt x="6" y="2"/>
                  <a:pt x="6" y="4"/>
                </a:cubicBezTo>
                <a:lnTo>
                  <a:pt x="6" y="112"/>
                </a:lnTo>
                <a:cubicBezTo>
                  <a:pt x="6" y="114"/>
                  <a:pt x="8" y="116"/>
                  <a:pt x="10" y="116"/>
                </a:cubicBezTo>
                <a:cubicBezTo>
                  <a:pt x="4" y="116"/>
                  <a:pt x="0" y="111"/>
                  <a:pt x="0" y="106"/>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72" name="矩形 171">
            <a:extLst xmlns:a="http://schemas.openxmlformats.org/drawingml/2006/main">
              <a:ext uri="{FF2B5EF4-FFF2-40B4-BE49-F238E27FC236}">
                <a16:creationId xmlns:a16="http://schemas.microsoft.com/office/drawing/2014/main" id="{DCBE11EE-EC92-437F-BD50-F615DE59659C}"/>
              </a:ext>
            </a:extLst>
          </p:cNvPr>
          <p:cNvSpPr>
            <a:spLocks xmlns:a="http://schemas.openxmlformats.org/drawingml/2006/main" noGrp="1"/>
          </p:cNvSpPr>
          <p:nvPr/>
        </p:nvSpPr>
        <p:spPr>
          <a:xfrm xmlns:a="http://schemas.openxmlformats.org/drawingml/2006/main">
            <a:off x="4448175" y="2400300"/>
            <a:ext cx="70770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英文标点</a:t>
            </a:r>
          </a:p>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English punctuation</a:t>
            </a:r>
          </a:p>
        </p:txBody>
      </p:sp>
      <p:sp>
        <p:nvSpPr>
          <p:cNvPr id="173" name="矩形 172">
            <a:extLst xmlns:a="http://schemas.openxmlformats.org/drawingml/2006/main">
              <a:ext uri="{FF2B5EF4-FFF2-40B4-BE49-F238E27FC236}">
                <a16:creationId xmlns:a16="http://schemas.microsoft.com/office/drawing/2014/main" id="{51615945-9A5A-4380-8275-8B14BB58A1E5}"/>
              </a:ext>
            </a:extLst>
          </p:cNvPr>
          <p:cNvSpPr>
            <a:spLocks xmlns:a="http://schemas.openxmlformats.org/drawingml/2006/main" noGrp="1"/>
          </p:cNvSpPr>
          <p:nvPr/>
        </p:nvSpPr>
        <p:spPr>
          <a:xfrm xmlns:a="http://schemas.openxmlformats.org/drawingml/2006/main">
            <a:off x="4448175" y="2686050"/>
            <a:ext cx="7077075" cy="400050"/>
          </a:xfrm>
          <a:prstGeom xmlns:a="http://schemas.openxmlformats.org/drawingml/2006/main" prst="rect">
            <a:avLst/>
          </a:prstGeom>
        </p:spPr>
        <p:txBody>
          <a:bodyPr xmlns:a="http://schemas.openxmlformats.org/drawingml/2006/main" wrap="none" lIns="0" tIns="0" rIns="0" bIns="0">
            <a:normAutofit fontScale="29315"/>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代码中的括号、分号、引号必须是 英文状态；字符串内部可以是中文。</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brackets, semicolons, and quotation marks in the code must be in English; the inside of the string can be in Chinese.</a:t>
            </a:r>
          </a:p>
        </p:txBody>
      </p:sp>
      <p:sp>
        <p:nvSpPr>
          <p:cNvPr id="174" name="圆角矩形 173">
            <a:extLst xmlns:a="http://schemas.openxmlformats.org/drawingml/2006/main">
              <a:ext uri="{FF2B5EF4-FFF2-40B4-BE49-F238E27FC236}">
                <a16:creationId xmlns:a16="http://schemas.microsoft.com/office/drawing/2014/main" id="{EDA4C0CB-8D81-4C74-A89D-EF31B5B79707}"/>
              </a:ext>
            </a:extLst>
          </p:cNvPr>
          <p:cNvSpPr>
            <a:spLocks xmlns:a="http://schemas.openxmlformats.org/drawingml/2006/main" noGrp="1"/>
          </p:cNvSpPr>
          <p:nvPr/>
        </p:nvSpPr>
        <p:spPr>
          <a:xfrm xmlns:a="http://schemas.openxmlformats.org/drawingml/2006/main">
            <a:off x="4238625" y="3448050"/>
            <a:ext cx="7553325" cy="1104900"/>
          </a:xfrm>
          <a:prstGeom xmlns:a="http://schemas.openxmlformats.org/drawingml/2006/main" prst="roundRect">
            <a:avLst>
              <a:gd name="adj" fmla="val 8621"/>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75" name="任意多边形 174">
            <a:extLst xmlns:a="http://schemas.openxmlformats.org/drawingml/2006/main">
              <a:ext uri="{FF2B5EF4-FFF2-40B4-BE49-F238E27FC236}">
                <a16:creationId xmlns:a16="http://schemas.microsoft.com/office/drawing/2014/main" id="{F04AFA10-F788-448F-BAAF-34F86F2FD8CD}"/>
              </a:ext>
            </a:extLst>
          </p:cNvPr>
          <p:cNvSpPr>
            <a:spLocks xmlns:a="http://schemas.openxmlformats.org/drawingml/2006/main" noGrp="1"/>
          </p:cNvSpPr>
          <p:nvPr/>
        </p:nvSpPr>
        <p:spPr>
          <a:xfrm xmlns:a="http://schemas.openxmlformats.org/drawingml/2006/main">
            <a:off x="4238625" y="3448050"/>
            <a:ext cx="7553325" cy="1104900"/>
          </a:xfrm>
          <a:custGeom xmlns:a="http://schemas.openxmlformats.org/drawingml/2006/main">
            <a:pathLst>
              <a:path w="793" h="116">
                <a:moveTo>
                  <a:pt x="10" y="0"/>
                </a:moveTo>
                <a:cubicBezTo>
                  <a:pt x="8" y="0"/>
                  <a:pt x="6" y="2"/>
                  <a:pt x="6" y="4"/>
                </a:cubicBezTo>
                <a:lnTo>
                  <a:pt x="6" y="112"/>
                </a:lnTo>
                <a:cubicBezTo>
                  <a:pt x="6" y="114"/>
                  <a:pt x="8" y="116"/>
                  <a:pt x="10" y="116"/>
                </a:cubicBezTo>
                <a:cubicBezTo>
                  <a:pt x="4" y="116"/>
                  <a:pt x="0" y="111"/>
                  <a:pt x="0" y="106"/>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76" name="矩形 175">
            <a:extLst xmlns:a="http://schemas.openxmlformats.org/drawingml/2006/main">
              <a:ext uri="{FF2B5EF4-FFF2-40B4-BE49-F238E27FC236}">
                <a16:creationId xmlns:a16="http://schemas.microsoft.com/office/drawing/2014/main" id="{62C5A50B-678F-422F-A2D6-26FC3A854F10}"/>
              </a:ext>
            </a:extLst>
          </p:cNvPr>
          <p:cNvSpPr>
            <a:spLocks xmlns:a="http://schemas.openxmlformats.org/drawingml/2006/main" noGrp="1"/>
          </p:cNvSpPr>
          <p:nvPr/>
        </p:nvSpPr>
        <p:spPr>
          <a:xfrm xmlns:a="http://schemas.openxmlformats.org/drawingml/2006/main">
            <a:off x="4448175" y="3657600"/>
            <a:ext cx="70770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public 类名 = 文件名</a:t>
            </a:r>
          </a:p>
          <a:p xmlns:a="http://schemas.openxmlformats.org/drawingml/2006/main">
            <a:pPr marL="0">
              <a:lnSpc>
                <a:spcPct val="100000"/>
              </a:lnSpc>
              <a:spcBef>
                <a:spcPts val="0"/>
              </a:spcBef>
              <a:spcAft>
                <a:spcPts val="0"/>
              </a:spcAft>
              <a:buNone/>
            </a:pPr>
            <a:r>
              <a:rPr sz="2960" b="1">
                <a:solidFill>
                  <a:srgbClr val="D9534F"/>
                </a:solidFill>
                <a:latin typeface="微软雅黑"/>
                <a:ea typeface="微软雅黑"/>
                <a:cs typeface="微软雅黑"/>
              </a:rPr>
              <a:t>public class name = file name</a:t>
            </a:r>
          </a:p>
        </p:txBody>
      </p:sp>
      <p:sp>
        <p:nvSpPr>
          <p:cNvPr id="177" name="矩形 176">
            <a:extLst xmlns:a="http://schemas.openxmlformats.org/drawingml/2006/main">
              <a:ext uri="{FF2B5EF4-FFF2-40B4-BE49-F238E27FC236}">
                <a16:creationId xmlns:a16="http://schemas.microsoft.com/office/drawing/2014/main" id="{AA7C64A5-E6C0-4C45-8FA3-03ECE8905538}"/>
              </a:ext>
            </a:extLst>
          </p:cNvPr>
          <p:cNvSpPr>
            <a:spLocks xmlns:a="http://schemas.openxmlformats.org/drawingml/2006/main" noGrp="1"/>
          </p:cNvSpPr>
          <p:nvPr/>
        </p:nvSpPr>
        <p:spPr>
          <a:xfrm xmlns:a="http://schemas.openxmlformats.org/drawingml/2006/main">
            <a:off x="4448175" y="3943350"/>
            <a:ext cx="7077075" cy="400050"/>
          </a:xfrm>
          <a:prstGeom xmlns:a="http://schemas.openxmlformats.org/drawingml/2006/main" prst="rect">
            <a:avLst/>
          </a:prstGeom>
        </p:spPr>
        <p:txBody>
          <a:bodyPr xmlns:a="http://schemas.openxmlformats.org/drawingml/2006/main" wrap="none" lIns="0" tIns="0" rIns="0" bIns="0">
            <a:normAutofit fontScale="297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多个类时只能有一个 public 类，且源文件名必须与其 完全相同。</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When there are multiple classes, there can only be one public class, and the source file name must be exactly the same.</a:t>
            </a:r>
          </a:p>
        </p:txBody>
      </p:sp>
      <p:sp>
        <p:nvSpPr>
          <p:cNvPr id="178" name="圆角矩形 177">
            <a:extLst xmlns:a="http://schemas.openxmlformats.org/drawingml/2006/main">
              <a:ext uri="{FF2B5EF4-FFF2-40B4-BE49-F238E27FC236}">
                <a16:creationId xmlns:a16="http://schemas.microsoft.com/office/drawing/2014/main" id="{34FA519E-BFD1-4750-82A4-3D5C77F1E7EC}"/>
              </a:ext>
            </a:extLst>
          </p:cNvPr>
          <p:cNvSpPr>
            <a:spLocks xmlns:a="http://schemas.openxmlformats.org/drawingml/2006/main" noGrp="1"/>
          </p:cNvSpPr>
          <p:nvPr/>
        </p:nvSpPr>
        <p:spPr>
          <a:xfrm xmlns:a="http://schemas.openxmlformats.org/drawingml/2006/main">
            <a:off x="4181475" y="4705350"/>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79" name="矩形 178">
            <a:extLst xmlns:a="http://schemas.openxmlformats.org/drawingml/2006/main">
              <a:ext uri="{FF2B5EF4-FFF2-40B4-BE49-F238E27FC236}">
                <a16:creationId xmlns:a16="http://schemas.microsoft.com/office/drawing/2014/main" id="{DF015120-19C5-4B36-A4A0-EEF492B800BE}"/>
              </a:ext>
            </a:extLst>
          </p:cNvPr>
          <p:cNvSpPr>
            <a:spLocks xmlns:a="http://schemas.openxmlformats.org/drawingml/2006/main" noGrp="1"/>
          </p:cNvSpPr>
          <p:nvPr/>
        </p:nvSpPr>
        <p:spPr>
          <a:xfrm xmlns:a="http://schemas.openxmlformats.org/drawingml/2006/main">
            <a:off x="4314825" y="4838700"/>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例子 1 必须保存为 Hello.java，放到 C:\chapter1。</a:t>
            </a:r>
          </a:p>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Example 1 must be saved as Hello.java and placed in C:\chapter1.</a:t>
            </a:r>
          </a:p>
        </p:txBody>
      </p:sp>
      <p:sp>
        <p:nvSpPr>
          <p:cNvPr id="180" name="矩形 179">
            <a:extLst xmlns:a="http://schemas.openxmlformats.org/drawingml/2006/main">
              <a:ext uri="{FF2B5EF4-FFF2-40B4-BE49-F238E27FC236}">
                <a16:creationId xmlns:a16="http://schemas.microsoft.com/office/drawing/2014/main" id="{BF3FFC2C-2DE9-4745-9FB0-4E1E029E4C7D}"/>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19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08255129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3" name="矩形 212">
            <a:extLst xmlns:a="http://schemas.openxmlformats.org/drawingml/2006/main">
              <a:ext uri="{FF2B5EF4-FFF2-40B4-BE49-F238E27FC236}">
                <a16:creationId xmlns:a16="http://schemas.microsoft.com/office/drawing/2014/main" id="{A9BCCFA6-C978-4B79-828F-557158805E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14" name="矩形 213">
            <a:extLst xmlns:a="http://schemas.openxmlformats.org/drawingml/2006/main">
              <a:ext uri="{FF2B5EF4-FFF2-40B4-BE49-F238E27FC236}">
                <a16:creationId xmlns:a16="http://schemas.microsoft.com/office/drawing/2014/main" id="{CAA9A0DD-28E5-4E39-95A8-770B7F9A84A9}"/>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15" name="矩形 214">
            <a:extLst xmlns:a="http://schemas.openxmlformats.org/drawingml/2006/main">
              <a:ext uri="{FF2B5EF4-FFF2-40B4-BE49-F238E27FC236}">
                <a16:creationId xmlns:a16="http://schemas.microsoft.com/office/drawing/2014/main" id="{3DB06B58-45D8-4C39-9AE6-8B9583F88533}"/>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16" name="圆角矩形 215">
            <a:extLst xmlns:a="http://schemas.openxmlformats.org/drawingml/2006/main">
              <a:ext uri="{FF2B5EF4-FFF2-40B4-BE49-F238E27FC236}">
                <a16:creationId xmlns:a16="http://schemas.microsoft.com/office/drawing/2014/main" id="{D8381C66-3F75-4DF7-95C1-953F7BCD8033}"/>
              </a:ext>
            </a:extLst>
          </p:cNvPr>
          <p:cNvSpPr>
            <a:spLocks xmlns:a="http://schemas.openxmlformats.org/drawingml/2006/main" noGrp="1"/>
          </p:cNvSpPr>
          <p:nvPr/>
        </p:nvSpPr>
        <p:spPr>
          <a:xfrm xmlns:a="http://schemas.openxmlformats.org/drawingml/2006/main">
            <a:off x="457200" y="2647950"/>
            <a:ext cx="5867400" cy="20574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229" name="图片 228"/>
          <p:cNvPicPr>
            <a:picLocks xmlns:a="http://schemas.openxmlformats.org/drawingml/2006/main" noChangeAspect="1"/>
          </p:cNvPicPr>
          <p:nvPr/>
        </p:nvPicPr>
        <p:blipFill>
          <a:blip xmlns:r="http://schemas.openxmlformats.org/officeDocument/2006/relationships" xmlns:a="http://schemas.openxmlformats.org/drawingml/2006/main" r:embed="R191e588035c74b6c"/>
          <a:srcRect xmlns:a="http://schemas.openxmlformats.org/drawingml/2006/main" l="78" t="0" r="78" b="0"/>
          <a:stretch xmlns:a="http://schemas.openxmlformats.org/drawingml/2006/main">
            <a:fillRect l="0" t="0" r="0" b="0"/>
          </a:stretch>
        </p:blipFill>
        <p:spPr>
          <a:xfrm xmlns:a="http://schemas.openxmlformats.org/drawingml/2006/main">
            <a:off x="647700" y="2838450"/>
            <a:ext cx="5334000" cy="1676400"/>
          </a:xfrm>
          <a:prstGeom xmlns:a="http://schemas.openxmlformats.org/drawingml/2006/main" prst="rect">
            <a:avLst/>
          </a:prstGeom>
        </p:spPr>
      </p:pic>
      <p:sp>
        <p:nvSpPr>
          <p:cNvPr id="218" name="矩形 217">
            <a:extLst xmlns:a="http://schemas.openxmlformats.org/drawingml/2006/main">
              <a:ext uri="{FF2B5EF4-FFF2-40B4-BE49-F238E27FC236}">
                <a16:creationId xmlns:a16="http://schemas.microsoft.com/office/drawing/2014/main" id="{69087493-A515-4139-862B-421D458745B3}"/>
              </a:ext>
            </a:extLst>
          </p:cNvPr>
          <p:cNvSpPr>
            <a:spLocks xmlns:a="http://schemas.openxmlformats.org/drawingml/2006/main" noGrp="1"/>
          </p:cNvSpPr>
          <p:nvPr/>
        </p:nvSpPr>
        <p:spPr>
          <a:xfrm xmlns:a="http://schemas.openxmlformats.org/drawingml/2006/main">
            <a:off x="6705600" y="1752600"/>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§1.5.1 编码</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§1.5.1 Encoding</a:t>
            </a:r>
          </a:p>
        </p:txBody>
      </p:sp>
      <p:sp>
        <p:nvSpPr>
          <p:cNvPr id="219" name="矩形 218">
            <a:extLst xmlns:a="http://schemas.openxmlformats.org/drawingml/2006/main">
              <a:ext uri="{FF2B5EF4-FFF2-40B4-BE49-F238E27FC236}">
                <a16:creationId xmlns:a16="http://schemas.microsoft.com/office/drawing/2014/main" id="{7489793C-5C1B-4DAD-92C1-AEA0DBE73C9D}"/>
              </a:ext>
            </a:extLst>
          </p:cNvPr>
          <p:cNvSpPr>
            <a:spLocks xmlns:a="http://schemas.openxmlformats.org/drawingml/2006/main" noGrp="1"/>
          </p:cNvSpPr>
          <p:nvPr/>
        </p:nvSpPr>
        <p:spPr>
          <a:xfrm xmlns:a="http://schemas.openxmlformats.org/drawingml/2006/main">
            <a:off x="6705600" y="2076450"/>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保存源文件</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的编码</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Save source file</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encoding</a:t>
            </a:r>
          </a:p>
        </p:txBody>
      </p:sp>
      <p:sp>
        <p:nvSpPr>
          <p:cNvPr id="220" name="矩形 219">
            <a:extLst xmlns:a="http://schemas.openxmlformats.org/drawingml/2006/main">
              <a:ext uri="{FF2B5EF4-FFF2-40B4-BE49-F238E27FC236}">
                <a16:creationId xmlns:a16="http://schemas.microsoft.com/office/drawing/2014/main" id="{1A72EA25-7402-43BB-83B5-3A9F8529604B}"/>
              </a:ext>
            </a:extLst>
          </p:cNvPr>
          <p:cNvSpPr>
            <a:spLocks xmlns:a="http://schemas.openxmlformats.org/drawingml/2006/main" noGrp="1"/>
          </p:cNvSpPr>
          <p:nvPr/>
        </p:nvSpPr>
        <p:spPr>
          <a:xfrm xmlns:a="http://schemas.openxmlformats.org/drawingml/2006/main">
            <a:off x="6705600" y="33528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21" name="圆角矩形 220">
            <a:extLst xmlns:a="http://schemas.openxmlformats.org/drawingml/2006/main">
              <a:ext uri="{FF2B5EF4-FFF2-40B4-BE49-F238E27FC236}">
                <a16:creationId xmlns:a16="http://schemas.microsoft.com/office/drawing/2014/main" id="{8C920EDD-24FE-4A43-9BA5-6B618F36505C}"/>
              </a:ext>
            </a:extLst>
          </p:cNvPr>
          <p:cNvSpPr>
            <a:spLocks xmlns:a="http://schemas.openxmlformats.org/drawingml/2006/main" noGrp="1"/>
          </p:cNvSpPr>
          <p:nvPr/>
        </p:nvSpPr>
        <p:spPr>
          <a:xfrm xmlns:a="http://schemas.openxmlformats.org/drawingml/2006/main">
            <a:off x="6705600" y="3609975"/>
            <a:ext cx="5029200" cy="2819400"/>
          </a:xfrm>
          <a:prstGeom xmlns:a="http://schemas.openxmlformats.org/drawingml/2006/main" prst="roundRect">
            <a:avLst>
              <a:gd name="adj" fmla="val 337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22" name="矩形 221">
            <a:extLst xmlns:a="http://schemas.openxmlformats.org/drawingml/2006/main">
              <a:ext uri="{FF2B5EF4-FFF2-40B4-BE49-F238E27FC236}">
                <a16:creationId xmlns:a16="http://schemas.microsoft.com/office/drawing/2014/main" id="{B29C87D8-0C87-4101-A7BD-EA5C44C4AE3C}"/>
              </a:ext>
            </a:extLst>
          </p:cNvPr>
          <p:cNvSpPr>
            <a:spLocks xmlns:a="http://schemas.openxmlformats.org/drawingml/2006/main" noGrp="1"/>
          </p:cNvSpPr>
          <p:nvPr/>
        </p:nvSpPr>
        <p:spPr>
          <a:xfrm xmlns:a="http://schemas.openxmlformats.org/drawingml/2006/main">
            <a:off x="6877050" y="3781425"/>
            <a:ext cx="4686300" cy="2476500"/>
          </a:xfrm>
          <a:prstGeom xmlns:a="http://schemas.openxmlformats.org/drawingml/2006/main" prst="rect">
            <a:avLst/>
          </a:prstGeom>
        </p:spPr>
        <p:txBody>
          <a:bodyPr xmlns:a="http://schemas.openxmlformats.org/drawingml/2006/main" wrap="square" lIns="0" tIns="0" rIns="0" bIns="0">
            <a:normAutofit fontScale="4116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保存类型选“所有文件”</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编码优先选择 UTF-8（JDK 18 起 javac 默认编码为 UTF-8）</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不要选择“带有 BOM 的 UTF-8”</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若保存为 ANSI/GBK，编译时必须显式指定  -encoding GBK </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·Select "All files" as the save type</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UTF-8 is preferred for encoding (the default encoding of javac is UTF-8 starting from JDK 18)</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Do not select "UTF-8 with BOM"</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If saved as ANSI/GBK, -encoding GBK must be explicitly specified when compiling</a:t>
            </a:r>
          </a:p>
        </p:txBody>
      </p:sp>
      <p:sp>
        <p:nvSpPr>
          <p:cNvPr id="223" name="矩形 222">
            <a:extLst xmlns:a="http://schemas.openxmlformats.org/drawingml/2006/main">
              <a:ext uri="{FF2B5EF4-FFF2-40B4-BE49-F238E27FC236}">
                <a16:creationId xmlns:a16="http://schemas.microsoft.com/office/drawing/2014/main" id="{58C069FA-D0E7-437F-A1F3-608BF3C0838D}"/>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20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03158612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25" name="矩形 224">
            <a:extLst xmlns:a="http://schemas.openxmlformats.org/drawingml/2006/main">
              <a:ext uri="{FF2B5EF4-FFF2-40B4-BE49-F238E27FC236}">
                <a16:creationId xmlns:a16="http://schemas.microsoft.com/office/drawing/2014/main" id="{4640F1BF-2329-4CBC-B45D-81DAF11488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26" name="矩形 225">
            <a:extLst xmlns:a="http://schemas.openxmlformats.org/drawingml/2006/main">
              <a:ext uri="{FF2B5EF4-FFF2-40B4-BE49-F238E27FC236}">
                <a16:creationId xmlns:a16="http://schemas.microsoft.com/office/drawing/2014/main" id="{913C5428-B6F6-428A-9DEC-54E266C19A26}"/>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27" name="矩形 226">
            <a:extLst xmlns:a="http://schemas.openxmlformats.org/drawingml/2006/main">
              <a:ext uri="{FF2B5EF4-FFF2-40B4-BE49-F238E27FC236}">
                <a16:creationId xmlns:a16="http://schemas.microsoft.com/office/drawing/2014/main" id="{6A0B9A3F-0447-43B4-B27E-C314B9DDB85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28" name="圆角矩形 227">
            <a:extLst xmlns:a="http://schemas.openxmlformats.org/drawingml/2006/main">
              <a:ext uri="{FF2B5EF4-FFF2-40B4-BE49-F238E27FC236}">
                <a16:creationId xmlns:a16="http://schemas.microsoft.com/office/drawing/2014/main" id="{5B75B4E1-794C-4742-B9AC-FE2D9B556306}"/>
              </a:ext>
            </a:extLst>
          </p:cNvPr>
          <p:cNvSpPr>
            <a:spLocks xmlns:a="http://schemas.openxmlformats.org/drawingml/2006/main" noGrp="1"/>
          </p:cNvSpPr>
          <p:nvPr/>
        </p:nvSpPr>
        <p:spPr>
          <a:xfrm xmlns:a="http://schemas.openxmlformats.org/drawingml/2006/main">
            <a:off x="457200" y="3028950"/>
            <a:ext cx="586740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244" name="图片 243"/>
          <p:cNvPicPr>
            <a:picLocks xmlns:a="http://schemas.openxmlformats.org/drawingml/2006/main" noChangeAspect="1"/>
          </p:cNvPicPr>
          <p:nvPr/>
        </p:nvPicPr>
        <p:blipFill>
          <a:blip xmlns:r="http://schemas.openxmlformats.org/officeDocument/2006/relationships" xmlns:a="http://schemas.openxmlformats.org/drawingml/2006/main" r:embed="R2c3749ab17a641be"/>
          <a:srcRect xmlns:a="http://schemas.openxmlformats.org/drawingml/2006/main" l="131" t="0" r="131" b="0"/>
          <a:stretch xmlns:a="http://schemas.openxmlformats.org/drawingml/2006/main">
            <a:fillRect l="0" t="0" r="0" b="0"/>
          </a:stretch>
        </p:blipFill>
        <p:spPr>
          <a:xfrm xmlns:a="http://schemas.openxmlformats.org/drawingml/2006/main">
            <a:off x="685800" y="3257550"/>
            <a:ext cx="3238500" cy="828675"/>
          </a:xfrm>
          <a:prstGeom xmlns:a="http://schemas.openxmlformats.org/drawingml/2006/main" prst="rect">
            <a:avLst/>
          </a:prstGeom>
        </p:spPr>
      </p:pic>
      <p:sp>
        <p:nvSpPr>
          <p:cNvPr id="230" name="矩形 229">
            <a:extLst xmlns:a="http://schemas.openxmlformats.org/drawingml/2006/main">
              <a:ext uri="{FF2B5EF4-FFF2-40B4-BE49-F238E27FC236}">
                <a16:creationId xmlns:a16="http://schemas.microsoft.com/office/drawing/2014/main" id="{3DD02E44-C363-4221-9EF5-34B1CC73BEE0}"/>
              </a:ext>
            </a:extLst>
          </p:cNvPr>
          <p:cNvSpPr>
            <a:spLocks xmlns:a="http://schemas.openxmlformats.org/drawingml/2006/main" noGrp="1"/>
          </p:cNvSpPr>
          <p:nvPr/>
        </p:nvSpPr>
        <p:spPr>
          <a:xfrm xmlns:a="http://schemas.openxmlformats.org/drawingml/2006/main">
            <a:off x="6705600" y="1733550"/>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§1.5.2 编译</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§1.5.2 Compilation</a:t>
            </a:r>
          </a:p>
        </p:txBody>
      </p:sp>
      <p:sp>
        <p:nvSpPr>
          <p:cNvPr id="231" name="矩形 230">
            <a:extLst xmlns:a="http://schemas.openxmlformats.org/drawingml/2006/main">
              <a:ext uri="{FF2B5EF4-FFF2-40B4-BE49-F238E27FC236}">
                <a16:creationId xmlns:a16="http://schemas.microsoft.com/office/drawing/2014/main" id="{63616CF4-8351-4BAA-8AD3-D3C7329F7AAE}"/>
              </a:ext>
            </a:extLst>
          </p:cNvPr>
          <p:cNvSpPr>
            <a:spLocks xmlns:a="http://schemas.openxmlformats.org/drawingml/2006/main" noGrp="1"/>
          </p:cNvSpPr>
          <p:nvPr/>
        </p:nvSpPr>
        <p:spPr>
          <a:xfrm xmlns:a="http://schemas.openxmlformats.org/drawingml/2006/main">
            <a:off x="6705600" y="2057400"/>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编译 Java</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源程序</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Compile Java</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Source program</a:t>
            </a:r>
          </a:p>
        </p:txBody>
      </p:sp>
      <p:sp>
        <p:nvSpPr>
          <p:cNvPr id="232" name="矩形 231">
            <a:extLst xmlns:a="http://schemas.openxmlformats.org/drawingml/2006/main">
              <a:ext uri="{FF2B5EF4-FFF2-40B4-BE49-F238E27FC236}">
                <a16:creationId xmlns:a16="http://schemas.microsoft.com/office/drawing/2014/main" id="{4620E306-3891-4324-8EF1-E86121A8BF51}"/>
              </a:ext>
            </a:extLst>
          </p:cNvPr>
          <p:cNvSpPr>
            <a:spLocks xmlns:a="http://schemas.openxmlformats.org/drawingml/2006/main" noGrp="1"/>
          </p:cNvSpPr>
          <p:nvPr/>
        </p:nvSpPr>
        <p:spPr>
          <a:xfrm xmlns:a="http://schemas.openxmlformats.org/drawingml/2006/main">
            <a:off x="6705600" y="33337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33" name="矩形 232">
            <a:extLst xmlns:a="http://schemas.openxmlformats.org/drawingml/2006/main">
              <a:ext uri="{FF2B5EF4-FFF2-40B4-BE49-F238E27FC236}">
                <a16:creationId xmlns:a16="http://schemas.microsoft.com/office/drawing/2014/main" id="{9DA3F31C-E720-48A3-886F-D08FB9CDA369}"/>
              </a:ext>
            </a:extLst>
          </p:cNvPr>
          <p:cNvSpPr>
            <a:spLocks xmlns:a="http://schemas.openxmlformats.org/drawingml/2006/main" noGrp="1"/>
          </p:cNvSpPr>
          <p:nvPr/>
        </p:nvSpPr>
        <p:spPr>
          <a:xfrm xmlns:a="http://schemas.openxmlformats.org/drawingml/2006/main">
            <a:off x="6705600" y="3590925"/>
            <a:ext cx="5029200" cy="428625"/>
          </a:xfrm>
          <a:prstGeom xmlns:a="http://schemas.openxmlformats.org/drawingml/2006/main" prst="rect">
            <a:avLst/>
          </a:prstGeom>
        </p:spPr>
        <p:txBody>
          <a:bodyPr xmlns:a="http://schemas.openxmlformats.org/drawingml/2006/main" wrap="none" lIns="0" tIns="0" rIns="0" bIns="0">
            <a:normAutofit fontScale="4274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编译器是 javac.exe。</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compiler is javac.exe.</a:t>
            </a:r>
          </a:p>
        </p:txBody>
      </p:sp>
      <p:sp>
        <p:nvSpPr>
          <p:cNvPr id="234" name="矩形 233">
            <a:extLst xmlns:a="http://schemas.openxmlformats.org/drawingml/2006/main">
              <a:ext uri="{FF2B5EF4-FFF2-40B4-BE49-F238E27FC236}">
                <a16:creationId xmlns:a16="http://schemas.microsoft.com/office/drawing/2014/main" id="{593D5A3B-D868-44FE-B200-1B055635779B}"/>
              </a:ext>
            </a:extLst>
          </p:cNvPr>
          <p:cNvSpPr>
            <a:spLocks xmlns:a="http://schemas.openxmlformats.org/drawingml/2006/main" noGrp="1"/>
          </p:cNvSpPr>
          <p:nvPr/>
        </p:nvSpPr>
        <p:spPr>
          <a:xfrm xmlns:a="http://schemas.openxmlformats.org/drawingml/2006/main">
            <a:off x="6705600" y="4152900"/>
            <a:ext cx="5029200" cy="428625"/>
          </a:xfrm>
          <a:prstGeom xmlns:a="http://schemas.openxmlformats.org/drawingml/2006/main" prst="rect">
            <a:avLst/>
          </a:prstGeom>
        </p:spPr>
        <p:txBody>
          <a:bodyPr xmlns:a="http://schemas.openxmlformats.org/drawingml/2006/main" wrap="none" lIns="0" tIns="0" rIns="0" bIns="0">
            <a:normAutofit fontScale="2500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JDK 18 起默认编码为 UTF-8，UTF-8 源文件可直接编译：</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Starting from JDK 18, the default encoding is UTF-8, and UTF-8 source files can be compiled directly:</a:t>
            </a:r>
          </a:p>
        </p:txBody>
      </p:sp>
      <p:sp>
        <p:nvSpPr>
          <p:cNvPr id="235" name="圆角矩形 234">
            <a:extLst xmlns:a="http://schemas.openxmlformats.org/drawingml/2006/main">
              <a:ext uri="{FF2B5EF4-FFF2-40B4-BE49-F238E27FC236}">
                <a16:creationId xmlns:a16="http://schemas.microsoft.com/office/drawing/2014/main" id="{61B48E76-F879-41B9-B2EF-9DAD042E91B2}"/>
              </a:ext>
            </a:extLst>
          </p:cNvPr>
          <p:cNvSpPr>
            <a:spLocks xmlns:a="http://schemas.openxmlformats.org/drawingml/2006/main" noGrp="1"/>
          </p:cNvSpPr>
          <p:nvPr/>
        </p:nvSpPr>
        <p:spPr>
          <a:xfrm xmlns:a="http://schemas.openxmlformats.org/drawingml/2006/main">
            <a:off x="6705600" y="4714875"/>
            <a:ext cx="5029200" cy="514350"/>
          </a:xfrm>
          <a:prstGeom xmlns:a="http://schemas.openxmlformats.org/drawingml/2006/main" prst="roundRect">
            <a:avLst>
              <a:gd name="adj" fmla="val 14815"/>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36" name="矩形 235">
            <a:extLst xmlns:a="http://schemas.openxmlformats.org/drawingml/2006/main">
              <a:ext uri="{FF2B5EF4-FFF2-40B4-BE49-F238E27FC236}">
                <a16:creationId xmlns:a16="http://schemas.microsoft.com/office/drawing/2014/main" id="{27D784FC-0C04-47AF-9677-E619427075D8}"/>
              </a:ext>
            </a:extLst>
          </p:cNvPr>
          <p:cNvSpPr>
            <a:spLocks xmlns:a="http://schemas.openxmlformats.org/drawingml/2006/main" noGrp="1"/>
          </p:cNvSpPr>
          <p:nvPr/>
        </p:nvSpPr>
        <p:spPr>
          <a:xfrm xmlns:a="http://schemas.openxmlformats.org/drawingml/2006/main">
            <a:off x="6858000" y="4867275"/>
            <a:ext cx="47244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C:\chapter1&gt; javac Hello.java</a:t>
            </a:r>
            <a:endParaRPr sz="1350" b="1">
              <a:solidFill>
                <a:srgbClr val="0E3F8C"/>
              </a:solidFill>
              <a:latin typeface="Consolas"/>
              <a:ea typeface="Consolas"/>
              <a:cs typeface="Consolas"/>
            </a:endParaRPr>
          </a:p>
        </p:txBody>
      </p:sp>
      <p:sp>
        <p:nvSpPr>
          <p:cNvPr id="237" name="矩形 236">
            <a:extLst xmlns:a="http://schemas.openxmlformats.org/drawingml/2006/main">
              <a:ext uri="{FF2B5EF4-FFF2-40B4-BE49-F238E27FC236}">
                <a16:creationId xmlns:a16="http://schemas.microsoft.com/office/drawing/2014/main" id="{776C44BA-DE1C-404C-B4A2-294F48A6B126}"/>
              </a:ext>
            </a:extLst>
          </p:cNvPr>
          <p:cNvSpPr>
            <a:spLocks xmlns:a="http://schemas.openxmlformats.org/drawingml/2006/main" noGrp="1"/>
          </p:cNvSpPr>
          <p:nvPr/>
        </p:nvSpPr>
        <p:spPr>
          <a:xfrm xmlns:a="http://schemas.openxmlformats.org/drawingml/2006/main">
            <a:off x="6705600" y="5419725"/>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无报错即编译成功，会生成 Hello.class 字节码文件。</a:t>
            </a:r>
          </a:p>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If no error is reported, the compilation is successful and the Hello.class bytecode file will be generated.</a:t>
            </a:r>
          </a:p>
        </p:txBody>
      </p:sp>
      <p:sp>
        <p:nvSpPr>
          <p:cNvPr id="238" name="矩形 237">
            <a:extLst xmlns:a="http://schemas.openxmlformats.org/drawingml/2006/main">
              <a:ext uri="{FF2B5EF4-FFF2-40B4-BE49-F238E27FC236}">
                <a16:creationId xmlns:a16="http://schemas.microsoft.com/office/drawing/2014/main" id="{A3EF09B7-3036-40F7-B3C7-1537A2CA3296}"/>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21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5458352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40" name="矩形 239">
            <a:extLst xmlns:a="http://schemas.openxmlformats.org/drawingml/2006/main">
              <a:ext uri="{FF2B5EF4-FFF2-40B4-BE49-F238E27FC236}">
                <a16:creationId xmlns:a16="http://schemas.microsoft.com/office/drawing/2014/main" id="{E4AA0776-B2E1-4B7B-9524-19D35C4E1B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41" name="矩形 240">
            <a:extLst xmlns:a="http://schemas.openxmlformats.org/drawingml/2006/main">
              <a:ext uri="{FF2B5EF4-FFF2-40B4-BE49-F238E27FC236}">
                <a16:creationId xmlns:a16="http://schemas.microsoft.com/office/drawing/2014/main" id="{BDD9B9DD-D2EB-4D5B-8447-9EA7D92D690A}"/>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42" name="矩形 241">
            <a:extLst xmlns:a="http://schemas.openxmlformats.org/drawingml/2006/main">
              <a:ext uri="{FF2B5EF4-FFF2-40B4-BE49-F238E27FC236}">
                <a16:creationId xmlns:a16="http://schemas.microsoft.com/office/drawing/2014/main" id="{6E50E9DE-9C8A-4F9E-83B6-AA708967FFA8}"/>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43" name="圆角矩形 242">
            <a:extLst xmlns:a="http://schemas.openxmlformats.org/drawingml/2006/main">
              <a:ext uri="{FF2B5EF4-FFF2-40B4-BE49-F238E27FC236}">
                <a16:creationId xmlns:a16="http://schemas.microsoft.com/office/drawing/2014/main" id="{6D7DA703-A219-457D-9FD0-683065DA8A6A}"/>
              </a:ext>
            </a:extLst>
          </p:cNvPr>
          <p:cNvSpPr>
            <a:spLocks xmlns:a="http://schemas.openxmlformats.org/drawingml/2006/main" noGrp="1"/>
          </p:cNvSpPr>
          <p:nvPr/>
        </p:nvSpPr>
        <p:spPr>
          <a:xfrm xmlns:a="http://schemas.openxmlformats.org/drawingml/2006/main">
            <a:off x="457200" y="3057525"/>
            <a:ext cx="5867400" cy="1228725"/>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258" name="图片 257"/>
          <p:cNvPicPr>
            <a:picLocks xmlns:a="http://schemas.openxmlformats.org/drawingml/2006/main" noChangeAspect="1"/>
          </p:cNvPicPr>
          <p:nvPr/>
        </p:nvPicPr>
        <p:blipFill>
          <a:blip xmlns:r="http://schemas.openxmlformats.org/officeDocument/2006/relationships" xmlns:a="http://schemas.openxmlformats.org/drawingml/2006/main" r:embed="R0c46315b96164d9e"/>
          <a:srcRect xmlns:a="http://schemas.openxmlformats.org/drawingml/2006/main" l="145" t="0" r="145" b="0"/>
          <a:stretch xmlns:a="http://schemas.openxmlformats.org/drawingml/2006/main">
            <a:fillRect l="0" t="0" r="0" b="0"/>
          </a:stretch>
        </p:blipFill>
        <p:spPr>
          <a:xfrm xmlns:a="http://schemas.openxmlformats.org/drawingml/2006/main">
            <a:off x="685800" y="3286125"/>
            <a:ext cx="4572000" cy="771525"/>
          </a:xfrm>
          <a:prstGeom xmlns:a="http://schemas.openxmlformats.org/drawingml/2006/main" prst="rect">
            <a:avLst/>
          </a:prstGeom>
        </p:spPr>
      </p:pic>
      <p:sp>
        <p:nvSpPr>
          <p:cNvPr id="245" name="矩形 244">
            <a:extLst xmlns:a="http://schemas.openxmlformats.org/drawingml/2006/main">
              <a:ext uri="{FF2B5EF4-FFF2-40B4-BE49-F238E27FC236}">
                <a16:creationId xmlns:a16="http://schemas.microsoft.com/office/drawing/2014/main" id="{5932C970-B569-4187-B686-72DFD51243FE}"/>
              </a:ext>
            </a:extLst>
          </p:cNvPr>
          <p:cNvSpPr>
            <a:spLocks xmlns:a="http://schemas.openxmlformats.org/drawingml/2006/main" noGrp="1"/>
          </p:cNvSpPr>
          <p:nvPr/>
        </p:nvSpPr>
        <p:spPr>
          <a:xfrm xmlns:a="http://schemas.openxmlformats.org/drawingml/2006/main">
            <a:off x="6705600" y="2066925"/>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§1.5.2 编译</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§1.5.2 Compilation</a:t>
            </a:r>
          </a:p>
        </p:txBody>
      </p:sp>
      <p:sp>
        <p:nvSpPr>
          <p:cNvPr id="246" name="矩形 245">
            <a:extLst xmlns:a="http://schemas.openxmlformats.org/drawingml/2006/main">
              <a:ext uri="{FF2B5EF4-FFF2-40B4-BE49-F238E27FC236}">
                <a16:creationId xmlns:a16="http://schemas.microsoft.com/office/drawing/2014/main" id="{FC2BA1D2-D174-4E59-B432-4F412A6CF3DB}"/>
              </a:ext>
            </a:extLst>
          </p:cNvPr>
          <p:cNvSpPr>
            <a:spLocks xmlns:a="http://schemas.openxmlformats.org/drawingml/2006/main" noGrp="1"/>
          </p:cNvSpPr>
          <p:nvPr/>
        </p:nvSpPr>
        <p:spPr>
          <a:xfrm xmlns:a="http://schemas.openxmlformats.org/drawingml/2006/main">
            <a:off x="6705600" y="2390775"/>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显式使用</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-encoding</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Explicit use</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-encoding</a:t>
            </a:r>
          </a:p>
        </p:txBody>
      </p:sp>
      <p:sp>
        <p:nvSpPr>
          <p:cNvPr id="247" name="矩形 246">
            <a:extLst xmlns:a="http://schemas.openxmlformats.org/drawingml/2006/main">
              <a:ext uri="{FF2B5EF4-FFF2-40B4-BE49-F238E27FC236}">
                <a16:creationId xmlns:a16="http://schemas.microsoft.com/office/drawing/2014/main" id="{D9852696-E7F0-4C09-A8DE-FEC77D0AC896}"/>
              </a:ext>
            </a:extLst>
          </p:cNvPr>
          <p:cNvSpPr>
            <a:spLocks xmlns:a="http://schemas.openxmlformats.org/drawingml/2006/main" noGrp="1"/>
          </p:cNvSpPr>
          <p:nvPr/>
        </p:nvSpPr>
        <p:spPr>
          <a:xfrm xmlns:a="http://schemas.openxmlformats.org/drawingml/2006/main">
            <a:off x="6705600" y="3667125"/>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48" name="矩形 247">
            <a:extLst xmlns:a="http://schemas.openxmlformats.org/drawingml/2006/main">
              <a:ext uri="{FF2B5EF4-FFF2-40B4-BE49-F238E27FC236}">
                <a16:creationId xmlns:a16="http://schemas.microsoft.com/office/drawing/2014/main" id="{513E8844-3201-4EEF-97BB-FBAE454D6A94}"/>
              </a:ext>
            </a:extLst>
          </p:cNvPr>
          <p:cNvSpPr>
            <a:spLocks xmlns:a="http://schemas.openxmlformats.org/drawingml/2006/main" noGrp="1"/>
          </p:cNvSpPr>
          <p:nvPr/>
        </p:nvSpPr>
        <p:spPr>
          <a:xfrm xmlns:a="http://schemas.openxmlformats.org/drawingml/2006/main">
            <a:off x="6705600" y="3924300"/>
            <a:ext cx="5029200" cy="847725"/>
          </a:xfrm>
          <a:prstGeom xmlns:a="http://schemas.openxmlformats.org/drawingml/2006/main" prst="rect">
            <a:avLst/>
          </a:prstGeom>
        </p:spPr>
        <p:txBody>
          <a:bodyPr xmlns:a="http://schemas.openxmlformats.org/drawingml/2006/main" wrap="square" lIns="0" tIns="0" rIns="0" bIns="0">
            <a:normAutofit fontScale="42268"/>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显式使用  -encoding  参数是好习惯，可以避免“不可映射字符”错误。</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It is good practice to use the -encoding parameter explicitly to avoid "unmappable character" errors.</a:t>
            </a:r>
          </a:p>
        </p:txBody>
      </p:sp>
      <p:sp>
        <p:nvSpPr>
          <p:cNvPr id="249" name="圆角矩形 248">
            <a:extLst xmlns:a="http://schemas.openxmlformats.org/drawingml/2006/main">
              <a:ext uri="{FF2B5EF4-FFF2-40B4-BE49-F238E27FC236}">
                <a16:creationId xmlns:a16="http://schemas.microsoft.com/office/drawing/2014/main" id="{C380B688-D651-4E97-92FB-3602EF5438AC}"/>
              </a:ext>
            </a:extLst>
          </p:cNvPr>
          <p:cNvSpPr>
            <a:spLocks xmlns:a="http://schemas.openxmlformats.org/drawingml/2006/main" noGrp="1"/>
          </p:cNvSpPr>
          <p:nvPr/>
        </p:nvSpPr>
        <p:spPr>
          <a:xfrm xmlns:a="http://schemas.openxmlformats.org/drawingml/2006/main">
            <a:off x="6705600" y="4905375"/>
            <a:ext cx="5029200" cy="800100"/>
          </a:xfrm>
          <a:prstGeom xmlns:a="http://schemas.openxmlformats.org/drawingml/2006/main" prst="roundRect">
            <a:avLst>
              <a:gd name="adj" fmla="val 9524"/>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50" name="矩形 249">
            <a:extLst xmlns:a="http://schemas.openxmlformats.org/drawingml/2006/main">
              <a:ext uri="{FF2B5EF4-FFF2-40B4-BE49-F238E27FC236}">
                <a16:creationId xmlns:a16="http://schemas.microsoft.com/office/drawing/2014/main" id="{F22EC6DF-F779-4602-92AF-B18E48DD0C75}"/>
              </a:ext>
            </a:extLst>
          </p:cNvPr>
          <p:cNvSpPr>
            <a:spLocks xmlns:a="http://schemas.openxmlformats.org/drawingml/2006/main" noGrp="1"/>
          </p:cNvSpPr>
          <p:nvPr/>
        </p:nvSpPr>
        <p:spPr>
          <a:xfrm xmlns:a="http://schemas.openxmlformats.org/drawingml/2006/main">
            <a:off x="6858000" y="5057775"/>
            <a:ext cx="47244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javac -encoding utf-8 Hello.java</a:t>
            </a:r>
            <a:endParaRPr sz="1350" b="1">
              <a:solidFill>
                <a:srgbClr val="0E3F8C"/>
              </a:solidFill>
              <a:latin typeface="Consolas"/>
              <a:ea typeface="Consolas"/>
              <a:cs typeface="Consolas"/>
            </a:endParaRPr>
          </a:p>
        </p:txBody>
      </p:sp>
      <p:sp>
        <p:nvSpPr>
          <p:cNvPr id="251" name="矩形 250">
            <a:extLst xmlns:a="http://schemas.openxmlformats.org/drawingml/2006/main">
              <a:ext uri="{FF2B5EF4-FFF2-40B4-BE49-F238E27FC236}">
                <a16:creationId xmlns:a16="http://schemas.microsoft.com/office/drawing/2014/main" id="{8A551E07-8631-4DD8-AE17-A2600E39F22A}"/>
              </a:ext>
            </a:extLst>
          </p:cNvPr>
          <p:cNvSpPr>
            <a:spLocks xmlns:a="http://schemas.openxmlformats.org/drawingml/2006/main" noGrp="1"/>
          </p:cNvSpPr>
          <p:nvPr/>
        </p:nvSpPr>
        <p:spPr>
          <a:xfrm xmlns:a="http://schemas.openxmlformats.org/drawingml/2006/main">
            <a:off x="6858000" y="5343525"/>
            <a:ext cx="47244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javac -encoding GBK Hello.java</a:t>
            </a:r>
            <a:endParaRPr sz="1350" b="1">
              <a:solidFill>
                <a:srgbClr val="0E3F8C"/>
              </a:solidFill>
              <a:latin typeface="Consolas"/>
              <a:ea typeface="Consolas"/>
              <a:cs typeface="Consolas"/>
            </a:endParaRPr>
          </a:p>
        </p:txBody>
      </p:sp>
      <p:sp>
        <p:nvSpPr>
          <p:cNvPr id="252" name="矩形 251">
            <a:extLst xmlns:a="http://schemas.openxmlformats.org/drawingml/2006/main">
              <a:ext uri="{FF2B5EF4-FFF2-40B4-BE49-F238E27FC236}">
                <a16:creationId xmlns:a16="http://schemas.microsoft.com/office/drawing/2014/main" id="{0C65389B-26EB-4199-A5D5-FA8589F75FD8}"/>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22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0014415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54" name="矩形 253">
            <a:extLst xmlns:a="http://schemas.openxmlformats.org/drawingml/2006/main">
              <a:ext uri="{FF2B5EF4-FFF2-40B4-BE49-F238E27FC236}">
                <a16:creationId xmlns:a16="http://schemas.microsoft.com/office/drawing/2014/main" id="{1D087B46-4FBF-45FB-85A8-0CD34C776D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55" name="矩形 254">
            <a:extLst xmlns:a="http://schemas.openxmlformats.org/drawingml/2006/main">
              <a:ext uri="{FF2B5EF4-FFF2-40B4-BE49-F238E27FC236}">
                <a16:creationId xmlns:a16="http://schemas.microsoft.com/office/drawing/2014/main" id="{4C543A90-5F61-4F72-8191-07D3773EA8C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56" name="矩形 255">
            <a:extLst xmlns:a="http://schemas.openxmlformats.org/drawingml/2006/main">
              <a:ext uri="{FF2B5EF4-FFF2-40B4-BE49-F238E27FC236}">
                <a16:creationId xmlns:a16="http://schemas.microsoft.com/office/drawing/2014/main" id="{6B55A485-7F6D-4AD8-833C-85F15E53357C}"/>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57" name="圆角矩形 256">
            <a:extLst xmlns:a="http://schemas.openxmlformats.org/drawingml/2006/main">
              <a:ext uri="{FF2B5EF4-FFF2-40B4-BE49-F238E27FC236}">
                <a16:creationId xmlns:a16="http://schemas.microsoft.com/office/drawing/2014/main" id="{A3E1CFCF-B972-4EDF-8995-695EFFD94AAF}"/>
              </a:ext>
            </a:extLst>
          </p:cNvPr>
          <p:cNvSpPr>
            <a:spLocks xmlns:a="http://schemas.openxmlformats.org/drawingml/2006/main" noGrp="1"/>
          </p:cNvSpPr>
          <p:nvPr/>
        </p:nvSpPr>
        <p:spPr>
          <a:xfrm xmlns:a="http://schemas.openxmlformats.org/drawingml/2006/main">
            <a:off x="457200" y="2886075"/>
            <a:ext cx="5867400"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152400" dist="38100" dir="5400000">
              <a:srgbClr val="0F1C2E">
                <a:alpha val="8000"/>
              </a:srgbClr>
            </a:outerShdw>
          </a:effectLst>
        </p:spPr>
        <p:txBody>
          <a:bodyPr xmlns:a="http://schemas.openxmlformats.org/drawingml/2006/main"/>
          <a:lstStyle xmlns:a="http://schemas.openxmlformats.org/drawingml/2006/main"/>
          <a:p xmlns:a="http://schemas.openxmlformats.org/drawingml/2006/main"/>
        </p:txBody>
      </p:sp>
      <p:pic>
        <p:nvPicPr>
          <p:cNvPr id="274" name="图片 273"/>
          <p:cNvPicPr>
            <a:picLocks xmlns:a="http://schemas.openxmlformats.org/drawingml/2006/main" noChangeAspect="1"/>
          </p:cNvPicPr>
          <p:nvPr/>
        </p:nvPicPr>
        <p:blipFill>
          <a:blip xmlns:r="http://schemas.openxmlformats.org/officeDocument/2006/relationships" xmlns:a="http://schemas.openxmlformats.org/drawingml/2006/main" r:embed="Rff8af3195f264894"/>
          <a:srcRect xmlns:a="http://schemas.openxmlformats.org/drawingml/2006/main" l="32" t="0" r="32" b="0"/>
          <a:stretch xmlns:a="http://schemas.openxmlformats.org/drawingml/2006/main">
            <a:fillRect l="0" t="0" r="0" b="0"/>
          </a:stretch>
        </p:blipFill>
        <p:spPr>
          <a:xfrm xmlns:a="http://schemas.openxmlformats.org/drawingml/2006/main">
            <a:off x="685800" y="3114675"/>
            <a:ext cx="3619500" cy="1114425"/>
          </a:xfrm>
          <a:prstGeom xmlns:a="http://schemas.openxmlformats.org/drawingml/2006/main" prst="rect">
            <a:avLst/>
          </a:prstGeom>
        </p:spPr>
      </p:pic>
      <p:sp>
        <p:nvSpPr>
          <p:cNvPr id="259" name="矩形 258">
            <a:extLst xmlns:a="http://schemas.openxmlformats.org/drawingml/2006/main">
              <a:ext uri="{FF2B5EF4-FFF2-40B4-BE49-F238E27FC236}">
                <a16:creationId xmlns:a16="http://schemas.microsoft.com/office/drawing/2014/main" id="{ED4FDBAF-E47C-4FFF-8901-C17796F5EC8C}"/>
              </a:ext>
            </a:extLst>
          </p:cNvPr>
          <p:cNvSpPr>
            <a:spLocks xmlns:a="http://schemas.openxmlformats.org/drawingml/2006/main" noGrp="1"/>
          </p:cNvSpPr>
          <p:nvPr/>
        </p:nvSpPr>
        <p:spPr>
          <a:xfrm xmlns:a="http://schemas.openxmlformats.org/drawingml/2006/main">
            <a:off x="6705600" y="1619250"/>
            <a:ext cx="50292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§1.5.3 运行</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§1.5.3 Operation</a:t>
            </a:r>
          </a:p>
        </p:txBody>
      </p:sp>
      <p:sp>
        <p:nvSpPr>
          <p:cNvPr id="260" name="矩形 259">
            <a:extLst xmlns:a="http://schemas.openxmlformats.org/drawingml/2006/main">
              <a:ext uri="{FF2B5EF4-FFF2-40B4-BE49-F238E27FC236}">
                <a16:creationId xmlns:a16="http://schemas.microsoft.com/office/drawing/2014/main" id="{F533CFD5-2DC9-4BB5-9A75-3CC0BB0158D9}"/>
              </a:ext>
            </a:extLst>
          </p:cNvPr>
          <p:cNvSpPr>
            <a:spLocks xmlns:a="http://schemas.openxmlformats.org/drawingml/2006/main" noGrp="1"/>
          </p:cNvSpPr>
          <p:nvPr/>
        </p:nvSpPr>
        <p:spPr>
          <a:xfrm xmlns:a="http://schemas.openxmlformats.org/drawingml/2006/main">
            <a:off x="6705600" y="1943100"/>
            <a:ext cx="5029200" cy="1047750"/>
          </a:xfrm>
          <a:prstGeom xmlns:a="http://schemas.openxmlformats.org/drawingml/2006/main" prst="rect">
            <a:avLst/>
          </a:prstGeom>
        </p:spPr>
        <p:txBody>
          <a:bodyPr xmlns:a="http://schemas.openxmlformats.org/drawingml/2006/main" wrap="none" lIns="0" tIns="0" rIns="0" bIns="0">
            <a:normAutofit fontScale="27500"/>
          </a:bodyPr>
          <a:lstStyle xmlns:a="http://schemas.openxmlformats.org/drawingml/2006/main"/>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运行 Java</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程序</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Run Java</a:t>
            </a:r>
          </a:p>
          <a:p xmlns:a="http://schemas.openxmlformats.org/drawingml/2006/main">
            <a:pPr marL="0">
              <a:lnSpc>
                <a:spcPct val="100000"/>
              </a:lnSpc>
              <a:spcBef>
                <a:spcPts val="0"/>
              </a:spcBef>
              <a:spcAft>
                <a:spcPts val="0"/>
              </a:spcAft>
              <a:buNone/>
            </a:pPr>
            <a:r>
              <a:rPr sz="6250" b="1">
                <a:solidFill>
                  <a:srgbClr val="0E3F8C"/>
                </a:solidFill>
                <a:latin typeface="微软雅黑"/>
                <a:ea typeface="微软雅黑"/>
                <a:cs typeface="微软雅黑"/>
              </a:rPr>
              <a:t>program</a:t>
            </a:r>
          </a:p>
        </p:txBody>
      </p:sp>
      <p:sp>
        <p:nvSpPr>
          <p:cNvPr id="261" name="矩形 260">
            <a:extLst xmlns:a="http://schemas.openxmlformats.org/drawingml/2006/main">
              <a:ext uri="{FF2B5EF4-FFF2-40B4-BE49-F238E27FC236}">
                <a16:creationId xmlns:a16="http://schemas.microsoft.com/office/drawing/2014/main" id="{D3877175-7A28-4A85-AB4A-ADAE3ECE9083}"/>
              </a:ext>
            </a:extLst>
          </p:cNvPr>
          <p:cNvSpPr>
            <a:spLocks xmlns:a="http://schemas.openxmlformats.org/drawingml/2006/main" noGrp="1"/>
          </p:cNvSpPr>
          <p:nvPr/>
        </p:nvSpPr>
        <p:spPr>
          <a:xfrm xmlns:a="http://schemas.openxmlformats.org/drawingml/2006/main">
            <a:off x="6705600" y="32194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62" name="矩形 261">
            <a:extLst xmlns:a="http://schemas.openxmlformats.org/drawingml/2006/main">
              <a:ext uri="{FF2B5EF4-FFF2-40B4-BE49-F238E27FC236}">
                <a16:creationId xmlns:a16="http://schemas.microsoft.com/office/drawing/2014/main" id="{48D74AF0-4857-44B0-8FCD-890E70638C57}"/>
              </a:ext>
            </a:extLst>
          </p:cNvPr>
          <p:cNvSpPr>
            <a:spLocks xmlns:a="http://schemas.openxmlformats.org/drawingml/2006/main" noGrp="1"/>
          </p:cNvSpPr>
          <p:nvPr/>
        </p:nvSpPr>
        <p:spPr>
          <a:xfrm xmlns:a="http://schemas.openxmlformats.org/drawingml/2006/main">
            <a:off x="6705600" y="3476625"/>
            <a:ext cx="5029200" cy="428625"/>
          </a:xfrm>
          <a:prstGeom xmlns:a="http://schemas.openxmlformats.org/drawingml/2006/main" prst="rect">
            <a:avLst/>
          </a:prstGeom>
        </p:spPr>
        <p:txBody>
          <a:bodyPr xmlns:a="http://schemas.openxmlformats.org/drawingml/2006/main" wrap="none" lIns="0" tIns="0" rIns="0" bIns="0">
            <a:normAutofit fontScale="3830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主类必须含 public static void main(String args[])。</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main class must contain public static void main(String args[]).</a:t>
            </a:r>
          </a:p>
        </p:txBody>
      </p:sp>
      <p:sp>
        <p:nvSpPr>
          <p:cNvPr id="263" name="矩形 262">
            <a:extLst xmlns:a="http://schemas.openxmlformats.org/drawingml/2006/main">
              <a:ext uri="{FF2B5EF4-FFF2-40B4-BE49-F238E27FC236}">
                <a16:creationId xmlns:a16="http://schemas.microsoft.com/office/drawing/2014/main" id="{8D3976D0-9C8D-45BD-A668-3164DCC6854D}"/>
              </a:ext>
            </a:extLst>
          </p:cNvPr>
          <p:cNvSpPr>
            <a:spLocks xmlns:a="http://schemas.openxmlformats.org/drawingml/2006/main" noGrp="1"/>
          </p:cNvSpPr>
          <p:nvPr/>
        </p:nvSpPr>
        <p:spPr>
          <a:xfrm xmlns:a="http://schemas.openxmlformats.org/drawingml/2006/main">
            <a:off x="6705600" y="4038600"/>
            <a:ext cx="5029200" cy="428625"/>
          </a:xfrm>
          <a:prstGeom xmlns:a="http://schemas.openxmlformats.org/drawingml/2006/main" prst="rect">
            <a:avLst/>
          </a:prstGeom>
        </p:spPr>
        <p:txBody>
          <a:bodyPr xmlns:a="http://schemas.openxmlformats.org/drawingml/2006/main" wrap="none" lIns="0" tIns="0" rIns="0" bIns="0">
            <a:normAutofit fontScale="4274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使用 java.exe 解释执行字节码：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Use java.exe to interpret and execute bytecode:</a:t>
            </a:r>
          </a:p>
        </p:txBody>
      </p:sp>
      <p:sp>
        <p:nvSpPr>
          <p:cNvPr id="264" name="圆角矩形 263">
            <a:extLst xmlns:a="http://schemas.openxmlformats.org/drawingml/2006/main">
              <a:ext uri="{FF2B5EF4-FFF2-40B4-BE49-F238E27FC236}">
                <a16:creationId xmlns:a16="http://schemas.microsoft.com/office/drawing/2014/main" id="{8B97FF3F-472C-481A-B384-2762145025E8}"/>
              </a:ext>
            </a:extLst>
          </p:cNvPr>
          <p:cNvSpPr>
            <a:spLocks xmlns:a="http://schemas.openxmlformats.org/drawingml/2006/main" noGrp="1"/>
          </p:cNvSpPr>
          <p:nvPr/>
        </p:nvSpPr>
        <p:spPr>
          <a:xfrm xmlns:a="http://schemas.openxmlformats.org/drawingml/2006/main">
            <a:off x="6705600" y="4600575"/>
            <a:ext cx="5029200" cy="514350"/>
          </a:xfrm>
          <a:prstGeom xmlns:a="http://schemas.openxmlformats.org/drawingml/2006/main" prst="roundRect">
            <a:avLst>
              <a:gd name="adj" fmla="val 14815"/>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65" name="矩形 264">
            <a:extLst xmlns:a="http://schemas.openxmlformats.org/drawingml/2006/main">
              <a:ext uri="{FF2B5EF4-FFF2-40B4-BE49-F238E27FC236}">
                <a16:creationId xmlns:a16="http://schemas.microsoft.com/office/drawing/2014/main" id="{C47B3DCA-8855-484C-A004-90FA88C4778F}"/>
              </a:ext>
            </a:extLst>
          </p:cNvPr>
          <p:cNvSpPr>
            <a:spLocks xmlns:a="http://schemas.openxmlformats.org/drawingml/2006/main" noGrp="1"/>
          </p:cNvSpPr>
          <p:nvPr/>
        </p:nvSpPr>
        <p:spPr>
          <a:xfrm xmlns:a="http://schemas.openxmlformats.org/drawingml/2006/main">
            <a:off x="6858000" y="4752975"/>
            <a:ext cx="47244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C:\chapter1&gt; java Hello</a:t>
            </a:r>
            <a:endParaRPr sz="1350" b="1">
              <a:solidFill>
                <a:srgbClr val="0E3F8C"/>
              </a:solidFill>
              <a:latin typeface="Consolas"/>
              <a:ea typeface="Consolas"/>
              <a:cs typeface="Consolas"/>
            </a:endParaRPr>
          </a:p>
        </p:txBody>
      </p:sp>
      <p:sp>
        <p:nvSpPr>
          <p:cNvPr id="266" name="圆角矩形 265">
            <a:extLst xmlns:a="http://schemas.openxmlformats.org/drawingml/2006/main">
              <a:ext uri="{FF2B5EF4-FFF2-40B4-BE49-F238E27FC236}">
                <a16:creationId xmlns:a16="http://schemas.microsoft.com/office/drawing/2014/main" id="{C958175C-A7A6-4FE5-A440-C7CDAAB66EEF}"/>
              </a:ext>
            </a:extLst>
          </p:cNvPr>
          <p:cNvSpPr>
            <a:spLocks xmlns:a="http://schemas.openxmlformats.org/drawingml/2006/main" noGrp="1"/>
          </p:cNvSpPr>
          <p:nvPr/>
        </p:nvSpPr>
        <p:spPr>
          <a:xfrm xmlns:a="http://schemas.openxmlformats.org/drawingml/2006/main">
            <a:off x="6705600" y="5305425"/>
            <a:ext cx="5029200" cy="419100"/>
          </a:xfrm>
          <a:prstGeom xmlns:a="http://schemas.openxmlformats.org/drawingml/2006/main" prst="roundRect">
            <a:avLst>
              <a:gd name="adj" fmla="val 18182"/>
            </a:avLst>
          </a:prstGeom>
          <a:solidFill xmlns:a="http://schemas.openxmlformats.org/drawingml/2006/main">
            <a:srgbClr val="FFF5F5"/>
          </a:solidFill>
        </p:spPr>
        <p:txBody>
          <a:bodyPr xmlns:a="http://schemas.openxmlformats.org/drawingml/2006/main"/>
          <a:lstStyle xmlns:a="http://schemas.openxmlformats.org/drawingml/2006/main"/>
          <a:p xmlns:a="http://schemas.openxmlformats.org/drawingml/2006/main"/>
        </p:txBody>
      </p:sp>
      <p:sp>
        <p:nvSpPr>
          <p:cNvPr id="267" name="矩形 266">
            <a:extLst xmlns:a="http://schemas.openxmlformats.org/drawingml/2006/main">
              <a:ext uri="{FF2B5EF4-FFF2-40B4-BE49-F238E27FC236}">
                <a16:creationId xmlns:a16="http://schemas.microsoft.com/office/drawing/2014/main" id="{4C63699C-B650-40DF-B147-5023C33315D1}"/>
              </a:ext>
            </a:extLst>
          </p:cNvPr>
          <p:cNvSpPr>
            <a:spLocks xmlns:a="http://schemas.openxmlformats.org/drawingml/2006/main" noGrp="1"/>
          </p:cNvSpPr>
          <p:nvPr/>
        </p:nvSpPr>
        <p:spPr>
          <a:xfrm xmlns:a="http://schemas.openxmlformats.org/drawingml/2006/main">
            <a:off x="6819900" y="5419725"/>
            <a:ext cx="4800600"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注意：运行的是类名 Hello，不是 Hello.class</a:t>
            </a:r>
          </a:p>
          <a:p xmlns:a="http://schemas.openxmlformats.org/drawingml/2006/main">
            <a:pPr marL="0">
              <a:lnSpc>
                <a:spcPct val="100000"/>
              </a:lnSpc>
              <a:spcBef>
                <a:spcPts val="0"/>
              </a:spcBef>
              <a:spcAft>
                <a:spcPts val="0"/>
              </a:spcAft>
              <a:buNone/>
            </a:pPr>
            <a:r>
              <a:rPr sz="2630" b="1">
                <a:solidFill>
                  <a:srgbClr val="D9534F"/>
                </a:solidFill>
                <a:latin typeface="微软雅黑"/>
                <a:ea typeface="微软雅黑"/>
                <a:cs typeface="微软雅黑"/>
              </a:rPr>
              <a:t>Note: The class name Hello is run, not Hello.class</a:t>
            </a:r>
          </a:p>
        </p:txBody>
      </p:sp>
      <p:sp>
        <p:nvSpPr>
          <p:cNvPr id="268" name="矩形 267">
            <a:extLst xmlns:a="http://schemas.openxmlformats.org/drawingml/2006/main">
              <a:ext uri="{FF2B5EF4-FFF2-40B4-BE49-F238E27FC236}">
                <a16:creationId xmlns:a16="http://schemas.microsoft.com/office/drawing/2014/main" id="{0C53A6B4-4DEE-4EE6-9526-D9573F027A76}"/>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23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84247348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70" name="矩形 269">
            <a:extLst xmlns:a="http://schemas.openxmlformats.org/drawingml/2006/main">
              <a:ext uri="{FF2B5EF4-FFF2-40B4-BE49-F238E27FC236}">
                <a16:creationId xmlns:a16="http://schemas.microsoft.com/office/drawing/2014/main" id="{E814D42B-A648-4378-AD22-AB0E25E242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71" name="矩形 270">
            <a:extLst xmlns:a="http://schemas.openxmlformats.org/drawingml/2006/main">
              <a:ext uri="{FF2B5EF4-FFF2-40B4-BE49-F238E27FC236}">
                <a16:creationId xmlns:a16="http://schemas.microsoft.com/office/drawing/2014/main" id="{AB022BBA-796A-4710-86AE-F942E9330FD6}"/>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72" name="矩形 271">
            <a:extLst xmlns:a="http://schemas.openxmlformats.org/drawingml/2006/main">
              <a:ext uri="{FF2B5EF4-FFF2-40B4-BE49-F238E27FC236}">
                <a16:creationId xmlns:a16="http://schemas.microsoft.com/office/drawing/2014/main" id="{FA2FA23A-3B28-4685-9A20-132F2199BC23}"/>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73" name="矩形 272">
            <a:extLst xmlns:a="http://schemas.openxmlformats.org/drawingml/2006/main">
              <a:ext uri="{FF2B5EF4-FFF2-40B4-BE49-F238E27FC236}">
                <a16:creationId xmlns:a16="http://schemas.microsoft.com/office/drawing/2014/main" id="{787F6D14-0810-49DB-B263-843ABB8E6BA1}"/>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§1.5.4</a:t>
            </a:r>
            <a:endParaRPr sz="1200" b="1" spc="300">
              <a:solidFill>
                <a:srgbClr val="1E4FA8"/>
              </a:solidFill>
              <a:latin typeface="微软雅黑"/>
              <a:ea typeface="微软雅黑"/>
              <a:cs typeface="微软雅黑"/>
            </a:endParaRPr>
          </a:p>
        </p:txBody>
      </p:sp>
      <p:sp>
        <p:nvSpPr>
          <p:cNvPr id="274" name="矩形 273">
            <a:extLst xmlns:a="http://schemas.openxmlformats.org/drawingml/2006/main">
              <a:ext uri="{FF2B5EF4-FFF2-40B4-BE49-F238E27FC236}">
                <a16:creationId xmlns:a16="http://schemas.microsoft.com/office/drawing/2014/main" id="{D30AFAB2-E27F-4D11-94EC-DA1625EB14FF}"/>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为什么使用</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IDE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Why use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IDE</a:t>
            </a:r>
          </a:p>
        </p:txBody>
      </p:sp>
      <p:sp>
        <p:nvSpPr>
          <p:cNvPr id="275" name="矩形 274">
            <a:extLst xmlns:a="http://schemas.openxmlformats.org/drawingml/2006/main">
              <a:ext uri="{FF2B5EF4-FFF2-40B4-BE49-F238E27FC236}">
                <a16:creationId xmlns:a16="http://schemas.microsoft.com/office/drawing/2014/main" id="{D27A6C90-424D-45CB-B2E3-340CD6E8789F}"/>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76" name="矩形 275">
            <a:extLst xmlns:a="http://schemas.openxmlformats.org/drawingml/2006/main">
              <a:ext uri="{FF2B5EF4-FFF2-40B4-BE49-F238E27FC236}">
                <a16:creationId xmlns:a16="http://schemas.microsoft.com/office/drawing/2014/main" id="{FFD3E27B-94CB-48D7-A0CF-B62A1490C401}"/>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26310"/>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命令行理解原理，IDE 提高效率</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Command line understanding principles, IDE improves efficiency</a:t>
            </a:r>
          </a:p>
        </p:txBody>
      </p:sp>
      <p:sp>
        <p:nvSpPr>
          <p:cNvPr id="277" name="圆角矩形 276">
            <a:extLst xmlns:a="http://schemas.openxmlformats.org/drawingml/2006/main">
              <a:ext uri="{FF2B5EF4-FFF2-40B4-BE49-F238E27FC236}">
                <a16:creationId xmlns:a16="http://schemas.microsoft.com/office/drawing/2014/main" id="{B0AC24D9-73EB-4F34-B283-FBB73C4B3A5B}"/>
              </a:ext>
            </a:extLst>
          </p:cNvPr>
          <p:cNvSpPr>
            <a:spLocks xmlns:a="http://schemas.openxmlformats.org/drawingml/2006/main" noGrp="1"/>
          </p:cNvSpPr>
          <p:nvPr/>
        </p:nvSpPr>
        <p:spPr>
          <a:xfrm xmlns:a="http://schemas.openxmlformats.org/drawingml/2006/main">
            <a:off x="4238625" y="1866900"/>
            <a:ext cx="7553325" cy="1562100"/>
          </a:xfrm>
          <a:prstGeom xmlns:a="http://schemas.openxmlformats.org/drawingml/2006/main" prst="roundRect">
            <a:avLst>
              <a:gd name="adj" fmla="val 6098"/>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78" name="任意多边形 277">
            <a:extLst xmlns:a="http://schemas.openxmlformats.org/drawingml/2006/main">
              <a:ext uri="{FF2B5EF4-FFF2-40B4-BE49-F238E27FC236}">
                <a16:creationId xmlns:a16="http://schemas.microsoft.com/office/drawing/2014/main" id="{01546D60-6492-4233-BA38-C7F16366EFE8}"/>
              </a:ext>
            </a:extLst>
          </p:cNvPr>
          <p:cNvSpPr>
            <a:spLocks xmlns:a="http://schemas.openxmlformats.org/drawingml/2006/main" noGrp="1"/>
          </p:cNvSpPr>
          <p:nvPr/>
        </p:nvSpPr>
        <p:spPr>
          <a:xfrm xmlns:a="http://schemas.openxmlformats.org/drawingml/2006/main">
            <a:off x="4238625" y="1866900"/>
            <a:ext cx="7553325" cy="1562100"/>
          </a:xfrm>
          <a:custGeom xmlns:a="http://schemas.openxmlformats.org/drawingml/2006/main">
            <a:pathLst>
              <a:path w="793" h="164">
                <a:moveTo>
                  <a:pt x="10" y="0"/>
                </a:moveTo>
                <a:cubicBezTo>
                  <a:pt x="8" y="0"/>
                  <a:pt x="6" y="2"/>
                  <a:pt x="6" y="4"/>
                </a:cubicBezTo>
                <a:lnTo>
                  <a:pt x="6" y="160"/>
                </a:lnTo>
                <a:cubicBezTo>
                  <a:pt x="6" y="162"/>
                  <a:pt x="8" y="164"/>
                  <a:pt x="10" y="164"/>
                </a:cubicBezTo>
                <a:cubicBezTo>
                  <a:pt x="4" y="164"/>
                  <a:pt x="0" y="159"/>
                  <a:pt x="0" y="154"/>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279" name="矩形 278">
            <a:extLst xmlns:a="http://schemas.openxmlformats.org/drawingml/2006/main">
              <a:ext uri="{FF2B5EF4-FFF2-40B4-BE49-F238E27FC236}">
                <a16:creationId xmlns:a16="http://schemas.microsoft.com/office/drawing/2014/main" id="{9C551990-5381-4A46-826C-C25643311490}"/>
              </a:ext>
            </a:extLst>
          </p:cNvPr>
          <p:cNvSpPr>
            <a:spLocks xmlns:a="http://schemas.openxmlformats.org/drawingml/2006/main" noGrp="1"/>
          </p:cNvSpPr>
          <p:nvPr/>
        </p:nvSpPr>
        <p:spPr>
          <a:xfrm xmlns:a="http://schemas.openxmlformats.org/drawingml/2006/main">
            <a:off x="4467225" y="2095500"/>
            <a:ext cx="70389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命令行方式</a:t>
            </a:r>
          </a:p>
          <a:p xmlns:a="http://schemas.openxmlformats.org/drawingml/2006/main">
            <a:pPr marL="0">
              <a:lnSpc>
                <a:spcPct val="100000"/>
              </a:lnSpc>
              <a:spcBef>
                <a:spcPts val="0"/>
              </a:spcBef>
              <a:spcAft>
                <a:spcPts val="0"/>
              </a:spcAft>
              <a:buNone/>
            </a:pPr>
            <a:r>
              <a:rPr sz="2960" b="1">
                <a:solidFill>
                  <a:srgbClr val="3D7BD9"/>
                </a:solidFill>
                <a:latin typeface="微软雅黑"/>
                <a:ea typeface="微软雅黑"/>
                <a:cs typeface="微软雅黑"/>
              </a:rPr>
              <a:t>Command line mode</a:t>
            </a:r>
          </a:p>
        </p:txBody>
      </p:sp>
      <p:sp>
        <p:nvSpPr>
          <p:cNvPr id="280" name="矩形 279">
            <a:extLst xmlns:a="http://schemas.openxmlformats.org/drawingml/2006/main">
              <a:ext uri="{FF2B5EF4-FFF2-40B4-BE49-F238E27FC236}">
                <a16:creationId xmlns:a16="http://schemas.microsoft.com/office/drawing/2014/main" id="{CD0E381D-CED6-4B3F-B647-D1AEB83D2810}"/>
              </a:ext>
            </a:extLst>
          </p:cNvPr>
          <p:cNvSpPr>
            <a:spLocks xmlns:a="http://schemas.openxmlformats.org/drawingml/2006/main" noGrp="1"/>
          </p:cNvSpPr>
          <p:nvPr/>
        </p:nvSpPr>
        <p:spPr>
          <a:xfrm xmlns:a="http://schemas.openxmlformats.org/drawingml/2006/main">
            <a:off x="4467225" y="2400300"/>
            <a:ext cx="7038975" cy="800100"/>
          </a:xfrm>
          <a:prstGeom xmlns:a="http://schemas.openxmlformats.org/drawingml/2006/main" prst="rect">
            <a:avLst/>
          </a:prstGeom>
        </p:spPr>
        <p:txBody>
          <a:bodyPr xmlns:a="http://schemas.openxmlformats.org/drawingml/2006/main" wrap="none" lIns="0" tIns="0" rIns="0" bIns="0">
            <a:normAutofit fontScale="29623"/>
          </a:bodyPr>
          <a:lstStyle xmlns:a="http://schemas.openxmlformats.org/drawingml/2006/main"/>
          <a:p xmlns:a="http://schemas.openxmlformats.org/drawingml/2006/main">
            <a:pPr marL="0">
              <a:lnSpc>
                <a:spcPct val="100000"/>
              </a:lnSpc>
              <a:spcBef>
                <a:spcPts val="0"/>
              </a:spcBef>
              <a:spcAft>
                <a:spcPts val="0"/>
              </a:spcAft>
              <a:buNone/>
            </a:pPr>
            <a:r>
              <a:rPr sz="3290" b="1">
                <a:solidFill>
                  <a:srgbClr val="1E4FA8"/>
                </a:solidFill>
                <a:latin typeface="微软雅黑"/>
                <a:ea typeface="微软雅黑"/>
                <a:cs typeface="微软雅黑"/>
              </a:rPr>
              <a:t>优点：直观理解编译/运行原理</a:t>
            </a:r>
          </a:p>
          <a:p xmlns:a="http://schemas.openxmlformats.org/drawingml/2006/main">
            <a:pPr marL="0">
              <a:lnSpc>
                <a:spcPct val="100000"/>
              </a:lnSpc>
              <a:spcBef>
                <a:spcPts val="0"/>
              </a:spcBef>
              <a:spcAft>
                <a:spcPts val="0"/>
              </a:spcAft>
              <a:buNone/>
            </a:pPr>
            <a:r>
              <a:rPr sz="3290" b="1">
                <a:solidFill>
                  <a:srgbClr val="D9534F"/>
                </a:solidFill>
                <a:latin typeface="微软雅黑"/>
                <a:ea typeface="微软雅黑"/>
                <a:cs typeface="微软雅黑"/>
              </a:rPr>
              <a:t>缺点：手动管理大量源文件、类路径、依赖时繁琐</a:t>
            </a:r>
          </a:p>
          <a:p xmlns:a="http://schemas.openxmlformats.org/drawingml/2006/main">
            <a:pPr marL="0">
              <a:lnSpc>
                <a:spcPct val="100000"/>
              </a:lnSpc>
              <a:spcBef>
                <a:spcPts val="0"/>
              </a:spcBef>
              <a:spcAft>
                <a:spcPts val="0"/>
              </a:spcAft>
              <a:buNone/>
            </a:pPr>
            <a:r>
              <a:rPr sz="3290" b="1">
                <a:solidFill>
                  <a:srgbClr val="D9534F"/>
                </a:solidFill>
                <a:latin typeface="微软雅黑"/>
                <a:ea typeface="微软雅黑"/>
                <a:cs typeface="微软雅黑"/>
              </a:rPr>
              <a:t>Advantages: Intuitive understanding of compilation/operation principles</a:t>
            </a:r>
          </a:p>
          <a:p xmlns:a="http://schemas.openxmlformats.org/drawingml/2006/main">
            <a:pPr marL="0">
              <a:lnSpc>
                <a:spcPct val="100000"/>
              </a:lnSpc>
              <a:spcBef>
                <a:spcPts val="0"/>
              </a:spcBef>
              <a:spcAft>
                <a:spcPts val="0"/>
              </a:spcAft>
              <a:buNone/>
            </a:pPr>
            <a:r>
              <a:rPr sz="3290" b="1">
                <a:solidFill>
                  <a:srgbClr val="D9534F"/>
                </a:solidFill>
                <a:latin typeface="微软雅黑"/>
                <a:ea typeface="微软雅黑"/>
                <a:cs typeface="微软雅黑"/>
              </a:rPr>
              <a:t>Disadvantages: Manually managing a large number of source files, class paths, and dependencies is cumbersome</a:t>
            </a:r>
          </a:p>
        </p:txBody>
      </p:sp>
      <p:sp>
        <p:nvSpPr>
          <p:cNvPr id="281" name="圆角矩形 280">
            <a:extLst xmlns:a="http://schemas.openxmlformats.org/drawingml/2006/main">
              <a:ext uri="{FF2B5EF4-FFF2-40B4-BE49-F238E27FC236}">
                <a16:creationId xmlns:a16="http://schemas.microsoft.com/office/drawing/2014/main" id="{AAAD44F0-666B-45C5-8E0F-C41512B8899E}"/>
              </a:ext>
            </a:extLst>
          </p:cNvPr>
          <p:cNvSpPr>
            <a:spLocks xmlns:a="http://schemas.openxmlformats.org/drawingml/2006/main" noGrp="1"/>
          </p:cNvSpPr>
          <p:nvPr/>
        </p:nvSpPr>
        <p:spPr>
          <a:xfrm xmlns:a="http://schemas.openxmlformats.org/drawingml/2006/main">
            <a:off x="4238625" y="3600450"/>
            <a:ext cx="7553325" cy="1885950"/>
          </a:xfrm>
          <a:prstGeom xmlns:a="http://schemas.openxmlformats.org/drawingml/2006/main" prst="roundRect">
            <a:avLst>
              <a:gd name="adj" fmla="val 5051"/>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82" name="任意多边形 281">
            <a:extLst xmlns:a="http://schemas.openxmlformats.org/drawingml/2006/main">
              <a:ext uri="{FF2B5EF4-FFF2-40B4-BE49-F238E27FC236}">
                <a16:creationId xmlns:a16="http://schemas.microsoft.com/office/drawing/2014/main" id="{61B24B27-778D-4CD1-9C92-AA6B789FC1B5}"/>
              </a:ext>
            </a:extLst>
          </p:cNvPr>
          <p:cNvSpPr>
            <a:spLocks xmlns:a="http://schemas.openxmlformats.org/drawingml/2006/main" noGrp="1"/>
          </p:cNvSpPr>
          <p:nvPr/>
        </p:nvSpPr>
        <p:spPr>
          <a:xfrm xmlns:a="http://schemas.openxmlformats.org/drawingml/2006/main">
            <a:off x="4238625" y="3600450"/>
            <a:ext cx="7553325" cy="1885950"/>
          </a:xfrm>
          <a:custGeom xmlns:a="http://schemas.openxmlformats.org/drawingml/2006/main">
            <a:pathLst>
              <a:path w="793" h="198">
                <a:moveTo>
                  <a:pt x="10" y="0"/>
                </a:moveTo>
                <a:cubicBezTo>
                  <a:pt x="8" y="0"/>
                  <a:pt x="6" y="2"/>
                  <a:pt x="6" y="4"/>
                </a:cubicBezTo>
                <a:lnTo>
                  <a:pt x="6" y="194"/>
                </a:lnTo>
                <a:cubicBezTo>
                  <a:pt x="6" y="196"/>
                  <a:pt x="8" y="198"/>
                  <a:pt x="10" y="198"/>
                </a:cubicBezTo>
                <a:cubicBezTo>
                  <a:pt x="4" y="198"/>
                  <a:pt x="0" y="193"/>
                  <a:pt x="0" y="188"/>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83" name="矩形 282">
            <a:extLst xmlns:a="http://schemas.openxmlformats.org/drawingml/2006/main">
              <a:ext uri="{FF2B5EF4-FFF2-40B4-BE49-F238E27FC236}">
                <a16:creationId xmlns:a16="http://schemas.microsoft.com/office/drawing/2014/main" id="{B2EB5BB4-3250-49E3-8C6B-A25494693C04}"/>
              </a:ext>
            </a:extLst>
          </p:cNvPr>
          <p:cNvSpPr>
            <a:spLocks xmlns:a="http://schemas.openxmlformats.org/drawingml/2006/main" noGrp="1"/>
          </p:cNvSpPr>
          <p:nvPr/>
        </p:nvSpPr>
        <p:spPr>
          <a:xfrm xmlns:a="http://schemas.openxmlformats.org/drawingml/2006/main">
            <a:off x="4467225" y="3829050"/>
            <a:ext cx="70389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IDE（集成开发环境）</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IDE (Integrated Development Environment)</a:t>
            </a:r>
          </a:p>
        </p:txBody>
      </p:sp>
      <p:sp>
        <p:nvSpPr>
          <p:cNvPr id="284" name="矩形 283">
            <a:extLst xmlns:a="http://schemas.openxmlformats.org/drawingml/2006/main">
              <a:ext uri="{FF2B5EF4-FFF2-40B4-BE49-F238E27FC236}">
                <a16:creationId xmlns:a16="http://schemas.microsoft.com/office/drawing/2014/main" id="{04854D6F-890F-46A6-A0C8-2D4FD056847E}"/>
              </a:ext>
            </a:extLst>
          </p:cNvPr>
          <p:cNvSpPr>
            <a:spLocks xmlns:a="http://schemas.openxmlformats.org/drawingml/2006/main" noGrp="1"/>
          </p:cNvSpPr>
          <p:nvPr/>
        </p:nvSpPr>
        <p:spPr>
          <a:xfrm xmlns:a="http://schemas.openxmlformats.org/drawingml/2006/main">
            <a:off x="4467225" y="4133850"/>
            <a:ext cx="7038975" cy="400050"/>
          </a:xfrm>
          <a:prstGeom xmlns:a="http://schemas.openxmlformats.org/drawingml/2006/main" prst="rect">
            <a:avLst/>
          </a:prstGeom>
        </p:spPr>
        <p:txBody>
          <a:bodyPr xmlns:a="http://schemas.openxmlformats.org/drawingml/2006/main" wrap="non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编辑器 + 编译器 + 调试器 + 项目管理一体化。</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Editor + compiler + debugger + project management integration.</a:t>
            </a:r>
          </a:p>
        </p:txBody>
      </p:sp>
      <p:sp>
        <p:nvSpPr>
          <p:cNvPr id="285" name="矩形 284">
            <a:extLst xmlns:a="http://schemas.openxmlformats.org/drawingml/2006/main">
              <a:ext uri="{FF2B5EF4-FFF2-40B4-BE49-F238E27FC236}">
                <a16:creationId xmlns:a16="http://schemas.microsoft.com/office/drawing/2014/main" id="{5305B198-D823-499F-BBC5-93B48373F4ED}"/>
              </a:ext>
            </a:extLst>
          </p:cNvPr>
          <p:cNvSpPr>
            <a:spLocks xmlns:a="http://schemas.openxmlformats.org/drawingml/2006/main" noGrp="1"/>
          </p:cNvSpPr>
          <p:nvPr/>
        </p:nvSpPr>
        <p:spPr>
          <a:xfrm xmlns:a="http://schemas.openxmlformats.org/drawingml/2006/main">
            <a:off x="4467225" y="4629150"/>
            <a:ext cx="7038975" cy="628650"/>
          </a:xfrm>
          <a:prstGeom xmlns:a="http://schemas.openxmlformats.org/drawingml/2006/main" prst="rect">
            <a:avLst/>
          </a:prstGeom>
        </p:spPr>
        <p:txBody>
          <a:bodyPr xmlns:a="http://schemas.openxmlformats.org/drawingml/2006/main" wrap="square" lIns="0" tIns="0" rIns="0" bIns="0">
            <a:normAutofit fontScale="39211"/>
          </a:bodyPr>
          <a:lstStyle xmlns:a="http://schemas.openxmlformats.org/drawingml/2006/main"/>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主流 Java IDE：IntelliJ IDEA、Eclipse、NetBeans。本课程统一使用 IntelliJ IDEA（2025.3 起统一版，核心功能免费）。</a:t>
            </a:r>
          </a:p>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Mainstream Java IDEs: IntelliJ IDEA, Eclipse, NetBeans. This course uses IntelliJ IDEA uniformly (unified version starting from 2025.3, core functions are free).</a:t>
            </a:r>
          </a:p>
        </p:txBody>
      </p:sp>
      <p:sp>
        <p:nvSpPr>
          <p:cNvPr id="286" name="矩形 285">
            <a:extLst xmlns:a="http://schemas.openxmlformats.org/drawingml/2006/main">
              <a:ext uri="{FF2B5EF4-FFF2-40B4-BE49-F238E27FC236}">
                <a16:creationId xmlns:a16="http://schemas.microsoft.com/office/drawing/2014/main" id="{87C3C545-45CB-4AD5-9D04-E99841111728}"/>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24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25177843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88" name="矩形 287">
            <a:extLst xmlns:a="http://schemas.openxmlformats.org/drawingml/2006/main">
              <a:ext uri="{FF2B5EF4-FFF2-40B4-BE49-F238E27FC236}">
                <a16:creationId xmlns:a16="http://schemas.microsoft.com/office/drawing/2014/main" id="{48B1A335-E4FA-44E7-8E5E-193CC8D017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89" name="矩形 288">
            <a:extLst xmlns:a="http://schemas.openxmlformats.org/drawingml/2006/main">
              <a:ext uri="{FF2B5EF4-FFF2-40B4-BE49-F238E27FC236}">
                <a16:creationId xmlns:a16="http://schemas.microsoft.com/office/drawing/2014/main" id="{A111EDF8-B2EE-462A-895B-75E25F0437F4}"/>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90" name="矩形 289">
            <a:extLst xmlns:a="http://schemas.openxmlformats.org/drawingml/2006/main">
              <a:ext uri="{FF2B5EF4-FFF2-40B4-BE49-F238E27FC236}">
                <a16:creationId xmlns:a16="http://schemas.microsoft.com/office/drawing/2014/main" id="{07753B48-7CF2-493A-862A-2BD31A2E96AF}"/>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291" name="矩形 290">
            <a:extLst xmlns:a="http://schemas.openxmlformats.org/drawingml/2006/main">
              <a:ext uri="{FF2B5EF4-FFF2-40B4-BE49-F238E27FC236}">
                <a16:creationId xmlns:a16="http://schemas.microsoft.com/office/drawing/2014/main" id="{2C863F2D-7915-485F-AC89-58DBD9019E40}"/>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§1.5.5</a:t>
            </a:r>
            <a:endParaRPr sz="1200" b="1" spc="300">
              <a:solidFill>
                <a:srgbClr val="1E4FA8"/>
              </a:solidFill>
              <a:latin typeface="微软雅黑"/>
              <a:ea typeface="微软雅黑"/>
              <a:cs typeface="微软雅黑"/>
            </a:endParaRPr>
          </a:p>
        </p:txBody>
      </p:sp>
      <p:sp>
        <p:nvSpPr>
          <p:cNvPr id="292" name="矩形 291">
            <a:extLst xmlns:a="http://schemas.openxmlformats.org/drawingml/2006/main">
              <a:ext uri="{FF2B5EF4-FFF2-40B4-BE49-F238E27FC236}">
                <a16:creationId xmlns:a16="http://schemas.microsoft.com/office/drawing/2014/main" id="{1D02E749-23DD-4E1F-8980-682EB52841E2}"/>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下载与安装</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IntelliJ IDEA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Download and install</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IntelliJ IDEA</a:t>
            </a:r>
          </a:p>
        </p:txBody>
      </p:sp>
      <p:sp>
        <p:nvSpPr>
          <p:cNvPr id="293" name="矩形 292">
            <a:extLst xmlns:a="http://schemas.openxmlformats.org/drawingml/2006/main">
              <a:ext uri="{FF2B5EF4-FFF2-40B4-BE49-F238E27FC236}">
                <a16:creationId xmlns:a16="http://schemas.microsoft.com/office/drawing/2014/main" id="{4A272F02-221D-4DDD-BB1C-8D5440697F0B}"/>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94" name="矩形 293">
            <a:extLst xmlns:a="http://schemas.openxmlformats.org/drawingml/2006/main">
              <a:ext uri="{FF2B5EF4-FFF2-40B4-BE49-F238E27FC236}">
                <a16:creationId xmlns:a16="http://schemas.microsoft.com/office/drawing/2014/main" id="{3C4B2EF6-F390-4A83-A6F6-4E5AE50D37B7}"/>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确保 IDEA 能识别 JDK 21</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Make sure IDEA recognizes JDK 21</a:t>
            </a:r>
          </a:p>
        </p:txBody>
      </p:sp>
      <p:sp>
        <p:nvSpPr>
          <p:cNvPr id="295" name="圆角矩形 294">
            <a:extLst xmlns:a="http://schemas.openxmlformats.org/drawingml/2006/main">
              <a:ext uri="{FF2B5EF4-FFF2-40B4-BE49-F238E27FC236}">
                <a16:creationId xmlns:a16="http://schemas.microsoft.com/office/drawing/2014/main" id="{AB2F4E6A-AB56-4344-9C1C-D8DC576E3380}"/>
              </a:ext>
            </a:extLst>
          </p:cNvPr>
          <p:cNvSpPr>
            <a:spLocks xmlns:a="http://schemas.openxmlformats.org/drawingml/2006/main" noGrp="1"/>
          </p:cNvSpPr>
          <p:nvPr/>
        </p:nvSpPr>
        <p:spPr>
          <a:xfrm xmlns:a="http://schemas.openxmlformats.org/drawingml/2006/main">
            <a:off x="4181475" y="1981200"/>
            <a:ext cx="7553325" cy="280035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296" name="圆角矩形 295">
            <a:extLst xmlns:a="http://schemas.openxmlformats.org/drawingml/2006/main">
              <a:ext uri="{FF2B5EF4-FFF2-40B4-BE49-F238E27FC236}">
                <a16:creationId xmlns:a16="http://schemas.microsoft.com/office/drawing/2014/main" id="{393DF8CE-87DB-4DD1-BD91-05BD1BC7B874}"/>
              </a:ext>
            </a:extLst>
          </p:cNvPr>
          <p:cNvSpPr>
            <a:spLocks xmlns:a="http://schemas.openxmlformats.org/drawingml/2006/main" noGrp="1"/>
          </p:cNvSpPr>
          <p:nvPr/>
        </p:nvSpPr>
        <p:spPr>
          <a:xfrm xmlns:a="http://schemas.openxmlformats.org/drawingml/2006/main">
            <a:off x="4410075" y="22098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97" name="矩形 296">
            <a:extLst xmlns:a="http://schemas.openxmlformats.org/drawingml/2006/main">
              <a:ext uri="{FF2B5EF4-FFF2-40B4-BE49-F238E27FC236}">
                <a16:creationId xmlns:a16="http://schemas.microsoft.com/office/drawing/2014/main" id="{8D9EB447-4181-42CE-8B6E-A08826D2A018}"/>
              </a:ext>
            </a:extLst>
          </p:cNvPr>
          <p:cNvSpPr>
            <a:spLocks xmlns:a="http://schemas.openxmlformats.org/drawingml/2006/main" noGrp="1"/>
          </p:cNvSpPr>
          <p:nvPr/>
        </p:nvSpPr>
        <p:spPr>
          <a:xfrm xmlns:a="http://schemas.openxmlformats.org/drawingml/2006/main">
            <a:off x="4505325" y="22669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1</a:t>
            </a:r>
            <a:endParaRPr sz="1050" b="1">
              <a:solidFill>
                <a:srgbClr val="FFFFFF"/>
              </a:solidFill>
              <a:latin typeface="微软雅黑"/>
              <a:ea typeface="微软雅黑"/>
              <a:cs typeface="微软雅黑"/>
            </a:endParaRPr>
          </a:p>
        </p:txBody>
      </p:sp>
      <p:sp>
        <p:nvSpPr>
          <p:cNvPr id="298" name="矩形 297">
            <a:extLst xmlns:a="http://schemas.openxmlformats.org/drawingml/2006/main">
              <a:ext uri="{FF2B5EF4-FFF2-40B4-BE49-F238E27FC236}">
                <a16:creationId xmlns:a16="http://schemas.microsoft.com/office/drawing/2014/main" id="{0F8AB61A-3C3C-451A-9E0E-1A4CE4744F94}"/>
              </a:ext>
            </a:extLst>
          </p:cNvPr>
          <p:cNvSpPr>
            <a:spLocks xmlns:a="http://schemas.openxmlformats.org/drawingml/2006/main" noGrp="1"/>
          </p:cNvSpPr>
          <p:nvPr/>
        </p:nvSpPr>
        <p:spPr>
          <a:xfrm xmlns:a="http://schemas.openxmlformats.org/drawingml/2006/main">
            <a:off x="4791075" y="2209800"/>
            <a:ext cx="6715125" cy="400050"/>
          </a:xfrm>
          <a:prstGeom xmlns:a="http://schemas.openxmlformats.org/drawingml/2006/main" prst="rect">
            <a:avLst/>
          </a:prstGeom>
        </p:spPr>
        <p:txBody>
          <a:bodyPr xmlns:a="http://schemas.openxmlformats.org/drawingml/2006/main" wrap="non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访问 jetbrains.com/idea/download/</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Visit jetbrains.com/idea/download/</a:t>
            </a:r>
          </a:p>
        </p:txBody>
      </p:sp>
      <p:sp>
        <p:nvSpPr>
          <p:cNvPr id="299" name="圆角矩形 298">
            <a:extLst xmlns:a="http://schemas.openxmlformats.org/drawingml/2006/main">
              <a:ext uri="{FF2B5EF4-FFF2-40B4-BE49-F238E27FC236}">
                <a16:creationId xmlns:a16="http://schemas.microsoft.com/office/drawing/2014/main" id="{CFD1BF98-40A6-48B6-8C76-52F9B6FD58B7}"/>
              </a:ext>
            </a:extLst>
          </p:cNvPr>
          <p:cNvSpPr>
            <a:spLocks xmlns:a="http://schemas.openxmlformats.org/drawingml/2006/main" noGrp="1"/>
          </p:cNvSpPr>
          <p:nvPr/>
        </p:nvSpPr>
        <p:spPr>
          <a:xfrm xmlns:a="http://schemas.openxmlformats.org/drawingml/2006/main">
            <a:off x="4410075" y="27241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00" name="矩形 299">
            <a:extLst xmlns:a="http://schemas.openxmlformats.org/drawingml/2006/main">
              <a:ext uri="{FF2B5EF4-FFF2-40B4-BE49-F238E27FC236}">
                <a16:creationId xmlns:a16="http://schemas.microsoft.com/office/drawing/2014/main" id="{6A10E1C1-744F-46BD-9CF7-0DF7687F8D37}"/>
              </a:ext>
            </a:extLst>
          </p:cNvPr>
          <p:cNvSpPr>
            <a:spLocks xmlns:a="http://schemas.openxmlformats.org/drawingml/2006/main" noGrp="1"/>
          </p:cNvSpPr>
          <p:nvPr/>
        </p:nvSpPr>
        <p:spPr>
          <a:xfrm xmlns:a="http://schemas.openxmlformats.org/drawingml/2006/main">
            <a:off x="4505325" y="27813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2</a:t>
            </a:r>
            <a:endParaRPr sz="1050" b="1">
              <a:solidFill>
                <a:srgbClr val="FFFFFF"/>
              </a:solidFill>
              <a:latin typeface="微软雅黑"/>
              <a:ea typeface="微软雅黑"/>
              <a:cs typeface="微软雅黑"/>
            </a:endParaRPr>
          </a:p>
        </p:txBody>
      </p:sp>
      <p:sp>
        <p:nvSpPr>
          <p:cNvPr id="301" name="矩形 300">
            <a:extLst xmlns:a="http://schemas.openxmlformats.org/drawingml/2006/main">
              <a:ext uri="{FF2B5EF4-FFF2-40B4-BE49-F238E27FC236}">
                <a16:creationId xmlns:a16="http://schemas.microsoft.com/office/drawing/2014/main" id="{753CE699-CF2B-4B41-9B45-951F77215CD2}"/>
              </a:ext>
            </a:extLst>
          </p:cNvPr>
          <p:cNvSpPr>
            <a:spLocks xmlns:a="http://schemas.openxmlformats.org/drawingml/2006/main" noGrp="1"/>
          </p:cNvSpPr>
          <p:nvPr/>
        </p:nvSpPr>
        <p:spPr>
          <a:xfrm xmlns:a="http://schemas.openxmlformats.org/drawingml/2006/main">
            <a:off x="4791075" y="2724150"/>
            <a:ext cx="6715125" cy="400050"/>
          </a:xfrm>
          <a:prstGeom xmlns:a="http://schemas.openxmlformats.org/drawingml/2006/main" prst="rect">
            <a:avLst/>
          </a:prstGeom>
        </p:spPr>
        <p:txBody>
          <a:bodyPr xmlns:a="http://schemas.openxmlformats.org/drawingml/2006/main" wrap="none" lIns="0" tIns="0" rIns="0" bIns="0">
            <a:normAutofit fontScale="32062"/>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2025.3 起为统一版，只有一个下载入口；核心功能免费</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It will be a unified version starting from 2025.3, with only one download entrance; core functions are free</a:t>
            </a:r>
          </a:p>
        </p:txBody>
      </p:sp>
      <p:sp>
        <p:nvSpPr>
          <p:cNvPr id="302" name="圆角矩形 301">
            <a:extLst xmlns:a="http://schemas.openxmlformats.org/drawingml/2006/main">
              <a:ext uri="{FF2B5EF4-FFF2-40B4-BE49-F238E27FC236}">
                <a16:creationId xmlns:a16="http://schemas.microsoft.com/office/drawing/2014/main" id="{21816AFB-D065-4654-AFEB-6D6F9BB5896F}"/>
              </a:ext>
            </a:extLst>
          </p:cNvPr>
          <p:cNvSpPr>
            <a:spLocks xmlns:a="http://schemas.openxmlformats.org/drawingml/2006/main" noGrp="1"/>
          </p:cNvSpPr>
          <p:nvPr/>
        </p:nvSpPr>
        <p:spPr>
          <a:xfrm xmlns:a="http://schemas.openxmlformats.org/drawingml/2006/main">
            <a:off x="4410075" y="32385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03" name="矩形 302">
            <a:extLst xmlns:a="http://schemas.openxmlformats.org/drawingml/2006/main">
              <a:ext uri="{FF2B5EF4-FFF2-40B4-BE49-F238E27FC236}">
                <a16:creationId xmlns:a16="http://schemas.microsoft.com/office/drawing/2014/main" id="{3BE3F02D-0051-4E96-85A2-38948C646555}"/>
              </a:ext>
            </a:extLst>
          </p:cNvPr>
          <p:cNvSpPr>
            <a:spLocks xmlns:a="http://schemas.openxmlformats.org/drawingml/2006/main" noGrp="1"/>
          </p:cNvSpPr>
          <p:nvPr/>
        </p:nvSpPr>
        <p:spPr>
          <a:xfrm xmlns:a="http://schemas.openxmlformats.org/drawingml/2006/main">
            <a:off x="4505325" y="32956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3</a:t>
            </a:r>
            <a:endParaRPr sz="1050" b="1">
              <a:solidFill>
                <a:srgbClr val="FFFFFF"/>
              </a:solidFill>
              <a:latin typeface="微软雅黑"/>
              <a:ea typeface="微软雅黑"/>
              <a:cs typeface="微软雅黑"/>
            </a:endParaRPr>
          </a:p>
        </p:txBody>
      </p:sp>
      <p:sp>
        <p:nvSpPr>
          <p:cNvPr id="304" name="矩形 303">
            <a:extLst xmlns:a="http://schemas.openxmlformats.org/drawingml/2006/main">
              <a:ext uri="{FF2B5EF4-FFF2-40B4-BE49-F238E27FC236}">
                <a16:creationId xmlns:a16="http://schemas.microsoft.com/office/drawing/2014/main" id="{FAE17B51-545F-4311-8CDF-82DAE61FA77F}"/>
              </a:ext>
            </a:extLst>
          </p:cNvPr>
          <p:cNvSpPr>
            <a:spLocks xmlns:a="http://schemas.openxmlformats.org/drawingml/2006/main" noGrp="1"/>
          </p:cNvSpPr>
          <p:nvPr/>
        </p:nvSpPr>
        <p:spPr>
          <a:xfrm xmlns:a="http://schemas.openxmlformats.org/drawingml/2006/main">
            <a:off x="4791075" y="3238500"/>
            <a:ext cx="6715125" cy="400050"/>
          </a:xfrm>
          <a:prstGeom xmlns:a="http://schemas.openxmlformats.org/drawingml/2006/main" prst="rect">
            <a:avLst/>
          </a:prstGeom>
        </p:spPr>
        <p:txBody>
          <a:bodyPr xmlns:a="http://schemas.openxmlformats.org/drawingml/2006/main" wrap="none" lIns="0" tIns="0" rIns="0" bIns="0">
            <a:normAutofit fontScale="3020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Windows 推荐 .exe 安装包；首次启动选 "Do not import settings"</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Windows recommends.exe installation package; select "Do not import settings" when starting for the first time</a:t>
            </a:r>
          </a:p>
        </p:txBody>
      </p:sp>
      <p:sp>
        <p:nvSpPr>
          <p:cNvPr id="305" name="圆角矩形 304">
            <a:extLst xmlns:a="http://schemas.openxmlformats.org/drawingml/2006/main">
              <a:ext uri="{FF2B5EF4-FFF2-40B4-BE49-F238E27FC236}">
                <a16:creationId xmlns:a16="http://schemas.microsoft.com/office/drawing/2014/main" id="{0A035857-43A8-4BC2-B997-D32F0BA2977F}"/>
              </a:ext>
            </a:extLst>
          </p:cNvPr>
          <p:cNvSpPr>
            <a:spLocks xmlns:a="http://schemas.openxmlformats.org/drawingml/2006/main" noGrp="1"/>
          </p:cNvSpPr>
          <p:nvPr/>
        </p:nvSpPr>
        <p:spPr>
          <a:xfrm xmlns:a="http://schemas.openxmlformats.org/drawingml/2006/main">
            <a:off x="4410075" y="37528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06" name="矩形 305">
            <a:extLst xmlns:a="http://schemas.openxmlformats.org/drawingml/2006/main">
              <a:ext uri="{FF2B5EF4-FFF2-40B4-BE49-F238E27FC236}">
                <a16:creationId xmlns:a16="http://schemas.microsoft.com/office/drawing/2014/main" id="{8E2EACB0-4E03-45D9-9712-E970D717F945}"/>
              </a:ext>
            </a:extLst>
          </p:cNvPr>
          <p:cNvSpPr>
            <a:spLocks xmlns:a="http://schemas.openxmlformats.org/drawingml/2006/main" noGrp="1"/>
          </p:cNvSpPr>
          <p:nvPr/>
        </p:nvSpPr>
        <p:spPr>
          <a:xfrm xmlns:a="http://schemas.openxmlformats.org/drawingml/2006/main">
            <a:off x="4505325" y="38100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4</a:t>
            </a:r>
            <a:endParaRPr sz="1050" b="1">
              <a:solidFill>
                <a:srgbClr val="FFFFFF"/>
              </a:solidFill>
              <a:latin typeface="微软雅黑"/>
              <a:ea typeface="微软雅黑"/>
              <a:cs typeface="微软雅黑"/>
            </a:endParaRPr>
          </a:p>
        </p:txBody>
      </p:sp>
      <p:sp>
        <p:nvSpPr>
          <p:cNvPr id="307" name="矩形 306">
            <a:extLst xmlns:a="http://schemas.openxmlformats.org/drawingml/2006/main">
              <a:ext uri="{FF2B5EF4-FFF2-40B4-BE49-F238E27FC236}">
                <a16:creationId xmlns:a16="http://schemas.microsoft.com/office/drawing/2014/main" id="{9AE86D4D-C491-45BE-B3B0-946B56E45CAB}"/>
              </a:ext>
            </a:extLst>
          </p:cNvPr>
          <p:cNvSpPr>
            <a:spLocks xmlns:a="http://schemas.openxmlformats.org/drawingml/2006/main" noGrp="1"/>
          </p:cNvSpPr>
          <p:nvPr/>
        </p:nvSpPr>
        <p:spPr>
          <a:xfrm xmlns:a="http://schemas.openxmlformats.org/drawingml/2006/main">
            <a:off x="4791075" y="3752850"/>
            <a:ext cx="6715125" cy="800100"/>
          </a:xfrm>
          <a:prstGeom xmlns:a="http://schemas.openxmlformats.org/drawingml/2006/main" prst="rect">
            <a:avLst/>
          </a:prstGeom>
        </p:spPr>
        <p:txBody>
          <a:bodyPr xmlns:a="http://schemas.openxmlformats.org/drawingml/2006/main" wrap="square" lIns="0" tIns="0" rIns="0" bIns="0">
            <a:normAutofit fontScale="4406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指定 JDK：File → Project Structure → SDKs → + → Add JDK → 选择 C:\jdk-21</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Specify JDK: File → Project Structure → SDKs → + → Add JDK → Select C:\JDK-21</a:t>
            </a:r>
          </a:p>
        </p:txBody>
      </p:sp>
      <p:sp>
        <p:nvSpPr>
          <p:cNvPr id="308" name="圆角矩形 307">
            <a:extLst xmlns:a="http://schemas.openxmlformats.org/drawingml/2006/main">
              <a:ext uri="{FF2B5EF4-FFF2-40B4-BE49-F238E27FC236}">
                <a16:creationId xmlns:a16="http://schemas.microsoft.com/office/drawing/2014/main" id="{97E13D31-946F-4B32-A67A-1388A0AB27C7}"/>
              </a:ext>
            </a:extLst>
          </p:cNvPr>
          <p:cNvSpPr>
            <a:spLocks xmlns:a="http://schemas.openxmlformats.org/drawingml/2006/main" noGrp="1"/>
          </p:cNvSpPr>
          <p:nvPr/>
        </p:nvSpPr>
        <p:spPr>
          <a:xfrm xmlns:a="http://schemas.openxmlformats.org/drawingml/2006/main">
            <a:off x="4181475" y="4914900"/>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309" name="矩形 308">
            <a:extLst xmlns:a="http://schemas.openxmlformats.org/drawingml/2006/main">
              <a:ext uri="{FF2B5EF4-FFF2-40B4-BE49-F238E27FC236}">
                <a16:creationId xmlns:a16="http://schemas.microsoft.com/office/drawing/2014/main" id="{98F5FD84-EA2E-4971-BE2F-555D881B2567}"/>
              </a:ext>
            </a:extLst>
          </p:cNvPr>
          <p:cNvSpPr>
            <a:spLocks xmlns:a="http://schemas.openxmlformats.org/drawingml/2006/main" noGrp="1"/>
          </p:cNvSpPr>
          <p:nvPr/>
        </p:nvSpPr>
        <p:spPr>
          <a:xfrm xmlns:a="http://schemas.openxmlformats.org/drawingml/2006/main">
            <a:off x="4314825" y="5048250"/>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Ultimate 高级功能师生可凭教育授权免费申请。</a:t>
            </a:r>
          </a:p>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Teachers and students with Ultimate advanced functions can apply for free with education authorization.</a:t>
            </a:r>
          </a:p>
        </p:txBody>
      </p:sp>
      <p:sp>
        <p:nvSpPr>
          <p:cNvPr id="310" name="矩形 309">
            <a:extLst xmlns:a="http://schemas.openxmlformats.org/drawingml/2006/main">
              <a:ext uri="{FF2B5EF4-FFF2-40B4-BE49-F238E27FC236}">
                <a16:creationId xmlns:a16="http://schemas.microsoft.com/office/drawing/2014/main" id="{1EF9CDC3-97B1-496D-B263-C518A4237E2B}"/>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25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6855035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12" name="矩形 311">
            <a:extLst xmlns:a="http://schemas.openxmlformats.org/drawingml/2006/main">
              <a:ext uri="{FF2B5EF4-FFF2-40B4-BE49-F238E27FC236}">
                <a16:creationId xmlns:a16="http://schemas.microsoft.com/office/drawing/2014/main" id="{A5A8683F-C023-4975-8131-C0A7DE855B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13" name="矩形 312">
            <a:extLst xmlns:a="http://schemas.openxmlformats.org/drawingml/2006/main">
              <a:ext uri="{FF2B5EF4-FFF2-40B4-BE49-F238E27FC236}">
                <a16:creationId xmlns:a16="http://schemas.microsoft.com/office/drawing/2014/main" id="{3651D3F9-99D2-4CB5-BA83-CE00D5ED14CB}"/>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14" name="矩形 313">
            <a:extLst xmlns:a="http://schemas.openxmlformats.org/drawingml/2006/main">
              <a:ext uri="{FF2B5EF4-FFF2-40B4-BE49-F238E27FC236}">
                <a16:creationId xmlns:a16="http://schemas.microsoft.com/office/drawing/2014/main" id="{B232C322-D88E-43EE-9400-EC105DF9C2B4}"/>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315" name="矩形 314">
            <a:extLst xmlns:a="http://schemas.openxmlformats.org/drawingml/2006/main">
              <a:ext uri="{FF2B5EF4-FFF2-40B4-BE49-F238E27FC236}">
                <a16:creationId xmlns:a16="http://schemas.microsoft.com/office/drawing/2014/main" id="{2918CB83-0593-4E16-9A3C-71D3A69266FF}"/>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§1.5.6</a:t>
            </a:r>
            <a:endParaRPr sz="1200" b="1" spc="300">
              <a:solidFill>
                <a:srgbClr val="1E4FA8"/>
              </a:solidFill>
              <a:latin typeface="微软雅黑"/>
              <a:ea typeface="微软雅黑"/>
              <a:cs typeface="微软雅黑"/>
            </a:endParaRPr>
          </a:p>
        </p:txBody>
      </p:sp>
      <p:sp>
        <p:nvSpPr>
          <p:cNvPr id="316" name="矩形 315">
            <a:extLst xmlns:a="http://schemas.openxmlformats.org/drawingml/2006/main">
              <a:ext uri="{FF2B5EF4-FFF2-40B4-BE49-F238E27FC236}">
                <a16:creationId xmlns:a16="http://schemas.microsoft.com/office/drawing/2014/main" id="{70D6276A-F89E-4B6A-9D69-8894814B6EE4}"/>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创建第一个</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项目</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Create the first</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project</a:t>
            </a:r>
          </a:p>
        </p:txBody>
      </p:sp>
      <p:sp>
        <p:nvSpPr>
          <p:cNvPr id="317" name="矩形 316">
            <a:extLst xmlns:a="http://schemas.openxmlformats.org/drawingml/2006/main">
              <a:ext uri="{FF2B5EF4-FFF2-40B4-BE49-F238E27FC236}">
                <a16:creationId xmlns:a16="http://schemas.microsoft.com/office/drawing/2014/main" id="{EBF4DAC0-1528-4665-BC65-E24A3AB96E63}"/>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18" name="矩形 317">
            <a:extLst xmlns:a="http://schemas.openxmlformats.org/drawingml/2006/main">
              <a:ext uri="{FF2B5EF4-FFF2-40B4-BE49-F238E27FC236}">
                <a16:creationId xmlns:a16="http://schemas.microsoft.com/office/drawing/2014/main" id="{9744B686-0BD2-4E36-88AA-9C102640511C}"/>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使用内置 IntelliJ 构建系统</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Use the built-in IntelliJ build system</a:t>
            </a:r>
          </a:p>
        </p:txBody>
      </p:sp>
      <p:sp>
        <p:nvSpPr>
          <p:cNvPr id="319" name="圆角矩形 318">
            <a:extLst xmlns:a="http://schemas.openxmlformats.org/drawingml/2006/main">
              <a:ext uri="{FF2B5EF4-FFF2-40B4-BE49-F238E27FC236}">
                <a16:creationId xmlns:a16="http://schemas.microsoft.com/office/drawing/2014/main" id="{76A2D81D-4AAD-42B3-9D81-7538512D802E}"/>
              </a:ext>
            </a:extLst>
          </p:cNvPr>
          <p:cNvSpPr>
            <a:spLocks xmlns:a="http://schemas.openxmlformats.org/drawingml/2006/main" noGrp="1"/>
          </p:cNvSpPr>
          <p:nvPr/>
        </p:nvSpPr>
        <p:spPr>
          <a:xfrm xmlns:a="http://schemas.openxmlformats.org/drawingml/2006/main">
            <a:off x="4181475" y="2324100"/>
            <a:ext cx="7553325"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20" name="圆角矩形 319">
            <a:extLst xmlns:a="http://schemas.openxmlformats.org/drawingml/2006/main">
              <a:ext uri="{FF2B5EF4-FFF2-40B4-BE49-F238E27FC236}">
                <a16:creationId xmlns:a16="http://schemas.microsoft.com/office/drawing/2014/main" id="{191A042F-2E72-4CBB-BB06-68AF3E718FCD}"/>
              </a:ext>
            </a:extLst>
          </p:cNvPr>
          <p:cNvSpPr>
            <a:spLocks xmlns:a="http://schemas.openxmlformats.org/drawingml/2006/main" noGrp="1"/>
          </p:cNvSpPr>
          <p:nvPr/>
        </p:nvSpPr>
        <p:spPr>
          <a:xfrm xmlns:a="http://schemas.openxmlformats.org/drawingml/2006/main">
            <a:off x="4391025" y="25336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1" name="矩形 320">
            <a:extLst xmlns:a="http://schemas.openxmlformats.org/drawingml/2006/main">
              <a:ext uri="{FF2B5EF4-FFF2-40B4-BE49-F238E27FC236}">
                <a16:creationId xmlns:a16="http://schemas.microsoft.com/office/drawing/2014/main" id="{4ADCBF0A-CB39-42BA-9AC6-6EC25CFF9C74}"/>
              </a:ext>
            </a:extLst>
          </p:cNvPr>
          <p:cNvSpPr>
            <a:spLocks xmlns:a="http://schemas.openxmlformats.org/drawingml/2006/main" noGrp="1"/>
          </p:cNvSpPr>
          <p:nvPr/>
        </p:nvSpPr>
        <p:spPr>
          <a:xfrm xmlns:a="http://schemas.openxmlformats.org/drawingml/2006/main">
            <a:off x="4486275" y="25908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1</a:t>
            </a:r>
            <a:endParaRPr sz="1050" b="1">
              <a:solidFill>
                <a:srgbClr val="FFFFFF"/>
              </a:solidFill>
              <a:latin typeface="微软雅黑"/>
              <a:ea typeface="微软雅黑"/>
              <a:cs typeface="微软雅黑"/>
            </a:endParaRPr>
          </a:p>
        </p:txBody>
      </p:sp>
      <p:sp>
        <p:nvSpPr>
          <p:cNvPr id="322" name="矩形 321">
            <a:extLst xmlns:a="http://schemas.openxmlformats.org/drawingml/2006/main">
              <a:ext uri="{FF2B5EF4-FFF2-40B4-BE49-F238E27FC236}">
                <a16:creationId xmlns:a16="http://schemas.microsoft.com/office/drawing/2014/main" id="{41118AA6-0EC0-4344-873C-E39E46121C0D}"/>
              </a:ext>
            </a:extLst>
          </p:cNvPr>
          <p:cNvSpPr>
            <a:spLocks xmlns:a="http://schemas.openxmlformats.org/drawingml/2006/main" noGrp="1"/>
          </p:cNvSpPr>
          <p:nvPr/>
        </p:nvSpPr>
        <p:spPr>
          <a:xfrm xmlns:a="http://schemas.openxmlformats.org/drawingml/2006/main">
            <a:off x="4772025" y="2552700"/>
            <a:ext cx="1971675" cy="2286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500">
                <a:solidFill>
                  <a:srgbClr val="1A2230"/>
                </a:solidFill>
                <a:latin typeface="微软雅黑"/>
                <a:ea typeface="微软雅黑"/>
                <a:cs typeface="微软雅黑"/>
              </a:rPr>
              <a:t>File → New → Project</a:t>
            </a:r>
            <a:endParaRPr sz="1500">
              <a:solidFill>
                <a:srgbClr val="1A2230"/>
              </a:solidFill>
              <a:latin typeface="微软雅黑"/>
              <a:ea typeface="微软雅黑"/>
              <a:cs typeface="微软雅黑"/>
            </a:endParaRPr>
          </a:p>
        </p:txBody>
      </p:sp>
      <p:sp>
        <p:nvSpPr>
          <p:cNvPr id="323" name="圆角矩形 322">
            <a:extLst xmlns:a="http://schemas.openxmlformats.org/drawingml/2006/main">
              <a:ext uri="{FF2B5EF4-FFF2-40B4-BE49-F238E27FC236}">
                <a16:creationId xmlns:a16="http://schemas.microsoft.com/office/drawing/2014/main" id="{061DE20A-CEC9-45AE-9648-CBA765401792}"/>
              </a:ext>
            </a:extLst>
          </p:cNvPr>
          <p:cNvSpPr>
            <a:spLocks xmlns:a="http://schemas.openxmlformats.org/drawingml/2006/main" noGrp="1"/>
          </p:cNvSpPr>
          <p:nvPr/>
        </p:nvSpPr>
        <p:spPr>
          <a:xfrm xmlns:a="http://schemas.openxmlformats.org/drawingml/2006/main">
            <a:off x="4391025" y="28956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4" name="矩形 323">
            <a:extLst xmlns:a="http://schemas.openxmlformats.org/drawingml/2006/main">
              <a:ext uri="{FF2B5EF4-FFF2-40B4-BE49-F238E27FC236}">
                <a16:creationId xmlns:a16="http://schemas.microsoft.com/office/drawing/2014/main" id="{48C167D4-89FD-4781-A4C4-C651FBD6FFAD}"/>
              </a:ext>
            </a:extLst>
          </p:cNvPr>
          <p:cNvSpPr>
            <a:spLocks xmlns:a="http://schemas.openxmlformats.org/drawingml/2006/main" noGrp="1"/>
          </p:cNvSpPr>
          <p:nvPr/>
        </p:nvSpPr>
        <p:spPr>
          <a:xfrm xmlns:a="http://schemas.openxmlformats.org/drawingml/2006/main">
            <a:off x="4486275" y="29527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2</a:t>
            </a:r>
            <a:endParaRPr sz="1050" b="1">
              <a:solidFill>
                <a:srgbClr val="FFFFFF"/>
              </a:solidFill>
              <a:latin typeface="微软雅黑"/>
              <a:ea typeface="微软雅黑"/>
              <a:cs typeface="微软雅黑"/>
            </a:endParaRPr>
          </a:p>
        </p:txBody>
      </p:sp>
      <p:sp>
        <p:nvSpPr>
          <p:cNvPr id="325" name="矩形 324">
            <a:extLst xmlns:a="http://schemas.openxmlformats.org/drawingml/2006/main">
              <a:ext uri="{FF2B5EF4-FFF2-40B4-BE49-F238E27FC236}">
                <a16:creationId xmlns:a16="http://schemas.microsoft.com/office/drawing/2014/main" id="{A8579476-2323-4EE5-AA52-2F4F58543E17}"/>
              </a:ext>
            </a:extLst>
          </p:cNvPr>
          <p:cNvSpPr>
            <a:spLocks xmlns:a="http://schemas.openxmlformats.org/drawingml/2006/main" noGrp="1"/>
          </p:cNvSpPr>
          <p:nvPr/>
        </p:nvSpPr>
        <p:spPr>
          <a:xfrm xmlns:a="http://schemas.openxmlformats.org/drawingml/2006/main">
            <a:off x="4772025" y="2914650"/>
            <a:ext cx="566737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左侧选 Java；Project SDK 选 C:\jdk-21；Build system 选 IntelliJ</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Select Java on the left; select C:\JDK-21 for Project SDK; select IntelliJ for Build system</a:t>
            </a:r>
          </a:p>
        </p:txBody>
      </p:sp>
      <p:sp>
        <p:nvSpPr>
          <p:cNvPr id="326" name="圆角矩形 325">
            <a:extLst xmlns:a="http://schemas.openxmlformats.org/drawingml/2006/main">
              <a:ext uri="{FF2B5EF4-FFF2-40B4-BE49-F238E27FC236}">
                <a16:creationId xmlns:a16="http://schemas.microsoft.com/office/drawing/2014/main" id="{CEB9EAF7-9296-4B2D-BADD-716BB619C1D8}"/>
              </a:ext>
            </a:extLst>
          </p:cNvPr>
          <p:cNvSpPr>
            <a:spLocks xmlns:a="http://schemas.openxmlformats.org/drawingml/2006/main" noGrp="1"/>
          </p:cNvSpPr>
          <p:nvPr/>
        </p:nvSpPr>
        <p:spPr>
          <a:xfrm xmlns:a="http://schemas.openxmlformats.org/drawingml/2006/main">
            <a:off x="4391025" y="32575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7" name="矩形 326">
            <a:extLst xmlns:a="http://schemas.openxmlformats.org/drawingml/2006/main">
              <a:ext uri="{FF2B5EF4-FFF2-40B4-BE49-F238E27FC236}">
                <a16:creationId xmlns:a16="http://schemas.microsoft.com/office/drawing/2014/main" id="{2A67835B-2220-4D35-81A4-C6ECBECECDA4}"/>
              </a:ext>
            </a:extLst>
          </p:cNvPr>
          <p:cNvSpPr>
            <a:spLocks xmlns:a="http://schemas.openxmlformats.org/drawingml/2006/main" noGrp="1"/>
          </p:cNvSpPr>
          <p:nvPr/>
        </p:nvSpPr>
        <p:spPr>
          <a:xfrm xmlns:a="http://schemas.openxmlformats.org/drawingml/2006/main">
            <a:off x="4486275" y="33147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3</a:t>
            </a:r>
            <a:endParaRPr sz="1050" b="1">
              <a:solidFill>
                <a:srgbClr val="FFFFFF"/>
              </a:solidFill>
              <a:latin typeface="微软雅黑"/>
              <a:ea typeface="微软雅黑"/>
              <a:cs typeface="微软雅黑"/>
            </a:endParaRPr>
          </a:p>
        </p:txBody>
      </p:sp>
      <p:sp>
        <p:nvSpPr>
          <p:cNvPr id="328" name="矩形 327">
            <a:extLst xmlns:a="http://schemas.openxmlformats.org/drawingml/2006/main">
              <a:ext uri="{FF2B5EF4-FFF2-40B4-BE49-F238E27FC236}">
                <a16:creationId xmlns:a16="http://schemas.microsoft.com/office/drawing/2014/main" id="{60E88DBA-D60F-434A-8F75-E78A727DBCDF}"/>
              </a:ext>
            </a:extLst>
          </p:cNvPr>
          <p:cNvSpPr>
            <a:spLocks xmlns:a="http://schemas.openxmlformats.org/drawingml/2006/main" noGrp="1"/>
          </p:cNvSpPr>
          <p:nvPr/>
        </p:nvSpPr>
        <p:spPr>
          <a:xfrm xmlns:a="http://schemas.openxmlformats.org/drawingml/2006/main">
            <a:off x="4772025" y="3276600"/>
            <a:ext cx="5200650"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勾选 Create project from template → Command Line App</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Check Create project from template → Command Line App</a:t>
            </a:r>
          </a:p>
        </p:txBody>
      </p:sp>
      <p:sp>
        <p:nvSpPr>
          <p:cNvPr id="329" name="圆角矩形 328">
            <a:extLst xmlns:a="http://schemas.openxmlformats.org/drawingml/2006/main">
              <a:ext uri="{FF2B5EF4-FFF2-40B4-BE49-F238E27FC236}">
                <a16:creationId xmlns:a16="http://schemas.microsoft.com/office/drawing/2014/main" id="{94AA53BA-1976-4E05-9FDD-A9E584339261}"/>
              </a:ext>
            </a:extLst>
          </p:cNvPr>
          <p:cNvSpPr>
            <a:spLocks xmlns:a="http://schemas.openxmlformats.org/drawingml/2006/main" noGrp="1"/>
          </p:cNvSpPr>
          <p:nvPr/>
        </p:nvSpPr>
        <p:spPr>
          <a:xfrm xmlns:a="http://schemas.openxmlformats.org/drawingml/2006/main">
            <a:off x="4391025" y="36195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30" name="矩形 329">
            <a:extLst xmlns:a="http://schemas.openxmlformats.org/drawingml/2006/main">
              <a:ext uri="{FF2B5EF4-FFF2-40B4-BE49-F238E27FC236}">
                <a16:creationId xmlns:a16="http://schemas.microsoft.com/office/drawing/2014/main" id="{6CC71ABE-482F-4105-B5E0-3CA36C4BAB3D}"/>
              </a:ext>
            </a:extLst>
          </p:cNvPr>
          <p:cNvSpPr>
            <a:spLocks xmlns:a="http://schemas.openxmlformats.org/drawingml/2006/main" noGrp="1"/>
          </p:cNvSpPr>
          <p:nvPr/>
        </p:nvSpPr>
        <p:spPr>
          <a:xfrm xmlns:a="http://schemas.openxmlformats.org/drawingml/2006/main">
            <a:off x="4486275" y="36766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4</a:t>
            </a:r>
            <a:endParaRPr sz="1050" b="1">
              <a:solidFill>
                <a:srgbClr val="FFFFFF"/>
              </a:solidFill>
              <a:latin typeface="微软雅黑"/>
              <a:ea typeface="微软雅黑"/>
              <a:cs typeface="微软雅黑"/>
            </a:endParaRPr>
          </a:p>
        </p:txBody>
      </p:sp>
      <p:sp>
        <p:nvSpPr>
          <p:cNvPr id="331" name="矩形 330">
            <a:extLst xmlns:a="http://schemas.openxmlformats.org/drawingml/2006/main">
              <a:ext uri="{FF2B5EF4-FFF2-40B4-BE49-F238E27FC236}">
                <a16:creationId xmlns:a16="http://schemas.microsoft.com/office/drawing/2014/main" id="{B34C132E-F4AE-48BE-85B9-CBA35C9BD052}"/>
              </a:ext>
            </a:extLst>
          </p:cNvPr>
          <p:cNvSpPr>
            <a:spLocks xmlns:a="http://schemas.openxmlformats.org/drawingml/2006/main" noGrp="1"/>
          </p:cNvSpPr>
          <p:nvPr/>
        </p:nvSpPr>
        <p:spPr>
          <a:xfrm xmlns:a="http://schemas.openxmlformats.org/drawingml/2006/main">
            <a:off x="4772025" y="3638550"/>
            <a:ext cx="4057650"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项目名：HelloWorld；包名留空；类名：Main</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Project name: HelloWorld; package name left blank; class name: Main</a:t>
            </a:r>
          </a:p>
        </p:txBody>
      </p:sp>
      <p:sp>
        <p:nvSpPr>
          <p:cNvPr id="332" name="圆角矩形 331">
            <a:extLst xmlns:a="http://schemas.openxmlformats.org/drawingml/2006/main">
              <a:ext uri="{FF2B5EF4-FFF2-40B4-BE49-F238E27FC236}">
                <a16:creationId xmlns:a16="http://schemas.microsoft.com/office/drawing/2014/main" id="{B16F8F73-2051-448C-B80E-89F12AE86630}"/>
              </a:ext>
            </a:extLst>
          </p:cNvPr>
          <p:cNvSpPr>
            <a:spLocks xmlns:a="http://schemas.openxmlformats.org/drawingml/2006/main" noGrp="1"/>
          </p:cNvSpPr>
          <p:nvPr/>
        </p:nvSpPr>
        <p:spPr>
          <a:xfrm xmlns:a="http://schemas.openxmlformats.org/drawingml/2006/main">
            <a:off x="4391025" y="39814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33" name="矩形 332">
            <a:extLst xmlns:a="http://schemas.openxmlformats.org/drawingml/2006/main">
              <a:ext uri="{FF2B5EF4-FFF2-40B4-BE49-F238E27FC236}">
                <a16:creationId xmlns:a16="http://schemas.microsoft.com/office/drawing/2014/main" id="{88045759-D0B6-4950-8DE4-91ED586F41B7}"/>
              </a:ext>
            </a:extLst>
          </p:cNvPr>
          <p:cNvSpPr>
            <a:spLocks xmlns:a="http://schemas.openxmlformats.org/drawingml/2006/main" noGrp="1"/>
          </p:cNvSpPr>
          <p:nvPr/>
        </p:nvSpPr>
        <p:spPr>
          <a:xfrm xmlns:a="http://schemas.openxmlformats.org/drawingml/2006/main">
            <a:off x="4486275" y="40386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5</a:t>
            </a:r>
            <a:endParaRPr sz="1050" b="1">
              <a:solidFill>
                <a:srgbClr val="FFFFFF"/>
              </a:solidFill>
              <a:latin typeface="微软雅黑"/>
              <a:ea typeface="微软雅黑"/>
              <a:cs typeface="微软雅黑"/>
            </a:endParaRPr>
          </a:p>
        </p:txBody>
      </p:sp>
      <p:sp>
        <p:nvSpPr>
          <p:cNvPr id="334" name="矩形 333">
            <a:extLst xmlns:a="http://schemas.openxmlformats.org/drawingml/2006/main">
              <a:ext uri="{FF2B5EF4-FFF2-40B4-BE49-F238E27FC236}">
                <a16:creationId xmlns:a16="http://schemas.microsoft.com/office/drawing/2014/main" id="{B837A179-1FE0-4965-AD47-6D5134FF5B68}"/>
              </a:ext>
            </a:extLst>
          </p:cNvPr>
          <p:cNvSpPr>
            <a:spLocks xmlns:a="http://schemas.openxmlformats.org/drawingml/2006/main" noGrp="1"/>
          </p:cNvSpPr>
          <p:nvPr/>
        </p:nvSpPr>
        <p:spPr>
          <a:xfrm xmlns:a="http://schemas.openxmlformats.org/drawingml/2006/main">
            <a:off x="4772025" y="4000500"/>
            <a:ext cx="4476750"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Finish，IDEA 自动生成 Main.java 与 main 方法骨架</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Finish, IDEA automatically generates Main.java and main method skeleton</a:t>
            </a:r>
          </a:p>
        </p:txBody>
      </p:sp>
      <p:sp>
        <p:nvSpPr>
          <p:cNvPr id="335" name="圆角矩形 334">
            <a:extLst xmlns:a="http://schemas.openxmlformats.org/drawingml/2006/main">
              <a:ext uri="{FF2B5EF4-FFF2-40B4-BE49-F238E27FC236}">
                <a16:creationId xmlns:a16="http://schemas.microsoft.com/office/drawing/2014/main" id="{1BA084CD-20BF-4D28-A65B-F2585682F14F}"/>
              </a:ext>
            </a:extLst>
          </p:cNvPr>
          <p:cNvSpPr>
            <a:spLocks xmlns:a="http://schemas.openxmlformats.org/drawingml/2006/main" noGrp="1"/>
          </p:cNvSpPr>
          <p:nvPr/>
        </p:nvSpPr>
        <p:spPr>
          <a:xfrm xmlns:a="http://schemas.openxmlformats.org/drawingml/2006/main">
            <a:off x="4181475" y="4572000"/>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336" name="矩形 335">
            <a:extLst xmlns:a="http://schemas.openxmlformats.org/drawingml/2006/main">
              <a:ext uri="{FF2B5EF4-FFF2-40B4-BE49-F238E27FC236}">
                <a16:creationId xmlns:a16="http://schemas.microsoft.com/office/drawing/2014/main" id="{6880585B-4DAC-4A2A-8995-063B81D98B39}"/>
              </a:ext>
            </a:extLst>
          </p:cNvPr>
          <p:cNvSpPr>
            <a:spLocks xmlns:a="http://schemas.openxmlformats.org/drawingml/2006/main" noGrp="1"/>
          </p:cNvSpPr>
          <p:nvPr/>
        </p:nvSpPr>
        <p:spPr>
          <a:xfrm xmlns:a="http://schemas.openxmlformats.org/drawingml/2006/main">
            <a:off x="4314825" y="4705350"/>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本课程不涉及 Maven / Gradle，统一使用 IntelliJ 自带构建系统。</a:t>
            </a:r>
          </a:p>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This course does not involve Maven / Gradle, and uses IntelliJ's built-in build system uniformly.</a:t>
            </a:r>
          </a:p>
        </p:txBody>
      </p:sp>
      <p:sp>
        <p:nvSpPr>
          <p:cNvPr id="337" name="矩形 336">
            <a:extLst xmlns:a="http://schemas.openxmlformats.org/drawingml/2006/main">
              <a:ext uri="{FF2B5EF4-FFF2-40B4-BE49-F238E27FC236}">
                <a16:creationId xmlns:a16="http://schemas.microsoft.com/office/drawing/2014/main" id="{5D11CA2F-1339-45BA-8ED2-F59443CD244F}"/>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26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19552313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39" name="矩形 338">
            <a:extLst xmlns:a="http://schemas.openxmlformats.org/drawingml/2006/main">
              <a:ext uri="{FF2B5EF4-FFF2-40B4-BE49-F238E27FC236}">
                <a16:creationId xmlns:a16="http://schemas.microsoft.com/office/drawing/2014/main" id="{1450BA69-CFBF-480E-9799-94739E832D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40" name="矩形 339">
            <a:extLst xmlns:a="http://schemas.openxmlformats.org/drawingml/2006/main">
              <a:ext uri="{FF2B5EF4-FFF2-40B4-BE49-F238E27FC236}">
                <a16:creationId xmlns:a16="http://schemas.microsoft.com/office/drawing/2014/main" id="{C422102C-75B0-4001-B94A-D5073DAB0E2B}"/>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41" name="矩形 340">
            <a:extLst xmlns:a="http://schemas.openxmlformats.org/drawingml/2006/main">
              <a:ext uri="{FF2B5EF4-FFF2-40B4-BE49-F238E27FC236}">
                <a16:creationId xmlns:a16="http://schemas.microsoft.com/office/drawing/2014/main" id="{13D6781B-5510-4C32-94BD-682257800D10}"/>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342" name="矩形 341">
            <a:extLst xmlns:a="http://schemas.openxmlformats.org/drawingml/2006/main">
              <a:ext uri="{FF2B5EF4-FFF2-40B4-BE49-F238E27FC236}">
                <a16:creationId xmlns:a16="http://schemas.microsoft.com/office/drawing/2014/main" id="{E24818A4-0DC9-442A-B933-906E8F03A26A}"/>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§1.5.7</a:t>
            </a:r>
            <a:endParaRPr sz="1200" b="1" spc="300">
              <a:solidFill>
                <a:srgbClr val="1E4FA8"/>
              </a:solidFill>
              <a:latin typeface="微软雅黑"/>
              <a:ea typeface="微软雅黑"/>
              <a:cs typeface="微软雅黑"/>
            </a:endParaRPr>
          </a:p>
        </p:txBody>
      </p:sp>
      <p:sp>
        <p:nvSpPr>
          <p:cNvPr id="343" name="矩形 342">
            <a:extLst xmlns:a="http://schemas.openxmlformats.org/drawingml/2006/main">
              <a:ext uri="{FF2B5EF4-FFF2-40B4-BE49-F238E27FC236}">
                <a16:creationId xmlns:a16="http://schemas.microsoft.com/office/drawing/2014/main" id="{80B661E4-0380-43CB-8DEB-F8E467ADAAE1}"/>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在 IDEA 中</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运行 Hello</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 IDEA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Run Hello</a:t>
            </a:r>
          </a:p>
        </p:txBody>
      </p:sp>
      <p:sp>
        <p:nvSpPr>
          <p:cNvPr id="344" name="矩形 343">
            <a:extLst xmlns:a="http://schemas.openxmlformats.org/drawingml/2006/main">
              <a:ext uri="{FF2B5EF4-FFF2-40B4-BE49-F238E27FC236}">
                <a16:creationId xmlns:a16="http://schemas.microsoft.com/office/drawing/2014/main" id="{7D4618FB-4340-47D5-8325-F6F5C5F6950B}"/>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45" name="矩形 344">
            <a:extLst xmlns:a="http://schemas.openxmlformats.org/drawingml/2006/main">
              <a:ext uri="{FF2B5EF4-FFF2-40B4-BE49-F238E27FC236}">
                <a16:creationId xmlns:a16="http://schemas.microsoft.com/office/drawing/2014/main" id="{543F19E8-A86C-4A54-94D9-A255A1329C2F}"/>
              </a:ext>
            </a:extLst>
          </p:cNvPr>
          <p:cNvSpPr>
            <a:spLocks xmlns:a="http://schemas.openxmlformats.org/drawingml/2006/main" noGrp="1"/>
          </p:cNvSpPr>
          <p:nvPr/>
        </p:nvSpPr>
        <p:spPr>
          <a:xfrm xmlns:a="http://schemas.openxmlformats.org/drawingml/2006/main">
            <a:off x="457200" y="3152775"/>
            <a:ext cx="3381375" cy="2333625"/>
          </a:xfrm>
          <a:prstGeom xmlns:a="http://schemas.openxmlformats.org/drawingml/2006/main" prst="rect">
            <a:avLst/>
          </a:prstGeom>
        </p:spPr>
        <p:txBody>
          <a:bodyPr xmlns:a="http://schemas.openxmlformats.org/drawingml/2006/main" wrap="square" lIns="0" tIns="0" rIns="0" bIns="0">
            <a:normAutofit fontScale="38785"/>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将 Hello.java 内容放入 Main.java（或新建 Hello.java），点击 main 左侧绿色三角 / 右键 Run。IDEA 自动调用 javac 编译 + java 运行，输出：大家好! / Nice to meet you / We are students。</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Put the content of Hello.java into Main.java (or create a new Hello.java), click the green triangle on the left side of main/right-click Run. IDEA automatically calls javac to compile + java to run, and the output is: Hello everyone! / Nice to meet you / We are students.</a:t>
            </a:r>
          </a:p>
        </p:txBody>
      </p:sp>
      <p:pic>
        <p:nvPicPr>
          <p:cNvPr id="356" name="图片 355"/>
          <p:cNvPicPr>
            <a:picLocks xmlns:a="http://schemas.openxmlformats.org/drawingml/2006/main" noChangeAspect="1"/>
          </p:cNvPicPr>
          <p:nvPr/>
        </p:nvPicPr>
        <p:blipFill>
          <a:blip xmlns:r="http://schemas.openxmlformats.org/officeDocument/2006/relationships" xmlns:a="http://schemas.openxmlformats.org/drawingml/2006/main" r:embed="Re959383eb335445a"/>
          <a:srcRect xmlns:a="http://schemas.openxmlformats.org/drawingml/2006/main" l="24" t="0" r="24" b="0"/>
          <a:stretch xmlns:a="http://schemas.openxmlformats.org/drawingml/2006/main">
            <a:fillRect l="0" t="0" r="0" b="0"/>
          </a:stretch>
        </p:blipFill>
        <p:spPr>
          <a:xfrm xmlns:a="http://schemas.openxmlformats.org/drawingml/2006/main">
            <a:off x="4695825" y="1276350"/>
            <a:ext cx="6486525" cy="4762500"/>
          </a:xfrm>
          <a:prstGeom xmlns:a="http://schemas.openxmlformats.org/drawingml/2006/main" prst="roundRect">
            <a:avLst>
              <a:gd name="adj" fmla="val 2400"/>
            </a:avLst>
          </a:prstGeom>
          <a:effectLst xmlns:a="http://schemas.openxmlformats.org/drawingml/2006/main">
            <a:outerShdw blurRad="152400" dist="38100" dir="5400000">
              <a:srgbClr val="0F1C2E">
                <a:alpha val="8000"/>
              </a:srgbClr>
            </a:outerShdw>
          </a:effectLst>
        </p:spPr>
      </p:pic>
      <p:sp>
        <p:nvSpPr>
          <p:cNvPr id="347" name="矩形 346">
            <a:extLst xmlns:a="http://schemas.openxmlformats.org/drawingml/2006/main">
              <a:ext uri="{FF2B5EF4-FFF2-40B4-BE49-F238E27FC236}">
                <a16:creationId xmlns:a16="http://schemas.microsoft.com/office/drawing/2014/main" id="{943BB2AF-31F5-4D3A-B197-C703D3407593}"/>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27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11684027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49" name="矩形 348">
            <a:extLst xmlns:a="http://schemas.openxmlformats.org/drawingml/2006/main">
              <a:ext uri="{FF2B5EF4-FFF2-40B4-BE49-F238E27FC236}">
                <a16:creationId xmlns:a16="http://schemas.microsoft.com/office/drawing/2014/main" id="{2E7469E4-CD08-45AE-AE29-2C17E63FEF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50" name="矩形 349">
            <a:extLst xmlns:a="http://schemas.openxmlformats.org/drawingml/2006/main">
              <a:ext uri="{FF2B5EF4-FFF2-40B4-BE49-F238E27FC236}">
                <a16:creationId xmlns:a16="http://schemas.microsoft.com/office/drawing/2014/main" id="{489E1AE2-0254-4C07-B221-B535CEE99E80}"/>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51" name="矩形 350">
            <a:extLst xmlns:a="http://schemas.openxmlformats.org/drawingml/2006/main">
              <a:ext uri="{FF2B5EF4-FFF2-40B4-BE49-F238E27FC236}">
                <a16:creationId xmlns:a16="http://schemas.microsoft.com/office/drawing/2014/main" id="{06B8A6B3-F5DF-4E47-85F1-4F08108EA4A7}"/>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352" name="矩形 351">
            <a:extLst xmlns:a="http://schemas.openxmlformats.org/drawingml/2006/main">
              <a:ext uri="{FF2B5EF4-FFF2-40B4-BE49-F238E27FC236}">
                <a16:creationId xmlns:a16="http://schemas.microsoft.com/office/drawing/2014/main" id="{7C6D8B75-F848-4CC1-B30C-B8705B5561C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§1.5.8</a:t>
            </a:r>
            <a:endParaRPr sz="1200" b="1" spc="300">
              <a:solidFill>
                <a:srgbClr val="1E4FA8"/>
              </a:solidFill>
              <a:latin typeface="微软雅黑"/>
              <a:ea typeface="微软雅黑"/>
              <a:cs typeface="微软雅黑"/>
            </a:endParaRPr>
          </a:p>
        </p:txBody>
      </p:sp>
      <p:sp>
        <p:nvSpPr>
          <p:cNvPr id="353" name="矩形 352">
            <a:extLst xmlns:a="http://schemas.openxmlformats.org/drawingml/2006/main">
              <a:ext uri="{FF2B5EF4-FFF2-40B4-BE49-F238E27FC236}">
                <a16:creationId xmlns:a16="http://schemas.microsoft.com/office/drawing/2014/main" id="{FC9D1B7D-D5C5-47D0-AE4B-6EA9946D4DC5}"/>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5051"/>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常用调试技巧</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（选讲）</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Common debugging techniques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(selected lectures)</a:t>
            </a:r>
          </a:p>
        </p:txBody>
      </p:sp>
      <p:sp>
        <p:nvSpPr>
          <p:cNvPr id="354" name="矩形 353">
            <a:extLst xmlns:a="http://schemas.openxmlformats.org/drawingml/2006/main">
              <a:ext uri="{FF2B5EF4-FFF2-40B4-BE49-F238E27FC236}">
                <a16:creationId xmlns:a16="http://schemas.microsoft.com/office/drawing/2014/main" id="{AE356FBD-1076-4572-B4B3-7C7AA5F74073}"/>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55" name="矩形 354">
            <a:extLst xmlns:a="http://schemas.openxmlformats.org/drawingml/2006/main">
              <a:ext uri="{FF2B5EF4-FFF2-40B4-BE49-F238E27FC236}">
                <a16:creationId xmlns:a16="http://schemas.microsoft.com/office/drawing/2014/main" id="{574F066D-B985-4613-8374-B24EB1207D73}"/>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29910"/>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打断点、单步执行、观察变量</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Breakpoints, single-step execution, observation variables</a:t>
            </a:r>
          </a:p>
        </p:txBody>
      </p:sp>
      <p:sp>
        <p:nvSpPr>
          <p:cNvPr id="356" name="圆角矩形 355">
            <a:extLst xmlns:a="http://schemas.openxmlformats.org/drawingml/2006/main">
              <a:ext uri="{FF2B5EF4-FFF2-40B4-BE49-F238E27FC236}">
                <a16:creationId xmlns:a16="http://schemas.microsoft.com/office/drawing/2014/main" id="{C99E95B1-B62D-473F-BE5F-223C4AF18EA6}"/>
              </a:ext>
            </a:extLst>
          </p:cNvPr>
          <p:cNvSpPr>
            <a:spLocks xmlns:a="http://schemas.openxmlformats.org/drawingml/2006/main" noGrp="1"/>
          </p:cNvSpPr>
          <p:nvPr/>
        </p:nvSpPr>
        <p:spPr>
          <a:xfrm xmlns:a="http://schemas.openxmlformats.org/drawingml/2006/main">
            <a:off x="4181475" y="1295400"/>
            <a:ext cx="7553325" cy="981075"/>
          </a:xfrm>
          <a:prstGeom xmlns:a="http://schemas.openxmlformats.org/drawingml/2006/main" prst="roundRect">
            <a:avLst>
              <a:gd name="adj" fmla="val 970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57" name="矩形 356">
            <a:extLst xmlns:a="http://schemas.openxmlformats.org/drawingml/2006/main">
              <a:ext uri="{FF2B5EF4-FFF2-40B4-BE49-F238E27FC236}">
                <a16:creationId xmlns:a16="http://schemas.microsoft.com/office/drawing/2014/main" id="{B8E26F85-4C50-4721-AF46-2AF73466D19E}"/>
              </a:ext>
            </a:extLst>
          </p:cNvPr>
          <p:cNvSpPr>
            <a:spLocks xmlns:a="http://schemas.openxmlformats.org/drawingml/2006/main" noGrp="1"/>
          </p:cNvSpPr>
          <p:nvPr/>
        </p:nvSpPr>
        <p:spPr>
          <a:xfrm xmlns:a="http://schemas.openxmlformats.org/drawingml/2006/main">
            <a:off x="4371975" y="1485900"/>
            <a:ext cx="71723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断点</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breakpoint</a:t>
            </a:r>
          </a:p>
        </p:txBody>
      </p:sp>
      <p:sp>
        <p:nvSpPr>
          <p:cNvPr id="358" name="矩形 357">
            <a:extLst xmlns:a="http://schemas.openxmlformats.org/drawingml/2006/main">
              <a:ext uri="{FF2B5EF4-FFF2-40B4-BE49-F238E27FC236}">
                <a16:creationId xmlns:a16="http://schemas.microsoft.com/office/drawing/2014/main" id="{6EEFD76D-7A31-4304-8AD6-84A6BD778ACF}"/>
              </a:ext>
            </a:extLst>
          </p:cNvPr>
          <p:cNvSpPr>
            <a:spLocks xmlns:a="http://schemas.openxmlformats.org/drawingml/2006/main" noGrp="1"/>
          </p:cNvSpPr>
          <p:nvPr/>
        </p:nvSpPr>
        <p:spPr>
          <a:xfrm xmlns:a="http://schemas.openxmlformats.org/drawingml/2006/main">
            <a:off x="4371975" y="1771650"/>
            <a:ext cx="7172325" cy="314325"/>
          </a:xfrm>
          <a:prstGeom xmlns:a="http://schemas.openxmlformats.org/drawingml/2006/main" prst="rect">
            <a:avLst/>
          </a:prstGeom>
        </p:spPr>
        <p:txBody>
          <a:bodyPr xmlns:a="http://schemas.openxmlformats.org/drawingml/2006/main" wrap="none" lIns="0" tIns="0" rIns="0" bIns="0">
            <a:normAutofit fontScale="39211"/>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点击代码行号左侧添加红点，然后以 Debug 模式运行。</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Click to add a red dot to the left of the code line number and run in Debug mode.</a:t>
            </a:r>
          </a:p>
        </p:txBody>
      </p:sp>
      <p:sp>
        <p:nvSpPr>
          <p:cNvPr id="359" name="圆角矩形 358">
            <a:extLst xmlns:a="http://schemas.openxmlformats.org/drawingml/2006/main">
              <a:ext uri="{FF2B5EF4-FFF2-40B4-BE49-F238E27FC236}">
                <a16:creationId xmlns:a16="http://schemas.microsoft.com/office/drawing/2014/main" id="{C34220E4-D0E4-4E4A-BA58-7918F03A95F9}"/>
              </a:ext>
            </a:extLst>
          </p:cNvPr>
          <p:cNvSpPr>
            <a:spLocks xmlns:a="http://schemas.openxmlformats.org/drawingml/2006/main" noGrp="1"/>
          </p:cNvSpPr>
          <p:nvPr/>
        </p:nvSpPr>
        <p:spPr>
          <a:xfrm xmlns:a="http://schemas.openxmlformats.org/drawingml/2006/main">
            <a:off x="4181475" y="2428875"/>
            <a:ext cx="7553325" cy="981075"/>
          </a:xfrm>
          <a:prstGeom xmlns:a="http://schemas.openxmlformats.org/drawingml/2006/main" prst="roundRect">
            <a:avLst>
              <a:gd name="adj" fmla="val 970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60" name="矩形 359">
            <a:extLst xmlns:a="http://schemas.openxmlformats.org/drawingml/2006/main">
              <a:ext uri="{FF2B5EF4-FFF2-40B4-BE49-F238E27FC236}">
                <a16:creationId xmlns:a16="http://schemas.microsoft.com/office/drawing/2014/main" id="{71F16ADC-58DA-4CBE-AEF7-B01D808C6B5D}"/>
              </a:ext>
            </a:extLst>
          </p:cNvPr>
          <p:cNvSpPr>
            <a:spLocks xmlns:a="http://schemas.openxmlformats.org/drawingml/2006/main" noGrp="1"/>
          </p:cNvSpPr>
          <p:nvPr/>
        </p:nvSpPr>
        <p:spPr>
          <a:xfrm xmlns:a="http://schemas.openxmlformats.org/drawingml/2006/main">
            <a:off x="4371975" y="2619375"/>
            <a:ext cx="71723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单步执行</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Single step execution</a:t>
            </a:r>
          </a:p>
        </p:txBody>
      </p:sp>
      <p:sp>
        <p:nvSpPr>
          <p:cNvPr id="361" name="矩形 360">
            <a:extLst xmlns:a="http://schemas.openxmlformats.org/drawingml/2006/main">
              <a:ext uri="{FF2B5EF4-FFF2-40B4-BE49-F238E27FC236}">
                <a16:creationId xmlns:a16="http://schemas.microsoft.com/office/drawing/2014/main" id="{AA9B14CC-3CD0-4E59-9187-050D084AD19F}"/>
              </a:ext>
            </a:extLst>
          </p:cNvPr>
          <p:cNvSpPr>
            <a:spLocks xmlns:a="http://schemas.openxmlformats.org/drawingml/2006/main" noGrp="1"/>
          </p:cNvSpPr>
          <p:nvPr/>
        </p:nvSpPr>
        <p:spPr>
          <a:xfrm xmlns:a="http://schemas.openxmlformats.org/drawingml/2006/main">
            <a:off x="4371975" y="2905125"/>
            <a:ext cx="71723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200">
                <a:solidFill>
                  <a:srgbClr val="1A2230"/>
                </a:solidFill>
                <a:latin typeface="微软雅黑"/>
                <a:ea typeface="微软雅黑"/>
                <a:cs typeface="微软雅黑"/>
              </a:rPr>
              <a:t>Step Over</a:t>
            </a:r>
            <a:r>
              <a:rPr sz="1200">
                <a:solidFill>
                  <a:srgbClr val="1A2230"/>
                </a:solidFill>
                <a:latin typeface="微软雅黑"/>
                <a:ea typeface="微软雅黑"/>
                <a:cs typeface="微软雅黑"/>
              </a:rPr>
              <a:t>（</a:t>
            </a:r>
            <a:r>
              <a:rPr sz="1200">
                <a:solidFill>
                  <a:srgbClr val="1A2230"/>
                </a:solidFill>
                <a:latin typeface="微软雅黑"/>
                <a:ea typeface="微软雅黑"/>
                <a:cs typeface="微软雅黑"/>
              </a:rPr>
              <a:t>F8</a:t>
            </a:r>
            <a:r>
              <a:rPr sz="1200">
                <a:solidFill>
                  <a:srgbClr val="1A2230"/>
                </a:solidFill>
                <a:latin typeface="微软雅黑"/>
                <a:ea typeface="微软雅黑"/>
                <a:cs typeface="微软雅黑"/>
              </a:rPr>
              <a:t>）·</a:t>
            </a:r>
            <a:r>
              <a:rPr sz="1200">
                <a:solidFill>
                  <a:srgbClr val="1A2230"/>
                </a:solidFill>
                <a:latin typeface="微软雅黑"/>
                <a:ea typeface="微软雅黑"/>
                <a:cs typeface="微软雅黑"/>
              </a:rPr>
              <a:t> Step Into</a:t>
            </a:r>
            <a:r>
              <a:rPr sz="1200">
                <a:solidFill>
                  <a:srgbClr val="1A2230"/>
                </a:solidFill>
                <a:latin typeface="微软雅黑"/>
                <a:ea typeface="微软雅黑"/>
                <a:cs typeface="微软雅黑"/>
              </a:rPr>
              <a:t>（</a:t>
            </a:r>
            <a:r>
              <a:rPr sz="1200">
                <a:solidFill>
                  <a:srgbClr val="1A2230"/>
                </a:solidFill>
                <a:latin typeface="微软雅黑"/>
                <a:ea typeface="微软雅黑"/>
                <a:cs typeface="微软雅黑"/>
              </a:rPr>
              <a:t>F7</a:t>
            </a:r>
            <a:r>
              <a:rPr sz="1200">
                <a:solidFill>
                  <a:srgbClr val="1A2230"/>
                </a:solidFill>
                <a:latin typeface="微软雅黑"/>
                <a:ea typeface="微软雅黑"/>
                <a:cs typeface="微软雅黑"/>
              </a:rPr>
              <a:t>）</a:t>
            </a:r>
            <a:endParaRPr sz="1200">
              <a:solidFill>
                <a:srgbClr val="1A2230"/>
              </a:solidFill>
              <a:latin typeface="微软雅黑"/>
              <a:ea typeface="微软雅黑"/>
              <a:cs typeface="微软雅黑"/>
            </a:endParaRPr>
          </a:p>
        </p:txBody>
      </p:sp>
      <p:sp>
        <p:nvSpPr>
          <p:cNvPr id="362" name="圆角矩形 361">
            <a:extLst xmlns:a="http://schemas.openxmlformats.org/drawingml/2006/main">
              <a:ext uri="{FF2B5EF4-FFF2-40B4-BE49-F238E27FC236}">
                <a16:creationId xmlns:a16="http://schemas.microsoft.com/office/drawing/2014/main" id="{559EC160-894A-45D7-93C7-34910C9A3399}"/>
              </a:ext>
            </a:extLst>
          </p:cNvPr>
          <p:cNvSpPr>
            <a:spLocks xmlns:a="http://schemas.openxmlformats.org/drawingml/2006/main" noGrp="1"/>
          </p:cNvSpPr>
          <p:nvPr/>
        </p:nvSpPr>
        <p:spPr>
          <a:xfrm xmlns:a="http://schemas.openxmlformats.org/drawingml/2006/main">
            <a:off x="4181475" y="3562350"/>
            <a:ext cx="7553325" cy="981075"/>
          </a:xfrm>
          <a:prstGeom xmlns:a="http://schemas.openxmlformats.org/drawingml/2006/main" prst="roundRect">
            <a:avLst>
              <a:gd name="adj" fmla="val 970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63" name="矩形 362">
            <a:extLst xmlns:a="http://schemas.openxmlformats.org/drawingml/2006/main">
              <a:ext uri="{FF2B5EF4-FFF2-40B4-BE49-F238E27FC236}">
                <a16:creationId xmlns:a16="http://schemas.microsoft.com/office/drawing/2014/main" id="{3EFE8001-D900-46B1-BF3A-282FDE684F0C}"/>
              </a:ext>
            </a:extLst>
          </p:cNvPr>
          <p:cNvSpPr>
            <a:spLocks xmlns:a="http://schemas.openxmlformats.org/drawingml/2006/main" noGrp="1"/>
          </p:cNvSpPr>
          <p:nvPr/>
        </p:nvSpPr>
        <p:spPr>
          <a:xfrm xmlns:a="http://schemas.openxmlformats.org/drawingml/2006/main">
            <a:off x="4371975" y="3752850"/>
            <a:ext cx="71723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观察变量</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Observed variables</a:t>
            </a:r>
          </a:p>
        </p:txBody>
      </p:sp>
      <p:sp>
        <p:nvSpPr>
          <p:cNvPr id="364" name="矩形 363">
            <a:extLst xmlns:a="http://schemas.openxmlformats.org/drawingml/2006/main">
              <a:ext uri="{FF2B5EF4-FFF2-40B4-BE49-F238E27FC236}">
                <a16:creationId xmlns:a16="http://schemas.microsoft.com/office/drawing/2014/main" id="{481C2B17-3F65-4BAA-9D64-E1880087B017}"/>
              </a:ext>
            </a:extLst>
          </p:cNvPr>
          <p:cNvSpPr>
            <a:spLocks xmlns:a="http://schemas.openxmlformats.org/drawingml/2006/main" noGrp="1"/>
          </p:cNvSpPr>
          <p:nvPr/>
        </p:nvSpPr>
        <p:spPr>
          <a:xfrm xmlns:a="http://schemas.openxmlformats.org/drawingml/2006/main">
            <a:off x="4371975" y="4038600"/>
            <a:ext cx="7172325" cy="314325"/>
          </a:xfrm>
          <a:prstGeom xmlns:a="http://schemas.openxmlformats.org/drawingml/2006/main" prst="rect">
            <a:avLst/>
          </a:prstGeom>
        </p:spPr>
        <p:txBody>
          <a:bodyPr xmlns:a="http://schemas.openxmlformats.org/drawingml/2006/main" wrap="none" lIns="0" tIns="0" rIns="0" bIns="0">
            <a:normAutofit fontScale="39211"/>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Variables 面板实时显示变量值。</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The Variables panel displays variable values ​​in real time.</a:t>
            </a:r>
          </a:p>
        </p:txBody>
      </p:sp>
      <p:sp>
        <p:nvSpPr>
          <p:cNvPr id="365" name="圆角矩形 364">
            <a:extLst xmlns:a="http://schemas.openxmlformats.org/drawingml/2006/main">
              <a:ext uri="{FF2B5EF4-FFF2-40B4-BE49-F238E27FC236}">
                <a16:creationId xmlns:a16="http://schemas.microsoft.com/office/drawing/2014/main" id="{5025A9EA-06E9-4790-88AB-69F61E3CC9A3}"/>
              </a:ext>
            </a:extLst>
          </p:cNvPr>
          <p:cNvSpPr>
            <a:spLocks xmlns:a="http://schemas.openxmlformats.org/drawingml/2006/main" noGrp="1"/>
          </p:cNvSpPr>
          <p:nvPr/>
        </p:nvSpPr>
        <p:spPr>
          <a:xfrm xmlns:a="http://schemas.openxmlformats.org/drawingml/2006/main">
            <a:off x="4181475" y="4695825"/>
            <a:ext cx="7553325" cy="981075"/>
          </a:xfrm>
          <a:prstGeom xmlns:a="http://schemas.openxmlformats.org/drawingml/2006/main" prst="roundRect">
            <a:avLst>
              <a:gd name="adj" fmla="val 9709"/>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66" name="矩形 365">
            <a:extLst xmlns:a="http://schemas.openxmlformats.org/drawingml/2006/main">
              <a:ext uri="{FF2B5EF4-FFF2-40B4-BE49-F238E27FC236}">
                <a16:creationId xmlns:a16="http://schemas.microsoft.com/office/drawing/2014/main" id="{019B1737-4A2E-4F72-9007-30E6616AE21B}"/>
              </a:ext>
            </a:extLst>
          </p:cNvPr>
          <p:cNvSpPr>
            <a:spLocks xmlns:a="http://schemas.openxmlformats.org/drawingml/2006/main" noGrp="1"/>
          </p:cNvSpPr>
          <p:nvPr/>
        </p:nvSpPr>
        <p:spPr>
          <a:xfrm xmlns:a="http://schemas.openxmlformats.org/drawingml/2006/main">
            <a:off x="4371975" y="4886325"/>
            <a:ext cx="71723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重构</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Refactor</a:t>
            </a:r>
          </a:p>
        </p:txBody>
      </p:sp>
      <p:sp>
        <p:nvSpPr>
          <p:cNvPr id="367" name="矩形 366">
            <a:extLst xmlns:a="http://schemas.openxmlformats.org/drawingml/2006/main">
              <a:ext uri="{FF2B5EF4-FFF2-40B4-BE49-F238E27FC236}">
                <a16:creationId xmlns:a16="http://schemas.microsoft.com/office/drawing/2014/main" id="{EBD80391-54C8-4C54-9C3F-6E354837F479}"/>
              </a:ext>
            </a:extLst>
          </p:cNvPr>
          <p:cNvSpPr>
            <a:spLocks xmlns:a="http://schemas.openxmlformats.org/drawingml/2006/main" noGrp="1"/>
          </p:cNvSpPr>
          <p:nvPr/>
        </p:nvSpPr>
        <p:spPr>
          <a:xfrm xmlns:a="http://schemas.openxmlformats.org/drawingml/2006/main">
            <a:off x="4371975" y="5172075"/>
            <a:ext cx="7172325" cy="314325"/>
          </a:xfrm>
          <a:prstGeom xmlns:a="http://schemas.openxmlformats.org/drawingml/2006/main" prst="rect">
            <a:avLst/>
          </a:prstGeom>
        </p:spPr>
        <p:txBody>
          <a:bodyPr xmlns:a="http://schemas.openxmlformats.org/drawingml/2006/main" wrap="none" lIns="0" tIns="0" rIns="0" bIns="0">
            <a:normAutofit fontScale="39211"/>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Rename（Shift+F6）批量重命名。</a:t>
            </a:r>
          </a:p>
          <a:p xmlns:a="http://schemas.openxmlformats.org/drawingml/2006/main">
            <a:pPr marL="0">
              <a:lnSpc>
                <a:spcPct val="100000"/>
              </a:lnSpc>
              <a:spcBef>
                <a:spcPts val="0"/>
              </a:spcBef>
              <a:spcAft>
                <a:spcPts val="0"/>
              </a:spcAft>
              <a:buNone/>
            </a:pPr>
            <a:r>
              <a:rPr sz="2630">
                <a:solidFill>
                  <a:srgbClr val="1A2230"/>
                </a:solidFill>
                <a:latin typeface="微软雅黑"/>
                <a:ea typeface="微软雅黑"/>
                <a:cs typeface="微软雅黑"/>
              </a:rPr>
              <a:t>Rename (Shift+F6) batch rename.</a:t>
            </a:r>
          </a:p>
        </p:txBody>
      </p:sp>
      <p:sp>
        <p:nvSpPr>
          <p:cNvPr id="368" name="圆角矩形 367">
            <a:extLst xmlns:a="http://schemas.openxmlformats.org/drawingml/2006/main">
              <a:ext uri="{FF2B5EF4-FFF2-40B4-BE49-F238E27FC236}">
                <a16:creationId xmlns:a16="http://schemas.microsoft.com/office/drawing/2014/main" id="{47FCF178-9F75-4382-B89C-089349302966}"/>
              </a:ext>
            </a:extLst>
          </p:cNvPr>
          <p:cNvSpPr>
            <a:spLocks xmlns:a="http://schemas.openxmlformats.org/drawingml/2006/main" noGrp="1"/>
          </p:cNvSpPr>
          <p:nvPr/>
        </p:nvSpPr>
        <p:spPr>
          <a:xfrm xmlns:a="http://schemas.openxmlformats.org/drawingml/2006/main">
            <a:off x="4181475" y="5829300"/>
            <a:ext cx="7553325" cy="419100"/>
          </a:xfrm>
          <a:prstGeom xmlns:a="http://schemas.openxmlformats.org/drawingml/2006/main" prst="roundRect">
            <a:avLst>
              <a:gd name="adj" fmla="val 18182"/>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369" name="矩形 368">
            <a:extLst xmlns:a="http://schemas.openxmlformats.org/drawingml/2006/main">
              <a:ext uri="{FF2B5EF4-FFF2-40B4-BE49-F238E27FC236}">
                <a16:creationId xmlns:a16="http://schemas.microsoft.com/office/drawing/2014/main" id="{3699DA7C-D2FF-4474-B17F-FB5E1CFA0376}"/>
              </a:ext>
            </a:extLst>
          </p:cNvPr>
          <p:cNvSpPr>
            <a:spLocks xmlns:a="http://schemas.openxmlformats.org/drawingml/2006/main" noGrp="1"/>
          </p:cNvSpPr>
          <p:nvPr/>
        </p:nvSpPr>
        <p:spPr>
          <a:xfrm xmlns:a="http://schemas.openxmlformats.org/drawingml/2006/main">
            <a:off x="4295775" y="5943600"/>
            <a:ext cx="73247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本章仅做基本演示，详细调试留到第 4 章结合实例展开。</a:t>
            </a:r>
          </a:p>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This chapter only provides basic demonstration, leaving detailed debugging to Chapter 4 with examples.</a:t>
            </a:r>
          </a:p>
        </p:txBody>
      </p:sp>
      <p:sp>
        <p:nvSpPr>
          <p:cNvPr id="370" name="矩形 369">
            <a:extLst xmlns:a="http://schemas.openxmlformats.org/drawingml/2006/main">
              <a:ext uri="{FF2B5EF4-FFF2-40B4-BE49-F238E27FC236}">
                <a16:creationId xmlns:a16="http://schemas.microsoft.com/office/drawing/2014/main" id="{CC227101-6D2C-47A7-967B-D5B072CDFFA8}"/>
              </a:ext>
            </a:extLst>
          </p:cNvPr>
          <p:cNvSpPr>
            <a:spLocks xmlns:a="http://schemas.openxmlformats.org/drawingml/2006/main" noGrp="1"/>
          </p:cNvSpPr>
          <p:nvPr/>
        </p:nvSpPr>
        <p:spPr>
          <a:xfrm xmlns:a="http://schemas.openxmlformats.org/drawingml/2006/main">
            <a:off x="11258550" y="6438900"/>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28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11476862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72" name="矩形 371">
            <a:extLst xmlns:a="http://schemas.openxmlformats.org/drawingml/2006/main">
              <a:ext uri="{FF2B5EF4-FFF2-40B4-BE49-F238E27FC236}">
                <a16:creationId xmlns:a16="http://schemas.microsoft.com/office/drawing/2014/main" id="{932F1DE7-0FC3-4CFD-B72C-C7AC38A454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73" name="矩形 372">
            <a:extLst xmlns:a="http://schemas.openxmlformats.org/drawingml/2006/main">
              <a:ext uri="{FF2B5EF4-FFF2-40B4-BE49-F238E27FC236}">
                <a16:creationId xmlns:a16="http://schemas.microsoft.com/office/drawing/2014/main" id="{A28029C7-5ED5-4EC2-BD20-A3ACF132B075}"/>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74" name="矩形 373">
            <a:extLst xmlns:a="http://schemas.openxmlformats.org/drawingml/2006/main">
              <a:ext uri="{FF2B5EF4-FFF2-40B4-BE49-F238E27FC236}">
                <a16:creationId xmlns:a16="http://schemas.microsoft.com/office/drawing/2014/main" id="{90465699-420E-474C-B079-067A8C4F6917}"/>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375" name="矩形 374">
            <a:extLst xmlns:a="http://schemas.openxmlformats.org/drawingml/2006/main">
              <a:ext uri="{FF2B5EF4-FFF2-40B4-BE49-F238E27FC236}">
                <a16:creationId xmlns:a16="http://schemas.microsoft.com/office/drawing/2014/main" id="{603899E9-13D7-4864-8523-31222F5362D2}"/>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§1.5.9</a:t>
            </a:r>
            <a:endParaRPr sz="1200" b="1" spc="300">
              <a:solidFill>
                <a:srgbClr val="1E4FA8"/>
              </a:solidFill>
              <a:latin typeface="微软雅黑"/>
              <a:ea typeface="微软雅黑"/>
              <a:cs typeface="微软雅黑"/>
            </a:endParaRPr>
          </a:p>
        </p:txBody>
      </p:sp>
      <p:sp>
        <p:nvSpPr>
          <p:cNvPr id="376" name="矩形 375">
            <a:extLst xmlns:a="http://schemas.openxmlformats.org/drawingml/2006/main">
              <a:ext uri="{FF2B5EF4-FFF2-40B4-BE49-F238E27FC236}">
                <a16:creationId xmlns:a16="http://schemas.microsoft.com/office/drawing/2014/main" id="{14296A86-A7EA-4D6C-90C0-9E49382943A4}"/>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IDEA 与命令行</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的关系</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IDEA and the command line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relationship</a:t>
            </a:r>
          </a:p>
        </p:txBody>
      </p:sp>
      <p:sp>
        <p:nvSpPr>
          <p:cNvPr id="377" name="矩形 376">
            <a:extLst xmlns:a="http://schemas.openxmlformats.org/drawingml/2006/main">
              <a:ext uri="{FF2B5EF4-FFF2-40B4-BE49-F238E27FC236}">
                <a16:creationId xmlns:a16="http://schemas.microsoft.com/office/drawing/2014/main" id="{46C29C40-82E8-4793-AE5F-73D4C8F63483}"/>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78" name="矩形 377">
            <a:extLst xmlns:a="http://schemas.openxmlformats.org/drawingml/2006/main">
              <a:ext uri="{FF2B5EF4-FFF2-40B4-BE49-F238E27FC236}">
                <a16:creationId xmlns:a16="http://schemas.microsoft.com/office/drawing/2014/main" id="{E07F395E-8880-46E0-AEEB-13F06770F6FB}"/>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1836"/>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IDE 是命令行的图形化封装</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IDE is a graphical encapsulation of the command line</a:t>
            </a:r>
          </a:p>
        </p:txBody>
      </p:sp>
      <p:sp>
        <p:nvSpPr>
          <p:cNvPr id="379" name="圆角矩形 378">
            <a:extLst xmlns:a="http://schemas.openxmlformats.org/drawingml/2006/main">
              <a:ext uri="{FF2B5EF4-FFF2-40B4-BE49-F238E27FC236}">
                <a16:creationId xmlns:a16="http://schemas.microsoft.com/office/drawing/2014/main" id="{9AF56157-337A-4625-B824-DDB9AC9752A8}"/>
              </a:ext>
            </a:extLst>
          </p:cNvPr>
          <p:cNvSpPr>
            <a:spLocks xmlns:a="http://schemas.openxmlformats.org/drawingml/2006/main" noGrp="1"/>
          </p:cNvSpPr>
          <p:nvPr/>
        </p:nvSpPr>
        <p:spPr>
          <a:xfrm xmlns:a="http://schemas.openxmlformats.org/drawingml/2006/main">
            <a:off x="4181475" y="2124075"/>
            <a:ext cx="7553325" cy="186690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380" name="矩形 379">
            <a:extLst xmlns:a="http://schemas.openxmlformats.org/drawingml/2006/main">
              <a:ext uri="{FF2B5EF4-FFF2-40B4-BE49-F238E27FC236}">
                <a16:creationId xmlns:a16="http://schemas.microsoft.com/office/drawing/2014/main" id="{4DD9961D-CEB0-4C7D-BABF-7505874ED078}"/>
              </a:ext>
            </a:extLst>
          </p:cNvPr>
          <p:cNvSpPr>
            <a:spLocks xmlns:a="http://schemas.openxmlformats.org/drawingml/2006/main" noGrp="1"/>
          </p:cNvSpPr>
          <p:nvPr/>
        </p:nvSpPr>
        <p:spPr>
          <a:xfrm xmlns:a="http://schemas.openxmlformats.org/drawingml/2006/main">
            <a:off x="4429125" y="2371725"/>
            <a:ext cx="7058025" cy="381000"/>
          </a:xfrm>
          <a:prstGeom xmlns:a="http://schemas.openxmlformats.org/drawingml/2006/main" prst="rect">
            <a:avLst/>
          </a:prstGeom>
        </p:spPr>
        <p:txBody>
          <a:bodyPr xmlns:a="http://schemas.openxmlformats.org/drawingml/2006/main" wrap="none" lIns="0" tIns="0" rIns="0" bIns="0">
            <a:normAutofit fontScale="42230"/>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IDEA 底层仍然调用 javac.exe 与 java.exe</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The bottom layer of IDEA still calls javac.exe and java.exe</a:t>
            </a:r>
          </a:p>
        </p:txBody>
      </p:sp>
      <p:sp>
        <p:nvSpPr>
          <p:cNvPr id="381" name="矩形 380">
            <a:extLst xmlns:a="http://schemas.openxmlformats.org/drawingml/2006/main">
              <a:ext uri="{FF2B5EF4-FFF2-40B4-BE49-F238E27FC236}">
                <a16:creationId xmlns:a16="http://schemas.microsoft.com/office/drawing/2014/main" id="{27064C55-D794-48F8-83FF-2AB5A68159EE}"/>
              </a:ext>
            </a:extLst>
          </p:cNvPr>
          <p:cNvSpPr>
            <a:spLocks xmlns:a="http://schemas.openxmlformats.org/drawingml/2006/main" noGrp="1"/>
          </p:cNvSpPr>
          <p:nvPr/>
        </p:nvSpPr>
        <p:spPr>
          <a:xfrm xmlns:a="http://schemas.openxmlformats.org/drawingml/2006/main">
            <a:off x="4429125" y="2867025"/>
            <a:ext cx="7058025" cy="381000"/>
          </a:xfrm>
          <a:prstGeom xmlns:a="http://schemas.openxmlformats.org/drawingml/2006/main" prst="rect">
            <a:avLst/>
          </a:prstGeom>
        </p:spPr>
        <p:txBody>
          <a:bodyPr xmlns:a="http://schemas.openxmlformats.org/drawingml/2006/main" wrap="none" lIns="0" tIns="0" rIns="0" bIns="0">
            <a:normAutofit fontScale="42230"/>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命令行学会后，IDEA 不会带来新概念</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After learning the command line, IDEA will not bring new concepts</a:t>
            </a:r>
          </a:p>
        </p:txBody>
      </p:sp>
      <p:sp>
        <p:nvSpPr>
          <p:cNvPr id="382" name="矩形 381">
            <a:extLst xmlns:a="http://schemas.openxmlformats.org/drawingml/2006/main">
              <a:ext uri="{FF2B5EF4-FFF2-40B4-BE49-F238E27FC236}">
                <a16:creationId xmlns:a16="http://schemas.microsoft.com/office/drawing/2014/main" id="{BDD5178E-FC72-4A11-9EBF-562734378766}"/>
              </a:ext>
            </a:extLst>
          </p:cNvPr>
          <p:cNvSpPr>
            <a:spLocks xmlns:a="http://schemas.openxmlformats.org/drawingml/2006/main" noGrp="1"/>
          </p:cNvSpPr>
          <p:nvPr/>
        </p:nvSpPr>
        <p:spPr>
          <a:xfrm xmlns:a="http://schemas.openxmlformats.org/drawingml/2006/main">
            <a:off x="4429125" y="3362325"/>
            <a:ext cx="7058025" cy="381000"/>
          </a:xfrm>
          <a:prstGeom xmlns:a="http://schemas.openxmlformats.org/drawingml/2006/main" prst="rect">
            <a:avLst/>
          </a:prstGeom>
        </p:spPr>
        <p:txBody>
          <a:bodyPr xmlns:a="http://schemas.openxmlformats.org/drawingml/2006/main" wrap="none" lIns="0" tIns="0" rIns="0" bIns="0">
            <a:normAutofit fontScale="38702"/>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IDEA 编译输出在 out/ 目录，可手动用 java -cp 运行验证</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 IDEA compilation output is in the out/ directory, and can be manually run and verified using java -cp</a:t>
            </a:r>
          </a:p>
        </p:txBody>
      </p:sp>
      <p:sp>
        <p:nvSpPr>
          <p:cNvPr id="383" name="圆角矩形 382">
            <a:extLst xmlns:a="http://schemas.openxmlformats.org/drawingml/2006/main">
              <a:ext uri="{FF2B5EF4-FFF2-40B4-BE49-F238E27FC236}">
                <a16:creationId xmlns:a16="http://schemas.microsoft.com/office/drawing/2014/main" id="{B3BF58DB-D8BB-4630-98C2-4424583875F1}"/>
              </a:ext>
            </a:extLst>
          </p:cNvPr>
          <p:cNvSpPr>
            <a:spLocks xmlns:a="http://schemas.openxmlformats.org/drawingml/2006/main" noGrp="1"/>
          </p:cNvSpPr>
          <p:nvPr/>
        </p:nvSpPr>
        <p:spPr>
          <a:xfrm xmlns:a="http://schemas.openxmlformats.org/drawingml/2006/main">
            <a:off x="4181475" y="4162425"/>
            <a:ext cx="7553325" cy="1066800"/>
          </a:xfrm>
          <a:prstGeom xmlns:a="http://schemas.openxmlformats.org/drawingml/2006/main" prst="roundRect">
            <a:avLst>
              <a:gd name="adj" fmla="val 10714"/>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84" name="矩形 383">
            <a:extLst xmlns:a="http://schemas.openxmlformats.org/drawingml/2006/main">
              <a:ext uri="{FF2B5EF4-FFF2-40B4-BE49-F238E27FC236}">
                <a16:creationId xmlns:a16="http://schemas.microsoft.com/office/drawing/2014/main" id="{200860A6-0918-4E24-ACA2-80E061C937FA}"/>
              </a:ext>
            </a:extLst>
          </p:cNvPr>
          <p:cNvSpPr>
            <a:spLocks xmlns:a="http://schemas.openxmlformats.org/drawingml/2006/main" noGrp="1"/>
          </p:cNvSpPr>
          <p:nvPr/>
        </p:nvSpPr>
        <p:spPr>
          <a:xfrm xmlns:a="http://schemas.openxmlformats.org/drawingml/2006/main">
            <a:off x="4410075" y="4391025"/>
            <a:ext cx="70961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课堂练习建议</a:t>
            </a:r>
          </a:p>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Classroom Practice Suggestions</a:t>
            </a:r>
          </a:p>
        </p:txBody>
      </p:sp>
      <p:sp>
        <p:nvSpPr>
          <p:cNvPr id="385" name="矩形 384">
            <a:extLst xmlns:a="http://schemas.openxmlformats.org/drawingml/2006/main">
              <a:ext uri="{FF2B5EF4-FFF2-40B4-BE49-F238E27FC236}">
                <a16:creationId xmlns:a16="http://schemas.microsoft.com/office/drawing/2014/main" id="{F5A9DB6F-DBB0-4520-B197-884FCD22767D}"/>
              </a:ext>
            </a:extLst>
          </p:cNvPr>
          <p:cNvSpPr>
            <a:spLocks xmlns:a="http://schemas.openxmlformats.org/drawingml/2006/main" noGrp="1"/>
          </p:cNvSpPr>
          <p:nvPr/>
        </p:nvSpPr>
        <p:spPr>
          <a:xfrm xmlns:a="http://schemas.openxmlformats.org/drawingml/2006/main">
            <a:off x="4410075" y="4695825"/>
            <a:ext cx="7096125" cy="304800"/>
          </a:xfrm>
          <a:prstGeom xmlns:a="http://schemas.openxmlformats.org/drawingml/2006/main" prst="rect">
            <a:avLst/>
          </a:prstGeom>
        </p:spPr>
        <p:txBody>
          <a:bodyPr xmlns:a="http://schemas.openxmlformats.org/drawingml/2006/main" wrap="none" lIns="0" tIns="0" rIns="0" bIns="0">
            <a:normAutofit fontScale="38072"/>
          </a:bodyPr>
          <a:lstStyle xmlns:a="http://schemas.openxmlformats.org/drawingml/2006/main"/>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先用命令行完成例子 1/2，再用 IDEA 完成相同的例子。两头都踏实。</a:t>
            </a:r>
          </a:p>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First use the command line to complete Example 1/2, and then use IDEA to complete the same example. Both ends are solid.</a:t>
            </a:r>
          </a:p>
        </p:txBody>
      </p:sp>
      <p:sp>
        <p:nvSpPr>
          <p:cNvPr id="386" name="矩形 385">
            <a:extLst xmlns:a="http://schemas.openxmlformats.org/drawingml/2006/main">
              <a:ext uri="{FF2B5EF4-FFF2-40B4-BE49-F238E27FC236}">
                <a16:creationId xmlns:a16="http://schemas.microsoft.com/office/drawing/2014/main" id="{82EC94FD-606E-46B1-852C-3F2E81506765}"/>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29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22614705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98" name="矩形 397">
            <a:extLst xmlns:a="http://schemas.openxmlformats.org/drawingml/2006/main">
              <a:ext uri="{FF2B5EF4-FFF2-40B4-BE49-F238E27FC236}">
                <a16:creationId xmlns:a16="http://schemas.microsoft.com/office/drawing/2014/main" id="{CC947AA5-A908-48F3-9633-FCC9E9B5F8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99" name="矩形 398">
            <a:extLst xmlns:a="http://schemas.openxmlformats.org/drawingml/2006/main">
              <a:ext uri="{FF2B5EF4-FFF2-40B4-BE49-F238E27FC236}">
                <a16:creationId xmlns:a16="http://schemas.microsoft.com/office/drawing/2014/main" id="{36FE38FB-55A9-48E2-99D9-3F4D484EABC2}"/>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00" name="矩形 399">
            <a:extLst xmlns:a="http://schemas.openxmlformats.org/drawingml/2006/main">
              <a:ext uri="{FF2B5EF4-FFF2-40B4-BE49-F238E27FC236}">
                <a16:creationId xmlns:a16="http://schemas.microsoft.com/office/drawing/2014/main" id="{CB14982A-CE87-4E21-945C-D0BE10656D5B}"/>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01" name="矩形 400">
            <a:extLst xmlns:a="http://schemas.openxmlformats.org/drawingml/2006/main">
              <a:ext uri="{FF2B5EF4-FFF2-40B4-BE49-F238E27FC236}">
                <a16:creationId xmlns:a16="http://schemas.microsoft.com/office/drawing/2014/main" id="{F09C390F-70F0-4AA6-B3CD-86E592586318}"/>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例子 2</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§1.5 Example 2</a:t>
            </a:r>
          </a:p>
        </p:txBody>
      </p:sp>
      <p:sp>
        <p:nvSpPr>
          <p:cNvPr id="402" name="矩形 401">
            <a:extLst xmlns:a="http://schemas.openxmlformats.org/drawingml/2006/main">
              <a:ext uri="{FF2B5EF4-FFF2-40B4-BE49-F238E27FC236}">
                <a16:creationId xmlns:a16="http://schemas.microsoft.com/office/drawing/2014/main" id="{F00B8D20-CBEC-4F99-870F-8B4E20679EFA}"/>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4110"/>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再看一个简单的</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应用程序</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Let’s look at another simple one</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application</a:t>
            </a:r>
          </a:p>
        </p:txBody>
      </p:sp>
      <p:sp>
        <p:nvSpPr>
          <p:cNvPr id="403" name="矩形 402">
            <a:extLst xmlns:a="http://schemas.openxmlformats.org/drawingml/2006/main">
              <a:ext uri="{FF2B5EF4-FFF2-40B4-BE49-F238E27FC236}">
                <a16:creationId xmlns:a16="http://schemas.microsoft.com/office/drawing/2014/main" id="{DCAC9D0C-3FAA-43AC-AFEA-C8C6618ACF41}"/>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04" name="矩形 403">
            <a:extLst xmlns:a="http://schemas.openxmlformats.org/drawingml/2006/main">
              <a:ext uri="{FF2B5EF4-FFF2-40B4-BE49-F238E27FC236}">
                <a16:creationId xmlns:a16="http://schemas.microsoft.com/office/drawing/2014/main" id="{31F9AB60-AA8F-453C-A0A2-EBDA057D644A}"/>
              </a:ext>
            </a:extLst>
          </p:cNvPr>
          <p:cNvSpPr>
            <a:spLocks xmlns:a="http://schemas.openxmlformats.org/drawingml/2006/main" noGrp="1"/>
          </p:cNvSpPr>
          <p:nvPr/>
        </p:nvSpPr>
        <p:spPr>
          <a:xfrm xmlns:a="http://schemas.openxmlformats.org/drawingml/2006/main">
            <a:off x="457200" y="3152775"/>
            <a:ext cx="3381375" cy="2333625"/>
          </a:xfrm>
          <a:prstGeom xmlns:a="http://schemas.openxmlformats.org/drawingml/2006/main" prst="rect">
            <a:avLst/>
          </a:prstGeom>
        </p:spPr>
        <p:txBody>
          <a:bodyPr xmlns:a="http://schemas.openxmlformats.org/drawingml/2006/main" wrap="square" lIns="0" tIns="0" rIns="0" bIns="0">
            <a:normAutofit fontScale="38785"/>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People.java 含 People、A 两个类，主类 A 含 main。编译 javac People.java，运行 java A（注意运行的是主类 A，不是 People）。运行后输出：大家好! / Nice to meet you / We are students。</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People.java contains two classes: People and A. The main class A contains main. Compile javac People.java and run java A (note that the main class A is run, not People). Output after running: Hello everyone! / Nice to meet you / We are students.</a:t>
            </a:r>
          </a:p>
        </p:txBody>
      </p:sp>
      <p:pic>
        <p:nvPicPr>
          <p:cNvPr id="415" name="图片 414"/>
          <p:cNvPicPr>
            <a:picLocks xmlns:a="http://schemas.openxmlformats.org/drawingml/2006/main" noChangeAspect="1"/>
          </p:cNvPicPr>
          <p:nvPr/>
        </p:nvPicPr>
        <p:blipFill>
          <a:blip xmlns:r="http://schemas.openxmlformats.org/officeDocument/2006/relationships" xmlns:a="http://schemas.openxmlformats.org/drawingml/2006/main" r:embed="Rc63c89357994440d"/>
          <a:srcRect xmlns:a="http://schemas.openxmlformats.org/drawingml/2006/main" l="8" t="0" r="8" b="0"/>
          <a:stretch xmlns:a="http://schemas.openxmlformats.org/drawingml/2006/main">
            <a:fillRect l="0" t="0" r="0" b="0"/>
          </a:stretch>
        </p:blipFill>
        <p:spPr>
          <a:xfrm xmlns:a="http://schemas.openxmlformats.org/drawingml/2006/main">
            <a:off x="5000625" y="1276350"/>
            <a:ext cx="5876925" cy="4762500"/>
          </a:xfrm>
          <a:prstGeom xmlns:a="http://schemas.openxmlformats.org/drawingml/2006/main" prst="roundRect">
            <a:avLst>
              <a:gd name="adj" fmla="val 2400"/>
            </a:avLst>
          </a:prstGeom>
          <a:effectLst xmlns:a="http://schemas.openxmlformats.org/drawingml/2006/main">
            <a:outerShdw blurRad="152400" dist="38100" dir="5400000">
              <a:srgbClr val="0F1C2E">
                <a:alpha val="8000"/>
              </a:srgbClr>
            </a:outerShdw>
          </a:effectLst>
        </p:spPr>
      </p:pic>
      <p:sp>
        <p:nvSpPr>
          <p:cNvPr id="406" name="矩形 405">
            <a:extLst xmlns:a="http://schemas.openxmlformats.org/drawingml/2006/main">
              <a:ext uri="{FF2B5EF4-FFF2-40B4-BE49-F238E27FC236}">
                <a16:creationId xmlns:a16="http://schemas.microsoft.com/office/drawing/2014/main" id="{DCD1900B-5630-4E38-BFF2-032457A5B14D}"/>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30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49191326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08" name="矩形 407">
            <a:extLst xmlns:a="http://schemas.openxmlformats.org/drawingml/2006/main">
              <a:ext uri="{FF2B5EF4-FFF2-40B4-BE49-F238E27FC236}">
                <a16:creationId xmlns:a16="http://schemas.microsoft.com/office/drawing/2014/main" id="{9B78EDE6-64C9-48EF-985B-E1D55D7C09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09" name="矩形 408">
            <a:extLst xmlns:a="http://schemas.openxmlformats.org/drawingml/2006/main">
              <a:ext uri="{FF2B5EF4-FFF2-40B4-BE49-F238E27FC236}">
                <a16:creationId xmlns:a16="http://schemas.microsoft.com/office/drawing/2014/main" id="{D0A7B65A-7D46-4BEB-BB7F-AAABCA93F470}"/>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10" name="矩形 409">
            <a:extLst xmlns:a="http://schemas.openxmlformats.org/drawingml/2006/main">
              <a:ext uri="{FF2B5EF4-FFF2-40B4-BE49-F238E27FC236}">
                <a16:creationId xmlns:a16="http://schemas.microsoft.com/office/drawing/2014/main" id="{2380AA02-85CF-4E3A-A61F-08FFE3BB0647}"/>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11" name="矩形 410">
            <a:extLst xmlns:a="http://schemas.openxmlformats.org/drawingml/2006/main">
              <a:ext uri="{FF2B5EF4-FFF2-40B4-BE49-F238E27FC236}">
                <a16:creationId xmlns:a16="http://schemas.microsoft.com/office/drawing/2014/main" id="{B788C7CF-6A6B-4C31-9C1A-22637A5C4FEB}"/>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§1.6 反编译</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§1.6 Decompile</a:t>
            </a:r>
          </a:p>
        </p:txBody>
      </p:sp>
      <p:sp>
        <p:nvSpPr>
          <p:cNvPr id="412" name="矩形 411">
            <a:extLst xmlns:a="http://schemas.openxmlformats.org/drawingml/2006/main">
              <a:ext uri="{FF2B5EF4-FFF2-40B4-BE49-F238E27FC236}">
                <a16:creationId xmlns:a16="http://schemas.microsoft.com/office/drawing/2014/main" id="{CE99A9B0-53E1-4028-A63F-8283E528FA1D}"/>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反编译</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（选讲）</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Java decompilation</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(selected lectures)</a:t>
            </a:r>
          </a:p>
        </p:txBody>
      </p:sp>
      <p:sp>
        <p:nvSpPr>
          <p:cNvPr id="413" name="矩形 412">
            <a:extLst xmlns:a="http://schemas.openxmlformats.org/drawingml/2006/main">
              <a:ext uri="{FF2B5EF4-FFF2-40B4-BE49-F238E27FC236}">
                <a16:creationId xmlns:a16="http://schemas.microsoft.com/office/drawing/2014/main" id="{1CA60924-C201-43C9-B93B-874FBC935E60}"/>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14" name="矩形 413">
            <a:extLst xmlns:a="http://schemas.openxmlformats.org/drawingml/2006/main">
              <a:ext uri="{FF2B5EF4-FFF2-40B4-BE49-F238E27FC236}">
                <a16:creationId xmlns:a16="http://schemas.microsoft.com/office/drawing/2014/main" id="{1C1E3E9A-C8DE-4A34-9F73-48819B1843C4}"/>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课后了解，不强制掌握</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Learn after class, no compulsion to master</a:t>
            </a:r>
          </a:p>
        </p:txBody>
      </p:sp>
      <p:sp>
        <p:nvSpPr>
          <p:cNvPr id="415" name="圆角矩形 414">
            <a:extLst xmlns:a="http://schemas.openxmlformats.org/drawingml/2006/main">
              <a:ext uri="{FF2B5EF4-FFF2-40B4-BE49-F238E27FC236}">
                <a16:creationId xmlns:a16="http://schemas.microsoft.com/office/drawing/2014/main" id="{87C9BDC9-76CE-46EB-9CFA-63A59779C977}"/>
              </a:ext>
            </a:extLst>
          </p:cNvPr>
          <p:cNvSpPr>
            <a:spLocks xmlns:a="http://schemas.openxmlformats.org/drawingml/2006/main" noGrp="1"/>
          </p:cNvSpPr>
          <p:nvPr/>
        </p:nvSpPr>
        <p:spPr>
          <a:xfrm xmlns:a="http://schemas.openxmlformats.org/drawingml/2006/main">
            <a:off x="4181475" y="2466975"/>
            <a:ext cx="7553325" cy="1790700"/>
          </a:xfrm>
          <a:prstGeom xmlns:a="http://schemas.openxmlformats.org/drawingml/2006/main" prst="roundRect">
            <a:avLst>
              <a:gd name="adj" fmla="val 6383"/>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416" name="矩形 415">
            <a:extLst xmlns:a="http://schemas.openxmlformats.org/drawingml/2006/main">
              <a:ext uri="{FF2B5EF4-FFF2-40B4-BE49-F238E27FC236}">
                <a16:creationId xmlns:a16="http://schemas.microsoft.com/office/drawing/2014/main" id="{1B7C87D8-0BD2-4957-AC80-43D89C9C9459}"/>
              </a:ext>
            </a:extLst>
          </p:cNvPr>
          <p:cNvSpPr>
            <a:spLocks xmlns:a="http://schemas.openxmlformats.org/drawingml/2006/main" noGrp="1"/>
          </p:cNvSpPr>
          <p:nvPr/>
        </p:nvSpPr>
        <p:spPr>
          <a:xfrm xmlns:a="http://schemas.openxmlformats.org/drawingml/2006/main">
            <a:off x="4429125" y="2714625"/>
            <a:ext cx="7058025" cy="381000"/>
          </a:xfrm>
          <a:prstGeom xmlns:a="http://schemas.openxmlformats.org/drawingml/2006/main" prst="rect">
            <a:avLst/>
          </a:prstGeom>
        </p:spPr>
        <p:txBody>
          <a:bodyPr xmlns:a="http://schemas.openxmlformats.org/drawingml/2006/main" wrap="none" lIns="0" tIns="0" rIns="0" bIns="0">
            <a:normAutofit fontScale="42029"/>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JDK 自带反编译器 javap.exe，可以查看 .class 字节码文件的结构。</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JDK comes with the decompiler javap.exe, which can view the structure of.class bytecode files.</a:t>
            </a:r>
          </a:p>
        </p:txBody>
      </p:sp>
      <p:sp>
        <p:nvSpPr>
          <p:cNvPr id="417" name="圆角矩形 416">
            <a:extLst xmlns:a="http://schemas.openxmlformats.org/drawingml/2006/main">
              <a:ext uri="{FF2B5EF4-FFF2-40B4-BE49-F238E27FC236}">
                <a16:creationId xmlns:a16="http://schemas.microsoft.com/office/drawing/2014/main" id="{46BD1A59-6E11-4455-A979-4253D0B5F904}"/>
              </a:ext>
            </a:extLst>
          </p:cNvPr>
          <p:cNvSpPr>
            <a:spLocks xmlns:a="http://schemas.openxmlformats.org/drawingml/2006/main" noGrp="1"/>
          </p:cNvSpPr>
          <p:nvPr/>
        </p:nvSpPr>
        <p:spPr>
          <a:xfrm xmlns:a="http://schemas.openxmlformats.org/drawingml/2006/main">
            <a:off x="4429125" y="3209925"/>
            <a:ext cx="7058025" cy="800100"/>
          </a:xfrm>
          <a:prstGeom xmlns:a="http://schemas.openxmlformats.org/drawingml/2006/main" prst="roundRect">
            <a:avLst>
              <a:gd name="adj" fmla="val 9524"/>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18" name="矩形 417">
            <a:extLst xmlns:a="http://schemas.openxmlformats.org/drawingml/2006/main">
              <a:ext uri="{FF2B5EF4-FFF2-40B4-BE49-F238E27FC236}">
                <a16:creationId xmlns:a16="http://schemas.microsoft.com/office/drawing/2014/main" id="{2C76B039-193D-4241-87CA-F6C7489C3394}"/>
              </a:ext>
            </a:extLst>
          </p:cNvPr>
          <p:cNvSpPr>
            <a:spLocks xmlns:a="http://schemas.openxmlformats.org/drawingml/2006/main" noGrp="1"/>
          </p:cNvSpPr>
          <p:nvPr/>
        </p:nvSpPr>
        <p:spPr>
          <a:xfrm xmlns:a="http://schemas.openxmlformats.org/drawingml/2006/main">
            <a:off x="4581525" y="3362325"/>
            <a:ext cx="675322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C:\chapter1&gt; javap Hello.class</a:t>
            </a:r>
            <a:endParaRPr sz="1350" b="1">
              <a:solidFill>
                <a:srgbClr val="0E3F8C"/>
              </a:solidFill>
              <a:latin typeface="Consolas"/>
              <a:ea typeface="Consolas"/>
              <a:cs typeface="Consolas"/>
            </a:endParaRPr>
          </a:p>
        </p:txBody>
      </p:sp>
      <p:sp>
        <p:nvSpPr>
          <p:cNvPr id="419" name="矩形 418">
            <a:extLst xmlns:a="http://schemas.openxmlformats.org/drawingml/2006/main">
              <a:ext uri="{FF2B5EF4-FFF2-40B4-BE49-F238E27FC236}">
                <a16:creationId xmlns:a16="http://schemas.microsoft.com/office/drawing/2014/main" id="{D7CFFC23-6B65-489D-A226-8711C7071882}"/>
              </a:ext>
            </a:extLst>
          </p:cNvPr>
          <p:cNvSpPr>
            <a:spLocks xmlns:a="http://schemas.openxmlformats.org/drawingml/2006/main" noGrp="1"/>
          </p:cNvSpPr>
          <p:nvPr/>
        </p:nvSpPr>
        <p:spPr>
          <a:xfrm xmlns:a="http://schemas.openxmlformats.org/drawingml/2006/main">
            <a:off x="4581525" y="3648075"/>
            <a:ext cx="675322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0E3F8C"/>
                </a:solidFill>
                <a:latin typeface="Consolas"/>
                <a:ea typeface="Consolas"/>
                <a:cs typeface="Consolas"/>
              </a:rPr>
              <a:t>C:\chapter1&gt; javap java.util.Date</a:t>
            </a:r>
            <a:endParaRPr sz="1350" b="1">
              <a:solidFill>
                <a:srgbClr val="0E3F8C"/>
              </a:solidFill>
              <a:latin typeface="Consolas"/>
              <a:ea typeface="Consolas"/>
              <a:cs typeface="Consolas"/>
            </a:endParaRPr>
          </a:p>
        </p:txBody>
      </p:sp>
      <p:sp>
        <p:nvSpPr>
          <p:cNvPr id="420" name="圆角矩形 419">
            <a:extLst xmlns:a="http://schemas.openxmlformats.org/drawingml/2006/main">
              <a:ext uri="{FF2B5EF4-FFF2-40B4-BE49-F238E27FC236}">
                <a16:creationId xmlns:a16="http://schemas.microsoft.com/office/drawing/2014/main" id="{0659AD4F-9B9F-4759-8C43-0807B6CE43D6}"/>
              </a:ext>
            </a:extLst>
          </p:cNvPr>
          <p:cNvSpPr>
            <a:spLocks xmlns:a="http://schemas.openxmlformats.org/drawingml/2006/main" noGrp="1"/>
          </p:cNvSpPr>
          <p:nvPr/>
        </p:nvSpPr>
        <p:spPr>
          <a:xfrm xmlns:a="http://schemas.openxmlformats.org/drawingml/2006/main">
            <a:off x="4181475" y="4429125"/>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21" name="矩形 420">
            <a:extLst xmlns:a="http://schemas.openxmlformats.org/drawingml/2006/main">
              <a:ext uri="{FF2B5EF4-FFF2-40B4-BE49-F238E27FC236}">
                <a16:creationId xmlns:a16="http://schemas.microsoft.com/office/drawing/2014/main" id="{726EDBD7-7648-4883-8A53-190519D388FE}"/>
              </a:ext>
            </a:extLst>
          </p:cNvPr>
          <p:cNvSpPr>
            <a:spLocks xmlns:a="http://schemas.openxmlformats.org/drawingml/2006/main" noGrp="1"/>
          </p:cNvSpPr>
          <p:nvPr/>
        </p:nvSpPr>
        <p:spPr>
          <a:xfrm xmlns:a="http://schemas.openxmlformats.org/drawingml/2006/main">
            <a:off x="4314825" y="4562475"/>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受 2 学时限制，可略讲或课后了解。</a:t>
            </a:r>
          </a:p>
          <a:p xmlns:a="http://schemas.openxmlformats.org/drawingml/2006/main">
            <a:pPr marL="0">
              <a:lnSpc>
                <a:spcPct val="100000"/>
              </a:lnSpc>
              <a:spcBef>
                <a:spcPts val="0"/>
              </a:spcBef>
              <a:spcAft>
                <a:spcPts val="0"/>
              </a:spcAft>
              <a:buNone/>
            </a:pPr>
            <a:r>
              <a:rPr sz="2630">
                <a:solidFill>
                  <a:srgbClr val="4A5568"/>
                </a:solidFill>
                <a:latin typeface="微软雅黑"/>
                <a:ea typeface="微软雅黑"/>
                <a:cs typeface="微软雅黑"/>
              </a:rPr>
              <a:t>Due to the 2-hour limit, you can give a brief lecture or understand it after class.</a:t>
            </a:r>
          </a:p>
        </p:txBody>
      </p:sp>
      <p:sp>
        <p:nvSpPr>
          <p:cNvPr id="422" name="矩形 421">
            <a:extLst xmlns:a="http://schemas.openxmlformats.org/drawingml/2006/main">
              <a:ext uri="{FF2B5EF4-FFF2-40B4-BE49-F238E27FC236}">
                <a16:creationId xmlns:a16="http://schemas.microsoft.com/office/drawing/2014/main" id="{4D492F56-2F76-44A9-BB05-AFB1473F1901}"/>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31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40417858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24" name="矩形 423">
            <a:extLst xmlns:a="http://schemas.openxmlformats.org/drawingml/2006/main">
              <a:ext uri="{FF2B5EF4-FFF2-40B4-BE49-F238E27FC236}">
                <a16:creationId xmlns:a16="http://schemas.microsoft.com/office/drawing/2014/main" id="{0C61538D-9F4C-4640-B872-94BB4966BE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25" name="矩形 424">
            <a:extLst xmlns:a="http://schemas.openxmlformats.org/drawingml/2006/main">
              <a:ext uri="{FF2B5EF4-FFF2-40B4-BE49-F238E27FC236}">
                <a16:creationId xmlns:a16="http://schemas.microsoft.com/office/drawing/2014/main" id="{EF454032-7508-4370-AE32-729E8CCD092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26" name="矩形 425">
            <a:extLst xmlns:a="http://schemas.openxmlformats.org/drawingml/2006/main">
              <a:ext uri="{FF2B5EF4-FFF2-40B4-BE49-F238E27FC236}">
                <a16:creationId xmlns:a16="http://schemas.microsoft.com/office/drawing/2014/main" id="{C2796865-11CE-4149-82F5-AD1EB5C642D0}"/>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27" name="矩形 426">
            <a:extLst xmlns:a="http://schemas.openxmlformats.org/drawingml/2006/main">
              <a:ext uri="{FF2B5EF4-FFF2-40B4-BE49-F238E27FC236}">
                <a16:creationId xmlns:a16="http://schemas.microsoft.com/office/drawing/2014/main" id="{9A70FDA6-04A7-427A-8D63-AB12243B2948}"/>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§1.8.1</a:t>
            </a:r>
            <a:endParaRPr sz="1200" b="1" spc="300">
              <a:solidFill>
                <a:srgbClr val="1E4FA8"/>
              </a:solidFill>
              <a:latin typeface="微软雅黑"/>
              <a:ea typeface="微软雅黑"/>
              <a:cs typeface="微软雅黑"/>
            </a:endParaRPr>
          </a:p>
        </p:txBody>
      </p:sp>
      <p:sp>
        <p:nvSpPr>
          <p:cNvPr id="428" name="矩形 427">
            <a:extLst xmlns:a="http://schemas.openxmlformats.org/drawingml/2006/main">
              <a:ext uri="{FF2B5EF4-FFF2-40B4-BE49-F238E27FC236}">
                <a16:creationId xmlns:a16="http://schemas.microsoft.com/office/drawing/2014/main" id="{E4EB0455-B782-46A3-B8C0-D86D1165E897}"/>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什么是 AI</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编程助手</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What is AI</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Programming Assistant</a:t>
            </a:r>
          </a:p>
        </p:txBody>
      </p:sp>
      <p:sp>
        <p:nvSpPr>
          <p:cNvPr id="429" name="矩形 428">
            <a:extLst xmlns:a="http://schemas.openxmlformats.org/drawingml/2006/main">
              <a:ext uri="{FF2B5EF4-FFF2-40B4-BE49-F238E27FC236}">
                <a16:creationId xmlns:a16="http://schemas.microsoft.com/office/drawing/2014/main" id="{46AD1A2D-8720-41BA-A10B-63E2F52312AC}"/>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30" name="矩形 429">
            <a:extLst xmlns:a="http://schemas.openxmlformats.org/drawingml/2006/main">
              <a:ext uri="{FF2B5EF4-FFF2-40B4-BE49-F238E27FC236}">
                <a16:creationId xmlns:a16="http://schemas.microsoft.com/office/drawing/2014/main" id="{3DC72C44-133A-4528-A81D-1D4FDD1744ED}"/>
              </a:ext>
            </a:extLst>
          </p:cNvPr>
          <p:cNvSpPr>
            <a:spLocks xmlns:a="http://schemas.openxmlformats.org/drawingml/2006/main" noGrp="1"/>
          </p:cNvSpPr>
          <p:nvPr/>
        </p:nvSpPr>
        <p:spPr>
          <a:xfrm xmlns:a="http://schemas.openxmlformats.org/drawingml/2006/main">
            <a:off x="457200" y="3190875"/>
            <a:ext cx="3381375" cy="781050"/>
          </a:xfrm>
          <a:prstGeom xmlns:a="http://schemas.openxmlformats.org/drawingml/2006/main" prst="rect">
            <a:avLst/>
          </a:prstGeom>
        </p:spPr>
        <p:txBody>
          <a:bodyPr xmlns:a="http://schemas.openxmlformats.org/drawingml/2006/main" wrap="square" lIns="0" tIns="0" rIns="0" bIns="0">
            <a:normAutofit fontScale="41990"/>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大模型驱动的 IDE 插件，辅助但不替代思考</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Large model-driven IDE plug-in, assisting but not replacing thinking</a:t>
            </a:r>
          </a:p>
        </p:txBody>
      </p:sp>
      <p:sp>
        <p:nvSpPr>
          <p:cNvPr id="431" name="圆角矩形 430">
            <a:extLst xmlns:a="http://schemas.openxmlformats.org/drawingml/2006/main">
              <a:ext uri="{FF2B5EF4-FFF2-40B4-BE49-F238E27FC236}">
                <a16:creationId xmlns:a16="http://schemas.microsoft.com/office/drawing/2014/main" id="{75688636-4CB3-417B-9E0F-8D3418AC0134}"/>
              </a:ext>
            </a:extLst>
          </p:cNvPr>
          <p:cNvSpPr>
            <a:spLocks xmlns:a="http://schemas.openxmlformats.org/drawingml/2006/main" noGrp="1"/>
          </p:cNvSpPr>
          <p:nvPr/>
        </p:nvSpPr>
        <p:spPr>
          <a:xfrm xmlns:a="http://schemas.openxmlformats.org/drawingml/2006/main">
            <a:off x="4181475" y="1752600"/>
            <a:ext cx="7553325" cy="2200275"/>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432" name="矩形 431">
            <a:extLst xmlns:a="http://schemas.openxmlformats.org/drawingml/2006/main">
              <a:ext uri="{FF2B5EF4-FFF2-40B4-BE49-F238E27FC236}">
                <a16:creationId xmlns:a16="http://schemas.microsoft.com/office/drawing/2014/main" id="{19D3496F-D1C8-4B4B-BFF6-88D29D3FBCC6}"/>
              </a:ext>
            </a:extLst>
          </p:cNvPr>
          <p:cNvSpPr>
            <a:spLocks xmlns:a="http://schemas.openxmlformats.org/drawingml/2006/main" noGrp="1"/>
          </p:cNvSpPr>
          <p:nvPr/>
        </p:nvSpPr>
        <p:spPr>
          <a:xfrm xmlns:a="http://schemas.openxmlformats.org/drawingml/2006/main">
            <a:off x="4410075" y="1981200"/>
            <a:ext cx="7096125" cy="371475"/>
          </a:xfrm>
          <a:prstGeom xmlns:a="http://schemas.openxmlformats.org/drawingml/2006/main" prst="rect">
            <a:avLst/>
          </a:prstGeom>
        </p:spPr>
        <p:txBody>
          <a:bodyPr xmlns:a="http://schemas.openxmlformats.org/drawingml/2006/main" wrap="none" lIns="0" tIns="0" rIns="0" bIns="0">
            <a:normAutofit fontScale="40200"/>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AI 编程助手 = 基于大语言模型（LLM）的 IDE 插件，能提供：</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AI programming assistant = IDE plug-in based on large language model (LLM), which can provide:</a:t>
            </a:r>
          </a:p>
        </p:txBody>
      </p:sp>
      <p:sp>
        <p:nvSpPr>
          <p:cNvPr id="433" name="矩形 432">
            <a:extLst xmlns:a="http://schemas.openxmlformats.org/drawingml/2006/main">
              <a:ext uri="{FF2B5EF4-FFF2-40B4-BE49-F238E27FC236}">
                <a16:creationId xmlns:a16="http://schemas.microsoft.com/office/drawing/2014/main" id="{20CD6F77-1749-47FF-9446-2A6538A3BD5F}"/>
              </a:ext>
            </a:extLst>
          </p:cNvPr>
          <p:cNvSpPr>
            <a:spLocks xmlns:a="http://schemas.openxmlformats.org/drawingml/2006/main" noGrp="1"/>
          </p:cNvSpPr>
          <p:nvPr/>
        </p:nvSpPr>
        <p:spPr>
          <a:xfrm xmlns:a="http://schemas.openxmlformats.org/drawingml/2006/main">
            <a:off x="4410075" y="2447925"/>
            <a:ext cx="7096125" cy="1276350"/>
          </a:xfrm>
          <a:prstGeom xmlns:a="http://schemas.openxmlformats.org/drawingml/2006/main" prst="rect">
            <a:avLst/>
          </a:prstGeom>
        </p:spPr>
        <p:txBody>
          <a:bodyPr xmlns:a="http://schemas.openxmlformats.org/drawingml/2006/main" wrap="none" lIns="0" tIns="0" rIns="0" bIns="0">
            <a:normAutofit fontScale="4242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自动补全代码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解释代码与报错信息</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生成测试用例</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Automatic code completion</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·Explanation of code and error messages</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Generate test cases</a:t>
            </a:r>
          </a:p>
        </p:txBody>
      </p:sp>
      <p:sp>
        <p:nvSpPr>
          <p:cNvPr id="434" name="圆角矩形 433">
            <a:extLst xmlns:a="http://schemas.openxmlformats.org/drawingml/2006/main">
              <a:ext uri="{FF2B5EF4-FFF2-40B4-BE49-F238E27FC236}">
                <a16:creationId xmlns:a16="http://schemas.microsoft.com/office/drawing/2014/main" id="{113DB5BC-0181-4EF5-8851-F6403A6D46E5}"/>
              </a:ext>
            </a:extLst>
          </p:cNvPr>
          <p:cNvSpPr>
            <a:spLocks xmlns:a="http://schemas.openxmlformats.org/drawingml/2006/main" noGrp="1"/>
          </p:cNvSpPr>
          <p:nvPr/>
        </p:nvSpPr>
        <p:spPr>
          <a:xfrm xmlns:a="http://schemas.openxmlformats.org/drawingml/2006/main">
            <a:off x="4181475" y="4105275"/>
            <a:ext cx="7553325" cy="8286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435" name="矩形 434">
            <a:extLst xmlns:a="http://schemas.openxmlformats.org/drawingml/2006/main">
              <a:ext uri="{FF2B5EF4-FFF2-40B4-BE49-F238E27FC236}">
                <a16:creationId xmlns:a16="http://schemas.microsoft.com/office/drawing/2014/main" id="{7A3CA454-089E-4ADE-949B-44266373A401}"/>
              </a:ext>
            </a:extLst>
          </p:cNvPr>
          <p:cNvSpPr>
            <a:spLocks xmlns:a="http://schemas.openxmlformats.org/drawingml/2006/main" noGrp="1"/>
          </p:cNvSpPr>
          <p:nvPr/>
        </p:nvSpPr>
        <p:spPr>
          <a:xfrm xmlns:a="http://schemas.openxmlformats.org/drawingml/2006/main">
            <a:off x="4410075" y="4333875"/>
            <a:ext cx="7096125" cy="371475"/>
          </a:xfrm>
          <a:prstGeom xmlns:a="http://schemas.openxmlformats.org/drawingml/2006/main" prst="rect">
            <a:avLst/>
          </a:prstGeom>
        </p:spPr>
        <p:txBody>
          <a:bodyPr xmlns:a="http://schemas.openxmlformats.org/drawingml/2006/main" wrap="none" lIns="0" tIns="0" rIns="0" bIns="0">
            <a:normAutofit fontScale="40785"/>
          </a:bodyPr>
          <a:lstStyle xmlns:a="http://schemas.openxmlformats.org/drawingml/2006/main"/>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主流产品：腾讯 CodeBuddy、GitHub Copilot、通义灵码、Codeium、Cursor 等。</a:t>
            </a:r>
          </a:p>
          <a:p xmlns:a="http://schemas.openxmlformats.org/drawingml/2006/main">
            <a:pPr marL="0">
              <a:lnSpc>
                <a:spcPct val="100000"/>
              </a:lnSpc>
              <a:spcBef>
                <a:spcPts val="0"/>
              </a:spcBef>
              <a:spcAft>
                <a:spcPts val="0"/>
              </a:spcAft>
              <a:buNone/>
            </a:pPr>
            <a:r>
              <a:rPr sz="2960">
                <a:solidFill>
                  <a:srgbClr val="1A2230"/>
                </a:solidFill>
                <a:latin typeface="微软雅黑"/>
                <a:ea typeface="微软雅黑"/>
                <a:cs typeface="微软雅黑"/>
              </a:rPr>
              <a:t>Mainstream products: Tencent CodeBuddy, GitHub Copilot, Tongyi Lingma, Codeium, Cursor, etc.</a:t>
            </a:r>
          </a:p>
        </p:txBody>
      </p:sp>
      <p:sp>
        <p:nvSpPr>
          <p:cNvPr id="436" name="圆角矩形 435">
            <a:extLst xmlns:a="http://schemas.openxmlformats.org/drawingml/2006/main">
              <a:ext uri="{FF2B5EF4-FFF2-40B4-BE49-F238E27FC236}">
                <a16:creationId xmlns:a16="http://schemas.microsoft.com/office/drawing/2014/main" id="{3F7B5143-3EA9-470F-9975-5947A0E14D6F}"/>
              </a:ext>
            </a:extLst>
          </p:cNvPr>
          <p:cNvSpPr>
            <a:spLocks xmlns:a="http://schemas.openxmlformats.org/drawingml/2006/main" noGrp="1"/>
          </p:cNvSpPr>
          <p:nvPr/>
        </p:nvSpPr>
        <p:spPr>
          <a:xfrm xmlns:a="http://schemas.openxmlformats.org/drawingml/2006/main">
            <a:off x="4181475" y="5086350"/>
            <a:ext cx="7553325" cy="514350"/>
          </a:xfrm>
          <a:prstGeom xmlns:a="http://schemas.openxmlformats.org/drawingml/2006/main" prst="roundRect">
            <a:avLst>
              <a:gd name="adj" fmla="val 18519"/>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37" name="矩形 436">
            <a:extLst xmlns:a="http://schemas.openxmlformats.org/drawingml/2006/main">
              <a:ext uri="{FF2B5EF4-FFF2-40B4-BE49-F238E27FC236}">
                <a16:creationId xmlns:a16="http://schemas.microsoft.com/office/drawing/2014/main" id="{D271AF17-199E-4368-A1B7-E66B043B9CFD}"/>
              </a:ext>
            </a:extLst>
          </p:cNvPr>
          <p:cNvSpPr>
            <a:spLocks xmlns:a="http://schemas.openxmlformats.org/drawingml/2006/main" noGrp="1"/>
          </p:cNvSpPr>
          <p:nvPr/>
        </p:nvSpPr>
        <p:spPr>
          <a:xfrm xmlns:a="http://schemas.openxmlformats.org/drawingml/2006/main">
            <a:off x="4352925" y="5257800"/>
            <a:ext cx="7210425" cy="171450"/>
          </a:xfrm>
          <a:prstGeom xmlns:a="http://schemas.openxmlformats.org/drawingml/2006/main" prst="rect">
            <a:avLst/>
          </a:prstGeom>
        </p:spPr>
        <p:txBody>
          <a:bodyPr xmlns:a="http://schemas.openxmlformats.org/drawingml/2006/main" wrap="none" lIns="0" tIns="0" rIns="0" bIns="0">
            <a:normAutofit fontScale="22866"/>
          </a:bodyPr>
          <a:lstStyle xmlns:a="http://schemas.openxmlformats.org/drawingml/2006/main"/>
          <a:p xmlns:a="http://schemas.openxmlformats.org/drawingml/2006/main">
            <a:pPr marL="0">
              <a:lnSpc>
                <a:spcPct val="100000"/>
              </a:lnSpc>
              <a:spcBef>
                <a:spcPts val="0"/>
              </a:spcBef>
              <a:spcAft>
                <a:spcPts val="0"/>
              </a:spcAft>
              <a:buNone/>
            </a:pPr>
            <a:r>
              <a:rPr sz="2460" b="1">
                <a:solidFill>
                  <a:srgbClr val="FFFFFF"/>
                </a:solidFill>
                <a:latin typeface="微软雅黑"/>
                <a:ea typeface="微软雅黑"/>
                <a:cs typeface="微软雅黑"/>
              </a:rPr>
              <a:t>本课程推荐腾讯 CodeBuddy（个人免费额度满足课程需要）</a:t>
            </a:r>
          </a:p>
          <a:p xmlns:a="http://schemas.openxmlformats.org/drawingml/2006/main">
            <a:pPr marL="0">
              <a:lnSpc>
                <a:spcPct val="100000"/>
              </a:lnSpc>
              <a:spcBef>
                <a:spcPts val="0"/>
              </a:spcBef>
              <a:spcAft>
                <a:spcPts val="0"/>
              </a:spcAft>
              <a:buNone/>
            </a:pPr>
            <a:r>
              <a:rPr sz="2460" b="1">
                <a:solidFill>
                  <a:srgbClr val="FFFFFF"/>
                </a:solidFill>
                <a:latin typeface="微软雅黑"/>
                <a:ea typeface="微软雅黑"/>
                <a:cs typeface="微软雅黑"/>
              </a:rPr>
              <a:t>Tencent CodeBuddy is recommended for this course (the personal free quota meets the needs of the course)</a:t>
            </a:r>
          </a:p>
        </p:txBody>
      </p:sp>
      <p:sp>
        <p:nvSpPr>
          <p:cNvPr id="438" name="矩形 437">
            <a:extLst xmlns:a="http://schemas.openxmlformats.org/drawingml/2006/main">
              <a:ext uri="{FF2B5EF4-FFF2-40B4-BE49-F238E27FC236}">
                <a16:creationId xmlns:a16="http://schemas.microsoft.com/office/drawing/2014/main" id="{1E9479EA-517A-4B85-9EEA-56D0CF95A04D}"/>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32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47965931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40" name="矩形 439">
            <a:extLst xmlns:a="http://schemas.openxmlformats.org/drawingml/2006/main">
              <a:ext uri="{FF2B5EF4-FFF2-40B4-BE49-F238E27FC236}">
                <a16:creationId xmlns:a16="http://schemas.microsoft.com/office/drawing/2014/main" id="{37793DDA-59D2-4FEF-BBD6-CF866C5F97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41" name="矩形 440">
            <a:extLst xmlns:a="http://schemas.openxmlformats.org/drawingml/2006/main">
              <a:ext uri="{FF2B5EF4-FFF2-40B4-BE49-F238E27FC236}">
                <a16:creationId xmlns:a16="http://schemas.microsoft.com/office/drawing/2014/main" id="{D42549FE-AD94-4AC5-9C5C-9FB549D42205}"/>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42" name="矩形 441">
            <a:extLst xmlns:a="http://schemas.openxmlformats.org/drawingml/2006/main">
              <a:ext uri="{FF2B5EF4-FFF2-40B4-BE49-F238E27FC236}">
                <a16:creationId xmlns:a16="http://schemas.microsoft.com/office/drawing/2014/main" id="{50BD6358-2F64-450D-B72E-420D2164D0B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43" name="矩形 442">
            <a:extLst xmlns:a="http://schemas.openxmlformats.org/drawingml/2006/main">
              <a:ext uri="{FF2B5EF4-FFF2-40B4-BE49-F238E27FC236}">
                <a16:creationId xmlns:a16="http://schemas.microsoft.com/office/drawing/2014/main" id="{CD4DF260-390A-4F62-943E-C06C4EEAD5D0}"/>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§1.8.2</a:t>
            </a:r>
            <a:endParaRPr sz="1200" b="1" spc="300">
              <a:solidFill>
                <a:srgbClr val="1E4FA8"/>
              </a:solidFill>
              <a:latin typeface="微软雅黑"/>
              <a:ea typeface="微软雅黑"/>
              <a:cs typeface="微软雅黑"/>
            </a:endParaRPr>
          </a:p>
        </p:txBody>
      </p:sp>
      <p:sp>
        <p:nvSpPr>
          <p:cNvPr id="444" name="矩形 443">
            <a:extLst xmlns:a="http://schemas.openxmlformats.org/drawingml/2006/main">
              <a:ext uri="{FF2B5EF4-FFF2-40B4-BE49-F238E27FC236}">
                <a16:creationId xmlns:a16="http://schemas.microsoft.com/office/drawing/2014/main" id="{5CEDD356-11A8-41DE-880C-FAA107D3E200}"/>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在 IDEA 中</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安装 CodeBuddy</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 IDEA</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Install CodeBuddy</a:t>
            </a:r>
          </a:p>
        </p:txBody>
      </p:sp>
      <p:sp>
        <p:nvSpPr>
          <p:cNvPr id="445" name="矩形 444">
            <a:extLst xmlns:a="http://schemas.openxmlformats.org/drawingml/2006/main">
              <a:ext uri="{FF2B5EF4-FFF2-40B4-BE49-F238E27FC236}">
                <a16:creationId xmlns:a16="http://schemas.microsoft.com/office/drawing/2014/main" id="{A2C388E9-7085-4DC4-99C0-80B8720BFFFF}"/>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46" name="矩形 445">
            <a:extLst xmlns:a="http://schemas.openxmlformats.org/drawingml/2006/main">
              <a:ext uri="{FF2B5EF4-FFF2-40B4-BE49-F238E27FC236}">
                <a16:creationId xmlns:a16="http://schemas.microsoft.com/office/drawing/2014/main" id="{FD7B8DC0-2402-4908-811B-99AF3AE1A7EF}"/>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0731"/>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插件市场搜索安装后登录即可使用</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Search the plug-in market, install it and log in to use it.</a:t>
            </a:r>
          </a:p>
        </p:txBody>
      </p:sp>
      <p:sp>
        <p:nvSpPr>
          <p:cNvPr id="447" name="圆角矩形 446">
            <a:extLst xmlns:a="http://schemas.openxmlformats.org/drawingml/2006/main">
              <a:ext uri="{FF2B5EF4-FFF2-40B4-BE49-F238E27FC236}">
                <a16:creationId xmlns:a16="http://schemas.microsoft.com/office/drawing/2014/main" id="{D09A9C0B-02CB-413B-A599-4CF2CE082C5D}"/>
              </a:ext>
            </a:extLst>
          </p:cNvPr>
          <p:cNvSpPr>
            <a:spLocks xmlns:a="http://schemas.openxmlformats.org/drawingml/2006/main" noGrp="1"/>
          </p:cNvSpPr>
          <p:nvPr/>
        </p:nvSpPr>
        <p:spPr>
          <a:xfrm xmlns:a="http://schemas.openxmlformats.org/drawingml/2006/main">
            <a:off x="4181475" y="2609850"/>
            <a:ext cx="7553325"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448" name="圆角矩形 447">
            <a:extLst xmlns:a="http://schemas.openxmlformats.org/drawingml/2006/main">
              <a:ext uri="{FF2B5EF4-FFF2-40B4-BE49-F238E27FC236}">
                <a16:creationId xmlns:a16="http://schemas.microsoft.com/office/drawing/2014/main" id="{F4A02768-4DF7-4BD0-B2E9-0FD7C71DA4FF}"/>
              </a:ext>
            </a:extLst>
          </p:cNvPr>
          <p:cNvSpPr>
            <a:spLocks xmlns:a="http://schemas.openxmlformats.org/drawingml/2006/main" noGrp="1"/>
          </p:cNvSpPr>
          <p:nvPr/>
        </p:nvSpPr>
        <p:spPr>
          <a:xfrm xmlns:a="http://schemas.openxmlformats.org/drawingml/2006/main">
            <a:off x="4391025" y="28194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49" name="矩形 448">
            <a:extLst xmlns:a="http://schemas.openxmlformats.org/drawingml/2006/main">
              <a:ext uri="{FF2B5EF4-FFF2-40B4-BE49-F238E27FC236}">
                <a16:creationId xmlns:a16="http://schemas.microsoft.com/office/drawing/2014/main" id="{DFCE5ADD-46C6-4A9B-998E-03623C79931A}"/>
              </a:ext>
            </a:extLst>
          </p:cNvPr>
          <p:cNvSpPr>
            <a:spLocks xmlns:a="http://schemas.openxmlformats.org/drawingml/2006/main" noGrp="1"/>
          </p:cNvSpPr>
          <p:nvPr/>
        </p:nvSpPr>
        <p:spPr>
          <a:xfrm xmlns:a="http://schemas.openxmlformats.org/drawingml/2006/main">
            <a:off x="4486275" y="28765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1</a:t>
            </a:r>
            <a:endParaRPr sz="1050" b="1">
              <a:solidFill>
                <a:srgbClr val="FFFFFF"/>
              </a:solidFill>
              <a:latin typeface="微软雅黑"/>
              <a:ea typeface="微软雅黑"/>
              <a:cs typeface="微软雅黑"/>
            </a:endParaRPr>
          </a:p>
        </p:txBody>
      </p:sp>
      <p:sp>
        <p:nvSpPr>
          <p:cNvPr id="450" name="矩形 449">
            <a:extLst xmlns:a="http://schemas.openxmlformats.org/drawingml/2006/main">
              <a:ext uri="{FF2B5EF4-FFF2-40B4-BE49-F238E27FC236}">
                <a16:creationId xmlns:a16="http://schemas.microsoft.com/office/drawing/2014/main" id="{BB9671B0-7762-4229-BC3A-6CA96F950103}"/>
              </a:ext>
            </a:extLst>
          </p:cNvPr>
          <p:cNvSpPr>
            <a:spLocks xmlns:a="http://schemas.openxmlformats.org/drawingml/2006/main" noGrp="1"/>
          </p:cNvSpPr>
          <p:nvPr/>
        </p:nvSpPr>
        <p:spPr>
          <a:xfrm xmlns:a="http://schemas.openxmlformats.org/drawingml/2006/main">
            <a:off x="4772025" y="2838450"/>
            <a:ext cx="290512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官方教程：codebuddy.cn/setup/</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Official tutorial: codebuddy.cn/setup/</a:t>
            </a:r>
          </a:p>
        </p:txBody>
      </p:sp>
      <p:sp>
        <p:nvSpPr>
          <p:cNvPr id="451" name="圆角矩形 450">
            <a:extLst xmlns:a="http://schemas.openxmlformats.org/drawingml/2006/main">
              <a:ext uri="{FF2B5EF4-FFF2-40B4-BE49-F238E27FC236}">
                <a16:creationId xmlns:a16="http://schemas.microsoft.com/office/drawing/2014/main" id="{92477880-E3A5-4BF4-BB14-FF5023D8BF19}"/>
              </a:ext>
            </a:extLst>
          </p:cNvPr>
          <p:cNvSpPr>
            <a:spLocks xmlns:a="http://schemas.openxmlformats.org/drawingml/2006/main" noGrp="1"/>
          </p:cNvSpPr>
          <p:nvPr/>
        </p:nvSpPr>
        <p:spPr>
          <a:xfrm xmlns:a="http://schemas.openxmlformats.org/drawingml/2006/main">
            <a:off x="4391025" y="31813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2" name="矩形 451">
            <a:extLst xmlns:a="http://schemas.openxmlformats.org/drawingml/2006/main">
              <a:ext uri="{FF2B5EF4-FFF2-40B4-BE49-F238E27FC236}">
                <a16:creationId xmlns:a16="http://schemas.microsoft.com/office/drawing/2014/main" id="{D67266EC-621A-4019-AA2E-D5EB71673934}"/>
              </a:ext>
            </a:extLst>
          </p:cNvPr>
          <p:cNvSpPr>
            <a:spLocks xmlns:a="http://schemas.openxmlformats.org/drawingml/2006/main" noGrp="1"/>
          </p:cNvSpPr>
          <p:nvPr/>
        </p:nvSpPr>
        <p:spPr>
          <a:xfrm xmlns:a="http://schemas.openxmlformats.org/drawingml/2006/main">
            <a:off x="4486275" y="32385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2</a:t>
            </a:r>
            <a:endParaRPr sz="1050" b="1">
              <a:solidFill>
                <a:srgbClr val="FFFFFF"/>
              </a:solidFill>
              <a:latin typeface="微软雅黑"/>
              <a:ea typeface="微软雅黑"/>
              <a:cs typeface="微软雅黑"/>
            </a:endParaRPr>
          </a:p>
        </p:txBody>
      </p:sp>
      <p:sp>
        <p:nvSpPr>
          <p:cNvPr id="453" name="矩形 452">
            <a:extLst xmlns:a="http://schemas.openxmlformats.org/drawingml/2006/main">
              <a:ext uri="{FF2B5EF4-FFF2-40B4-BE49-F238E27FC236}">
                <a16:creationId xmlns:a16="http://schemas.microsoft.com/office/drawing/2014/main" id="{7750E853-9F18-4BF7-8854-9015ABD3F288}"/>
              </a:ext>
            </a:extLst>
          </p:cNvPr>
          <p:cNvSpPr>
            <a:spLocks xmlns:a="http://schemas.openxmlformats.org/drawingml/2006/main" noGrp="1"/>
          </p:cNvSpPr>
          <p:nvPr/>
        </p:nvSpPr>
        <p:spPr>
          <a:xfrm xmlns:a="http://schemas.openxmlformats.org/drawingml/2006/main">
            <a:off x="4772025" y="3200400"/>
            <a:ext cx="4191000"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进入 File → Settings → Plugins → Marketplace</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Go to File → Settings → Plugins → Marketplace</a:t>
            </a:r>
          </a:p>
        </p:txBody>
      </p:sp>
      <p:sp>
        <p:nvSpPr>
          <p:cNvPr id="454" name="圆角矩形 453">
            <a:extLst xmlns:a="http://schemas.openxmlformats.org/drawingml/2006/main">
              <a:ext uri="{FF2B5EF4-FFF2-40B4-BE49-F238E27FC236}">
                <a16:creationId xmlns:a16="http://schemas.microsoft.com/office/drawing/2014/main" id="{BE515449-D3F6-4AA9-9595-09E36716744A}"/>
              </a:ext>
            </a:extLst>
          </p:cNvPr>
          <p:cNvSpPr>
            <a:spLocks xmlns:a="http://schemas.openxmlformats.org/drawingml/2006/main" noGrp="1"/>
          </p:cNvSpPr>
          <p:nvPr/>
        </p:nvSpPr>
        <p:spPr>
          <a:xfrm xmlns:a="http://schemas.openxmlformats.org/drawingml/2006/main">
            <a:off x="4391025" y="35433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5" name="矩形 454">
            <a:extLst xmlns:a="http://schemas.openxmlformats.org/drawingml/2006/main">
              <a:ext uri="{FF2B5EF4-FFF2-40B4-BE49-F238E27FC236}">
                <a16:creationId xmlns:a16="http://schemas.microsoft.com/office/drawing/2014/main" id="{83C6DDFA-36DB-4A0B-8DBA-560140A1BFC5}"/>
              </a:ext>
            </a:extLst>
          </p:cNvPr>
          <p:cNvSpPr>
            <a:spLocks xmlns:a="http://schemas.openxmlformats.org/drawingml/2006/main" noGrp="1"/>
          </p:cNvSpPr>
          <p:nvPr/>
        </p:nvSpPr>
        <p:spPr>
          <a:xfrm xmlns:a="http://schemas.openxmlformats.org/drawingml/2006/main">
            <a:off x="4486275" y="36004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3</a:t>
            </a:r>
            <a:endParaRPr sz="1050" b="1">
              <a:solidFill>
                <a:srgbClr val="FFFFFF"/>
              </a:solidFill>
              <a:latin typeface="微软雅黑"/>
              <a:ea typeface="微软雅黑"/>
              <a:cs typeface="微软雅黑"/>
            </a:endParaRPr>
          </a:p>
        </p:txBody>
      </p:sp>
      <p:sp>
        <p:nvSpPr>
          <p:cNvPr id="456" name="矩形 455">
            <a:extLst xmlns:a="http://schemas.openxmlformats.org/drawingml/2006/main">
              <a:ext uri="{FF2B5EF4-FFF2-40B4-BE49-F238E27FC236}">
                <a16:creationId xmlns:a16="http://schemas.microsoft.com/office/drawing/2014/main" id="{F3A5D4E4-D73E-46C8-905D-19B352B692BB}"/>
              </a:ext>
            </a:extLst>
          </p:cNvPr>
          <p:cNvSpPr>
            <a:spLocks xmlns:a="http://schemas.openxmlformats.org/drawingml/2006/main" noGrp="1"/>
          </p:cNvSpPr>
          <p:nvPr/>
        </p:nvSpPr>
        <p:spPr>
          <a:xfrm xmlns:a="http://schemas.openxmlformats.org/drawingml/2006/main">
            <a:off x="4772025" y="3562350"/>
            <a:ext cx="601027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搜索 Tencent Cloud CodeBuddy（发布者 Tencent Cloud），Install</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Search Tencent Cloud CodeBuddy (published by Tencent Cloud), Install</a:t>
            </a:r>
          </a:p>
        </p:txBody>
      </p:sp>
      <p:sp>
        <p:nvSpPr>
          <p:cNvPr id="457" name="圆角矩形 456">
            <a:extLst xmlns:a="http://schemas.openxmlformats.org/drawingml/2006/main">
              <a:ext uri="{FF2B5EF4-FFF2-40B4-BE49-F238E27FC236}">
                <a16:creationId xmlns:a16="http://schemas.microsoft.com/office/drawing/2014/main" id="{32DCE05E-290D-4CC9-B94D-10F404D6A5E8}"/>
              </a:ext>
            </a:extLst>
          </p:cNvPr>
          <p:cNvSpPr>
            <a:spLocks xmlns:a="http://schemas.openxmlformats.org/drawingml/2006/main" noGrp="1"/>
          </p:cNvSpPr>
          <p:nvPr/>
        </p:nvSpPr>
        <p:spPr>
          <a:xfrm xmlns:a="http://schemas.openxmlformats.org/drawingml/2006/main">
            <a:off x="4391025" y="390525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8" name="矩形 457">
            <a:extLst xmlns:a="http://schemas.openxmlformats.org/drawingml/2006/main">
              <a:ext uri="{FF2B5EF4-FFF2-40B4-BE49-F238E27FC236}">
                <a16:creationId xmlns:a16="http://schemas.microsoft.com/office/drawing/2014/main" id="{A0E8C31C-9BD5-40C5-96C6-4F6316E1039C}"/>
              </a:ext>
            </a:extLst>
          </p:cNvPr>
          <p:cNvSpPr>
            <a:spLocks xmlns:a="http://schemas.openxmlformats.org/drawingml/2006/main" noGrp="1"/>
          </p:cNvSpPr>
          <p:nvPr/>
        </p:nvSpPr>
        <p:spPr>
          <a:xfrm xmlns:a="http://schemas.openxmlformats.org/drawingml/2006/main">
            <a:off x="4486275" y="396240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4</a:t>
            </a:r>
            <a:endParaRPr sz="1050" b="1">
              <a:solidFill>
                <a:srgbClr val="FFFFFF"/>
              </a:solidFill>
              <a:latin typeface="微软雅黑"/>
              <a:ea typeface="微软雅黑"/>
              <a:cs typeface="微软雅黑"/>
            </a:endParaRPr>
          </a:p>
        </p:txBody>
      </p:sp>
      <p:sp>
        <p:nvSpPr>
          <p:cNvPr id="459" name="矩形 458">
            <a:extLst xmlns:a="http://schemas.openxmlformats.org/drawingml/2006/main">
              <a:ext uri="{FF2B5EF4-FFF2-40B4-BE49-F238E27FC236}">
                <a16:creationId xmlns:a16="http://schemas.microsoft.com/office/drawing/2014/main" id="{66BEC31B-35AA-4DC1-B758-9D7D359F9050}"/>
              </a:ext>
            </a:extLst>
          </p:cNvPr>
          <p:cNvSpPr>
            <a:spLocks xmlns:a="http://schemas.openxmlformats.org/drawingml/2006/main" noGrp="1"/>
          </p:cNvSpPr>
          <p:nvPr/>
        </p:nvSpPr>
        <p:spPr>
          <a:xfrm xmlns:a="http://schemas.openxmlformats.org/drawingml/2006/main">
            <a:off x="4772025" y="3924300"/>
            <a:ext cx="2981325" cy="228600"/>
          </a:xfrm>
          <a:prstGeom xmlns:a="http://schemas.openxmlformats.org/drawingml/2006/main" prst="rect">
            <a:avLst/>
          </a:prstGeom>
        </p:spPr>
        <p:txBody>
          <a:bodyPr xmlns:a="http://schemas.openxmlformats.org/drawingml/2006/main" wrap="none" lIns="0" tIns="0" rIns="0" bIns="0">
            <a:normAutofit fontScale="1718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重启 IDEA，微信扫码或手机号登录</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Restart IDEA, scan the QR code with WeChat or log in with your mobile phone number</a:t>
            </a:r>
          </a:p>
        </p:txBody>
      </p:sp>
      <p:sp>
        <p:nvSpPr>
          <p:cNvPr id="460" name="圆角矩形 459">
            <a:extLst xmlns:a="http://schemas.openxmlformats.org/drawingml/2006/main">
              <a:ext uri="{FF2B5EF4-FFF2-40B4-BE49-F238E27FC236}">
                <a16:creationId xmlns:a16="http://schemas.microsoft.com/office/drawing/2014/main" id="{4778F394-6C98-4679-825D-4695C202E342}"/>
              </a:ext>
            </a:extLst>
          </p:cNvPr>
          <p:cNvSpPr>
            <a:spLocks xmlns:a="http://schemas.openxmlformats.org/drawingml/2006/main" noGrp="1"/>
          </p:cNvSpPr>
          <p:nvPr/>
        </p:nvSpPr>
        <p:spPr>
          <a:xfrm xmlns:a="http://schemas.openxmlformats.org/drawingml/2006/main">
            <a:off x="4391025" y="4267200"/>
            <a:ext cx="266700" cy="2667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61" name="矩形 460">
            <a:extLst xmlns:a="http://schemas.openxmlformats.org/drawingml/2006/main">
              <a:ext uri="{FF2B5EF4-FFF2-40B4-BE49-F238E27FC236}">
                <a16:creationId xmlns:a16="http://schemas.microsoft.com/office/drawing/2014/main" id="{7BFA92E3-F8FB-4019-9E42-F8F9992B06E3}"/>
              </a:ext>
            </a:extLst>
          </p:cNvPr>
          <p:cNvSpPr>
            <a:spLocks xmlns:a="http://schemas.openxmlformats.org/drawingml/2006/main" noGrp="1"/>
          </p:cNvSpPr>
          <p:nvPr/>
        </p:nvSpPr>
        <p:spPr>
          <a:xfrm xmlns:a="http://schemas.openxmlformats.org/drawingml/2006/main">
            <a:off x="4486275" y="4324350"/>
            <a:ext cx="85725"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FFFFFF"/>
                </a:solidFill>
                <a:latin typeface="微软雅黑"/>
                <a:ea typeface="微软雅黑"/>
                <a:cs typeface="微软雅黑"/>
              </a:rPr>
              <a:t>5</a:t>
            </a:r>
            <a:endParaRPr sz="1050" b="1">
              <a:solidFill>
                <a:srgbClr val="FFFFFF"/>
              </a:solidFill>
              <a:latin typeface="微软雅黑"/>
              <a:ea typeface="微软雅黑"/>
              <a:cs typeface="微软雅黑"/>
            </a:endParaRPr>
          </a:p>
        </p:txBody>
      </p:sp>
      <p:sp>
        <p:nvSpPr>
          <p:cNvPr id="462" name="矩形 461">
            <a:extLst xmlns:a="http://schemas.openxmlformats.org/drawingml/2006/main">
              <a:ext uri="{FF2B5EF4-FFF2-40B4-BE49-F238E27FC236}">
                <a16:creationId xmlns:a16="http://schemas.microsoft.com/office/drawing/2014/main" id="{AE5EC477-BF6B-4C3D-A102-C40F23B78C6C}"/>
              </a:ext>
            </a:extLst>
          </p:cNvPr>
          <p:cNvSpPr>
            <a:spLocks xmlns:a="http://schemas.openxmlformats.org/drawingml/2006/main" noGrp="1"/>
          </p:cNvSpPr>
          <p:nvPr/>
        </p:nvSpPr>
        <p:spPr>
          <a:xfrm xmlns:a="http://schemas.openxmlformats.org/drawingml/2006/main">
            <a:off x="4772025" y="4286250"/>
            <a:ext cx="4810125" cy="228600"/>
          </a:xfrm>
          <a:prstGeom xmlns:a="http://schemas.openxmlformats.org/drawingml/2006/main" prst="rect">
            <a:avLst/>
          </a:prstGeom>
        </p:spPr>
        <p:txBody>
          <a:bodyPr xmlns:a="http://schemas.openxmlformats.org/drawingml/2006/main" wrap="none" lIns="0" tIns="0" rIns="0" bIns="0">
            <a:normAutofit fontScale="22796"/>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输入注释如 // 计算 1 到 100 的和，按 Tab 接受灰色提示</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Enter a comment such as // Calculate the sum of 1 to 100, press Tab to accept the gray prompt</a:t>
            </a:r>
          </a:p>
        </p:txBody>
      </p:sp>
      <p:sp>
        <p:nvSpPr>
          <p:cNvPr id="463" name="矩形 462">
            <a:extLst xmlns:a="http://schemas.openxmlformats.org/drawingml/2006/main">
              <a:ext uri="{FF2B5EF4-FFF2-40B4-BE49-F238E27FC236}">
                <a16:creationId xmlns:a16="http://schemas.microsoft.com/office/drawing/2014/main" id="{F87CC2BB-DF2B-4BA1-83D6-D3383B63D9B7}"/>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33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2211457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65" name="矩形 464">
            <a:extLst xmlns:a="http://schemas.openxmlformats.org/drawingml/2006/main">
              <a:ext uri="{FF2B5EF4-FFF2-40B4-BE49-F238E27FC236}">
                <a16:creationId xmlns:a16="http://schemas.microsoft.com/office/drawing/2014/main" id="{A6C5E757-A79C-468A-B105-7EB4597CE2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66" name="矩形 465">
            <a:extLst xmlns:a="http://schemas.openxmlformats.org/drawingml/2006/main">
              <a:ext uri="{FF2B5EF4-FFF2-40B4-BE49-F238E27FC236}">
                <a16:creationId xmlns:a16="http://schemas.microsoft.com/office/drawing/2014/main" id="{416B1E11-C0BD-4FE2-AF0D-67D079AA3BFE}"/>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67" name="矩形 466">
            <a:extLst xmlns:a="http://schemas.openxmlformats.org/drawingml/2006/main">
              <a:ext uri="{FF2B5EF4-FFF2-40B4-BE49-F238E27FC236}">
                <a16:creationId xmlns:a16="http://schemas.microsoft.com/office/drawing/2014/main" id="{7253D2FC-5984-46E3-A5D0-ADB921418B8B}"/>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68" name="矩形 467">
            <a:extLst xmlns:a="http://schemas.openxmlformats.org/drawingml/2006/main">
              <a:ext uri="{FF2B5EF4-FFF2-40B4-BE49-F238E27FC236}">
                <a16:creationId xmlns:a16="http://schemas.microsoft.com/office/drawing/2014/main" id="{334A0365-05A3-4F0A-B43C-FAA24FC92EC7}"/>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§1.8.3</a:t>
            </a:r>
            <a:endParaRPr sz="1200" b="1" spc="300">
              <a:solidFill>
                <a:srgbClr val="1E4FA8"/>
              </a:solidFill>
              <a:latin typeface="微软雅黑"/>
              <a:ea typeface="微软雅黑"/>
              <a:cs typeface="微软雅黑"/>
            </a:endParaRPr>
          </a:p>
        </p:txBody>
      </p:sp>
      <p:sp>
        <p:nvSpPr>
          <p:cNvPr id="469" name="矩形 468">
            <a:extLst xmlns:a="http://schemas.openxmlformats.org/drawingml/2006/main">
              <a:ext uri="{FF2B5EF4-FFF2-40B4-BE49-F238E27FC236}">
                <a16:creationId xmlns:a16="http://schemas.microsoft.com/office/drawing/2014/main" id="{E583F1E6-DB7C-4F6D-898E-419A03B5C69C}"/>
              </a:ext>
            </a:extLst>
          </p:cNvPr>
          <p:cNvSpPr>
            <a:spLocks xmlns:a="http://schemas.openxmlformats.org/drawingml/2006/main" noGrp="1"/>
          </p:cNvSpPr>
          <p:nvPr/>
        </p:nvSpPr>
        <p:spPr>
          <a:xfrm xmlns:a="http://schemas.openxmlformats.org/drawingml/2006/main">
            <a:off x="457200" y="16002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使用边界</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（诚信要求）</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Use boundaries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(Integrity requirement)</a:t>
            </a:r>
          </a:p>
        </p:txBody>
      </p:sp>
      <p:sp>
        <p:nvSpPr>
          <p:cNvPr id="470" name="矩形 469">
            <a:extLst xmlns:a="http://schemas.openxmlformats.org/drawingml/2006/main">
              <a:ext uri="{FF2B5EF4-FFF2-40B4-BE49-F238E27FC236}">
                <a16:creationId xmlns:a16="http://schemas.microsoft.com/office/drawing/2014/main" id="{F419C0C7-E8F5-4A31-A82D-758AB3F3FDDF}"/>
              </a:ext>
            </a:extLst>
          </p:cNvPr>
          <p:cNvSpPr>
            <a:spLocks xmlns:a="http://schemas.openxmlformats.org/drawingml/2006/main" noGrp="1"/>
          </p:cNvSpPr>
          <p:nvPr/>
        </p:nvSpPr>
        <p:spPr>
          <a:xfrm xmlns:a="http://schemas.openxmlformats.org/drawingml/2006/main">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1" name="矩形 470">
            <a:extLst xmlns:a="http://schemas.openxmlformats.org/drawingml/2006/main">
              <a:ext uri="{FF2B5EF4-FFF2-40B4-BE49-F238E27FC236}">
                <a16:creationId xmlns:a16="http://schemas.microsoft.com/office/drawing/2014/main" id="{23C604F0-BCEA-402A-8063-45E64AC19591}"/>
              </a:ext>
            </a:extLst>
          </p:cNvPr>
          <p:cNvSpPr>
            <a:spLocks xmlns:a="http://schemas.openxmlformats.org/drawingml/2006/main" noGrp="1"/>
          </p:cNvSpPr>
          <p:nvPr/>
        </p:nvSpPr>
        <p:spPr>
          <a:xfrm xmlns:a="http://schemas.openxmlformats.org/drawingml/2006/main">
            <a:off x="457200" y="3190875"/>
            <a:ext cx="3381375" cy="390525"/>
          </a:xfrm>
          <a:prstGeom xmlns:a="http://schemas.openxmlformats.org/drawingml/2006/main" prst="rect">
            <a:avLst/>
          </a:prstGeom>
        </p:spPr>
        <p:txBody>
          <a:bodyPr xmlns:a="http://schemas.openxmlformats.org/drawingml/2006/main" wrap="none" lIns="0" tIns="0" rIns="0" bIns="0">
            <a:normAutofit fontScale="38944"/>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AI 是辅助，不能替你思考</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AI is an assistant and cannot think for you.</a:t>
            </a:r>
          </a:p>
        </p:txBody>
      </p:sp>
      <p:sp>
        <p:nvSpPr>
          <p:cNvPr id="472" name="圆角矩形 471">
            <a:extLst xmlns:a="http://schemas.openxmlformats.org/drawingml/2006/main">
              <a:ext uri="{FF2B5EF4-FFF2-40B4-BE49-F238E27FC236}">
                <a16:creationId xmlns:a16="http://schemas.microsoft.com/office/drawing/2014/main" id="{1370085B-170F-4B99-A43E-40565B7588C4}"/>
              </a:ext>
            </a:extLst>
          </p:cNvPr>
          <p:cNvSpPr>
            <a:spLocks xmlns:a="http://schemas.openxmlformats.org/drawingml/2006/main" noGrp="1"/>
          </p:cNvSpPr>
          <p:nvPr/>
        </p:nvSpPr>
        <p:spPr>
          <a:xfrm xmlns:a="http://schemas.openxmlformats.org/drawingml/2006/main">
            <a:off x="4181475" y="1638300"/>
            <a:ext cx="7553325"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6350">
            <a:solidFill>
              <a:srgbClr val="D6DCE5"/>
            </a:solidFill>
            <a:prstDash val="solid"/>
          </a:ln>
        </p:spPr>
        <p:txBody>
          <a:bodyPr xmlns:a="http://schemas.openxmlformats.org/drawingml/2006/main"/>
          <a:lstStyle xmlns:a="http://schemas.openxmlformats.org/drawingml/2006/main"/>
          <a:p xmlns:a="http://schemas.openxmlformats.org/drawingml/2006/main"/>
        </p:txBody>
      </p:sp>
      <p:sp>
        <p:nvSpPr>
          <p:cNvPr id="473" name="矩形 472">
            <a:extLst xmlns:a="http://schemas.openxmlformats.org/drawingml/2006/main">
              <a:ext uri="{FF2B5EF4-FFF2-40B4-BE49-F238E27FC236}">
                <a16:creationId xmlns:a16="http://schemas.microsoft.com/office/drawing/2014/main" id="{4465FE26-5768-4D79-8984-A7DD46B9922D}"/>
              </a:ext>
            </a:extLst>
          </p:cNvPr>
          <p:cNvSpPr>
            <a:spLocks xmlns:a="http://schemas.openxmlformats.org/drawingml/2006/main" noGrp="1"/>
          </p:cNvSpPr>
          <p:nvPr/>
        </p:nvSpPr>
        <p:spPr>
          <a:xfrm xmlns:a="http://schemas.openxmlformats.org/drawingml/2006/main">
            <a:off x="4391025" y="1847850"/>
            <a:ext cx="71342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允许</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allow</a:t>
            </a:r>
          </a:p>
        </p:txBody>
      </p:sp>
      <p:sp>
        <p:nvSpPr>
          <p:cNvPr id="474" name="矩形 473">
            <a:extLst xmlns:a="http://schemas.openxmlformats.org/drawingml/2006/main">
              <a:ext uri="{FF2B5EF4-FFF2-40B4-BE49-F238E27FC236}">
                <a16:creationId xmlns:a16="http://schemas.microsoft.com/office/drawing/2014/main" id="{50F3B733-C571-42FD-8C4D-AB6C7F4EB3BB}"/>
              </a:ext>
            </a:extLst>
          </p:cNvPr>
          <p:cNvSpPr>
            <a:spLocks xmlns:a="http://schemas.openxmlformats.org/drawingml/2006/main" noGrp="1"/>
          </p:cNvSpPr>
          <p:nvPr/>
        </p:nvSpPr>
        <p:spPr>
          <a:xfrm xmlns:a="http://schemas.openxmlformats.org/drawingml/2006/main">
            <a:off x="4391025" y="2152650"/>
            <a:ext cx="7134225" cy="1238250"/>
          </a:xfrm>
          <a:prstGeom xmlns:a="http://schemas.openxmlformats.org/drawingml/2006/main" prst="rect">
            <a:avLst/>
          </a:prstGeom>
        </p:spPr>
        <p:txBody>
          <a:bodyPr xmlns:a="http://schemas.openxmlformats.org/drawingml/2006/main" wrap="none" lIns="0" tIns="0" rIns="0" bIns="0">
            <a:normAutofit fontScale="4116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语法提示、代码补全</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解释报错信息、辅助调试</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学习新 API 用法</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Grammar tips and code completion</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·Explain error messages and assist in debugging</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 Learn how to use new APIs</a:t>
            </a:r>
          </a:p>
        </p:txBody>
      </p:sp>
      <p:sp>
        <p:nvSpPr>
          <p:cNvPr id="475" name="圆角矩形 474">
            <a:extLst xmlns:a="http://schemas.openxmlformats.org/drawingml/2006/main">
              <a:ext uri="{FF2B5EF4-FFF2-40B4-BE49-F238E27FC236}">
                <a16:creationId xmlns:a16="http://schemas.microsoft.com/office/drawing/2014/main" id="{F7A56EAE-8CE6-4144-A708-03CE6938FFFD}"/>
              </a:ext>
            </a:extLst>
          </p:cNvPr>
          <p:cNvSpPr>
            <a:spLocks xmlns:a="http://schemas.openxmlformats.org/drawingml/2006/main" noGrp="1"/>
          </p:cNvSpPr>
          <p:nvPr/>
        </p:nvSpPr>
        <p:spPr>
          <a:xfrm xmlns:a="http://schemas.openxmlformats.org/drawingml/2006/main">
            <a:off x="4181475" y="3752850"/>
            <a:ext cx="7553325" cy="1343025"/>
          </a:xfrm>
          <a:prstGeom xmlns:a="http://schemas.openxmlformats.org/drawingml/2006/main" prst="roundRect">
            <a:avLst>
              <a:gd name="adj" fmla="val 8511"/>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476" name="矩形 475">
            <a:extLst xmlns:a="http://schemas.openxmlformats.org/drawingml/2006/main">
              <a:ext uri="{FF2B5EF4-FFF2-40B4-BE49-F238E27FC236}">
                <a16:creationId xmlns:a16="http://schemas.microsoft.com/office/drawing/2014/main" id="{9766B44A-0F52-474B-996C-1C33100FAB02}"/>
              </a:ext>
            </a:extLst>
          </p:cNvPr>
          <p:cNvSpPr>
            <a:spLocks xmlns:a="http://schemas.openxmlformats.org/drawingml/2006/main" noGrp="1"/>
          </p:cNvSpPr>
          <p:nvPr/>
        </p:nvSpPr>
        <p:spPr>
          <a:xfrm xmlns:a="http://schemas.openxmlformats.org/drawingml/2006/main">
            <a:off x="4391025" y="3962400"/>
            <a:ext cx="71342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禁止</a:t>
            </a:r>
          </a:p>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prohibit</a:t>
            </a:r>
          </a:p>
        </p:txBody>
      </p:sp>
      <p:sp>
        <p:nvSpPr>
          <p:cNvPr id="477" name="矩形 476">
            <a:extLst xmlns:a="http://schemas.openxmlformats.org/drawingml/2006/main">
              <a:ext uri="{FF2B5EF4-FFF2-40B4-BE49-F238E27FC236}">
                <a16:creationId xmlns:a16="http://schemas.microsoft.com/office/drawing/2014/main" id="{4B3808AB-F115-4B5C-8AC3-2D29C4FF8760}"/>
              </a:ext>
            </a:extLst>
          </p:cNvPr>
          <p:cNvSpPr>
            <a:spLocks xmlns:a="http://schemas.openxmlformats.org/drawingml/2006/main" noGrp="1"/>
          </p:cNvSpPr>
          <p:nvPr/>
        </p:nvSpPr>
        <p:spPr>
          <a:xfrm xmlns:a="http://schemas.openxmlformats.org/drawingml/2006/main">
            <a:off x="4391025" y="4267200"/>
            <a:ext cx="7134225" cy="619125"/>
          </a:xfrm>
          <a:prstGeom xmlns:a="http://schemas.openxmlformats.org/drawingml/2006/main" prst="rect">
            <a:avLst/>
          </a:prstGeom>
        </p:spPr>
        <p:txBody>
          <a:bodyPr xmlns:a="http://schemas.openxmlformats.org/drawingml/2006/main" wrap="none" lIns="0" tIns="0" rIns="0" bIns="0">
            <a:normAutofit fontScale="41286"/>
          </a:bodyPr>
          <a:lstStyle xmlns:a="http://schemas.openxmlformats.org/drawingml/2006/main"/>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 直接提交 AI 生成的完整代码作为作业</a:t>
            </a:r>
          </a:p>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 用 AI 生成代码应付实验/考试而自己不理解</a:t>
            </a:r>
          </a:p>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 Directly submit complete AI-generated code as an assignment</a:t>
            </a:r>
          </a:p>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 Use AI to generate code to cope with experiments/exams but you don’t understand it</a:t>
            </a:r>
          </a:p>
        </p:txBody>
      </p:sp>
      <p:sp>
        <p:nvSpPr>
          <p:cNvPr id="478" name="圆角矩形 477">
            <a:extLst xmlns:a="http://schemas.openxmlformats.org/drawingml/2006/main">
              <a:ext uri="{FF2B5EF4-FFF2-40B4-BE49-F238E27FC236}">
                <a16:creationId xmlns:a16="http://schemas.microsoft.com/office/drawing/2014/main" id="{4E3BC3C4-B75D-4A04-9868-59719634D015}"/>
              </a:ext>
            </a:extLst>
          </p:cNvPr>
          <p:cNvSpPr>
            <a:spLocks xmlns:a="http://schemas.openxmlformats.org/drawingml/2006/main" noGrp="1"/>
          </p:cNvSpPr>
          <p:nvPr/>
        </p:nvSpPr>
        <p:spPr>
          <a:xfrm xmlns:a="http://schemas.openxmlformats.org/drawingml/2006/main">
            <a:off x="4181475" y="5248275"/>
            <a:ext cx="7553325" cy="457200"/>
          </a:xfrm>
          <a:prstGeom xmlns:a="http://schemas.openxmlformats.org/drawingml/2006/main" prst="roundRect">
            <a:avLst>
              <a:gd name="adj" fmla="val 16667"/>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79" name="矩形 478">
            <a:extLst xmlns:a="http://schemas.openxmlformats.org/drawingml/2006/main">
              <a:ext uri="{FF2B5EF4-FFF2-40B4-BE49-F238E27FC236}">
                <a16:creationId xmlns:a16="http://schemas.microsoft.com/office/drawing/2014/main" id="{5A3EAFC2-8CBE-481A-97F1-BB9FAD3D7BD9}"/>
              </a:ext>
            </a:extLst>
          </p:cNvPr>
          <p:cNvSpPr>
            <a:spLocks xmlns:a="http://schemas.openxmlformats.org/drawingml/2006/main" noGrp="1"/>
          </p:cNvSpPr>
          <p:nvPr/>
        </p:nvSpPr>
        <p:spPr>
          <a:xfrm xmlns:a="http://schemas.openxmlformats.org/drawingml/2006/main">
            <a:off x="4314825" y="5381625"/>
            <a:ext cx="728662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诚信底线：作业必须独立完成；提交前必须能讲解每一行代码。</a:t>
            </a:r>
          </a:p>
          <a:p xmlns:a="http://schemas.openxmlformats.org/drawingml/2006/main">
            <a:pPr marL="0">
              <a:lnSpc>
                <a:spcPct val="100000"/>
              </a:lnSpc>
              <a:spcBef>
                <a:spcPts val="0"/>
              </a:spcBef>
              <a:spcAft>
                <a:spcPts val="0"/>
              </a:spcAft>
              <a:buNone/>
            </a:pPr>
            <a:r>
              <a:rPr sz="2630" b="1">
                <a:solidFill>
                  <a:srgbClr val="0E3F8C"/>
                </a:solidFill>
                <a:latin typeface="微软雅黑"/>
                <a:ea typeface="微软雅黑"/>
                <a:cs typeface="微软雅黑"/>
              </a:rPr>
              <a:t>Bottom line of integrity: Assignments must be completed independently; each line of code must be explained before submission.</a:t>
            </a:r>
          </a:p>
        </p:txBody>
      </p:sp>
      <p:sp>
        <p:nvSpPr>
          <p:cNvPr id="480" name="矩形 479">
            <a:extLst xmlns:a="http://schemas.openxmlformats.org/drawingml/2006/main">
              <a:ext uri="{FF2B5EF4-FFF2-40B4-BE49-F238E27FC236}">
                <a16:creationId xmlns:a16="http://schemas.microsoft.com/office/drawing/2014/main" id="{4B7BA776-EC84-458A-ACFA-49BD52B70A2E}"/>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34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68251978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82" name="矩形 481">
            <a:extLst xmlns:a="http://schemas.openxmlformats.org/drawingml/2006/main">
              <a:ext uri="{FF2B5EF4-FFF2-40B4-BE49-F238E27FC236}">
                <a16:creationId xmlns:a16="http://schemas.microsoft.com/office/drawing/2014/main" id="{C56E7B2B-FA76-4734-AE45-19A880B85F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83" name="矩形 482">
            <a:extLst xmlns:a="http://schemas.openxmlformats.org/drawingml/2006/main">
              <a:ext uri="{FF2B5EF4-FFF2-40B4-BE49-F238E27FC236}">
                <a16:creationId xmlns:a16="http://schemas.microsoft.com/office/drawing/2014/main" id="{720DD56C-3F67-4084-B2F7-92D085A9B673}"/>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84" name="矩形 483">
            <a:extLst xmlns:a="http://schemas.openxmlformats.org/drawingml/2006/main">
              <a:ext uri="{FF2B5EF4-FFF2-40B4-BE49-F238E27FC236}">
                <a16:creationId xmlns:a16="http://schemas.microsoft.com/office/drawing/2014/main" id="{B53C7EEE-A1A4-45C4-AD44-51CAA4E42DD9}"/>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85" name="矩形 484">
            <a:extLst xmlns:a="http://schemas.openxmlformats.org/drawingml/2006/main">
              <a:ext uri="{FF2B5EF4-FFF2-40B4-BE49-F238E27FC236}">
                <a16:creationId xmlns:a16="http://schemas.microsoft.com/office/drawing/2014/main" id="{ACB29816-CDEF-4101-B98E-DD2C4B62E73C}"/>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§1.7 编程风格</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§1.7 Programming style</a:t>
            </a:r>
          </a:p>
        </p:txBody>
      </p:sp>
      <p:sp>
        <p:nvSpPr>
          <p:cNvPr id="486" name="矩形 485">
            <a:extLst xmlns:a="http://schemas.openxmlformats.org/drawingml/2006/main">
              <a:ext uri="{FF2B5EF4-FFF2-40B4-BE49-F238E27FC236}">
                <a16:creationId xmlns:a16="http://schemas.microsoft.com/office/drawing/2014/main" id="{F49BFB46-5FCE-42E8-A125-6D3FF0CF55F0}"/>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Kernighan</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风格</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Kernighan</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style</a:t>
            </a:r>
          </a:p>
        </p:txBody>
      </p:sp>
      <p:sp>
        <p:nvSpPr>
          <p:cNvPr id="487" name="矩形 486">
            <a:extLst xmlns:a="http://schemas.openxmlformats.org/drawingml/2006/main">
              <a:ext uri="{FF2B5EF4-FFF2-40B4-BE49-F238E27FC236}">
                <a16:creationId xmlns:a16="http://schemas.microsoft.com/office/drawing/2014/main" id="{F8F0CA70-0419-4403-8504-698175DBD4BC}"/>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8" name="矩形 487">
            <a:extLst xmlns:a="http://schemas.openxmlformats.org/drawingml/2006/main">
              <a:ext uri="{FF2B5EF4-FFF2-40B4-BE49-F238E27FC236}">
                <a16:creationId xmlns:a16="http://schemas.microsoft.com/office/drawing/2014/main" id="{ECEC938F-6EBF-423D-AD0C-D57E3897A91D}"/>
              </a:ext>
            </a:extLst>
          </p:cNvPr>
          <p:cNvSpPr>
            <a:spLocks xmlns:a="http://schemas.openxmlformats.org/drawingml/2006/main" noGrp="1"/>
          </p:cNvSpPr>
          <p:nvPr/>
        </p:nvSpPr>
        <p:spPr>
          <a:xfrm xmlns:a="http://schemas.openxmlformats.org/drawingml/2006/main">
            <a:off x="457200" y="3152775"/>
            <a:ext cx="3381375" cy="1943100"/>
          </a:xfrm>
          <a:prstGeom xmlns:a="http://schemas.openxmlformats.org/drawingml/2006/main" prst="rect">
            <a:avLst/>
          </a:prstGeom>
        </p:spPr>
        <p:txBody>
          <a:bodyPr xmlns:a="http://schemas.openxmlformats.org/drawingml/2006/main" wrap="square" lIns="0" tIns="0" rIns="0" bIns="0">
            <a:normAutofit fontScale="34998"/>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Kernighan（行尾）风格：左大括号写在上一行行尾，右大括号独占一行。阿里《Java 开发手册》、Google Java Style Guide 等主流工业规范均采用此风格——本课程统一使用。</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Kernighan (end-of-line) style: the opening brace is written at the end of the previous line, and the closing brace is on its own line. Alibaba's "Java Development Manual", Google Java Style Guide and other mainstream industrial specifications all adopt this style - this course uses it uniformly.</a:t>
            </a:r>
          </a:p>
        </p:txBody>
      </p:sp>
      <p:pic>
        <p:nvPicPr>
          <p:cNvPr id="499" name="图片 498"/>
          <p:cNvPicPr>
            <a:picLocks xmlns:a="http://schemas.openxmlformats.org/drawingml/2006/main" noChangeAspect="1"/>
          </p:cNvPicPr>
          <p:nvPr/>
        </p:nvPicPr>
        <p:blipFill>
          <a:blip xmlns:r="http://schemas.openxmlformats.org/officeDocument/2006/relationships" xmlns:a="http://schemas.openxmlformats.org/drawingml/2006/main" r:embed="R2d9b31d7fc6f4ad2"/>
          <a:srcRect xmlns:a="http://schemas.openxmlformats.org/drawingml/2006/main" l="0" t="80" r="0" b="80"/>
          <a:stretch xmlns:a="http://schemas.openxmlformats.org/drawingml/2006/main">
            <a:fillRect l="0" t="0" r="0" b="0"/>
          </a:stretch>
        </p:blipFill>
        <p:spPr>
          <a:xfrm xmlns:a="http://schemas.openxmlformats.org/drawingml/2006/main">
            <a:off x="4143375" y="1524000"/>
            <a:ext cx="7591425" cy="4257675"/>
          </a:xfrm>
          <a:prstGeom xmlns:a="http://schemas.openxmlformats.org/drawingml/2006/main" prst="roundRect">
            <a:avLst>
              <a:gd name="adj" fmla="val 2685"/>
            </a:avLst>
          </a:prstGeom>
          <a:effectLst xmlns:a="http://schemas.openxmlformats.org/drawingml/2006/main">
            <a:outerShdw blurRad="152400" dist="38100" dir="5400000">
              <a:srgbClr val="0F1C2E">
                <a:alpha val="8000"/>
              </a:srgbClr>
            </a:outerShdw>
          </a:effectLst>
        </p:spPr>
      </p:pic>
      <p:sp>
        <p:nvSpPr>
          <p:cNvPr id="490" name="矩形 489">
            <a:extLst xmlns:a="http://schemas.openxmlformats.org/drawingml/2006/main">
              <a:ext uri="{FF2B5EF4-FFF2-40B4-BE49-F238E27FC236}">
                <a16:creationId xmlns:a16="http://schemas.microsoft.com/office/drawing/2014/main" id="{98CE543D-CF08-4225-88BC-BF0D01CD5B03}"/>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35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76812173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492" name="矩形 491">
            <a:extLst xmlns:a="http://schemas.openxmlformats.org/drawingml/2006/main">
              <a:ext uri="{FF2B5EF4-FFF2-40B4-BE49-F238E27FC236}">
                <a16:creationId xmlns:a16="http://schemas.microsoft.com/office/drawing/2014/main" id="{2C1BB44C-877B-4C28-8C13-DD23FF2EEC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93" name="矩形 492">
            <a:extLst xmlns:a="http://schemas.openxmlformats.org/drawingml/2006/main">
              <a:ext uri="{FF2B5EF4-FFF2-40B4-BE49-F238E27FC236}">
                <a16:creationId xmlns:a16="http://schemas.microsoft.com/office/drawing/2014/main" id="{2C5DBBA6-14AA-4451-B44E-7B328E3A3BBD}"/>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94" name="矩形 493">
            <a:extLst xmlns:a="http://schemas.openxmlformats.org/drawingml/2006/main">
              <a:ext uri="{FF2B5EF4-FFF2-40B4-BE49-F238E27FC236}">
                <a16:creationId xmlns:a16="http://schemas.microsoft.com/office/drawing/2014/main" id="{F6D08FA9-4AFE-46A2-8D8C-A71288103B33}"/>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495" name="矩形 494">
            <a:extLst xmlns:a="http://schemas.openxmlformats.org/drawingml/2006/main">
              <a:ext uri="{FF2B5EF4-FFF2-40B4-BE49-F238E27FC236}">
                <a16:creationId xmlns:a16="http://schemas.microsoft.com/office/drawing/2014/main" id="{4F320F39-3DC3-40BF-BE96-4C84888F75A7}"/>
              </a:ext>
            </a:extLst>
          </p:cNvPr>
          <p:cNvSpPr>
            <a:spLocks xmlns:a="http://schemas.openxmlformats.org/drawingml/2006/main" noGrp="1"/>
          </p:cNvSpPr>
          <p:nvPr/>
        </p:nvSpPr>
        <p:spPr>
          <a:xfrm xmlns:a="http://schemas.openxmlformats.org/drawingml/2006/main">
            <a:off x="457200" y="1257300"/>
            <a:ext cx="33813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§1.7 编程风格</a:t>
            </a:r>
          </a:p>
          <a:p xmlns:a="http://schemas.openxmlformats.org/drawingml/2006/main">
            <a:pPr marL="0">
              <a:lnSpc>
                <a:spcPct val="100000"/>
              </a:lnSpc>
              <a:spcBef>
                <a:spcPts val="0"/>
              </a:spcBef>
              <a:spcAft>
                <a:spcPts val="0"/>
              </a:spcAft>
              <a:buNone/>
            </a:pPr>
            <a:r>
              <a:rPr sz="2630" b="1">
                <a:solidFill>
                  <a:srgbClr val="1E4FA8"/>
                </a:solidFill>
                <a:latin typeface="微软雅黑"/>
                <a:ea typeface="微软雅黑"/>
                <a:cs typeface="微软雅黑"/>
              </a:rPr>
              <a:t>§1.7 Programming style</a:t>
            </a:r>
          </a:p>
        </p:txBody>
      </p:sp>
      <p:sp>
        <p:nvSpPr>
          <p:cNvPr id="496" name="矩形 495">
            <a:extLst xmlns:a="http://schemas.openxmlformats.org/drawingml/2006/main">
              <a:ext uri="{FF2B5EF4-FFF2-40B4-BE49-F238E27FC236}">
                <a16:creationId xmlns:a16="http://schemas.microsoft.com/office/drawing/2014/main" id="{06828B63-9BB0-44F0-B674-DCB9CA2B58B0}"/>
              </a:ext>
            </a:extLst>
          </p:cNvPr>
          <p:cNvSpPr>
            <a:spLocks xmlns:a="http://schemas.openxmlformats.org/drawingml/2006/main" noGrp="1"/>
          </p:cNvSpPr>
          <p:nvPr/>
        </p:nvSpPr>
        <p:spPr>
          <a:xfrm xmlns:a="http://schemas.openxmlformats.org/drawingml/2006/main">
            <a:off x="457200" y="1562100"/>
            <a:ext cx="3381375" cy="110490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Allmans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风格</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Allmans</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style</a:t>
            </a:r>
          </a:p>
        </p:txBody>
      </p:sp>
      <p:sp>
        <p:nvSpPr>
          <p:cNvPr id="497" name="矩形 496">
            <a:extLst xmlns:a="http://schemas.openxmlformats.org/drawingml/2006/main">
              <a:ext uri="{FF2B5EF4-FFF2-40B4-BE49-F238E27FC236}">
                <a16:creationId xmlns:a16="http://schemas.microsoft.com/office/drawing/2014/main" id="{28210DBC-DFE1-42EB-BB68-6D68C8058C16}"/>
              </a:ext>
            </a:extLst>
          </p:cNvPr>
          <p:cNvSpPr>
            <a:spLocks xmlns:a="http://schemas.openxmlformats.org/drawingml/2006/main" noGrp="1"/>
          </p:cNvSpPr>
          <p:nvPr/>
        </p:nvSpPr>
        <p:spPr>
          <a:xfrm xmlns:a="http://schemas.openxmlformats.org/drawingml/2006/main">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98" name="矩形 497">
            <a:extLst xmlns:a="http://schemas.openxmlformats.org/drawingml/2006/main">
              <a:ext uri="{FF2B5EF4-FFF2-40B4-BE49-F238E27FC236}">
                <a16:creationId xmlns:a16="http://schemas.microsoft.com/office/drawing/2014/main" id="{241DCF0A-62FE-4E4A-9E60-DE86AC709658}"/>
              </a:ext>
            </a:extLst>
          </p:cNvPr>
          <p:cNvSpPr>
            <a:spLocks xmlns:a="http://schemas.openxmlformats.org/drawingml/2006/main" noGrp="1"/>
          </p:cNvSpPr>
          <p:nvPr/>
        </p:nvSpPr>
        <p:spPr>
          <a:xfrm xmlns:a="http://schemas.openxmlformats.org/drawingml/2006/main">
            <a:off x="457200" y="3152775"/>
            <a:ext cx="3381375" cy="1943100"/>
          </a:xfrm>
          <a:prstGeom xmlns:a="http://schemas.openxmlformats.org/drawingml/2006/main" prst="rect">
            <a:avLst/>
          </a:prstGeom>
        </p:spPr>
        <p:txBody>
          <a:bodyPr xmlns:a="http://schemas.openxmlformats.org/drawingml/2006/main" wrap="square" lIns="0" tIns="0" rIns="0" bIns="0">
            <a:normAutofit fontScale="37763"/>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Allmans（独行）风格：左右大括号各自独占一行。因阿里 / Google 等工业规范统一采用 Kernighan 风格，本课程以 Kernighan 为准，Allmans 仅一笔带过。</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Allmans (single-line) style: left and right braces are on their own line. Because Alibaba/Google and other industrial specifications uniformly adopt the Kernighan style, this course is based on Kernighan, and Allmans only mentions it briefly.</a:t>
            </a:r>
          </a:p>
        </p:txBody>
      </p:sp>
      <p:pic>
        <p:nvPicPr>
          <p:cNvPr id="509" name="图片 508"/>
          <p:cNvPicPr>
            <a:picLocks xmlns:a="http://schemas.openxmlformats.org/drawingml/2006/main" noChangeAspect="1"/>
          </p:cNvPicPr>
          <p:nvPr/>
        </p:nvPicPr>
        <p:blipFill>
          <a:blip xmlns:r="http://schemas.openxmlformats.org/officeDocument/2006/relationships" xmlns:a="http://schemas.openxmlformats.org/drawingml/2006/main" r:embed="Rd394bcb6257b425a"/>
          <a:srcRect xmlns:a="http://schemas.openxmlformats.org/drawingml/2006/main" l="0" t="70" r="0" b="70"/>
          <a:stretch xmlns:a="http://schemas.openxmlformats.org/drawingml/2006/main">
            <a:fillRect l="0" t="0" r="0" b="0"/>
          </a:stretch>
        </p:blipFill>
        <p:spPr>
          <a:xfrm xmlns:a="http://schemas.openxmlformats.org/drawingml/2006/main">
            <a:off x="4657725" y="1276350"/>
            <a:ext cx="6562725" cy="4762500"/>
          </a:xfrm>
          <a:prstGeom xmlns:a="http://schemas.openxmlformats.org/drawingml/2006/main" prst="roundRect">
            <a:avLst>
              <a:gd name="adj" fmla="val 2400"/>
            </a:avLst>
          </a:prstGeom>
          <a:effectLst xmlns:a="http://schemas.openxmlformats.org/drawingml/2006/main">
            <a:outerShdw blurRad="152400" dist="38100" dir="5400000">
              <a:srgbClr val="0F1C2E">
                <a:alpha val="8000"/>
              </a:srgbClr>
            </a:outerShdw>
          </a:effectLst>
        </p:spPr>
      </p:pic>
      <p:sp>
        <p:nvSpPr>
          <p:cNvPr id="500" name="矩形 499">
            <a:extLst xmlns:a="http://schemas.openxmlformats.org/drawingml/2006/main">
              <a:ext uri="{FF2B5EF4-FFF2-40B4-BE49-F238E27FC236}">
                <a16:creationId xmlns:a16="http://schemas.microsoft.com/office/drawing/2014/main" id="{B9A05090-1471-423E-964C-43A95B434E94}"/>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36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66774024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502" name="矩形 501">
            <a:extLst xmlns:a="http://schemas.openxmlformats.org/drawingml/2006/main">
              <a:ext uri="{FF2B5EF4-FFF2-40B4-BE49-F238E27FC236}">
                <a16:creationId xmlns:a16="http://schemas.microsoft.com/office/drawing/2014/main" id="{6A626463-1B11-4786-9BC1-40AD2257F9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03" name="矩形 502">
            <a:extLst xmlns:a="http://schemas.openxmlformats.org/drawingml/2006/main">
              <a:ext uri="{FF2B5EF4-FFF2-40B4-BE49-F238E27FC236}">
                <a16:creationId xmlns:a16="http://schemas.microsoft.com/office/drawing/2014/main" id="{CC0569E2-F1FA-4C3C-BF61-6489FB1FFC12}"/>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04" name="矩形 503">
            <a:extLst xmlns:a="http://schemas.openxmlformats.org/drawingml/2006/main">
              <a:ext uri="{FF2B5EF4-FFF2-40B4-BE49-F238E27FC236}">
                <a16:creationId xmlns:a16="http://schemas.microsoft.com/office/drawing/2014/main" id="{5B77A7E8-762E-45E5-BD01-11A565506D5C}"/>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05" name="矩形 504">
            <a:extLst xmlns:a="http://schemas.openxmlformats.org/drawingml/2006/main">
              <a:ext uri="{FF2B5EF4-FFF2-40B4-BE49-F238E27FC236}">
                <a16:creationId xmlns:a16="http://schemas.microsoft.com/office/drawing/2014/main" id="{2E23E4A2-AC56-4BF9-8353-997591DB5AD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§1.7.3</a:t>
            </a:r>
            <a:endParaRPr sz="1200" b="1" spc="300">
              <a:solidFill>
                <a:srgbClr val="1E4FA8"/>
              </a:solidFill>
              <a:latin typeface="微软雅黑"/>
              <a:ea typeface="微软雅黑"/>
              <a:cs typeface="微软雅黑"/>
            </a:endParaRPr>
          </a:p>
        </p:txBody>
      </p:sp>
      <p:sp>
        <p:nvSpPr>
          <p:cNvPr id="506" name="矩形 505">
            <a:extLst xmlns:a="http://schemas.openxmlformats.org/drawingml/2006/main">
              <a:ext uri="{FF2B5EF4-FFF2-40B4-BE49-F238E27FC236}">
                <a16:creationId xmlns:a16="http://schemas.microsoft.com/office/drawing/2014/main" id="{C0AC2632-1AAD-4D3F-81AC-A1085F2CE24D}"/>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注释</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Comment</a:t>
            </a:r>
          </a:p>
        </p:txBody>
      </p:sp>
      <p:sp>
        <p:nvSpPr>
          <p:cNvPr id="507" name="矩形 506">
            <a:extLst xmlns:a="http://schemas.openxmlformats.org/drawingml/2006/main">
              <a:ext uri="{FF2B5EF4-FFF2-40B4-BE49-F238E27FC236}">
                <a16:creationId xmlns:a16="http://schemas.microsoft.com/office/drawing/2014/main" id="{16DEC2AF-B3B3-45E7-8897-28F236920A5C}"/>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08" name="矩形 507">
            <a:extLst xmlns:a="http://schemas.openxmlformats.org/drawingml/2006/main">
              <a:ext uri="{FF2B5EF4-FFF2-40B4-BE49-F238E27FC236}">
                <a16:creationId xmlns:a16="http://schemas.microsoft.com/office/drawing/2014/main" id="{0B59727C-5D6D-46B8-B3FE-9848A17492BB}"/>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0880"/>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编译器忽略注释，但代码维护离不开它</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The compiler ignores comments, but code maintenance is inseparable from them</a:t>
            </a:r>
          </a:p>
        </p:txBody>
      </p:sp>
      <p:sp>
        <p:nvSpPr>
          <p:cNvPr id="509" name="圆角矩形 508">
            <a:extLst xmlns:a="http://schemas.openxmlformats.org/drawingml/2006/main">
              <a:ext uri="{FF2B5EF4-FFF2-40B4-BE49-F238E27FC236}">
                <a16:creationId xmlns:a16="http://schemas.microsoft.com/office/drawing/2014/main" id="{3E16BBDE-F277-417F-8438-77204E5B1001}"/>
              </a:ext>
            </a:extLst>
          </p:cNvPr>
          <p:cNvSpPr>
            <a:spLocks xmlns:a="http://schemas.openxmlformats.org/drawingml/2006/main" noGrp="1"/>
          </p:cNvSpPr>
          <p:nvPr/>
        </p:nvSpPr>
        <p:spPr>
          <a:xfrm xmlns:a="http://schemas.openxmlformats.org/drawingml/2006/main">
            <a:off x="4238625" y="1781175"/>
            <a:ext cx="7553325" cy="1714500"/>
          </a:xfrm>
          <a:prstGeom xmlns:a="http://schemas.openxmlformats.org/drawingml/2006/main" prst="roundRect">
            <a:avLst>
              <a:gd name="adj" fmla="val 5556"/>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10" name="任意多边形 509">
            <a:extLst xmlns:a="http://schemas.openxmlformats.org/drawingml/2006/main">
              <a:ext uri="{FF2B5EF4-FFF2-40B4-BE49-F238E27FC236}">
                <a16:creationId xmlns:a16="http://schemas.microsoft.com/office/drawing/2014/main" id="{D4852E73-7CBA-4536-B6CC-7EB5D84FEADB}"/>
              </a:ext>
            </a:extLst>
          </p:cNvPr>
          <p:cNvSpPr>
            <a:spLocks xmlns:a="http://schemas.openxmlformats.org/drawingml/2006/main" noGrp="1"/>
          </p:cNvSpPr>
          <p:nvPr/>
        </p:nvSpPr>
        <p:spPr>
          <a:xfrm xmlns:a="http://schemas.openxmlformats.org/drawingml/2006/main">
            <a:off x="4238625" y="1781175"/>
            <a:ext cx="7553325" cy="1714500"/>
          </a:xfrm>
          <a:custGeom xmlns:a="http://schemas.openxmlformats.org/drawingml/2006/main">
            <a:pathLst>
              <a:path w="793" h="180">
                <a:moveTo>
                  <a:pt x="10" y="0"/>
                </a:moveTo>
                <a:cubicBezTo>
                  <a:pt x="8" y="0"/>
                  <a:pt x="6" y="2"/>
                  <a:pt x="6" y="4"/>
                </a:cubicBezTo>
                <a:lnTo>
                  <a:pt x="6" y="176"/>
                </a:lnTo>
                <a:cubicBezTo>
                  <a:pt x="6" y="178"/>
                  <a:pt x="8" y="180"/>
                  <a:pt x="10" y="180"/>
                </a:cubicBezTo>
                <a:cubicBezTo>
                  <a:pt x="4" y="180"/>
                  <a:pt x="0" y="175"/>
                  <a:pt x="0" y="170"/>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11" name="矩形 510">
            <a:extLst xmlns:a="http://schemas.openxmlformats.org/drawingml/2006/main">
              <a:ext uri="{FF2B5EF4-FFF2-40B4-BE49-F238E27FC236}">
                <a16:creationId xmlns:a16="http://schemas.microsoft.com/office/drawing/2014/main" id="{AAA36C76-D266-417E-AEC4-0B5F2C5430E6}"/>
              </a:ext>
            </a:extLst>
          </p:cNvPr>
          <p:cNvSpPr>
            <a:spLocks xmlns:a="http://schemas.openxmlformats.org/drawingml/2006/main" noGrp="1"/>
          </p:cNvSpPr>
          <p:nvPr/>
        </p:nvSpPr>
        <p:spPr>
          <a:xfrm xmlns:a="http://schemas.openxmlformats.org/drawingml/2006/main">
            <a:off x="4486275" y="2028825"/>
            <a:ext cx="70008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单行注释</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Single line comments</a:t>
            </a:r>
          </a:p>
        </p:txBody>
      </p:sp>
      <p:sp>
        <p:nvSpPr>
          <p:cNvPr id="512" name="矩形 511">
            <a:extLst xmlns:a="http://schemas.openxmlformats.org/drawingml/2006/main">
              <a:ext uri="{FF2B5EF4-FFF2-40B4-BE49-F238E27FC236}">
                <a16:creationId xmlns:a16="http://schemas.microsoft.com/office/drawing/2014/main" id="{6C5C7BF6-7173-440C-A1D8-4BDA7265F645}"/>
              </a:ext>
            </a:extLst>
          </p:cNvPr>
          <p:cNvSpPr>
            <a:spLocks xmlns:a="http://schemas.openxmlformats.org/drawingml/2006/main" noGrp="1"/>
          </p:cNvSpPr>
          <p:nvPr/>
        </p:nvSpPr>
        <p:spPr>
          <a:xfrm xmlns:a="http://schemas.openxmlformats.org/drawingml/2006/main">
            <a:off x="4486275" y="2333625"/>
            <a:ext cx="7000875" cy="400050"/>
          </a:xfrm>
          <a:prstGeom xmlns:a="http://schemas.openxmlformats.org/drawingml/2006/main" prst="rect">
            <a:avLst/>
          </a:prstGeom>
        </p:spPr>
        <p:txBody>
          <a:bodyPr xmlns:a="http://schemas.openxmlformats.org/drawingml/2006/main" wrap="none" lIns="0" tIns="0" rIns="0" bIns="0">
            <a:normAutofit fontScale="29910"/>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使用 // 表示单行注释开始，从 // 开始的后继内容为注释。</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Use // to indicate the beginning of a single line comment, and the subsequent content starting from // is a comment.</a:t>
            </a:r>
          </a:p>
        </p:txBody>
      </p:sp>
      <p:sp>
        <p:nvSpPr>
          <p:cNvPr id="513" name="圆角矩形 512">
            <a:extLst xmlns:a="http://schemas.openxmlformats.org/drawingml/2006/main">
              <a:ext uri="{FF2B5EF4-FFF2-40B4-BE49-F238E27FC236}">
                <a16:creationId xmlns:a16="http://schemas.microsoft.com/office/drawing/2014/main" id="{D8C320CE-D0F0-4B33-BEC3-8F90688B06F2}"/>
              </a:ext>
            </a:extLst>
          </p:cNvPr>
          <p:cNvSpPr>
            <a:spLocks xmlns:a="http://schemas.openxmlformats.org/drawingml/2006/main" noGrp="1"/>
          </p:cNvSpPr>
          <p:nvPr/>
        </p:nvSpPr>
        <p:spPr>
          <a:xfrm xmlns:a="http://schemas.openxmlformats.org/drawingml/2006/main">
            <a:off x="4486275" y="2828925"/>
            <a:ext cx="7000875" cy="419100"/>
          </a:xfrm>
          <a:prstGeom xmlns:a="http://schemas.openxmlformats.org/drawingml/2006/main" prst="roundRect">
            <a:avLst>
              <a:gd name="adj" fmla="val 13636"/>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514" name="矩形 513">
            <a:extLst xmlns:a="http://schemas.openxmlformats.org/drawingml/2006/main">
              <a:ext uri="{FF2B5EF4-FFF2-40B4-BE49-F238E27FC236}">
                <a16:creationId xmlns:a16="http://schemas.microsoft.com/office/drawing/2014/main" id="{67C20DBD-91C2-49D8-A3AB-1922A1A310FE}"/>
              </a:ext>
            </a:extLst>
          </p:cNvPr>
          <p:cNvSpPr>
            <a:spLocks xmlns:a="http://schemas.openxmlformats.org/drawingml/2006/main" noGrp="1"/>
          </p:cNvSpPr>
          <p:nvPr/>
        </p:nvSpPr>
        <p:spPr>
          <a:xfrm xmlns:a="http://schemas.openxmlformats.org/drawingml/2006/main">
            <a:off x="4600575" y="2943225"/>
            <a:ext cx="6772275" cy="190500"/>
          </a:xfrm>
          <a:prstGeom xmlns:a="http://schemas.openxmlformats.org/drawingml/2006/main" prst="rect">
            <a:avLst/>
          </a:prstGeom>
        </p:spPr>
        <p:txBody>
          <a:bodyPr xmlns:a="http://schemas.openxmlformats.org/drawingml/2006/main" wrap="none" lIns="0" tIns="0" rIns="0" bIns="0">
            <a:normAutofit fontScale="23764"/>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int x = 10; // 定义变量 x</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int x = 10; // define variable x</a:t>
            </a:r>
          </a:p>
        </p:txBody>
      </p:sp>
      <p:sp>
        <p:nvSpPr>
          <p:cNvPr id="515" name="圆角矩形 514">
            <a:extLst xmlns:a="http://schemas.openxmlformats.org/drawingml/2006/main">
              <a:ext uri="{FF2B5EF4-FFF2-40B4-BE49-F238E27FC236}">
                <a16:creationId xmlns:a16="http://schemas.microsoft.com/office/drawing/2014/main" id="{D2518146-74D4-4A76-BFB3-9565E099C2DC}"/>
              </a:ext>
            </a:extLst>
          </p:cNvPr>
          <p:cNvSpPr>
            <a:spLocks xmlns:a="http://schemas.openxmlformats.org/drawingml/2006/main" noGrp="1"/>
          </p:cNvSpPr>
          <p:nvPr/>
        </p:nvSpPr>
        <p:spPr>
          <a:xfrm xmlns:a="http://schemas.openxmlformats.org/drawingml/2006/main">
            <a:off x="4238625" y="3667125"/>
            <a:ext cx="7553325" cy="1895475"/>
          </a:xfrm>
          <a:prstGeom xmlns:a="http://schemas.openxmlformats.org/drawingml/2006/main" prst="roundRect">
            <a:avLst>
              <a:gd name="adj" fmla="val 502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16" name="任意多边形 515">
            <a:extLst xmlns:a="http://schemas.openxmlformats.org/drawingml/2006/main">
              <a:ext uri="{FF2B5EF4-FFF2-40B4-BE49-F238E27FC236}">
                <a16:creationId xmlns:a16="http://schemas.microsoft.com/office/drawing/2014/main" id="{D176C564-5F91-4EC4-9D16-A6B2D39D0832}"/>
              </a:ext>
            </a:extLst>
          </p:cNvPr>
          <p:cNvSpPr>
            <a:spLocks xmlns:a="http://schemas.openxmlformats.org/drawingml/2006/main" noGrp="1"/>
          </p:cNvSpPr>
          <p:nvPr/>
        </p:nvSpPr>
        <p:spPr>
          <a:xfrm xmlns:a="http://schemas.openxmlformats.org/drawingml/2006/main">
            <a:off x="4238625" y="3667125"/>
            <a:ext cx="7553325" cy="1895475"/>
          </a:xfrm>
          <a:custGeom xmlns:a="http://schemas.openxmlformats.org/drawingml/2006/main">
            <a:pathLst>
              <a:path w="793" h="199">
                <a:moveTo>
                  <a:pt x="10" y="0"/>
                </a:moveTo>
                <a:cubicBezTo>
                  <a:pt x="8" y="0"/>
                  <a:pt x="6" y="2"/>
                  <a:pt x="6" y="4"/>
                </a:cubicBezTo>
                <a:lnTo>
                  <a:pt x="6" y="195"/>
                </a:lnTo>
                <a:cubicBezTo>
                  <a:pt x="6" y="197"/>
                  <a:pt x="8" y="199"/>
                  <a:pt x="10" y="199"/>
                </a:cubicBezTo>
                <a:cubicBezTo>
                  <a:pt x="4" y="199"/>
                  <a:pt x="0" y="194"/>
                  <a:pt x="0" y="189"/>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17" name="矩形 516">
            <a:extLst xmlns:a="http://schemas.openxmlformats.org/drawingml/2006/main">
              <a:ext uri="{FF2B5EF4-FFF2-40B4-BE49-F238E27FC236}">
                <a16:creationId xmlns:a16="http://schemas.microsoft.com/office/drawing/2014/main" id="{7F36E4EE-081E-4466-8ECA-8BFDE4BE5CB4}"/>
              </a:ext>
            </a:extLst>
          </p:cNvPr>
          <p:cNvSpPr>
            <a:spLocks xmlns:a="http://schemas.openxmlformats.org/drawingml/2006/main" noGrp="1"/>
          </p:cNvSpPr>
          <p:nvPr/>
        </p:nvSpPr>
        <p:spPr>
          <a:xfrm xmlns:a="http://schemas.openxmlformats.org/drawingml/2006/main">
            <a:off x="4486275" y="3914775"/>
            <a:ext cx="70008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多行注释</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Multi-line comments</a:t>
            </a:r>
          </a:p>
        </p:txBody>
      </p:sp>
      <p:sp>
        <p:nvSpPr>
          <p:cNvPr id="518" name="矩形 517">
            <a:extLst xmlns:a="http://schemas.openxmlformats.org/drawingml/2006/main">
              <a:ext uri="{FF2B5EF4-FFF2-40B4-BE49-F238E27FC236}">
                <a16:creationId xmlns:a16="http://schemas.microsoft.com/office/drawing/2014/main" id="{1788F935-0827-4718-AF2C-871E9E013587}"/>
              </a:ext>
            </a:extLst>
          </p:cNvPr>
          <p:cNvSpPr>
            <a:spLocks xmlns:a="http://schemas.openxmlformats.org/drawingml/2006/main" noGrp="1"/>
          </p:cNvSpPr>
          <p:nvPr/>
        </p:nvSpPr>
        <p:spPr>
          <a:xfrm xmlns:a="http://schemas.openxmlformats.org/drawingml/2006/main">
            <a:off x="4486275" y="4219575"/>
            <a:ext cx="7000875" cy="400050"/>
          </a:xfrm>
          <a:prstGeom xmlns:a="http://schemas.openxmlformats.org/drawingml/2006/main" prst="rect">
            <a:avLst/>
          </a:prstGeom>
        </p:spPr>
        <p:txBody>
          <a:bodyPr xmlns:a="http://schemas.openxmlformats.org/drawingml/2006/main" wrap="non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使用 /* 表示开始，*/ 表示结束。</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Use /* to start and */ to end.</a:t>
            </a:r>
          </a:p>
        </p:txBody>
      </p:sp>
      <p:sp>
        <p:nvSpPr>
          <p:cNvPr id="519" name="圆角矩形 518">
            <a:extLst xmlns:a="http://schemas.openxmlformats.org/drawingml/2006/main">
              <a:ext uri="{FF2B5EF4-FFF2-40B4-BE49-F238E27FC236}">
                <a16:creationId xmlns:a16="http://schemas.microsoft.com/office/drawing/2014/main" id="{C83A8869-F271-46B6-A6C2-1310A1904D01}"/>
              </a:ext>
            </a:extLst>
          </p:cNvPr>
          <p:cNvSpPr>
            <a:spLocks xmlns:a="http://schemas.openxmlformats.org/drawingml/2006/main" noGrp="1"/>
          </p:cNvSpPr>
          <p:nvPr/>
        </p:nvSpPr>
        <p:spPr>
          <a:xfrm xmlns:a="http://schemas.openxmlformats.org/drawingml/2006/main">
            <a:off x="4486275" y="4714875"/>
            <a:ext cx="7000875" cy="600075"/>
          </a:xfrm>
          <a:prstGeom xmlns:a="http://schemas.openxmlformats.org/drawingml/2006/main" prst="roundRect">
            <a:avLst>
              <a:gd name="adj" fmla="val 9524"/>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520" name="矩形 519">
            <a:extLst xmlns:a="http://schemas.openxmlformats.org/drawingml/2006/main">
              <a:ext uri="{FF2B5EF4-FFF2-40B4-BE49-F238E27FC236}">
                <a16:creationId xmlns:a16="http://schemas.microsoft.com/office/drawing/2014/main" id="{ED3BFE02-4059-4623-A3F9-92C756E3837B}"/>
              </a:ext>
            </a:extLst>
          </p:cNvPr>
          <p:cNvSpPr>
            <a:spLocks xmlns:a="http://schemas.openxmlformats.org/drawingml/2006/main" noGrp="1"/>
          </p:cNvSpPr>
          <p:nvPr/>
        </p:nvSpPr>
        <p:spPr>
          <a:xfrm xmlns:a="http://schemas.openxmlformats.org/drawingml/2006/main">
            <a:off x="4600575" y="4829175"/>
            <a:ext cx="6772275" cy="371475"/>
          </a:xfrm>
          <a:prstGeom xmlns:a="http://schemas.openxmlformats.org/drawingml/2006/main" prst="rect">
            <a:avLst/>
          </a:prstGeom>
        </p:spPr>
        <p:txBody>
          <a:bodyPr xmlns:a="http://schemas.openxmlformats.org/drawingml/2006/main" wrap="none" lIns="0" tIns="0" rIns="0" bIns="0">
            <a:normAutofit fontScale="23170"/>
          </a:bodyPr>
          <a:lstStyle xmlns:a="http://schemas.openxmlformats.org/drawingml/2006/main"/>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 这是</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   多行注释 */</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 This is</a:t>
            </a:r>
          </a:p>
          <a:p xmlns:a="http://schemas.openxmlformats.org/drawingml/2006/main">
            <a:pPr marL="0">
              <a:lnSpc>
                <a:spcPct val="100000"/>
              </a:lnSpc>
              <a:spcBef>
                <a:spcPts val="0"/>
              </a:spcBef>
              <a:spcAft>
                <a:spcPts val="0"/>
              </a:spcAft>
              <a:buNone/>
            </a:pPr>
            <a:r>
              <a:rPr sz="2630">
                <a:solidFill>
                  <a:srgbClr val="1A2230"/>
                </a:solidFill>
                <a:latin typeface="Consolas"/>
                <a:ea typeface="Consolas"/>
                <a:cs typeface="Consolas"/>
              </a:rPr>
              <a:t>Multi-line comments */</a:t>
            </a:r>
          </a:p>
        </p:txBody>
      </p:sp>
      <p:sp>
        <p:nvSpPr>
          <p:cNvPr id="521" name="矩形 520">
            <a:extLst xmlns:a="http://schemas.openxmlformats.org/drawingml/2006/main">
              <a:ext uri="{FF2B5EF4-FFF2-40B4-BE49-F238E27FC236}">
                <a16:creationId xmlns:a16="http://schemas.microsoft.com/office/drawing/2014/main" id="{245009A4-1FC0-40BF-84A7-393A661D4D37}"/>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37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121554049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523" name="矩形 522">
            <a:extLst xmlns:a="http://schemas.openxmlformats.org/drawingml/2006/main">
              <a:ext uri="{FF2B5EF4-FFF2-40B4-BE49-F238E27FC236}">
                <a16:creationId xmlns:a16="http://schemas.microsoft.com/office/drawing/2014/main" id="{AD6410AB-475F-42A4-9A4C-26DBDF9084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24" name="矩形 523">
            <a:extLst xmlns:a="http://schemas.openxmlformats.org/drawingml/2006/main">
              <a:ext uri="{FF2B5EF4-FFF2-40B4-BE49-F238E27FC236}">
                <a16:creationId xmlns:a16="http://schemas.microsoft.com/office/drawing/2014/main" id="{7461D7C6-8911-4550-A1EF-E8845E49FB5F}"/>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25" name="矩形 524">
            <a:extLst xmlns:a="http://schemas.openxmlformats.org/drawingml/2006/main">
              <a:ext uri="{FF2B5EF4-FFF2-40B4-BE49-F238E27FC236}">
                <a16:creationId xmlns:a16="http://schemas.microsoft.com/office/drawing/2014/main" id="{BF9EED0F-463C-4481-BC1D-11A2004F16CA}"/>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26" name="矩形 525">
            <a:extLst xmlns:a="http://schemas.openxmlformats.org/drawingml/2006/main">
              <a:ext uri="{FF2B5EF4-FFF2-40B4-BE49-F238E27FC236}">
                <a16:creationId xmlns:a16="http://schemas.microsoft.com/office/drawing/2014/main" id="{A0A0AAAE-7280-47FC-8D5F-679C99CD3A4C}"/>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§1.9</a:t>
            </a:r>
            <a:endParaRPr sz="1200" b="1" spc="300">
              <a:solidFill>
                <a:srgbClr val="1E4FA8"/>
              </a:solidFill>
              <a:latin typeface="微软雅黑"/>
              <a:ea typeface="微软雅黑"/>
              <a:cs typeface="微软雅黑"/>
            </a:endParaRPr>
          </a:p>
        </p:txBody>
      </p:sp>
      <p:sp>
        <p:nvSpPr>
          <p:cNvPr id="527" name="矩形 526">
            <a:extLst xmlns:a="http://schemas.openxmlformats.org/drawingml/2006/main">
              <a:ext uri="{FF2B5EF4-FFF2-40B4-BE49-F238E27FC236}">
                <a16:creationId xmlns:a16="http://schemas.microsoft.com/office/drawing/2014/main" id="{F79EFDE8-0D66-4D74-917B-2BF31907B3CD}"/>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本章总结</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Chapter summary</a:t>
            </a:r>
          </a:p>
        </p:txBody>
      </p:sp>
      <p:sp>
        <p:nvSpPr>
          <p:cNvPr id="528" name="矩形 527">
            <a:extLst xmlns:a="http://schemas.openxmlformats.org/drawingml/2006/main">
              <a:ext uri="{FF2B5EF4-FFF2-40B4-BE49-F238E27FC236}">
                <a16:creationId xmlns:a16="http://schemas.microsoft.com/office/drawing/2014/main" id="{73D3D33F-193F-46D8-AACE-B6F94A5BC61D}"/>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29" name="矩形 528">
            <a:extLst xmlns:a="http://schemas.openxmlformats.org/drawingml/2006/main">
              <a:ext uri="{FF2B5EF4-FFF2-40B4-BE49-F238E27FC236}">
                <a16:creationId xmlns:a16="http://schemas.microsoft.com/office/drawing/2014/main" id="{BBD5501B-9AA4-4DA0-9E8C-AF4FC2CFB26F}"/>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9912"/>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记住这四条，第 1 章就过关了</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Remember these four points and you will pass Chapter 1</a:t>
            </a:r>
          </a:p>
        </p:txBody>
      </p:sp>
      <p:sp>
        <p:nvSpPr>
          <p:cNvPr id="530" name="圆角矩形 529">
            <a:extLst xmlns:a="http://schemas.openxmlformats.org/drawingml/2006/main">
              <a:ext uri="{FF2B5EF4-FFF2-40B4-BE49-F238E27FC236}">
                <a16:creationId xmlns:a16="http://schemas.microsoft.com/office/drawing/2014/main" id="{57934BAF-A8BB-414A-AD1F-8EBD8E49DA28}"/>
              </a:ext>
            </a:extLst>
          </p:cNvPr>
          <p:cNvSpPr>
            <a:spLocks xmlns:a="http://schemas.openxmlformats.org/drawingml/2006/main" noGrp="1"/>
          </p:cNvSpPr>
          <p:nvPr/>
        </p:nvSpPr>
        <p:spPr>
          <a:xfrm xmlns:a="http://schemas.openxmlformats.org/drawingml/2006/main">
            <a:off x="4238625" y="942975"/>
            <a:ext cx="7553325" cy="1066800"/>
          </a:xfrm>
          <a:prstGeom xmlns:a="http://schemas.openxmlformats.org/drawingml/2006/main" prst="roundRect">
            <a:avLst>
              <a:gd name="adj" fmla="val 8929"/>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31" name="任意多边形 530">
            <a:extLst xmlns:a="http://schemas.openxmlformats.org/drawingml/2006/main">
              <a:ext uri="{FF2B5EF4-FFF2-40B4-BE49-F238E27FC236}">
                <a16:creationId xmlns:a16="http://schemas.microsoft.com/office/drawing/2014/main" id="{E7859F28-764B-45F2-BB67-FE70260817BB}"/>
              </a:ext>
            </a:extLst>
          </p:cNvPr>
          <p:cNvSpPr>
            <a:spLocks xmlns:a="http://schemas.openxmlformats.org/drawingml/2006/main" noGrp="1"/>
          </p:cNvSpPr>
          <p:nvPr/>
        </p:nvSpPr>
        <p:spPr>
          <a:xfrm xmlns:a="http://schemas.openxmlformats.org/drawingml/2006/main">
            <a:off x="4238625" y="942975"/>
            <a:ext cx="7553325" cy="1066800"/>
          </a:xfrm>
          <a:custGeom xmlns:a="http://schemas.openxmlformats.org/drawingml/2006/main">
            <a:pathLst>
              <a:path w="793" h="112">
                <a:moveTo>
                  <a:pt x="10" y="0"/>
                </a:moveTo>
                <a:cubicBezTo>
                  <a:pt x="8" y="0"/>
                  <a:pt x="6" y="2"/>
                  <a:pt x="6" y="4"/>
                </a:cubicBezTo>
                <a:lnTo>
                  <a:pt x="6" y="108"/>
                </a:lnTo>
                <a:cubicBezTo>
                  <a:pt x="6" y="110"/>
                  <a:pt x="8" y="112"/>
                  <a:pt x="10" y="112"/>
                </a:cubicBezTo>
                <a:cubicBezTo>
                  <a:pt x="4" y="112"/>
                  <a:pt x="0" y="107"/>
                  <a:pt x="0" y="102"/>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32" name="矩形 531">
            <a:extLst xmlns:a="http://schemas.openxmlformats.org/drawingml/2006/main">
              <a:ext uri="{FF2B5EF4-FFF2-40B4-BE49-F238E27FC236}">
                <a16:creationId xmlns:a16="http://schemas.microsoft.com/office/drawing/2014/main" id="{EC38CE16-331E-4FE3-A90B-FF772FF0F20A}"/>
              </a:ext>
            </a:extLst>
          </p:cNvPr>
          <p:cNvSpPr>
            <a:spLocks xmlns:a="http://schemas.openxmlformats.org/drawingml/2006/main" noGrp="1"/>
          </p:cNvSpPr>
          <p:nvPr/>
        </p:nvSpPr>
        <p:spPr>
          <a:xfrm xmlns:a="http://schemas.openxmlformats.org/drawingml/2006/main">
            <a:off x="4429125" y="1133475"/>
            <a:ext cx="711517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1E4FA8"/>
                </a:solidFill>
                <a:latin typeface="微软雅黑"/>
                <a:ea typeface="微软雅黑"/>
                <a:cs typeface="微软雅黑"/>
              </a:rPr>
              <a:t>1</a:t>
            </a:r>
            <a:endParaRPr sz="1350" b="1">
              <a:solidFill>
                <a:srgbClr val="1E4FA8"/>
              </a:solidFill>
              <a:latin typeface="微软雅黑"/>
              <a:ea typeface="微软雅黑"/>
              <a:cs typeface="微软雅黑"/>
            </a:endParaRPr>
          </a:p>
        </p:txBody>
      </p:sp>
      <p:sp>
        <p:nvSpPr>
          <p:cNvPr id="533" name="矩形 532">
            <a:extLst xmlns:a="http://schemas.openxmlformats.org/drawingml/2006/main">
              <a:ext uri="{FF2B5EF4-FFF2-40B4-BE49-F238E27FC236}">
                <a16:creationId xmlns:a16="http://schemas.microsoft.com/office/drawing/2014/main" id="{F7C2D914-9B89-48CE-A1E8-874AF9E21DC7}"/>
              </a:ext>
            </a:extLst>
          </p:cNvPr>
          <p:cNvSpPr>
            <a:spLocks xmlns:a="http://schemas.openxmlformats.org/drawingml/2006/main" noGrp="1"/>
          </p:cNvSpPr>
          <p:nvPr/>
        </p:nvSpPr>
        <p:spPr>
          <a:xfrm xmlns:a="http://schemas.openxmlformats.org/drawingml/2006/main">
            <a:off x="4429125" y="1419225"/>
            <a:ext cx="7115175" cy="400050"/>
          </a:xfrm>
          <a:prstGeom xmlns:a="http://schemas.openxmlformats.org/drawingml/2006/main" prst="rect">
            <a:avLst/>
          </a:prstGeom>
        </p:spPr>
        <p:txBody>
          <a:bodyPr xmlns:a="http://schemas.openxmlformats.org/drawingml/2006/main" wrap="none" lIns="0" tIns="0" rIns="0" bIns="0">
            <a:normAutofit fontScale="39894"/>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语言是面向对象编程，编写的软件与平台无关。</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Java is object-oriented programming, and the software written is platform-independent.</a:t>
            </a:r>
          </a:p>
        </p:txBody>
      </p:sp>
      <p:sp>
        <p:nvSpPr>
          <p:cNvPr id="534" name="圆角矩形 533">
            <a:extLst xmlns:a="http://schemas.openxmlformats.org/drawingml/2006/main">
              <a:ext uri="{FF2B5EF4-FFF2-40B4-BE49-F238E27FC236}">
                <a16:creationId xmlns:a16="http://schemas.microsoft.com/office/drawing/2014/main" id="{DC151B36-4A3C-4403-9AC7-1E93AA0D7983}"/>
              </a:ext>
            </a:extLst>
          </p:cNvPr>
          <p:cNvSpPr>
            <a:spLocks xmlns:a="http://schemas.openxmlformats.org/drawingml/2006/main" noGrp="1"/>
          </p:cNvSpPr>
          <p:nvPr/>
        </p:nvSpPr>
        <p:spPr>
          <a:xfrm xmlns:a="http://schemas.openxmlformats.org/drawingml/2006/main">
            <a:off x="4238625" y="2143125"/>
            <a:ext cx="7553325" cy="1466850"/>
          </a:xfrm>
          <a:prstGeom xmlns:a="http://schemas.openxmlformats.org/drawingml/2006/main" prst="roundRect">
            <a:avLst>
              <a:gd name="adj" fmla="val 649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35" name="任意多边形 534">
            <a:extLst xmlns:a="http://schemas.openxmlformats.org/drawingml/2006/main">
              <a:ext uri="{FF2B5EF4-FFF2-40B4-BE49-F238E27FC236}">
                <a16:creationId xmlns:a16="http://schemas.microsoft.com/office/drawing/2014/main" id="{2EEFC907-04E4-4DEF-A44F-A38D8754962D}"/>
              </a:ext>
            </a:extLst>
          </p:cNvPr>
          <p:cNvSpPr>
            <a:spLocks xmlns:a="http://schemas.openxmlformats.org/drawingml/2006/main" noGrp="1"/>
          </p:cNvSpPr>
          <p:nvPr/>
        </p:nvSpPr>
        <p:spPr>
          <a:xfrm xmlns:a="http://schemas.openxmlformats.org/drawingml/2006/main">
            <a:off x="4238625" y="2143125"/>
            <a:ext cx="7553325" cy="1466850"/>
          </a:xfrm>
          <a:custGeom xmlns:a="http://schemas.openxmlformats.org/drawingml/2006/main">
            <a:pathLst>
              <a:path w="793" h="154">
                <a:moveTo>
                  <a:pt x="10" y="0"/>
                </a:moveTo>
                <a:cubicBezTo>
                  <a:pt x="8" y="0"/>
                  <a:pt x="6" y="2"/>
                  <a:pt x="6" y="4"/>
                </a:cubicBezTo>
                <a:lnTo>
                  <a:pt x="6" y="150"/>
                </a:lnTo>
                <a:cubicBezTo>
                  <a:pt x="6" y="152"/>
                  <a:pt x="8" y="154"/>
                  <a:pt x="10" y="154"/>
                </a:cubicBezTo>
                <a:cubicBezTo>
                  <a:pt x="4" y="154"/>
                  <a:pt x="0" y="149"/>
                  <a:pt x="0" y="14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36" name="矩形 535">
            <a:extLst xmlns:a="http://schemas.openxmlformats.org/drawingml/2006/main">
              <a:ext uri="{FF2B5EF4-FFF2-40B4-BE49-F238E27FC236}">
                <a16:creationId xmlns:a16="http://schemas.microsoft.com/office/drawing/2014/main" id="{1D18EEE1-3E86-42D8-8EF5-4D8B7CB45992}"/>
              </a:ext>
            </a:extLst>
          </p:cNvPr>
          <p:cNvSpPr>
            <a:spLocks xmlns:a="http://schemas.openxmlformats.org/drawingml/2006/main" noGrp="1"/>
          </p:cNvSpPr>
          <p:nvPr/>
        </p:nvSpPr>
        <p:spPr>
          <a:xfrm xmlns:a="http://schemas.openxmlformats.org/drawingml/2006/main">
            <a:off x="4429125" y="2333625"/>
            <a:ext cx="711517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1E4FA8"/>
                </a:solidFill>
                <a:latin typeface="微软雅黑"/>
                <a:ea typeface="微软雅黑"/>
                <a:cs typeface="微软雅黑"/>
              </a:rPr>
              <a:t>2</a:t>
            </a:r>
            <a:endParaRPr sz="1350" b="1">
              <a:solidFill>
                <a:srgbClr val="1E4FA8"/>
              </a:solidFill>
              <a:latin typeface="微软雅黑"/>
              <a:ea typeface="微软雅黑"/>
              <a:cs typeface="微软雅黑"/>
            </a:endParaRPr>
          </a:p>
        </p:txBody>
      </p:sp>
      <p:sp>
        <p:nvSpPr>
          <p:cNvPr id="537" name="矩形 536">
            <a:extLst xmlns:a="http://schemas.openxmlformats.org/drawingml/2006/main">
              <a:ext uri="{FF2B5EF4-FFF2-40B4-BE49-F238E27FC236}">
                <a16:creationId xmlns:a16="http://schemas.microsoft.com/office/drawing/2014/main" id="{41DD8119-936F-4C39-B81E-07BCC29615CD}"/>
              </a:ext>
            </a:extLst>
          </p:cNvPr>
          <p:cNvSpPr>
            <a:spLocks xmlns:a="http://schemas.openxmlformats.org/drawingml/2006/main" noGrp="1"/>
          </p:cNvSpPr>
          <p:nvPr/>
        </p:nvSpPr>
        <p:spPr>
          <a:xfrm xmlns:a="http://schemas.openxmlformats.org/drawingml/2006/main">
            <a:off x="4429125" y="2619375"/>
            <a:ext cx="7115175" cy="800100"/>
          </a:xfrm>
          <a:prstGeom xmlns:a="http://schemas.openxmlformats.org/drawingml/2006/main" prst="rect">
            <a:avLst/>
          </a:prstGeom>
        </p:spPr>
        <p:txBody>
          <a:bodyPr xmlns:a="http://schemas.openxmlformats.org/drawingml/2006/main" wrap="square" lIns="0" tIns="0" rIns="0" bIns="0">
            <a:normAutofit fontScale="4425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开发一个 Java 程序需经过三个步骤：编写源文件、编译生成字节码、加载运行字节码。</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Developing a Java program requires three steps: writing source files, compiling and generating bytecode, and loading and running bytecode.</a:t>
            </a:r>
          </a:p>
        </p:txBody>
      </p:sp>
      <p:sp>
        <p:nvSpPr>
          <p:cNvPr id="538" name="圆角矩形 537">
            <a:extLst xmlns:a="http://schemas.openxmlformats.org/drawingml/2006/main">
              <a:ext uri="{FF2B5EF4-FFF2-40B4-BE49-F238E27FC236}">
                <a16:creationId xmlns:a16="http://schemas.microsoft.com/office/drawing/2014/main" id="{02C84694-D3FB-47B3-AD9D-B4D855929E05}"/>
              </a:ext>
            </a:extLst>
          </p:cNvPr>
          <p:cNvSpPr>
            <a:spLocks xmlns:a="http://schemas.openxmlformats.org/drawingml/2006/main" noGrp="1"/>
          </p:cNvSpPr>
          <p:nvPr/>
        </p:nvSpPr>
        <p:spPr>
          <a:xfrm xmlns:a="http://schemas.openxmlformats.org/drawingml/2006/main">
            <a:off x="4238625" y="3743325"/>
            <a:ext cx="7553325" cy="1066800"/>
          </a:xfrm>
          <a:prstGeom xmlns:a="http://schemas.openxmlformats.org/drawingml/2006/main" prst="roundRect">
            <a:avLst>
              <a:gd name="adj" fmla="val 8929"/>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39" name="任意多边形 538">
            <a:extLst xmlns:a="http://schemas.openxmlformats.org/drawingml/2006/main">
              <a:ext uri="{FF2B5EF4-FFF2-40B4-BE49-F238E27FC236}">
                <a16:creationId xmlns:a16="http://schemas.microsoft.com/office/drawing/2014/main" id="{A0E47D2A-3DA8-40F3-8E33-F3A33EE05ED0}"/>
              </a:ext>
            </a:extLst>
          </p:cNvPr>
          <p:cNvSpPr>
            <a:spLocks xmlns:a="http://schemas.openxmlformats.org/drawingml/2006/main" noGrp="1"/>
          </p:cNvSpPr>
          <p:nvPr/>
        </p:nvSpPr>
        <p:spPr>
          <a:xfrm xmlns:a="http://schemas.openxmlformats.org/drawingml/2006/main">
            <a:off x="4238625" y="3743325"/>
            <a:ext cx="7553325" cy="1066800"/>
          </a:xfrm>
          <a:custGeom xmlns:a="http://schemas.openxmlformats.org/drawingml/2006/main">
            <a:pathLst>
              <a:path w="793" h="112">
                <a:moveTo>
                  <a:pt x="10" y="0"/>
                </a:moveTo>
                <a:cubicBezTo>
                  <a:pt x="8" y="0"/>
                  <a:pt x="6" y="2"/>
                  <a:pt x="6" y="4"/>
                </a:cubicBezTo>
                <a:lnTo>
                  <a:pt x="6" y="108"/>
                </a:lnTo>
                <a:cubicBezTo>
                  <a:pt x="6" y="110"/>
                  <a:pt x="8" y="112"/>
                  <a:pt x="10" y="112"/>
                </a:cubicBezTo>
                <a:cubicBezTo>
                  <a:pt x="4" y="112"/>
                  <a:pt x="0" y="107"/>
                  <a:pt x="0" y="102"/>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40" name="矩形 539">
            <a:extLst xmlns:a="http://schemas.openxmlformats.org/drawingml/2006/main">
              <a:ext uri="{FF2B5EF4-FFF2-40B4-BE49-F238E27FC236}">
                <a16:creationId xmlns:a16="http://schemas.microsoft.com/office/drawing/2014/main" id="{D61ACD56-F300-48DE-BC92-2661C778B6F6}"/>
              </a:ext>
            </a:extLst>
          </p:cNvPr>
          <p:cNvSpPr>
            <a:spLocks xmlns:a="http://schemas.openxmlformats.org/drawingml/2006/main" noGrp="1"/>
          </p:cNvSpPr>
          <p:nvPr/>
        </p:nvSpPr>
        <p:spPr>
          <a:xfrm xmlns:a="http://schemas.openxmlformats.org/drawingml/2006/main">
            <a:off x="4429125" y="3933825"/>
            <a:ext cx="711517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1E4FA8"/>
                </a:solidFill>
                <a:latin typeface="微软雅黑"/>
                <a:ea typeface="微软雅黑"/>
                <a:cs typeface="微软雅黑"/>
              </a:rPr>
              <a:t>3</a:t>
            </a:r>
            <a:endParaRPr sz="1350" b="1">
              <a:solidFill>
                <a:srgbClr val="1E4FA8"/>
              </a:solidFill>
              <a:latin typeface="微软雅黑"/>
              <a:ea typeface="微软雅黑"/>
              <a:cs typeface="微软雅黑"/>
            </a:endParaRPr>
          </a:p>
        </p:txBody>
      </p:sp>
      <p:sp>
        <p:nvSpPr>
          <p:cNvPr id="541" name="矩形 540">
            <a:extLst xmlns:a="http://schemas.openxmlformats.org/drawingml/2006/main">
              <a:ext uri="{FF2B5EF4-FFF2-40B4-BE49-F238E27FC236}">
                <a16:creationId xmlns:a16="http://schemas.microsoft.com/office/drawing/2014/main" id="{B343F4FA-0B58-45AA-B4D6-84CC008B657A}"/>
              </a:ext>
            </a:extLst>
          </p:cNvPr>
          <p:cNvSpPr>
            <a:spLocks xmlns:a="http://schemas.openxmlformats.org/drawingml/2006/main" noGrp="1"/>
          </p:cNvSpPr>
          <p:nvPr/>
        </p:nvSpPr>
        <p:spPr>
          <a:xfrm xmlns:a="http://schemas.openxmlformats.org/drawingml/2006/main">
            <a:off x="4429125" y="4219575"/>
            <a:ext cx="7115175" cy="400050"/>
          </a:xfrm>
          <a:prstGeom xmlns:a="http://schemas.openxmlformats.org/drawingml/2006/main" prst="rect">
            <a:avLst/>
          </a:prstGeom>
        </p:spPr>
        <p:txBody>
          <a:bodyPr xmlns:a="http://schemas.openxmlformats.org/drawingml/2006/main" wrap="none" lIns="0" tIns="0" rIns="0" bIns="0">
            <a:normAutofit fontScale="33149"/>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编写代码务必遵守行业习惯风格（本课程统一使用 Kernighan 风格）。</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Be sure to follow industry conventions when writing code (Kernighan style is used uniformly in this course).</a:t>
            </a:r>
          </a:p>
        </p:txBody>
      </p:sp>
      <p:sp>
        <p:nvSpPr>
          <p:cNvPr id="542" name="圆角矩形 541">
            <a:extLst xmlns:a="http://schemas.openxmlformats.org/drawingml/2006/main">
              <a:ext uri="{FF2B5EF4-FFF2-40B4-BE49-F238E27FC236}">
                <a16:creationId xmlns:a16="http://schemas.microsoft.com/office/drawing/2014/main" id="{69F26C32-8D88-44B0-9EC7-EE5F828BE440}"/>
              </a:ext>
            </a:extLst>
          </p:cNvPr>
          <p:cNvSpPr>
            <a:spLocks xmlns:a="http://schemas.openxmlformats.org/drawingml/2006/main" noGrp="1"/>
          </p:cNvSpPr>
          <p:nvPr/>
        </p:nvSpPr>
        <p:spPr>
          <a:xfrm xmlns:a="http://schemas.openxmlformats.org/drawingml/2006/main">
            <a:off x="4238625" y="4943475"/>
            <a:ext cx="7553325" cy="1466850"/>
          </a:xfrm>
          <a:prstGeom xmlns:a="http://schemas.openxmlformats.org/drawingml/2006/main" prst="roundRect">
            <a:avLst>
              <a:gd name="adj" fmla="val 649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43" name="任意多边形 542">
            <a:extLst xmlns:a="http://schemas.openxmlformats.org/drawingml/2006/main">
              <a:ext uri="{FF2B5EF4-FFF2-40B4-BE49-F238E27FC236}">
                <a16:creationId xmlns:a16="http://schemas.microsoft.com/office/drawing/2014/main" id="{95113D78-188F-4839-B61D-C6A6F881E382}"/>
              </a:ext>
            </a:extLst>
          </p:cNvPr>
          <p:cNvSpPr>
            <a:spLocks xmlns:a="http://schemas.openxmlformats.org/drawingml/2006/main" noGrp="1"/>
          </p:cNvSpPr>
          <p:nvPr/>
        </p:nvSpPr>
        <p:spPr>
          <a:xfrm xmlns:a="http://schemas.openxmlformats.org/drawingml/2006/main">
            <a:off x="4238625" y="4943475"/>
            <a:ext cx="7553325" cy="1466850"/>
          </a:xfrm>
          <a:custGeom xmlns:a="http://schemas.openxmlformats.org/drawingml/2006/main">
            <a:pathLst>
              <a:path w="793" h="154">
                <a:moveTo>
                  <a:pt x="10" y="0"/>
                </a:moveTo>
                <a:cubicBezTo>
                  <a:pt x="8" y="0"/>
                  <a:pt x="6" y="2"/>
                  <a:pt x="6" y="4"/>
                </a:cubicBezTo>
                <a:lnTo>
                  <a:pt x="6" y="150"/>
                </a:lnTo>
                <a:cubicBezTo>
                  <a:pt x="6" y="152"/>
                  <a:pt x="8" y="154"/>
                  <a:pt x="10" y="154"/>
                </a:cubicBezTo>
                <a:cubicBezTo>
                  <a:pt x="4" y="154"/>
                  <a:pt x="0" y="149"/>
                  <a:pt x="0" y="144"/>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44" name="矩形 543">
            <a:extLst xmlns:a="http://schemas.openxmlformats.org/drawingml/2006/main">
              <a:ext uri="{FF2B5EF4-FFF2-40B4-BE49-F238E27FC236}">
                <a16:creationId xmlns:a16="http://schemas.microsoft.com/office/drawing/2014/main" id="{1682F3C2-B434-4331-94A4-DCD2E681C494}"/>
              </a:ext>
            </a:extLst>
          </p:cNvPr>
          <p:cNvSpPr>
            <a:spLocks xmlns:a="http://schemas.openxmlformats.org/drawingml/2006/main" noGrp="1"/>
          </p:cNvSpPr>
          <p:nvPr/>
        </p:nvSpPr>
        <p:spPr>
          <a:xfrm xmlns:a="http://schemas.openxmlformats.org/drawingml/2006/main">
            <a:off x="4429125" y="5133975"/>
            <a:ext cx="7115175"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a:solidFill>
                  <a:srgbClr val="D9534F"/>
                </a:solidFill>
                <a:latin typeface="微软雅黑"/>
                <a:ea typeface="微软雅黑"/>
                <a:cs typeface="微软雅黑"/>
              </a:rPr>
              <a:t>4</a:t>
            </a:r>
            <a:endParaRPr sz="1350" b="1">
              <a:solidFill>
                <a:srgbClr val="D9534F"/>
              </a:solidFill>
              <a:latin typeface="微软雅黑"/>
              <a:ea typeface="微软雅黑"/>
              <a:cs typeface="微软雅黑"/>
            </a:endParaRPr>
          </a:p>
        </p:txBody>
      </p:sp>
      <p:sp>
        <p:nvSpPr>
          <p:cNvPr id="545" name="矩形 544">
            <a:extLst xmlns:a="http://schemas.openxmlformats.org/drawingml/2006/main">
              <a:ext uri="{FF2B5EF4-FFF2-40B4-BE49-F238E27FC236}">
                <a16:creationId xmlns:a16="http://schemas.microsoft.com/office/drawing/2014/main" id="{837EC1DD-A182-42C4-9277-B0ED2EC4CA01}"/>
              </a:ext>
            </a:extLst>
          </p:cNvPr>
          <p:cNvSpPr>
            <a:spLocks xmlns:a="http://schemas.openxmlformats.org/drawingml/2006/main" noGrp="1"/>
          </p:cNvSpPr>
          <p:nvPr/>
        </p:nvSpPr>
        <p:spPr>
          <a:xfrm xmlns:a="http://schemas.openxmlformats.org/drawingml/2006/main">
            <a:off x="4429125" y="5419725"/>
            <a:ext cx="7115175" cy="800100"/>
          </a:xfrm>
          <a:prstGeom xmlns:a="http://schemas.openxmlformats.org/drawingml/2006/main" prst="rect">
            <a:avLst/>
          </a:prstGeom>
        </p:spPr>
        <p:txBody>
          <a:bodyPr xmlns:a="http://schemas.openxmlformats.org/drawingml/2006/main" wrap="square" lIns="0" tIns="0" rIns="0" bIns="0">
            <a:normAutofit fontScale="37312"/>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熟悉 IntelliJ IDEA 的基本使用流程；了解 AI 编程助手（如 CodeBuddy）的使用边界，作业必须独立完成。</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Be familiar with the basic usage process of IntelliJ IDEA; understand the usage boundaries of AI programming assistants (such as CodeBuddy), and the work must be completed independently.</a:t>
            </a:r>
          </a:p>
        </p:txBody>
      </p:sp>
      <p:sp>
        <p:nvSpPr>
          <p:cNvPr id="546" name="矩形 545">
            <a:extLst xmlns:a="http://schemas.openxmlformats.org/drawingml/2006/main">
              <a:ext uri="{FF2B5EF4-FFF2-40B4-BE49-F238E27FC236}">
                <a16:creationId xmlns:a16="http://schemas.microsoft.com/office/drawing/2014/main" id="{F6A1BA0B-009B-458B-A217-73017D4434AD}"/>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38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65675036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548" name="矩形 547">
            <a:extLst xmlns:a="http://schemas.openxmlformats.org/drawingml/2006/main">
              <a:ext uri="{FF2B5EF4-FFF2-40B4-BE49-F238E27FC236}">
                <a16:creationId xmlns:a16="http://schemas.microsoft.com/office/drawing/2014/main" id="{0CC46937-090C-4E7C-BE31-760ED4748F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9" name="矩形 548">
            <a:extLst xmlns:a="http://schemas.openxmlformats.org/drawingml/2006/main">
              <a:ext uri="{FF2B5EF4-FFF2-40B4-BE49-F238E27FC236}">
                <a16:creationId xmlns:a16="http://schemas.microsoft.com/office/drawing/2014/main" id="{ED108B3A-F88A-41CC-9D9D-A9F1D9E9893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0" name="矩形 549">
            <a:extLst xmlns:a="http://schemas.openxmlformats.org/drawingml/2006/main">
              <a:ext uri="{FF2B5EF4-FFF2-40B4-BE49-F238E27FC236}">
                <a16:creationId xmlns:a16="http://schemas.microsoft.com/office/drawing/2014/main" id="{B48542F7-D231-400C-8F72-D906669331E6}"/>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51" name="矩形 550">
            <a:extLst xmlns:a="http://schemas.openxmlformats.org/drawingml/2006/main">
              <a:ext uri="{FF2B5EF4-FFF2-40B4-BE49-F238E27FC236}">
                <a16:creationId xmlns:a16="http://schemas.microsoft.com/office/drawing/2014/main" id="{B847837E-B44B-4CD1-BF14-D272630BD2F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微软雅黑"/>
                <a:ea typeface="微软雅黑"/>
                <a:cs typeface="微软雅黑"/>
              </a:rPr>
              <a:t>§1.10</a:t>
            </a:r>
            <a:endParaRPr sz="1200" b="1" spc="300">
              <a:solidFill>
                <a:srgbClr val="1E4FA8"/>
              </a:solidFill>
              <a:latin typeface="微软雅黑"/>
              <a:ea typeface="微软雅黑"/>
              <a:cs typeface="微软雅黑"/>
            </a:endParaRPr>
          </a:p>
        </p:txBody>
      </p:sp>
      <p:sp>
        <p:nvSpPr>
          <p:cNvPr id="552" name="矩形 551">
            <a:extLst xmlns:a="http://schemas.openxmlformats.org/drawingml/2006/main">
              <a:ext uri="{FF2B5EF4-FFF2-40B4-BE49-F238E27FC236}">
                <a16:creationId xmlns:a16="http://schemas.microsoft.com/office/drawing/2014/main" id="{19F6870C-0EC9-49AF-87DF-50960B4DF58A}"/>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7587"/>
          </a:bodyPr>
          <a:lstStyle xmlns:a="http://schemas.openxmlformats.org/drawingml/2006/main"/>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作业</a:t>
            </a:r>
          </a:p>
          <a:p xmlns:a="http://schemas.openxmlformats.org/drawingml/2006/main">
            <a:pPr marL="0">
              <a:lnSpc>
                <a:spcPct val="100000"/>
              </a:lnSpc>
              <a:spcBef>
                <a:spcPts val="0"/>
              </a:spcBef>
              <a:spcAft>
                <a:spcPts val="0"/>
              </a:spcAft>
              <a:buNone/>
            </a:pPr>
            <a:r>
              <a:rPr sz="6570" b="1">
                <a:solidFill>
                  <a:srgbClr val="0E3F8C"/>
                </a:solidFill>
                <a:latin typeface="微软雅黑"/>
                <a:ea typeface="微软雅黑"/>
                <a:cs typeface="微软雅黑"/>
              </a:rPr>
              <a:t>Homework</a:t>
            </a:r>
          </a:p>
        </p:txBody>
      </p:sp>
      <p:sp>
        <p:nvSpPr>
          <p:cNvPr id="553" name="矩形 552">
            <a:extLst xmlns:a="http://schemas.openxmlformats.org/drawingml/2006/main">
              <a:ext uri="{FF2B5EF4-FFF2-40B4-BE49-F238E27FC236}">
                <a16:creationId xmlns:a16="http://schemas.microsoft.com/office/drawing/2014/main" id="{1EA91AC3-7756-4172-84B1-AEF7ED161220}"/>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4" name="矩形 553">
            <a:extLst xmlns:a="http://schemas.openxmlformats.org/drawingml/2006/main">
              <a:ext uri="{FF2B5EF4-FFF2-40B4-BE49-F238E27FC236}">
                <a16:creationId xmlns:a16="http://schemas.microsoft.com/office/drawing/2014/main" id="{BFA062D3-BE2F-4646-8F45-4C6863AF9604}"/>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3103"/>
          </a:bodyPr>
          <a:lstStyle xmlns:a="http://schemas.openxmlformats.org/drawingml/2006/main"/>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独立完成，才能真正学到东西</a:t>
            </a:r>
          </a:p>
          <a:p xmlns:a="http://schemas.openxmlformats.org/drawingml/2006/main">
            <a:pPr marL="0">
              <a:lnSpc>
                <a:spcPct val="100000"/>
              </a:lnSpc>
              <a:spcBef>
                <a:spcPts val="0"/>
              </a:spcBef>
              <a:spcAft>
                <a:spcPts val="0"/>
              </a:spcAft>
              <a:buNone/>
            </a:pPr>
            <a:r>
              <a:rPr sz="3290">
                <a:solidFill>
                  <a:srgbClr val="4A5568"/>
                </a:solidFill>
                <a:latin typeface="微软雅黑"/>
                <a:ea typeface="微软雅黑"/>
                <a:cs typeface="微软雅黑"/>
              </a:rPr>
              <a:t>Only when you complete it independently can you truly learn something.</a:t>
            </a:r>
          </a:p>
        </p:txBody>
      </p:sp>
      <p:sp>
        <p:nvSpPr>
          <p:cNvPr id="555" name="圆角矩形 554">
            <a:extLst xmlns:a="http://schemas.openxmlformats.org/drawingml/2006/main">
              <a:ext uri="{FF2B5EF4-FFF2-40B4-BE49-F238E27FC236}">
                <a16:creationId xmlns:a16="http://schemas.microsoft.com/office/drawing/2014/main" id="{FC4D51E9-B796-462E-B9F9-3D2D2FE0667A}"/>
              </a:ext>
            </a:extLst>
          </p:cNvPr>
          <p:cNvSpPr>
            <a:spLocks xmlns:a="http://schemas.openxmlformats.org/drawingml/2006/main" noGrp="1"/>
          </p:cNvSpPr>
          <p:nvPr/>
        </p:nvSpPr>
        <p:spPr>
          <a:xfrm xmlns:a="http://schemas.openxmlformats.org/drawingml/2006/main">
            <a:off x="4238625" y="1885950"/>
            <a:ext cx="7553325" cy="704850"/>
          </a:xfrm>
          <a:prstGeom xmlns:a="http://schemas.openxmlformats.org/drawingml/2006/main" prst="roundRect">
            <a:avLst>
              <a:gd name="adj" fmla="val 1351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6" name="任意多边形 555">
            <a:extLst xmlns:a="http://schemas.openxmlformats.org/drawingml/2006/main">
              <a:ext uri="{FF2B5EF4-FFF2-40B4-BE49-F238E27FC236}">
                <a16:creationId xmlns:a16="http://schemas.microsoft.com/office/drawing/2014/main" id="{7163FA42-DEE2-412A-84AD-293DB1805C63}"/>
              </a:ext>
            </a:extLst>
          </p:cNvPr>
          <p:cNvSpPr>
            <a:spLocks xmlns:a="http://schemas.openxmlformats.org/drawingml/2006/main" noGrp="1"/>
          </p:cNvSpPr>
          <p:nvPr/>
        </p:nvSpPr>
        <p:spPr>
          <a:xfrm xmlns:a="http://schemas.openxmlformats.org/drawingml/2006/main">
            <a:off x="4238625" y="1885950"/>
            <a:ext cx="7553325" cy="704850"/>
          </a:xfrm>
          <a:custGeom xmlns:a="http://schemas.openxmlformats.org/drawingml/2006/main">
            <a:pathLst>
              <a:path w="793" h="74">
                <a:moveTo>
                  <a:pt x="10" y="0"/>
                </a:moveTo>
                <a:cubicBezTo>
                  <a:pt x="8" y="0"/>
                  <a:pt x="6" y="2"/>
                  <a:pt x="6" y="4"/>
                </a:cubicBezTo>
                <a:lnTo>
                  <a:pt x="6" y="70"/>
                </a:lnTo>
                <a:cubicBezTo>
                  <a:pt x="6" y="72"/>
                  <a:pt x="8" y="74"/>
                  <a:pt x="10" y="74"/>
                </a:cubicBezTo>
                <a:cubicBezTo>
                  <a:pt x="4" y="74"/>
                  <a:pt x="0" y="69"/>
                  <a:pt x="0" y="6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7" name="矩形 556">
            <a:extLst xmlns:a="http://schemas.openxmlformats.org/drawingml/2006/main">
              <a:ext uri="{FF2B5EF4-FFF2-40B4-BE49-F238E27FC236}">
                <a16:creationId xmlns:a16="http://schemas.microsoft.com/office/drawing/2014/main" id="{F5A8A948-FDBB-425A-A078-47C5B2ED4275}"/>
              </a:ext>
            </a:extLst>
          </p:cNvPr>
          <p:cNvSpPr>
            <a:spLocks xmlns:a="http://schemas.openxmlformats.org/drawingml/2006/main" noGrp="1"/>
          </p:cNvSpPr>
          <p:nvPr/>
        </p:nvSpPr>
        <p:spPr>
          <a:xfrm xmlns:a="http://schemas.openxmlformats.org/drawingml/2006/main">
            <a:off x="4486275" y="2133600"/>
            <a:ext cx="70008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按时完成老师布置的作业</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Complete the homework assigned by the teacher on time</a:t>
            </a:r>
          </a:p>
        </p:txBody>
      </p:sp>
      <p:sp>
        <p:nvSpPr>
          <p:cNvPr id="558" name="圆角矩形 557">
            <a:extLst xmlns:a="http://schemas.openxmlformats.org/drawingml/2006/main">
              <a:ext uri="{FF2B5EF4-FFF2-40B4-BE49-F238E27FC236}">
                <a16:creationId xmlns:a16="http://schemas.microsoft.com/office/drawing/2014/main" id="{573CCF43-10F8-4D27-9368-E136AB38B516}"/>
              </a:ext>
            </a:extLst>
          </p:cNvPr>
          <p:cNvSpPr>
            <a:spLocks xmlns:a="http://schemas.openxmlformats.org/drawingml/2006/main" noGrp="1"/>
          </p:cNvSpPr>
          <p:nvPr/>
        </p:nvSpPr>
        <p:spPr>
          <a:xfrm xmlns:a="http://schemas.openxmlformats.org/drawingml/2006/main">
            <a:off x="4238625" y="2743200"/>
            <a:ext cx="7553325" cy="1181100"/>
          </a:xfrm>
          <a:prstGeom xmlns:a="http://schemas.openxmlformats.org/drawingml/2006/main" prst="roundRect">
            <a:avLst>
              <a:gd name="adj" fmla="val 806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9" name="任意多边形 558">
            <a:extLst xmlns:a="http://schemas.openxmlformats.org/drawingml/2006/main">
              <a:ext uri="{FF2B5EF4-FFF2-40B4-BE49-F238E27FC236}">
                <a16:creationId xmlns:a16="http://schemas.microsoft.com/office/drawing/2014/main" id="{FBFD7CB1-37DF-44C9-9F0D-6A41769C252D}"/>
              </a:ext>
            </a:extLst>
          </p:cNvPr>
          <p:cNvSpPr>
            <a:spLocks xmlns:a="http://schemas.openxmlformats.org/drawingml/2006/main" noGrp="1"/>
          </p:cNvSpPr>
          <p:nvPr/>
        </p:nvSpPr>
        <p:spPr>
          <a:xfrm xmlns:a="http://schemas.openxmlformats.org/drawingml/2006/main">
            <a:off x="4238625" y="2743200"/>
            <a:ext cx="7553325" cy="1181100"/>
          </a:xfrm>
          <a:custGeom xmlns:a="http://schemas.openxmlformats.org/drawingml/2006/main">
            <a:pathLst>
              <a:path w="793" h="124">
                <a:moveTo>
                  <a:pt x="10" y="0"/>
                </a:moveTo>
                <a:cubicBezTo>
                  <a:pt x="8" y="0"/>
                  <a:pt x="6" y="2"/>
                  <a:pt x="6" y="4"/>
                </a:cubicBezTo>
                <a:lnTo>
                  <a:pt x="6" y="120"/>
                </a:lnTo>
                <a:cubicBezTo>
                  <a:pt x="6" y="122"/>
                  <a:pt x="8" y="124"/>
                  <a:pt x="10" y="124"/>
                </a:cubicBezTo>
                <a:cubicBezTo>
                  <a:pt x="4" y="124"/>
                  <a:pt x="0" y="119"/>
                  <a:pt x="0" y="11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0" name="矩形 559">
            <a:extLst xmlns:a="http://schemas.openxmlformats.org/drawingml/2006/main">
              <a:ext uri="{FF2B5EF4-FFF2-40B4-BE49-F238E27FC236}">
                <a16:creationId xmlns:a16="http://schemas.microsoft.com/office/drawing/2014/main" id="{3C013533-29D9-4D16-845B-F873D7C53D07}"/>
              </a:ext>
            </a:extLst>
          </p:cNvPr>
          <p:cNvSpPr>
            <a:spLocks xmlns:a="http://schemas.openxmlformats.org/drawingml/2006/main" noGrp="1"/>
          </p:cNvSpPr>
          <p:nvPr/>
        </p:nvSpPr>
        <p:spPr>
          <a:xfrm xmlns:a="http://schemas.openxmlformats.org/drawingml/2006/main">
            <a:off x="4486275" y="2990850"/>
            <a:ext cx="700087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教材题库练习</a:t>
            </a:r>
          </a:p>
          <a:p xmlns:a="http://schemas.openxmlformats.org/drawingml/2006/main">
            <a:pPr marL="0">
              <a:lnSpc>
                <a:spcPct val="100000"/>
              </a:lnSpc>
              <a:spcBef>
                <a:spcPts val="0"/>
              </a:spcBef>
              <a:spcAft>
                <a:spcPts val="0"/>
              </a:spcAft>
              <a:buNone/>
            </a:pPr>
            <a:r>
              <a:rPr sz="2960" b="1">
                <a:solidFill>
                  <a:srgbClr val="1E4FA8"/>
                </a:solidFill>
                <a:latin typeface="微软雅黑"/>
                <a:ea typeface="微软雅黑"/>
                <a:cs typeface="微软雅黑"/>
              </a:rPr>
              <a:t>Textbook question bank exercises</a:t>
            </a:r>
          </a:p>
        </p:txBody>
      </p:sp>
      <p:sp>
        <p:nvSpPr>
          <p:cNvPr id="561" name="矩形 560">
            <a:extLst xmlns:a="http://schemas.openxmlformats.org/drawingml/2006/main">
              <a:ext uri="{FF2B5EF4-FFF2-40B4-BE49-F238E27FC236}">
                <a16:creationId xmlns:a16="http://schemas.microsoft.com/office/drawing/2014/main" id="{3A6386B7-D8BF-432C-88BA-218E1508B153}"/>
              </a:ext>
            </a:extLst>
          </p:cNvPr>
          <p:cNvSpPr>
            <a:spLocks xmlns:a="http://schemas.openxmlformats.org/drawingml/2006/main" noGrp="1"/>
          </p:cNvSpPr>
          <p:nvPr/>
        </p:nvSpPr>
        <p:spPr>
          <a:xfrm xmlns:a="http://schemas.openxmlformats.org/drawingml/2006/main">
            <a:off x="4486275" y="3276600"/>
            <a:ext cx="7000875" cy="400050"/>
          </a:xfrm>
          <a:prstGeom xmlns:a="http://schemas.openxmlformats.org/drawingml/2006/main" prst="rect">
            <a:avLst/>
          </a:prstGeom>
        </p:spPr>
        <p:txBody>
          <a:bodyPr xmlns:a="http://schemas.openxmlformats.org/drawingml/2006/main" wrap="none" lIns="0" tIns="0" rIns="0" bIns="0">
            <a:normAutofit fontScale="26233"/>
          </a:bodyPr>
          <a:lstStyle xmlns:a="http://schemas.openxmlformats.org/drawingml/2006/main"/>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教材提供题库练习系统（见前言二维码），多做练习巩固。</a:t>
            </a:r>
          </a:p>
          <a:p xmlns:a="http://schemas.openxmlformats.org/drawingml/2006/main">
            <a:pPr marL="0">
              <a:lnSpc>
                <a:spcPct val="100000"/>
              </a:lnSpc>
              <a:spcBef>
                <a:spcPts val="0"/>
              </a:spcBef>
              <a:spcAft>
                <a:spcPts val="0"/>
              </a:spcAft>
              <a:buNone/>
            </a:pPr>
            <a:r>
              <a:rPr sz="3290">
                <a:solidFill>
                  <a:srgbClr val="1A2230"/>
                </a:solidFill>
                <a:latin typeface="微软雅黑"/>
                <a:ea typeface="微软雅黑"/>
                <a:cs typeface="微软雅黑"/>
              </a:rPr>
              <a:t>The textbook provides a question bank practice system (see the QR code in the preface), so you can do more exercises to consolidate.</a:t>
            </a:r>
          </a:p>
        </p:txBody>
      </p:sp>
      <p:sp>
        <p:nvSpPr>
          <p:cNvPr id="562" name="圆角矩形 561">
            <a:extLst xmlns:a="http://schemas.openxmlformats.org/drawingml/2006/main">
              <a:ext uri="{FF2B5EF4-FFF2-40B4-BE49-F238E27FC236}">
                <a16:creationId xmlns:a16="http://schemas.microsoft.com/office/drawing/2014/main" id="{1F466293-B344-424C-89E4-64EB1AB55FD8}"/>
              </a:ext>
            </a:extLst>
          </p:cNvPr>
          <p:cNvSpPr>
            <a:spLocks xmlns:a="http://schemas.openxmlformats.org/drawingml/2006/main" noGrp="1"/>
          </p:cNvSpPr>
          <p:nvPr/>
        </p:nvSpPr>
        <p:spPr>
          <a:xfrm xmlns:a="http://schemas.openxmlformats.org/drawingml/2006/main">
            <a:off x="4181475" y="4076700"/>
            <a:ext cx="7553325" cy="1381125"/>
          </a:xfrm>
          <a:prstGeom xmlns:a="http://schemas.openxmlformats.org/drawingml/2006/main" prst="roundRect">
            <a:avLst>
              <a:gd name="adj" fmla="val 6897"/>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63" name="矩形 562">
            <a:extLst xmlns:a="http://schemas.openxmlformats.org/drawingml/2006/main">
              <a:ext uri="{FF2B5EF4-FFF2-40B4-BE49-F238E27FC236}">
                <a16:creationId xmlns:a16="http://schemas.microsoft.com/office/drawing/2014/main" id="{5C17E544-86B6-44FC-B5A3-FD375EB765C6}"/>
              </a:ext>
            </a:extLst>
          </p:cNvPr>
          <p:cNvSpPr>
            <a:spLocks xmlns:a="http://schemas.openxmlformats.org/drawingml/2006/main" noGrp="1"/>
          </p:cNvSpPr>
          <p:nvPr/>
        </p:nvSpPr>
        <p:spPr>
          <a:xfrm xmlns:a="http://schemas.openxmlformats.org/drawingml/2006/main">
            <a:off x="4429125" y="4324350"/>
            <a:ext cx="7058025" cy="209550"/>
          </a:xfrm>
          <a:prstGeom xmlns:a="http://schemas.openxmlformats.org/drawingml/2006/main" prst="rect">
            <a:avLst/>
          </a:prstGeom>
        </p:spPr>
        <p:txBody>
          <a:bodyPr xmlns:a="http://schemas.openxmlformats.org/drawingml/2006/main" wrap="none" lIns="0" tIns="0" rIns="0" bIns="0">
            <a:normAutofit fontScale="23226"/>
          </a:bodyPr>
          <a:lstStyle xmlns:a="http://schemas.openxmlformats.org/drawingml/2006/main"/>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诚信提醒</a:t>
            </a:r>
          </a:p>
          <a:p xmlns:a="http://schemas.openxmlformats.org/drawingml/2006/main">
            <a:pPr marL="0">
              <a:lnSpc>
                <a:spcPct val="100000"/>
              </a:lnSpc>
              <a:spcBef>
                <a:spcPts val="0"/>
              </a:spcBef>
              <a:spcAft>
                <a:spcPts val="0"/>
              </a:spcAft>
              <a:buNone/>
            </a:pPr>
            <a:r>
              <a:rPr sz="2960" b="1">
                <a:solidFill>
                  <a:srgbClr val="FFFFFF"/>
                </a:solidFill>
                <a:latin typeface="微软雅黑"/>
                <a:ea typeface="微软雅黑"/>
                <a:cs typeface="微软雅黑"/>
              </a:rPr>
              <a:t>Honesty reminder</a:t>
            </a:r>
          </a:p>
        </p:txBody>
      </p:sp>
      <p:sp>
        <p:nvSpPr>
          <p:cNvPr id="564" name="矩形 563">
            <a:extLst xmlns:a="http://schemas.openxmlformats.org/drawingml/2006/main">
              <a:ext uri="{FF2B5EF4-FFF2-40B4-BE49-F238E27FC236}">
                <a16:creationId xmlns:a16="http://schemas.microsoft.com/office/drawing/2014/main" id="{35601A43-DC8D-4BB7-A320-8C59C860E519}"/>
              </a:ext>
            </a:extLst>
          </p:cNvPr>
          <p:cNvSpPr>
            <a:spLocks xmlns:a="http://schemas.openxmlformats.org/drawingml/2006/main" noGrp="1"/>
          </p:cNvSpPr>
          <p:nvPr/>
        </p:nvSpPr>
        <p:spPr>
          <a:xfrm xmlns:a="http://schemas.openxmlformats.org/drawingml/2006/main">
            <a:off x="4429125" y="4610100"/>
            <a:ext cx="7058025" cy="600075"/>
          </a:xfrm>
          <a:prstGeom xmlns:a="http://schemas.openxmlformats.org/drawingml/2006/main" prst="rect">
            <a:avLst/>
          </a:prstGeom>
        </p:spPr>
        <p:txBody>
          <a:bodyPr xmlns:a="http://schemas.openxmlformats.org/drawingml/2006/main" wrap="square" lIns="0" tIns="0" rIns="0" bIns="0">
            <a:normAutofit fontScale="42251"/>
          </a:bodyPr>
          <a:lstStyle xmlns:a="http://schemas.openxmlformats.org/drawingml/2006/main"/>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鼓励课后使用 IntelliJ IDEA 完成练习；AI 编程助手仅可用于辅助调试与思路验证，禁止直接提交 AI 生成的代码。</a:t>
            </a:r>
          </a:p>
          <a:p xmlns:a="http://schemas.openxmlformats.org/drawingml/2006/main">
            <a:pPr marL="0">
              <a:lnSpc>
                <a:spcPct val="100000"/>
              </a:lnSpc>
              <a:spcBef>
                <a:spcPts val="0"/>
              </a:spcBef>
              <a:spcAft>
                <a:spcPts val="0"/>
              </a:spcAft>
              <a:buNone/>
            </a:pPr>
            <a:r>
              <a:rPr sz="2460">
                <a:solidFill>
                  <a:srgbClr val="FFFFFF"/>
                </a:solidFill>
                <a:latin typeface="微软雅黑"/>
                <a:ea typeface="微软雅黑"/>
                <a:cs typeface="微软雅黑"/>
              </a:rPr>
              <a:t>You are encouraged to use IntelliJ IDEA to complete exercises after class; the AI ​​programming assistant can only be used to assist debugging and idea verification, and direct submission of AI-generated code is prohibited.</a:t>
            </a:r>
          </a:p>
        </p:txBody>
      </p:sp>
      <p:sp>
        <p:nvSpPr>
          <p:cNvPr id="565" name="矩形 564">
            <a:extLst xmlns:a="http://schemas.openxmlformats.org/drawingml/2006/main">
              <a:ext uri="{FF2B5EF4-FFF2-40B4-BE49-F238E27FC236}">
                <a16:creationId xmlns:a16="http://schemas.microsoft.com/office/drawing/2014/main" id="{9BCE12D3-1151-41C3-A4E5-23CDAF1C8219}"/>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39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4809286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548" name="矩形 547">
            <a:extLst xmlns:a="http://schemas.openxmlformats.org/drawingml/2006/main">
              <a:ext uri="{FF2B5EF4-FFF2-40B4-BE49-F238E27FC236}">
                <a16:creationId xmlns:a16="http://schemas.microsoft.com/office/drawing/2014/main" id="{0CC46937-090C-4E7C-BE31-760ED4748F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9" name="矩形 548">
            <a:extLst xmlns:a="http://schemas.openxmlformats.org/drawingml/2006/main">
              <a:ext uri="{FF2B5EF4-FFF2-40B4-BE49-F238E27FC236}">
                <a16:creationId xmlns:a16="http://schemas.microsoft.com/office/drawing/2014/main" id="{ED108B3A-F88A-41CC-9D9D-A9F1D9E9893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0" name="矩形 549">
            <a:extLst xmlns:a="http://schemas.openxmlformats.org/drawingml/2006/main">
              <a:ext uri="{FF2B5EF4-FFF2-40B4-BE49-F238E27FC236}">
                <a16:creationId xmlns:a16="http://schemas.microsoft.com/office/drawing/2014/main" id="{B48542F7-D231-400C-8F72-D906669331E6}"/>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51" name="矩形 550">
            <a:extLst xmlns:a="http://schemas.openxmlformats.org/drawingml/2006/main">
              <a:ext uri="{FF2B5EF4-FFF2-40B4-BE49-F238E27FC236}">
                <a16:creationId xmlns:a16="http://schemas.microsoft.com/office/drawing/2014/main" id="{B847837E-B44B-4CD1-BF14-D272630BD2F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39062"/>
          </a:bodyPr>
          <a:lstStyle xmlns:a="http://schemas.openxmlformats.org/drawingml/2006/main"/>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编程题 1</a:t>
            </a:r>
          </a:p>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Programming Task 1</a:t>
            </a:r>
          </a:p>
        </p:txBody>
      </p:sp>
      <p:sp>
        <p:nvSpPr>
          <p:cNvPr id="552" name="矩形 551">
            <a:extLst xmlns:a="http://schemas.openxmlformats.org/drawingml/2006/main">
              <a:ext uri="{FF2B5EF4-FFF2-40B4-BE49-F238E27FC236}">
                <a16:creationId xmlns:a16="http://schemas.microsoft.com/office/drawing/2014/main" id="{19F6870C-0EC9-49AF-87DF-50960B4DF58A}"/>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0691"/>
          </a:bodyPr>
          <a:lstStyle xmlns:a="http://schemas.openxmlformats.org/drawingml/2006/main"/>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个人名片程序</a:t>
            </a:r>
          </a:p>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Personal profile program</a:t>
            </a:r>
          </a:p>
        </p:txBody>
      </p:sp>
      <p:sp>
        <p:nvSpPr>
          <p:cNvPr id="553" name="矩形 552">
            <a:extLst xmlns:a="http://schemas.openxmlformats.org/drawingml/2006/main">
              <a:ext uri="{FF2B5EF4-FFF2-40B4-BE49-F238E27FC236}">
                <a16:creationId xmlns:a16="http://schemas.microsoft.com/office/drawing/2014/main" id="{1EA91AC3-7756-4172-84B1-AEF7ED161220}"/>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4" name="矩形 553">
            <a:extLst xmlns:a="http://schemas.openxmlformats.org/drawingml/2006/main">
              <a:ext uri="{FF2B5EF4-FFF2-40B4-BE49-F238E27FC236}">
                <a16:creationId xmlns:a16="http://schemas.microsoft.com/office/drawing/2014/main" id="{BFA062D3-BE2F-4646-8F45-4C6863AF9604}"/>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5204"/>
          </a:bodyPr>
          <a:lstStyle xmlns:a="http://schemas.openxmlformats.org/drawingml/2006/main"/>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创建、编译并运行一个完整的 Java 程序</a:t>
            </a:r>
          </a:p>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Create, compile, and run a complete Java program</a:t>
            </a:r>
          </a:p>
        </p:txBody>
      </p:sp>
      <p:sp>
        <p:nvSpPr>
          <p:cNvPr id="555" name="圆角矩形 554">
            <a:extLst xmlns:a="http://schemas.openxmlformats.org/drawingml/2006/main">
              <a:ext uri="{FF2B5EF4-FFF2-40B4-BE49-F238E27FC236}">
                <a16:creationId xmlns:a16="http://schemas.microsoft.com/office/drawing/2014/main" id="{FC4D51E9-B796-462E-B9F9-3D2D2FE0667A}"/>
              </a:ext>
            </a:extLst>
          </p:cNvPr>
          <p:cNvSpPr>
            <a:spLocks xmlns:a="http://schemas.openxmlformats.org/drawingml/2006/main" noGrp="1"/>
          </p:cNvSpPr>
          <p:nvPr/>
        </p:nvSpPr>
        <p:spPr>
          <a:xfrm xmlns:a="http://schemas.openxmlformats.org/drawingml/2006/main">
            <a:off x="4238625" y="1885950"/>
            <a:ext cx="7553325" cy="704850"/>
          </a:xfrm>
          <a:prstGeom xmlns:a="http://schemas.openxmlformats.org/drawingml/2006/main" prst="roundRect">
            <a:avLst>
              <a:gd name="adj" fmla="val 1351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6" name="任意多边形 555">
            <a:extLst xmlns:a="http://schemas.openxmlformats.org/drawingml/2006/main">
              <a:ext uri="{FF2B5EF4-FFF2-40B4-BE49-F238E27FC236}">
                <a16:creationId xmlns:a16="http://schemas.microsoft.com/office/drawing/2014/main" id="{7163FA42-DEE2-412A-84AD-293DB1805C63}"/>
              </a:ext>
            </a:extLst>
          </p:cNvPr>
          <p:cNvSpPr>
            <a:spLocks xmlns:a="http://schemas.openxmlformats.org/drawingml/2006/main" noGrp="1"/>
          </p:cNvSpPr>
          <p:nvPr/>
        </p:nvSpPr>
        <p:spPr>
          <a:xfrm xmlns:a="http://schemas.openxmlformats.org/drawingml/2006/main">
            <a:off x="4238625" y="1885950"/>
            <a:ext cx="7553325" cy="704850"/>
          </a:xfrm>
          <a:custGeom xmlns:a="http://schemas.openxmlformats.org/drawingml/2006/main">
            <a:pathLst>
              <a:path w="793" h="74">
                <a:moveTo>
                  <a:pt x="10" y="0"/>
                </a:moveTo>
                <a:cubicBezTo>
                  <a:pt x="8" y="0"/>
                  <a:pt x="6" y="2"/>
                  <a:pt x="6" y="4"/>
                </a:cubicBezTo>
                <a:lnTo>
                  <a:pt x="6" y="70"/>
                </a:lnTo>
                <a:cubicBezTo>
                  <a:pt x="6" y="72"/>
                  <a:pt x="8" y="74"/>
                  <a:pt x="10" y="74"/>
                </a:cubicBezTo>
                <a:cubicBezTo>
                  <a:pt x="4" y="74"/>
                  <a:pt x="0" y="69"/>
                  <a:pt x="0" y="6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7" name="矩形 556">
            <a:extLst xmlns:a="http://schemas.openxmlformats.org/drawingml/2006/main">
              <a:ext uri="{FF2B5EF4-FFF2-40B4-BE49-F238E27FC236}">
                <a16:creationId xmlns:a16="http://schemas.microsoft.com/office/drawing/2014/main" id="{F5A8A948-FDBB-425A-A078-47C5B2ED4275}"/>
              </a:ext>
            </a:extLst>
          </p:cNvPr>
          <p:cNvSpPr>
            <a:spLocks xmlns:a="http://schemas.openxmlformats.org/drawingml/2006/main" noGrp="1"/>
          </p:cNvSpPr>
          <p:nvPr/>
        </p:nvSpPr>
        <p:spPr>
          <a:xfrm xmlns:a="http://schemas.openxmlformats.org/drawingml/2006/main">
            <a:off x="4486275" y="213360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任务：编写 PersonalCard.java</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Task: Write PersonalCard.java</a:t>
            </a:r>
          </a:p>
        </p:txBody>
      </p:sp>
      <p:sp>
        <p:nvSpPr>
          <p:cNvPr id="558" name="圆角矩形 557">
            <a:extLst xmlns:a="http://schemas.openxmlformats.org/drawingml/2006/main">
              <a:ext uri="{FF2B5EF4-FFF2-40B4-BE49-F238E27FC236}">
                <a16:creationId xmlns:a16="http://schemas.microsoft.com/office/drawing/2014/main" id="{573CCF43-10F8-4D27-9368-E136AB38B516}"/>
              </a:ext>
            </a:extLst>
          </p:cNvPr>
          <p:cNvSpPr>
            <a:spLocks xmlns:a="http://schemas.openxmlformats.org/drawingml/2006/main" noGrp="1"/>
          </p:cNvSpPr>
          <p:nvPr/>
        </p:nvSpPr>
        <p:spPr>
          <a:xfrm xmlns:a="http://schemas.openxmlformats.org/drawingml/2006/main">
            <a:off x="4238625" y="2743200"/>
            <a:ext cx="7553325" cy="1181100"/>
          </a:xfrm>
          <a:prstGeom xmlns:a="http://schemas.openxmlformats.org/drawingml/2006/main" prst="roundRect">
            <a:avLst>
              <a:gd name="adj" fmla="val 806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9" name="任意多边形 558">
            <a:extLst xmlns:a="http://schemas.openxmlformats.org/drawingml/2006/main">
              <a:ext uri="{FF2B5EF4-FFF2-40B4-BE49-F238E27FC236}">
                <a16:creationId xmlns:a16="http://schemas.microsoft.com/office/drawing/2014/main" id="{FBFD7CB1-37DF-44C9-9F0D-6A41769C252D}"/>
              </a:ext>
            </a:extLst>
          </p:cNvPr>
          <p:cNvSpPr>
            <a:spLocks xmlns:a="http://schemas.openxmlformats.org/drawingml/2006/main" noGrp="1"/>
          </p:cNvSpPr>
          <p:nvPr/>
        </p:nvSpPr>
        <p:spPr>
          <a:xfrm xmlns:a="http://schemas.openxmlformats.org/drawingml/2006/main">
            <a:off x="4238625" y="2743200"/>
            <a:ext cx="7553325" cy="1181100"/>
          </a:xfrm>
          <a:custGeom xmlns:a="http://schemas.openxmlformats.org/drawingml/2006/main">
            <a:pathLst>
              <a:path w="793" h="124">
                <a:moveTo>
                  <a:pt x="10" y="0"/>
                </a:moveTo>
                <a:cubicBezTo>
                  <a:pt x="8" y="0"/>
                  <a:pt x="6" y="2"/>
                  <a:pt x="6" y="4"/>
                </a:cubicBezTo>
                <a:lnTo>
                  <a:pt x="6" y="120"/>
                </a:lnTo>
                <a:cubicBezTo>
                  <a:pt x="6" y="122"/>
                  <a:pt x="8" y="124"/>
                  <a:pt x="10" y="124"/>
                </a:cubicBezTo>
                <a:cubicBezTo>
                  <a:pt x="4" y="124"/>
                  <a:pt x="0" y="119"/>
                  <a:pt x="0" y="11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0" name="矩形 559">
            <a:extLst xmlns:a="http://schemas.openxmlformats.org/drawingml/2006/main">
              <a:ext uri="{FF2B5EF4-FFF2-40B4-BE49-F238E27FC236}">
                <a16:creationId xmlns:a16="http://schemas.microsoft.com/office/drawing/2014/main" id="{3C013533-29D9-4D16-845B-F873D7C53D07}"/>
              </a:ext>
            </a:extLst>
          </p:cNvPr>
          <p:cNvSpPr>
            <a:spLocks xmlns:a="http://schemas.openxmlformats.org/drawingml/2006/main" noGrp="1"/>
          </p:cNvSpPr>
          <p:nvPr/>
        </p:nvSpPr>
        <p:spPr>
          <a:xfrm xmlns:a="http://schemas.openxmlformats.org/drawingml/2006/main">
            <a:off x="4486275" y="299085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输出要求</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Output requirements</a:t>
            </a:r>
          </a:p>
        </p:txBody>
      </p:sp>
      <p:sp>
        <p:nvSpPr>
          <p:cNvPr id="561" name="矩形 560">
            <a:extLst xmlns:a="http://schemas.openxmlformats.org/drawingml/2006/main">
              <a:ext uri="{FF2B5EF4-FFF2-40B4-BE49-F238E27FC236}">
                <a16:creationId xmlns:a16="http://schemas.microsoft.com/office/drawing/2014/main" id="{3A6386B7-D8BF-432C-88BA-218E1508B153}"/>
              </a:ext>
            </a:extLst>
          </p:cNvPr>
          <p:cNvSpPr>
            <a:spLocks xmlns:a="http://schemas.openxmlformats.org/drawingml/2006/main" noGrp="1"/>
          </p:cNvSpPr>
          <p:nvPr/>
        </p:nvSpPr>
        <p:spPr>
          <a:xfrm xmlns:a="http://schemas.openxmlformats.org/drawingml/2006/main">
            <a:off x="4486275" y="3276600"/>
            <a:ext cx="7000875" cy="400050"/>
          </a:xfrm>
          <a:prstGeom xmlns:a="http://schemas.openxmlformats.org/drawingml/2006/main" prst="rect">
            <a:avLst/>
          </a:prstGeom>
        </p:spPr>
        <p:txBody>
          <a:bodyPr xmlns:a="http://schemas.openxmlformats.org/drawingml/2006/main" wrap="none" lIns="0" tIns="0" rIns="0" bIns="0">
            <a:normAutofit fontScale="29918"/>
          </a:bodyPr>
          <a:lstStyle xmlns:a="http://schemas.openxmlformats.org/drawingml/2006/main"/>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依次输出姓名、专业和一句学习目标，每项单独一行。</a:t>
            </a:r>
          </a:p>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Print your name, major, and one learning goal, one item per line.</a:t>
            </a:r>
          </a:p>
        </p:txBody>
      </p:sp>
      <p:sp>
        <p:nvSpPr>
          <p:cNvPr id="562" name="圆角矩形 561">
            <a:extLst xmlns:a="http://schemas.openxmlformats.org/drawingml/2006/main">
              <a:ext uri="{FF2B5EF4-FFF2-40B4-BE49-F238E27FC236}">
                <a16:creationId xmlns:a16="http://schemas.microsoft.com/office/drawing/2014/main" id="{1F466293-B344-424C-89E4-64EB1AB55FD8}"/>
              </a:ext>
            </a:extLst>
          </p:cNvPr>
          <p:cNvSpPr>
            <a:spLocks xmlns:a="http://schemas.openxmlformats.org/drawingml/2006/main" noGrp="1"/>
          </p:cNvSpPr>
          <p:nvPr/>
        </p:nvSpPr>
        <p:spPr>
          <a:xfrm xmlns:a="http://schemas.openxmlformats.org/drawingml/2006/main">
            <a:off x="4181475" y="4076700"/>
            <a:ext cx="7553325" cy="1381125"/>
          </a:xfrm>
          <a:prstGeom xmlns:a="http://schemas.openxmlformats.org/drawingml/2006/main" prst="roundRect">
            <a:avLst>
              <a:gd name="adj" fmla="val 6897"/>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63" name="矩形 562">
            <a:extLst xmlns:a="http://schemas.openxmlformats.org/drawingml/2006/main">
              <a:ext uri="{FF2B5EF4-FFF2-40B4-BE49-F238E27FC236}">
                <a16:creationId xmlns:a16="http://schemas.microsoft.com/office/drawing/2014/main" id="{5C17E544-86B6-44FC-B5A3-FD375EB765C6}"/>
              </a:ext>
            </a:extLst>
          </p:cNvPr>
          <p:cNvSpPr>
            <a:spLocks xmlns:a="http://schemas.openxmlformats.org/drawingml/2006/main" noGrp="1"/>
          </p:cNvSpPr>
          <p:nvPr/>
        </p:nvSpPr>
        <p:spPr>
          <a:xfrm xmlns:a="http://schemas.openxmlformats.org/drawingml/2006/main">
            <a:off x="4429125" y="4324350"/>
            <a:ext cx="705802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提交要求</a:t>
            </a:r>
          </a:p>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Submission</a:t>
            </a:r>
          </a:p>
        </p:txBody>
      </p:sp>
      <p:sp>
        <p:nvSpPr>
          <p:cNvPr id="564" name="矩形 563">
            <a:extLst xmlns:a="http://schemas.openxmlformats.org/drawingml/2006/main">
              <a:ext uri="{FF2B5EF4-FFF2-40B4-BE49-F238E27FC236}">
                <a16:creationId xmlns:a16="http://schemas.microsoft.com/office/drawing/2014/main" id="{35601A43-DC8D-4BB7-A320-8C59C860E519}"/>
              </a:ext>
            </a:extLst>
          </p:cNvPr>
          <p:cNvSpPr>
            <a:spLocks xmlns:a="http://schemas.openxmlformats.org/drawingml/2006/main" noGrp="1"/>
          </p:cNvSpPr>
          <p:nvPr/>
        </p:nvSpPr>
        <p:spPr>
          <a:xfrm xmlns:a="http://schemas.openxmlformats.org/drawingml/2006/main">
            <a:off x="4429125" y="4610100"/>
            <a:ext cx="7058025" cy="600075"/>
          </a:xfrm>
          <a:prstGeom xmlns:a="http://schemas.openxmlformats.org/drawingml/2006/main" prst="rect">
            <a:avLst/>
          </a:prstGeom>
        </p:spPr>
        <p:txBody>
          <a:bodyPr xmlns:a="http://schemas.openxmlformats.org/drawingml/2006/main" wrap="square" lIns="0" tIns="0" rIns="0" bIns="0">
            <a:normAutofit fontScale="51035"/>
          </a:bodyPr>
          <a:lstStyle xmlns:a="http://schemas.openxmlformats.org/drawingml/2006/main"/>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包含 public class、main 和 3 条 println；提交运行截图。</a:t>
            </a:r>
          </a:p>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Include public class, main, three println statements, and a screenshot.</a:t>
            </a:r>
          </a:p>
        </p:txBody>
      </p:sp>
      <p:sp>
        <p:nvSpPr>
          <p:cNvPr id="565" name="矩形 564">
            <a:extLst xmlns:a="http://schemas.openxmlformats.org/drawingml/2006/main">
              <a:ext uri="{FF2B5EF4-FFF2-40B4-BE49-F238E27FC236}">
                <a16:creationId xmlns:a16="http://schemas.microsoft.com/office/drawing/2014/main" id="{9BCE12D3-1151-41C3-A4E5-23CDAF1C8219}"/>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40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4809286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548" name="矩形 547">
            <a:extLst xmlns:a="http://schemas.openxmlformats.org/drawingml/2006/main">
              <a:ext uri="{FF2B5EF4-FFF2-40B4-BE49-F238E27FC236}">
                <a16:creationId xmlns:a16="http://schemas.microsoft.com/office/drawing/2014/main" id="{0CC46937-090C-4E7C-BE31-760ED4748F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9" name="矩形 548">
            <a:extLst xmlns:a="http://schemas.openxmlformats.org/drawingml/2006/main">
              <a:ext uri="{FF2B5EF4-FFF2-40B4-BE49-F238E27FC236}">
                <a16:creationId xmlns:a16="http://schemas.microsoft.com/office/drawing/2014/main" id="{ED108B3A-F88A-41CC-9D9D-A9F1D9E9893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0" name="矩形 549">
            <a:extLst xmlns:a="http://schemas.openxmlformats.org/drawingml/2006/main">
              <a:ext uri="{FF2B5EF4-FFF2-40B4-BE49-F238E27FC236}">
                <a16:creationId xmlns:a16="http://schemas.microsoft.com/office/drawing/2014/main" id="{B48542F7-D231-400C-8F72-D906669331E6}"/>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51" name="矩形 550">
            <a:extLst xmlns:a="http://schemas.openxmlformats.org/drawingml/2006/main">
              <a:ext uri="{FF2B5EF4-FFF2-40B4-BE49-F238E27FC236}">
                <a16:creationId xmlns:a16="http://schemas.microsoft.com/office/drawing/2014/main" id="{B847837E-B44B-4CD1-BF14-D272630BD2F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39062"/>
          </a:bodyPr>
          <a:lstStyle xmlns:a="http://schemas.openxmlformats.org/drawingml/2006/main"/>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编程题 2</a:t>
            </a:r>
          </a:p>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Programming Task 2</a:t>
            </a:r>
          </a:p>
        </p:txBody>
      </p:sp>
      <p:sp>
        <p:nvSpPr>
          <p:cNvPr id="552" name="矩形 551">
            <a:extLst xmlns:a="http://schemas.openxmlformats.org/drawingml/2006/main">
              <a:ext uri="{FF2B5EF4-FFF2-40B4-BE49-F238E27FC236}">
                <a16:creationId xmlns:a16="http://schemas.microsoft.com/office/drawing/2014/main" id="{19F6870C-0EC9-49AF-87DF-50960B4DF58A}"/>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0691"/>
          </a:bodyPr>
          <a:lstStyle xmlns:a="http://schemas.openxmlformats.org/drawingml/2006/main"/>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双类协作程序</a:t>
            </a:r>
          </a:p>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Two-class program</a:t>
            </a:r>
          </a:p>
        </p:txBody>
      </p:sp>
      <p:sp>
        <p:nvSpPr>
          <p:cNvPr id="553" name="矩形 552">
            <a:extLst xmlns:a="http://schemas.openxmlformats.org/drawingml/2006/main">
              <a:ext uri="{FF2B5EF4-FFF2-40B4-BE49-F238E27FC236}">
                <a16:creationId xmlns:a16="http://schemas.microsoft.com/office/drawing/2014/main" id="{1EA91AC3-7756-4172-84B1-AEF7ED161220}"/>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4" name="矩形 553">
            <a:extLst xmlns:a="http://schemas.openxmlformats.org/drawingml/2006/main">
              <a:ext uri="{FF2B5EF4-FFF2-40B4-BE49-F238E27FC236}">
                <a16:creationId xmlns:a16="http://schemas.microsoft.com/office/drawing/2014/main" id="{BFA062D3-BE2F-4646-8F45-4C6863AF9604}"/>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8397"/>
          </a:bodyPr>
          <a:lstStyle xmlns:a="http://schemas.openxmlformats.org/drawingml/2006/main"/>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在一个源文件中定义两个类并完成调用</a:t>
            </a:r>
          </a:p>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Define and use two classes in one source file</a:t>
            </a:r>
          </a:p>
        </p:txBody>
      </p:sp>
      <p:sp>
        <p:nvSpPr>
          <p:cNvPr id="555" name="圆角矩形 554">
            <a:extLst xmlns:a="http://schemas.openxmlformats.org/drawingml/2006/main">
              <a:ext uri="{FF2B5EF4-FFF2-40B4-BE49-F238E27FC236}">
                <a16:creationId xmlns:a16="http://schemas.microsoft.com/office/drawing/2014/main" id="{FC4D51E9-B796-462E-B9F9-3D2D2FE0667A}"/>
              </a:ext>
            </a:extLst>
          </p:cNvPr>
          <p:cNvSpPr>
            <a:spLocks xmlns:a="http://schemas.openxmlformats.org/drawingml/2006/main" noGrp="1"/>
          </p:cNvSpPr>
          <p:nvPr/>
        </p:nvSpPr>
        <p:spPr>
          <a:xfrm xmlns:a="http://schemas.openxmlformats.org/drawingml/2006/main">
            <a:off x="4238625" y="1885950"/>
            <a:ext cx="7553325" cy="704850"/>
          </a:xfrm>
          <a:prstGeom xmlns:a="http://schemas.openxmlformats.org/drawingml/2006/main" prst="roundRect">
            <a:avLst>
              <a:gd name="adj" fmla="val 1351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6" name="任意多边形 555">
            <a:extLst xmlns:a="http://schemas.openxmlformats.org/drawingml/2006/main">
              <a:ext uri="{FF2B5EF4-FFF2-40B4-BE49-F238E27FC236}">
                <a16:creationId xmlns:a16="http://schemas.microsoft.com/office/drawing/2014/main" id="{7163FA42-DEE2-412A-84AD-293DB1805C63}"/>
              </a:ext>
            </a:extLst>
          </p:cNvPr>
          <p:cNvSpPr>
            <a:spLocks xmlns:a="http://schemas.openxmlformats.org/drawingml/2006/main" noGrp="1"/>
          </p:cNvSpPr>
          <p:nvPr/>
        </p:nvSpPr>
        <p:spPr>
          <a:xfrm xmlns:a="http://schemas.openxmlformats.org/drawingml/2006/main">
            <a:off x="4238625" y="1885950"/>
            <a:ext cx="7553325" cy="704850"/>
          </a:xfrm>
          <a:custGeom xmlns:a="http://schemas.openxmlformats.org/drawingml/2006/main">
            <a:pathLst>
              <a:path w="793" h="74">
                <a:moveTo>
                  <a:pt x="10" y="0"/>
                </a:moveTo>
                <a:cubicBezTo>
                  <a:pt x="8" y="0"/>
                  <a:pt x="6" y="2"/>
                  <a:pt x="6" y="4"/>
                </a:cubicBezTo>
                <a:lnTo>
                  <a:pt x="6" y="70"/>
                </a:lnTo>
                <a:cubicBezTo>
                  <a:pt x="6" y="72"/>
                  <a:pt x="8" y="74"/>
                  <a:pt x="10" y="74"/>
                </a:cubicBezTo>
                <a:cubicBezTo>
                  <a:pt x="4" y="74"/>
                  <a:pt x="0" y="69"/>
                  <a:pt x="0" y="6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7" name="矩形 556">
            <a:extLst xmlns:a="http://schemas.openxmlformats.org/drawingml/2006/main">
              <a:ext uri="{FF2B5EF4-FFF2-40B4-BE49-F238E27FC236}">
                <a16:creationId xmlns:a16="http://schemas.microsoft.com/office/drawing/2014/main" id="{F5A8A948-FDBB-425A-A078-47C5B2ED4275}"/>
              </a:ext>
            </a:extLst>
          </p:cNvPr>
          <p:cNvSpPr>
            <a:spLocks xmlns:a="http://schemas.openxmlformats.org/drawingml/2006/main" noGrp="1"/>
          </p:cNvSpPr>
          <p:nvPr/>
        </p:nvSpPr>
        <p:spPr>
          <a:xfrm xmlns:a="http://schemas.openxmlformats.org/drawingml/2006/main">
            <a:off x="4486275" y="213360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任务：编写 StudentDemo.java</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Task: Write StudentDemo.java</a:t>
            </a:r>
          </a:p>
        </p:txBody>
      </p:sp>
      <p:sp>
        <p:nvSpPr>
          <p:cNvPr id="558" name="圆角矩形 557">
            <a:extLst xmlns:a="http://schemas.openxmlformats.org/drawingml/2006/main">
              <a:ext uri="{FF2B5EF4-FFF2-40B4-BE49-F238E27FC236}">
                <a16:creationId xmlns:a16="http://schemas.microsoft.com/office/drawing/2014/main" id="{573CCF43-10F8-4D27-9368-E136AB38B516}"/>
              </a:ext>
            </a:extLst>
          </p:cNvPr>
          <p:cNvSpPr>
            <a:spLocks xmlns:a="http://schemas.openxmlformats.org/drawingml/2006/main" noGrp="1"/>
          </p:cNvSpPr>
          <p:nvPr/>
        </p:nvSpPr>
        <p:spPr>
          <a:xfrm xmlns:a="http://schemas.openxmlformats.org/drawingml/2006/main">
            <a:off x="4238625" y="2743200"/>
            <a:ext cx="7553325" cy="1181100"/>
          </a:xfrm>
          <a:prstGeom xmlns:a="http://schemas.openxmlformats.org/drawingml/2006/main" prst="roundRect">
            <a:avLst>
              <a:gd name="adj" fmla="val 806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9" name="任意多边形 558">
            <a:extLst xmlns:a="http://schemas.openxmlformats.org/drawingml/2006/main">
              <a:ext uri="{FF2B5EF4-FFF2-40B4-BE49-F238E27FC236}">
                <a16:creationId xmlns:a16="http://schemas.microsoft.com/office/drawing/2014/main" id="{FBFD7CB1-37DF-44C9-9F0D-6A41769C252D}"/>
              </a:ext>
            </a:extLst>
          </p:cNvPr>
          <p:cNvSpPr>
            <a:spLocks xmlns:a="http://schemas.openxmlformats.org/drawingml/2006/main" noGrp="1"/>
          </p:cNvSpPr>
          <p:nvPr/>
        </p:nvSpPr>
        <p:spPr>
          <a:xfrm xmlns:a="http://schemas.openxmlformats.org/drawingml/2006/main">
            <a:off x="4238625" y="2743200"/>
            <a:ext cx="7553325" cy="1181100"/>
          </a:xfrm>
          <a:custGeom xmlns:a="http://schemas.openxmlformats.org/drawingml/2006/main">
            <a:pathLst>
              <a:path w="793" h="124">
                <a:moveTo>
                  <a:pt x="10" y="0"/>
                </a:moveTo>
                <a:cubicBezTo>
                  <a:pt x="8" y="0"/>
                  <a:pt x="6" y="2"/>
                  <a:pt x="6" y="4"/>
                </a:cubicBezTo>
                <a:lnTo>
                  <a:pt x="6" y="120"/>
                </a:lnTo>
                <a:cubicBezTo>
                  <a:pt x="6" y="122"/>
                  <a:pt x="8" y="124"/>
                  <a:pt x="10" y="124"/>
                </a:cubicBezTo>
                <a:cubicBezTo>
                  <a:pt x="4" y="124"/>
                  <a:pt x="0" y="119"/>
                  <a:pt x="0" y="11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0" name="矩形 559">
            <a:extLst xmlns:a="http://schemas.openxmlformats.org/drawingml/2006/main">
              <a:ext uri="{FF2B5EF4-FFF2-40B4-BE49-F238E27FC236}">
                <a16:creationId xmlns:a16="http://schemas.microsoft.com/office/drawing/2014/main" id="{3C013533-29D9-4D16-845B-F873D7C53D07}"/>
              </a:ext>
            </a:extLst>
          </p:cNvPr>
          <p:cNvSpPr>
            <a:spLocks xmlns:a="http://schemas.openxmlformats.org/drawingml/2006/main" noGrp="1"/>
          </p:cNvSpPr>
          <p:nvPr/>
        </p:nvSpPr>
        <p:spPr>
          <a:xfrm xmlns:a="http://schemas.openxmlformats.org/drawingml/2006/main">
            <a:off x="4486275" y="299085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程序结构</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Program structure</a:t>
            </a:r>
          </a:p>
        </p:txBody>
      </p:sp>
      <p:sp>
        <p:nvSpPr>
          <p:cNvPr id="561" name="矩形 560">
            <a:extLst xmlns:a="http://schemas.openxmlformats.org/drawingml/2006/main">
              <a:ext uri="{FF2B5EF4-FFF2-40B4-BE49-F238E27FC236}">
                <a16:creationId xmlns:a16="http://schemas.microsoft.com/office/drawing/2014/main" id="{3A6386B7-D8BF-432C-88BA-218E1508B153}"/>
              </a:ext>
            </a:extLst>
          </p:cNvPr>
          <p:cNvSpPr>
            <a:spLocks xmlns:a="http://schemas.openxmlformats.org/drawingml/2006/main" noGrp="1"/>
          </p:cNvSpPr>
          <p:nvPr/>
        </p:nvSpPr>
        <p:spPr>
          <a:xfrm xmlns:a="http://schemas.openxmlformats.org/drawingml/2006/main">
            <a:off x="4486275" y="3276600"/>
            <a:ext cx="7000875" cy="400050"/>
          </a:xfrm>
          <a:prstGeom xmlns:a="http://schemas.openxmlformats.org/drawingml/2006/main" prst="rect">
            <a:avLst/>
          </a:prstGeom>
        </p:spPr>
        <p:txBody>
          <a:bodyPr xmlns:a="http://schemas.openxmlformats.org/drawingml/2006/main" wrap="none" lIns="0" tIns="0" rIns="0" bIns="0">
            <a:normAutofit fontScale="29918"/>
          </a:bodyPr>
          <a:lstStyle xmlns:a="http://schemas.openxmlformats.org/drawingml/2006/main"/>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创建非 public 的 Student 类，含 sayHello() 方法。</a:t>
            </a:r>
          </a:p>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Create a non-public Student class with a sayHello() method.</a:t>
            </a:r>
          </a:p>
        </p:txBody>
      </p:sp>
      <p:sp>
        <p:nvSpPr>
          <p:cNvPr id="562" name="圆角矩形 561">
            <a:extLst xmlns:a="http://schemas.openxmlformats.org/drawingml/2006/main">
              <a:ext uri="{FF2B5EF4-FFF2-40B4-BE49-F238E27FC236}">
                <a16:creationId xmlns:a16="http://schemas.microsoft.com/office/drawing/2014/main" id="{1F466293-B344-424C-89E4-64EB1AB55FD8}"/>
              </a:ext>
            </a:extLst>
          </p:cNvPr>
          <p:cNvSpPr>
            <a:spLocks xmlns:a="http://schemas.openxmlformats.org/drawingml/2006/main" noGrp="1"/>
          </p:cNvSpPr>
          <p:nvPr/>
        </p:nvSpPr>
        <p:spPr>
          <a:xfrm xmlns:a="http://schemas.openxmlformats.org/drawingml/2006/main">
            <a:off x="4181475" y="4076700"/>
            <a:ext cx="7553325" cy="1381125"/>
          </a:xfrm>
          <a:prstGeom xmlns:a="http://schemas.openxmlformats.org/drawingml/2006/main" prst="roundRect">
            <a:avLst>
              <a:gd name="adj" fmla="val 6897"/>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63" name="矩形 562">
            <a:extLst xmlns:a="http://schemas.openxmlformats.org/drawingml/2006/main">
              <a:ext uri="{FF2B5EF4-FFF2-40B4-BE49-F238E27FC236}">
                <a16:creationId xmlns:a16="http://schemas.microsoft.com/office/drawing/2014/main" id="{5C17E544-86B6-44FC-B5A3-FD375EB765C6}"/>
              </a:ext>
            </a:extLst>
          </p:cNvPr>
          <p:cNvSpPr>
            <a:spLocks xmlns:a="http://schemas.openxmlformats.org/drawingml/2006/main" noGrp="1"/>
          </p:cNvSpPr>
          <p:nvPr/>
        </p:nvSpPr>
        <p:spPr>
          <a:xfrm xmlns:a="http://schemas.openxmlformats.org/drawingml/2006/main">
            <a:off x="4429125" y="4324350"/>
            <a:ext cx="705802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运行要求</a:t>
            </a:r>
          </a:p>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Run requirement</a:t>
            </a:r>
          </a:p>
        </p:txBody>
      </p:sp>
      <p:sp>
        <p:nvSpPr>
          <p:cNvPr id="564" name="矩形 563">
            <a:extLst xmlns:a="http://schemas.openxmlformats.org/drawingml/2006/main">
              <a:ext uri="{FF2B5EF4-FFF2-40B4-BE49-F238E27FC236}">
                <a16:creationId xmlns:a16="http://schemas.microsoft.com/office/drawing/2014/main" id="{35601A43-DC8D-4BB7-A320-8C59C860E519}"/>
              </a:ext>
            </a:extLst>
          </p:cNvPr>
          <p:cNvSpPr>
            <a:spLocks xmlns:a="http://schemas.openxmlformats.org/drawingml/2006/main" noGrp="1"/>
          </p:cNvSpPr>
          <p:nvPr/>
        </p:nvSpPr>
        <p:spPr>
          <a:xfrm xmlns:a="http://schemas.openxmlformats.org/drawingml/2006/main">
            <a:off x="4429125" y="4610100"/>
            <a:ext cx="7058025" cy="600075"/>
          </a:xfrm>
          <a:prstGeom xmlns:a="http://schemas.openxmlformats.org/drawingml/2006/main" prst="rect">
            <a:avLst/>
          </a:prstGeom>
        </p:spPr>
        <p:txBody>
          <a:bodyPr xmlns:a="http://schemas.openxmlformats.org/drawingml/2006/main" wrap="square" lIns="0" tIns="0" rIns="0" bIns="0">
            <a:normAutofit fontScale="51358"/>
          </a:bodyPr>
          <a:lstStyle xmlns:a="http://schemas.openxmlformats.org/drawingml/2006/main"/>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public StudentDemo 在 main 中创建对象并调用该方法。</a:t>
            </a:r>
          </a:p>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In main, public StudentDemo creates an object and calls the method.</a:t>
            </a:r>
          </a:p>
        </p:txBody>
      </p:sp>
      <p:sp>
        <p:nvSpPr>
          <p:cNvPr id="565" name="矩形 564">
            <a:extLst xmlns:a="http://schemas.openxmlformats.org/drawingml/2006/main">
              <a:ext uri="{FF2B5EF4-FFF2-40B4-BE49-F238E27FC236}">
                <a16:creationId xmlns:a16="http://schemas.microsoft.com/office/drawing/2014/main" id="{9BCE12D3-1151-41C3-A4E5-23CDAF1C8219}"/>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41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4809286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548" name="矩形 547">
            <a:extLst xmlns:a="http://schemas.openxmlformats.org/drawingml/2006/main">
              <a:ext uri="{FF2B5EF4-FFF2-40B4-BE49-F238E27FC236}">
                <a16:creationId xmlns:a16="http://schemas.microsoft.com/office/drawing/2014/main" id="{0CC46937-090C-4E7C-BE31-760ED4748F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9" name="矩形 548">
            <a:extLst xmlns:a="http://schemas.openxmlformats.org/drawingml/2006/main">
              <a:ext uri="{FF2B5EF4-FFF2-40B4-BE49-F238E27FC236}">
                <a16:creationId xmlns:a16="http://schemas.microsoft.com/office/drawing/2014/main" id="{ED108B3A-F88A-41CC-9D9D-A9F1D9E98938}"/>
              </a:ext>
            </a:extLst>
          </p:cNvPr>
          <p:cNvSpPr>
            <a:spLocks xmlns:a="http://schemas.openxmlformats.org/drawingml/2006/main" noGrp="1"/>
          </p:cNvSpPr>
          <p:nvPr/>
        </p:nvSpPr>
        <p:spPr>
          <a:xfrm xmlns:a="http://schemas.openxmlformats.org/drawingml/2006/main">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0" name="矩形 549">
            <a:extLst xmlns:a="http://schemas.openxmlformats.org/drawingml/2006/main">
              <a:ext uri="{FF2B5EF4-FFF2-40B4-BE49-F238E27FC236}">
                <a16:creationId xmlns:a16="http://schemas.microsoft.com/office/drawing/2014/main" id="{B48542F7-D231-400C-8F72-D906669331E6}"/>
              </a:ext>
            </a:extLst>
          </p:cNvPr>
          <p:cNvSpPr>
            <a:spLocks xmlns:a="http://schemas.openxmlformats.org/drawingml/2006/main" noGrp="1"/>
          </p:cNvSpPr>
          <p:nvPr/>
        </p:nvSpPr>
        <p:spPr>
          <a:xfrm xmlns:a="http://schemas.openxmlformats.org/drawingml/2006/main">
            <a:off x="838200" y="714375"/>
            <a:ext cx="1400175" cy="161925"/>
          </a:xfrm>
          <a:prstGeom xmlns:a="http://schemas.openxmlformats.org/drawingml/2006/main" prst="rect">
            <a:avLst/>
          </a:prstGeom>
        </p:spPr>
        <p:txBody>
          <a:bodyPr xmlns:a="http://schemas.openxmlformats.org/drawingml/2006/main" wrap="none" lIns="0" tIns="0" rIns="0" bIns="0">
            <a:normAutofit fontScale="23098"/>
          </a:bodyPr>
          <a:lstStyle xmlns:a="http://schemas.openxmlformats.org/drawingml/2006/main"/>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第 1 章 · Java 入门</a:t>
            </a:r>
          </a:p>
          <a:p xmlns:a="http://schemas.openxmlformats.org/drawingml/2006/main">
            <a:pPr marL="0">
              <a:lnSpc>
                <a:spcPct val="100000"/>
              </a:lnSpc>
              <a:spcBef>
                <a:spcPts val="0"/>
              </a:spcBef>
              <a:spcAft>
                <a:spcPts val="0"/>
              </a:spcAft>
              <a:buNone/>
            </a:pPr>
            <a:r>
              <a:rPr sz="2300">
                <a:solidFill>
                  <a:srgbClr val="FFFFFF"/>
                </a:solidFill>
                <a:latin typeface="微软雅黑"/>
                <a:ea typeface="微软雅黑"/>
                <a:cs typeface="微软雅黑"/>
              </a:rPr>
              <a:t>Chapter 1 · Getting Started with Java</a:t>
            </a:r>
          </a:p>
        </p:txBody>
      </p:sp>
      <p:sp>
        <p:nvSpPr>
          <p:cNvPr id="551" name="矩形 550">
            <a:extLst xmlns:a="http://schemas.openxmlformats.org/drawingml/2006/main">
              <a:ext uri="{FF2B5EF4-FFF2-40B4-BE49-F238E27FC236}">
                <a16:creationId xmlns:a16="http://schemas.microsoft.com/office/drawing/2014/main" id="{B847837E-B44B-4CD1-BF14-D272630BD2FD}"/>
              </a:ext>
            </a:extLst>
          </p:cNvPr>
          <p:cNvSpPr>
            <a:spLocks xmlns:a="http://schemas.openxmlformats.org/drawingml/2006/main" noGrp="1"/>
          </p:cNvSpPr>
          <p:nvPr/>
        </p:nvSpPr>
        <p:spPr>
          <a:xfrm xmlns:a="http://schemas.openxmlformats.org/drawingml/2006/main">
            <a:off x="457200" y="1295400"/>
            <a:ext cx="3381375" cy="190500"/>
          </a:xfrm>
          <a:prstGeom xmlns:a="http://schemas.openxmlformats.org/drawingml/2006/main" prst="rect">
            <a:avLst/>
          </a:prstGeom>
        </p:spPr>
        <p:txBody>
          <a:bodyPr xmlns:a="http://schemas.openxmlformats.org/drawingml/2006/main" wrap="none" lIns="0" tIns="0" rIns="0" bIns="0">
            <a:normAutofit fontScale="39062"/>
          </a:bodyPr>
          <a:lstStyle xmlns:a="http://schemas.openxmlformats.org/drawingml/2006/main"/>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编程题 3</a:t>
            </a:r>
          </a:p>
          <a:p xmlns:a="http://schemas.openxmlformats.org/drawingml/2006/main">
            <a:pPr marL="0">
              <a:lnSpc>
                <a:spcPct val="100000"/>
              </a:lnSpc>
              <a:spcBef>
                <a:spcPts val="0"/>
              </a:spcBef>
              <a:spcAft>
                <a:spcPts val="0"/>
              </a:spcAft>
              <a:buNone/>
            </a:pPr>
            <a:r>
              <a:rPr sz="1600" b="1">
                <a:solidFill>
                  <a:srgbClr val="1E4FA8"/>
                </a:solidFill>
                <a:latin typeface="微软雅黑"/>
                <a:ea typeface="微软雅黑"/>
                <a:cs typeface="微软雅黑"/>
              </a:rPr>
              <a:t>Programming Task 3</a:t>
            </a:r>
          </a:p>
        </p:txBody>
      </p:sp>
      <p:sp>
        <p:nvSpPr>
          <p:cNvPr id="552" name="矩形 551">
            <a:extLst xmlns:a="http://schemas.openxmlformats.org/drawingml/2006/main">
              <a:ext uri="{FF2B5EF4-FFF2-40B4-BE49-F238E27FC236}">
                <a16:creationId xmlns:a16="http://schemas.microsoft.com/office/drawing/2014/main" id="{19F6870C-0EC9-49AF-87DF-50960B4DF58A}"/>
              </a:ext>
            </a:extLst>
          </p:cNvPr>
          <p:cNvSpPr>
            <a:spLocks xmlns:a="http://schemas.openxmlformats.org/drawingml/2006/main" noGrp="1"/>
          </p:cNvSpPr>
          <p:nvPr/>
        </p:nvSpPr>
        <p:spPr>
          <a:xfrm xmlns:a="http://schemas.openxmlformats.org/drawingml/2006/main">
            <a:off x="457200" y="1600200"/>
            <a:ext cx="3381375" cy="552450"/>
          </a:xfrm>
          <a:prstGeom xmlns:a="http://schemas.openxmlformats.org/drawingml/2006/main" prst="rect">
            <a:avLst/>
          </a:prstGeom>
        </p:spPr>
        <p:txBody>
          <a:bodyPr xmlns:a="http://schemas.openxmlformats.org/drawingml/2006/main" wrap="none" lIns="0" tIns="0" rIns="0" bIns="0">
            <a:normAutofit fontScale="20691"/>
          </a:bodyPr>
          <a:lstStyle xmlns:a="http://schemas.openxmlformats.org/drawingml/2006/main"/>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调试并修复程序</a:t>
            </a:r>
          </a:p>
          <a:p xmlns:a="http://schemas.openxmlformats.org/drawingml/2006/main">
            <a:pPr marL="0">
              <a:lnSpc>
                <a:spcPct val="100000"/>
              </a:lnSpc>
              <a:spcBef>
                <a:spcPts val="0"/>
              </a:spcBef>
              <a:spcAft>
                <a:spcPts val="0"/>
              </a:spcAft>
              <a:buNone/>
            </a:pPr>
            <a:r>
              <a:rPr sz="8760" b="1">
                <a:solidFill>
                  <a:srgbClr val="0E3F8C"/>
                </a:solidFill>
                <a:latin typeface="微软雅黑"/>
                <a:ea typeface="微软雅黑"/>
                <a:cs typeface="微软雅黑"/>
              </a:rPr>
              <a:t>Debug and fix a program</a:t>
            </a:r>
          </a:p>
        </p:txBody>
      </p:sp>
      <p:sp>
        <p:nvSpPr>
          <p:cNvPr id="553" name="矩形 552">
            <a:extLst xmlns:a="http://schemas.openxmlformats.org/drawingml/2006/main">
              <a:ext uri="{FF2B5EF4-FFF2-40B4-BE49-F238E27FC236}">
                <a16:creationId xmlns:a16="http://schemas.microsoft.com/office/drawing/2014/main" id="{1EA91AC3-7756-4172-84B1-AEF7ED161220}"/>
              </a:ext>
            </a:extLst>
          </p:cNvPr>
          <p:cNvSpPr>
            <a:spLocks xmlns:a="http://schemas.openxmlformats.org/drawingml/2006/main" noGrp="1"/>
          </p:cNvSpPr>
          <p:nvPr/>
        </p:nvSpPr>
        <p:spPr>
          <a:xfrm xmlns:a="http://schemas.openxmlformats.org/drawingml/2006/main">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4" name="矩形 553">
            <a:extLst xmlns:a="http://schemas.openxmlformats.org/drawingml/2006/main">
              <a:ext uri="{FF2B5EF4-FFF2-40B4-BE49-F238E27FC236}">
                <a16:creationId xmlns:a16="http://schemas.microsoft.com/office/drawing/2014/main" id="{BFA062D3-BE2F-4646-8F45-4C6863AF9604}"/>
              </a:ext>
            </a:extLst>
          </p:cNvPr>
          <p:cNvSpPr>
            <a:spLocks xmlns:a="http://schemas.openxmlformats.org/drawingml/2006/main" noGrp="1"/>
          </p:cNvSpPr>
          <p:nvPr/>
        </p:nvSpPr>
        <p:spPr>
          <a:xfrm xmlns:a="http://schemas.openxmlformats.org/drawingml/2006/main">
            <a:off x="457200" y="2638425"/>
            <a:ext cx="3381375" cy="390525"/>
          </a:xfrm>
          <a:prstGeom xmlns:a="http://schemas.openxmlformats.org/drawingml/2006/main" prst="rect">
            <a:avLst/>
          </a:prstGeom>
        </p:spPr>
        <p:txBody>
          <a:bodyPr xmlns:a="http://schemas.openxmlformats.org/drawingml/2006/main" wrap="none" lIns="0" tIns="0" rIns="0" bIns="0">
            <a:normAutofit fontScale="26084"/>
          </a:bodyPr>
          <a:lstStyle xmlns:a="http://schemas.openxmlformats.org/drawingml/2006/main"/>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先制造编译错误，再使用 IDE 逐个解决</a:t>
            </a:r>
          </a:p>
          <a:p xmlns:a="http://schemas.openxmlformats.org/drawingml/2006/main">
            <a:pPr marL="0">
              <a:lnSpc>
                <a:spcPct val="100000"/>
              </a:lnSpc>
              <a:spcBef>
                <a:spcPts val="0"/>
              </a:spcBef>
              <a:spcAft>
                <a:spcPts val="0"/>
              </a:spcAft>
              <a:buNone/>
            </a:pPr>
            <a:r>
              <a:rPr sz="4387">
                <a:solidFill>
                  <a:srgbClr val="4A5568"/>
                </a:solidFill>
                <a:latin typeface="微软雅黑"/>
                <a:ea typeface="微软雅黑"/>
                <a:cs typeface="微软雅黑"/>
              </a:rPr>
              <a:t>Create compile errors, then fix them with the IDE</a:t>
            </a:r>
          </a:p>
        </p:txBody>
      </p:sp>
      <p:sp>
        <p:nvSpPr>
          <p:cNvPr id="555" name="圆角矩形 554">
            <a:extLst xmlns:a="http://schemas.openxmlformats.org/drawingml/2006/main">
              <a:ext uri="{FF2B5EF4-FFF2-40B4-BE49-F238E27FC236}">
                <a16:creationId xmlns:a16="http://schemas.microsoft.com/office/drawing/2014/main" id="{FC4D51E9-B796-462E-B9F9-3D2D2FE0667A}"/>
              </a:ext>
            </a:extLst>
          </p:cNvPr>
          <p:cNvSpPr>
            <a:spLocks xmlns:a="http://schemas.openxmlformats.org/drawingml/2006/main" noGrp="1"/>
          </p:cNvSpPr>
          <p:nvPr/>
        </p:nvSpPr>
        <p:spPr>
          <a:xfrm xmlns:a="http://schemas.openxmlformats.org/drawingml/2006/main">
            <a:off x="4238625" y="1885950"/>
            <a:ext cx="7553325" cy="704850"/>
          </a:xfrm>
          <a:prstGeom xmlns:a="http://schemas.openxmlformats.org/drawingml/2006/main" prst="roundRect">
            <a:avLst>
              <a:gd name="adj" fmla="val 13514"/>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6" name="任意多边形 555">
            <a:extLst xmlns:a="http://schemas.openxmlformats.org/drawingml/2006/main">
              <a:ext uri="{FF2B5EF4-FFF2-40B4-BE49-F238E27FC236}">
                <a16:creationId xmlns:a16="http://schemas.microsoft.com/office/drawing/2014/main" id="{7163FA42-DEE2-412A-84AD-293DB1805C63}"/>
              </a:ext>
            </a:extLst>
          </p:cNvPr>
          <p:cNvSpPr>
            <a:spLocks xmlns:a="http://schemas.openxmlformats.org/drawingml/2006/main" noGrp="1"/>
          </p:cNvSpPr>
          <p:nvPr/>
        </p:nvSpPr>
        <p:spPr>
          <a:xfrm xmlns:a="http://schemas.openxmlformats.org/drawingml/2006/main">
            <a:off x="4238625" y="1885950"/>
            <a:ext cx="7553325" cy="704850"/>
          </a:xfrm>
          <a:custGeom xmlns:a="http://schemas.openxmlformats.org/drawingml/2006/main">
            <a:pathLst>
              <a:path w="793" h="74">
                <a:moveTo>
                  <a:pt x="10" y="0"/>
                </a:moveTo>
                <a:cubicBezTo>
                  <a:pt x="8" y="0"/>
                  <a:pt x="6" y="2"/>
                  <a:pt x="6" y="4"/>
                </a:cubicBezTo>
                <a:lnTo>
                  <a:pt x="6" y="70"/>
                </a:lnTo>
                <a:cubicBezTo>
                  <a:pt x="6" y="72"/>
                  <a:pt x="8" y="74"/>
                  <a:pt x="10" y="74"/>
                </a:cubicBezTo>
                <a:cubicBezTo>
                  <a:pt x="4" y="74"/>
                  <a:pt x="0" y="69"/>
                  <a:pt x="0" y="6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7" name="矩形 556">
            <a:extLst xmlns:a="http://schemas.openxmlformats.org/drawingml/2006/main">
              <a:ext uri="{FF2B5EF4-FFF2-40B4-BE49-F238E27FC236}">
                <a16:creationId xmlns:a16="http://schemas.microsoft.com/office/drawing/2014/main" id="{F5A8A948-FDBB-425A-A078-47C5B2ED4275}"/>
              </a:ext>
            </a:extLst>
          </p:cNvPr>
          <p:cNvSpPr>
            <a:spLocks xmlns:a="http://schemas.openxmlformats.org/drawingml/2006/main" noGrp="1"/>
          </p:cNvSpPr>
          <p:nvPr/>
        </p:nvSpPr>
        <p:spPr>
          <a:xfrm xmlns:a="http://schemas.openxmlformats.org/drawingml/2006/main">
            <a:off x="4486275" y="213360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任务：编写 BugFixDemo.java</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Task: Write BugFixDemo.java</a:t>
            </a:r>
          </a:p>
        </p:txBody>
      </p:sp>
      <p:sp>
        <p:nvSpPr>
          <p:cNvPr id="558" name="圆角矩形 557">
            <a:extLst xmlns:a="http://schemas.openxmlformats.org/drawingml/2006/main">
              <a:ext uri="{FF2B5EF4-FFF2-40B4-BE49-F238E27FC236}">
                <a16:creationId xmlns:a16="http://schemas.microsoft.com/office/drawing/2014/main" id="{573CCF43-10F8-4D27-9368-E136AB38B516}"/>
              </a:ext>
            </a:extLst>
          </p:cNvPr>
          <p:cNvSpPr>
            <a:spLocks xmlns:a="http://schemas.openxmlformats.org/drawingml/2006/main" noGrp="1"/>
          </p:cNvSpPr>
          <p:nvPr/>
        </p:nvSpPr>
        <p:spPr>
          <a:xfrm xmlns:a="http://schemas.openxmlformats.org/drawingml/2006/main">
            <a:off x="4238625" y="2743200"/>
            <a:ext cx="7553325" cy="1181100"/>
          </a:xfrm>
          <a:prstGeom xmlns:a="http://schemas.openxmlformats.org/drawingml/2006/main" prst="roundRect">
            <a:avLst>
              <a:gd name="adj" fmla="val 8065"/>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59" name="任意多边形 558">
            <a:extLst xmlns:a="http://schemas.openxmlformats.org/drawingml/2006/main">
              <a:ext uri="{FF2B5EF4-FFF2-40B4-BE49-F238E27FC236}">
                <a16:creationId xmlns:a16="http://schemas.microsoft.com/office/drawing/2014/main" id="{FBFD7CB1-37DF-44C9-9F0D-6A41769C252D}"/>
              </a:ext>
            </a:extLst>
          </p:cNvPr>
          <p:cNvSpPr>
            <a:spLocks xmlns:a="http://schemas.openxmlformats.org/drawingml/2006/main" noGrp="1"/>
          </p:cNvSpPr>
          <p:nvPr/>
        </p:nvSpPr>
        <p:spPr>
          <a:xfrm xmlns:a="http://schemas.openxmlformats.org/drawingml/2006/main">
            <a:off x="4238625" y="2743200"/>
            <a:ext cx="7553325" cy="1181100"/>
          </a:xfrm>
          <a:custGeom xmlns:a="http://schemas.openxmlformats.org/drawingml/2006/main">
            <a:pathLst>
              <a:path w="793" h="124">
                <a:moveTo>
                  <a:pt x="10" y="0"/>
                </a:moveTo>
                <a:cubicBezTo>
                  <a:pt x="8" y="0"/>
                  <a:pt x="6" y="2"/>
                  <a:pt x="6" y="4"/>
                </a:cubicBezTo>
                <a:lnTo>
                  <a:pt x="6" y="120"/>
                </a:lnTo>
                <a:cubicBezTo>
                  <a:pt x="6" y="122"/>
                  <a:pt x="8" y="124"/>
                  <a:pt x="10" y="124"/>
                </a:cubicBezTo>
                <a:cubicBezTo>
                  <a:pt x="4" y="124"/>
                  <a:pt x="0" y="119"/>
                  <a:pt x="0" y="114"/>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0" name="矩形 559">
            <a:extLst xmlns:a="http://schemas.openxmlformats.org/drawingml/2006/main">
              <a:ext uri="{FF2B5EF4-FFF2-40B4-BE49-F238E27FC236}">
                <a16:creationId xmlns:a16="http://schemas.microsoft.com/office/drawing/2014/main" id="{3C013533-29D9-4D16-845B-F873D7C53D07}"/>
              </a:ext>
            </a:extLst>
          </p:cNvPr>
          <p:cNvSpPr>
            <a:spLocks xmlns:a="http://schemas.openxmlformats.org/drawingml/2006/main" noGrp="1"/>
          </p:cNvSpPr>
          <p:nvPr/>
        </p:nvSpPr>
        <p:spPr>
          <a:xfrm xmlns:a="http://schemas.openxmlformats.org/drawingml/2006/main">
            <a:off x="4486275" y="2990850"/>
            <a:ext cx="700087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制造错误</a:t>
            </a:r>
          </a:p>
          <a:p xmlns:a="http://schemas.openxmlformats.org/drawingml/2006/main">
            <a:pPr marL="0">
              <a:lnSpc>
                <a:spcPct val="100000"/>
              </a:lnSpc>
              <a:spcBef>
                <a:spcPts val="0"/>
              </a:spcBef>
              <a:spcAft>
                <a:spcPts val="0"/>
              </a:spcAft>
              <a:buNone/>
            </a:pPr>
            <a:r>
              <a:rPr sz="3947" b="1">
                <a:solidFill>
                  <a:srgbClr val="1E4FA8"/>
                </a:solidFill>
                <a:latin typeface="微软雅黑"/>
                <a:ea typeface="微软雅黑"/>
                <a:cs typeface="微软雅黑"/>
              </a:rPr>
              <a:t>Create errors</a:t>
            </a:r>
          </a:p>
        </p:txBody>
      </p:sp>
      <p:sp>
        <p:nvSpPr>
          <p:cNvPr id="561" name="矩形 560">
            <a:extLst xmlns:a="http://schemas.openxmlformats.org/drawingml/2006/main">
              <a:ext uri="{FF2B5EF4-FFF2-40B4-BE49-F238E27FC236}">
                <a16:creationId xmlns:a16="http://schemas.microsoft.com/office/drawing/2014/main" id="{3A6386B7-D8BF-432C-88BA-218E1508B153}"/>
              </a:ext>
            </a:extLst>
          </p:cNvPr>
          <p:cNvSpPr>
            <a:spLocks xmlns:a="http://schemas.openxmlformats.org/drawingml/2006/main" noGrp="1"/>
          </p:cNvSpPr>
          <p:nvPr/>
        </p:nvSpPr>
        <p:spPr>
          <a:xfrm xmlns:a="http://schemas.openxmlformats.org/drawingml/2006/main">
            <a:off x="4486275" y="3276600"/>
            <a:ext cx="7000875" cy="400050"/>
          </a:xfrm>
          <a:prstGeom xmlns:a="http://schemas.openxmlformats.org/drawingml/2006/main" prst="rect">
            <a:avLst/>
          </a:prstGeom>
        </p:spPr>
        <p:txBody>
          <a:bodyPr xmlns:a="http://schemas.openxmlformats.org/drawingml/2006/main" wrap="none" lIns="0" tIns="0" rIns="0" bIns="0">
            <a:normAutofit fontScale="29918"/>
          </a:bodyPr>
          <a:lstStyle xmlns:a="http://schemas.openxmlformats.org/drawingml/2006/main"/>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写错类名大小写、漏写分号，并把 println 写成 printIn。</a:t>
            </a:r>
          </a:p>
          <a:p xmlns:a="http://schemas.openxmlformats.org/drawingml/2006/main">
            <a:pPr marL="0">
              <a:lnSpc>
                <a:spcPct val="100000"/>
              </a:lnSpc>
              <a:spcBef>
                <a:spcPts val="0"/>
              </a:spcBef>
              <a:spcAft>
                <a:spcPts val="0"/>
              </a:spcAft>
              <a:buNone/>
            </a:pPr>
            <a:r>
              <a:rPr sz="4387">
                <a:solidFill>
                  <a:srgbClr val="1A2230"/>
                </a:solidFill>
                <a:latin typeface="微软雅黑"/>
                <a:ea typeface="微软雅黑"/>
                <a:cs typeface="微软雅黑"/>
              </a:rPr>
              <a:t>Change class-name case, omit a semicolon, and write printIn.</a:t>
            </a:r>
          </a:p>
        </p:txBody>
      </p:sp>
      <p:sp>
        <p:nvSpPr>
          <p:cNvPr id="562" name="圆角矩形 561">
            <a:extLst xmlns:a="http://schemas.openxmlformats.org/drawingml/2006/main">
              <a:ext uri="{FF2B5EF4-FFF2-40B4-BE49-F238E27FC236}">
                <a16:creationId xmlns:a16="http://schemas.microsoft.com/office/drawing/2014/main" id="{1F466293-B344-424C-89E4-64EB1AB55FD8}"/>
              </a:ext>
            </a:extLst>
          </p:cNvPr>
          <p:cNvSpPr>
            <a:spLocks xmlns:a="http://schemas.openxmlformats.org/drawingml/2006/main" noGrp="1"/>
          </p:cNvSpPr>
          <p:nvPr/>
        </p:nvSpPr>
        <p:spPr>
          <a:xfrm xmlns:a="http://schemas.openxmlformats.org/drawingml/2006/main">
            <a:off x="4181475" y="4076700"/>
            <a:ext cx="7553325" cy="1381125"/>
          </a:xfrm>
          <a:prstGeom xmlns:a="http://schemas.openxmlformats.org/drawingml/2006/main" prst="roundRect">
            <a:avLst>
              <a:gd name="adj" fmla="val 6897"/>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63" name="矩形 562">
            <a:extLst xmlns:a="http://schemas.openxmlformats.org/drawingml/2006/main">
              <a:ext uri="{FF2B5EF4-FFF2-40B4-BE49-F238E27FC236}">
                <a16:creationId xmlns:a16="http://schemas.microsoft.com/office/drawing/2014/main" id="{5C17E544-86B6-44FC-B5A3-FD375EB765C6}"/>
              </a:ext>
            </a:extLst>
          </p:cNvPr>
          <p:cNvSpPr>
            <a:spLocks xmlns:a="http://schemas.openxmlformats.org/drawingml/2006/main" noGrp="1"/>
          </p:cNvSpPr>
          <p:nvPr/>
        </p:nvSpPr>
        <p:spPr>
          <a:xfrm xmlns:a="http://schemas.openxmlformats.org/drawingml/2006/main">
            <a:off x="4429125" y="4324350"/>
            <a:ext cx="7058025" cy="209550"/>
          </a:xfrm>
          <a:prstGeom xmlns:a="http://schemas.openxmlformats.org/drawingml/2006/main" prst="rect">
            <a:avLst/>
          </a:prstGeom>
        </p:spPr>
        <p:txBody>
          <a:bodyPr xmlns:a="http://schemas.openxmlformats.org/drawingml/2006/main" wrap="none" lIns="0" tIns="0" rIns="0" bIns="0">
            <a:normAutofit fontScale="17418"/>
          </a:bodyPr>
          <a:lstStyle xmlns:a="http://schemas.openxmlformats.org/drawingml/2006/main"/>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修复目标</a:t>
            </a:r>
          </a:p>
          <a:p xmlns:a="http://schemas.openxmlformats.org/drawingml/2006/main">
            <a:pPr marL="0">
              <a:lnSpc>
                <a:spcPct val="100000"/>
              </a:lnSpc>
              <a:spcBef>
                <a:spcPts val="0"/>
              </a:spcBef>
              <a:spcAft>
                <a:spcPts val="0"/>
              </a:spcAft>
              <a:buNone/>
            </a:pPr>
            <a:r>
              <a:rPr sz="3947" b="1">
                <a:solidFill>
                  <a:srgbClr val="FFFFFF"/>
                </a:solidFill>
                <a:latin typeface="微软雅黑"/>
                <a:ea typeface="微软雅黑"/>
                <a:cs typeface="微软雅黑"/>
              </a:rPr>
              <a:t>Fixing goal</a:t>
            </a:r>
          </a:p>
        </p:txBody>
      </p:sp>
      <p:sp>
        <p:nvSpPr>
          <p:cNvPr id="564" name="矩形 563">
            <a:extLst xmlns:a="http://schemas.openxmlformats.org/drawingml/2006/main">
              <a:ext uri="{FF2B5EF4-FFF2-40B4-BE49-F238E27FC236}">
                <a16:creationId xmlns:a16="http://schemas.microsoft.com/office/drawing/2014/main" id="{35601A43-DC8D-4BB7-A320-8C59C860E519}"/>
              </a:ext>
            </a:extLst>
          </p:cNvPr>
          <p:cNvSpPr>
            <a:spLocks xmlns:a="http://schemas.openxmlformats.org/drawingml/2006/main" noGrp="1"/>
          </p:cNvSpPr>
          <p:nvPr/>
        </p:nvSpPr>
        <p:spPr>
          <a:xfrm xmlns:a="http://schemas.openxmlformats.org/drawingml/2006/main">
            <a:off x="4429125" y="4610100"/>
            <a:ext cx="7058025" cy="600075"/>
          </a:xfrm>
          <a:prstGeom xmlns:a="http://schemas.openxmlformats.org/drawingml/2006/main" prst="rect">
            <a:avLst/>
          </a:prstGeom>
        </p:spPr>
        <p:txBody>
          <a:bodyPr xmlns:a="http://schemas.openxmlformats.org/drawingml/2006/main" wrap="square" lIns="0" tIns="0" rIns="0" bIns="0">
            <a:normAutofit fontScale="52997"/>
          </a:bodyPr>
          <a:lstStyle xmlns:a="http://schemas.openxmlformats.org/drawingml/2006/main"/>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修复后输出 1 到 100 的和，并在循环中设置断点。</a:t>
            </a:r>
          </a:p>
          <a:p xmlns:a="http://schemas.openxmlformats.org/drawingml/2006/main">
            <a:pPr marL="0">
              <a:lnSpc>
                <a:spcPct val="100000"/>
              </a:lnSpc>
              <a:spcBef>
                <a:spcPts val="0"/>
              </a:spcBef>
              <a:spcAft>
                <a:spcPts val="0"/>
              </a:spcAft>
              <a:buNone/>
            </a:pPr>
            <a:r>
              <a:rPr sz="3280">
                <a:solidFill>
                  <a:srgbClr val="FFFFFF"/>
                </a:solidFill>
                <a:latin typeface="微软雅黑"/>
                <a:ea typeface="微软雅黑"/>
                <a:cs typeface="微软雅黑"/>
              </a:rPr>
              <a:t>After fixing, print the sum from 1 to 100 and set a loop breakpoint.</a:t>
            </a:r>
          </a:p>
        </p:txBody>
      </p:sp>
      <p:sp>
        <p:nvSpPr>
          <p:cNvPr id="565" name="矩形 564">
            <a:extLst xmlns:a="http://schemas.openxmlformats.org/drawingml/2006/main">
              <a:ext uri="{FF2B5EF4-FFF2-40B4-BE49-F238E27FC236}">
                <a16:creationId xmlns:a16="http://schemas.microsoft.com/office/drawing/2014/main" id="{9BCE12D3-1151-41C3-A4E5-23CDAF1C8219}"/>
              </a:ext>
            </a:extLst>
          </p:cNvPr>
          <p:cNvSpPr>
            <a:spLocks xmlns:a="http://schemas.openxmlformats.org/drawingml/2006/main" noGrp="1"/>
          </p:cNvSpPr>
          <p:nvPr/>
        </p:nvSpPr>
        <p:spPr>
          <a:xfrm xmlns:a="http://schemas.openxmlformats.org/drawingml/2006/main">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42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2480928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590" name="矩形 589">
            <a:extLst xmlns:a="http://schemas.openxmlformats.org/drawingml/2006/main">
              <a:ext uri="{FF2B5EF4-FFF2-40B4-BE49-F238E27FC236}">
                <a16:creationId xmlns:a16="http://schemas.microsoft.com/office/drawing/2014/main" id="{2D83E5DC-C74C-404D-8EE4-1BBC67FB2C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91" name="矩形 590">
            <a:extLst xmlns:a="http://schemas.openxmlformats.org/drawingml/2006/main">
              <a:ext uri="{FF2B5EF4-FFF2-40B4-BE49-F238E27FC236}">
                <a16:creationId xmlns:a16="http://schemas.microsoft.com/office/drawing/2014/main" id="{1BDE64AE-E5B5-4696-BC5E-F84AE3AC89BD}"/>
              </a:ext>
            </a:extLst>
          </p:cNvPr>
          <p:cNvSpPr>
            <a:spLocks xmlns:a="http://schemas.openxmlformats.org/drawingml/2006/main" noGrp="1"/>
          </p:cNvSpPr>
          <p:nvPr/>
        </p:nvSpPr>
        <p:spPr>
          <a:xfrm xmlns:a="http://schemas.openxmlformats.org/drawingml/2006/main">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2" name="矩形 591">
            <a:extLst xmlns:a="http://schemas.openxmlformats.org/drawingml/2006/main">
              <a:ext uri="{FF2B5EF4-FFF2-40B4-BE49-F238E27FC236}">
                <a16:creationId xmlns:a16="http://schemas.microsoft.com/office/drawing/2014/main" id="{E9AD04EA-C474-4940-A93B-700F016C0252}"/>
              </a:ext>
            </a:extLst>
          </p:cNvPr>
          <p:cNvSpPr>
            <a:spLocks xmlns:a="http://schemas.openxmlformats.org/drawingml/2006/main" noGrp="1"/>
          </p:cNvSpPr>
          <p:nvPr/>
        </p:nvSpPr>
        <p:spPr>
          <a:xfrm xmlns:a="http://schemas.openxmlformats.org/drawingml/2006/main">
            <a:off x="3848100" y="2457450"/>
            <a:ext cx="4495800" cy="9144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6000" b="1">
                <a:solidFill>
                  <a:srgbClr val="0E3F8C"/>
                </a:solidFill>
                <a:latin typeface="微软雅黑"/>
                <a:ea typeface="微软雅黑"/>
                <a:cs typeface="微软雅黑"/>
              </a:rPr>
              <a:t>Thank You !</a:t>
            </a:r>
            <a:endParaRPr sz="6000" b="1">
              <a:solidFill>
                <a:srgbClr val="0E3F8C"/>
              </a:solidFill>
              <a:latin typeface="微软雅黑"/>
              <a:ea typeface="微软雅黑"/>
              <a:cs typeface="微软雅黑"/>
            </a:endParaRPr>
          </a:p>
        </p:txBody>
      </p:sp>
      <p:sp>
        <p:nvSpPr>
          <p:cNvPr id="593" name="矩形 592">
            <a:extLst xmlns:a="http://schemas.openxmlformats.org/drawingml/2006/main">
              <a:ext uri="{FF2B5EF4-FFF2-40B4-BE49-F238E27FC236}">
                <a16:creationId xmlns:a16="http://schemas.microsoft.com/office/drawing/2014/main" id="{E402D948-40A6-443F-B1CC-44C53F1A6BDD}"/>
              </a:ext>
            </a:extLst>
          </p:cNvPr>
          <p:cNvSpPr>
            <a:spLocks xmlns:a="http://schemas.openxmlformats.org/drawingml/2006/main" noGrp="1"/>
          </p:cNvSpPr>
          <p:nvPr/>
        </p:nvSpPr>
        <p:spPr>
          <a:xfrm xmlns:a="http://schemas.openxmlformats.org/drawingml/2006/main">
            <a:off x="4362450" y="3600450"/>
            <a:ext cx="3476625" cy="323850"/>
          </a:xfrm>
          <a:prstGeom xmlns:a="http://schemas.openxmlformats.org/drawingml/2006/main" prst="rect">
            <a:avLst/>
          </a:prstGeom>
        </p:spPr>
        <p:txBody>
          <a:bodyPr xmlns:a="http://schemas.openxmlformats.org/drawingml/2006/main" wrap="none" lIns="0" tIns="0" rIns="0" bIns="0">
            <a:normAutofit fontScale="23048"/>
          </a:bodyPr>
          <a:lstStyle xmlns:a="http://schemas.openxmlformats.org/drawingml/2006/main"/>
          <a:p xmlns:a="http://schemas.openxmlformats.org/drawingml/2006/main">
            <a:pPr marL="0">
              <a:lnSpc>
                <a:spcPct val="100000"/>
              </a:lnSpc>
              <a:spcBef>
                <a:spcPts val="0"/>
              </a:spcBef>
              <a:spcAft>
                <a:spcPts val="0"/>
              </a:spcAft>
              <a:buNone/>
            </a:pPr>
            <a:r>
              <a:rPr sz="4610" b="1">
                <a:solidFill>
                  <a:srgbClr val="1E4FA8"/>
                </a:solidFill>
                <a:latin typeface="微软雅黑"/>
                <a:ea typeface="微软雅黑"/>
                <a:cs typeface="微软雅黑"/>
              </a:rPr>
              <a:t>第 1 章 · Java 入门 到此结束</a:t>
            </a:r>
          </a:p>
          <a:p xmlns:a="http://schemas.openxmlformats.org/drawingml/2006/main">
            <a:pPr marL="0">
              <a:lnSpc>
                <a:spcPct val="100000"/>
              </a:lnSpc>
              <a:spcBef>
                <a:spcPts val="0"/>
              </a:spcBef>
              <a:spcAft>
                <a:spcPts val="0"/>
              </a:spcAft>
              <a:buNone/>
            </a:pPr>
            <a:r>
              <a:rPr sz="4610" b="1">
                <a:solidFill>
                  <a:srgbClr val="1E4FA8"/>
                </a:solidFill>
                <a:latin typeface="微软雅黑"/>
                <a:ea typeface="微软雅黑"/>
                <a:cs typeface="微软雅黑"/>
              </a:rPr>
              <a:t>End of Chapter 1 · Getting Started with Java</a:t>
            </a:r>
          </a:p>
        </p:txBody>
      </p:sp>
      <p:sp>
        <p:nvSpPr>
          <p:cNvPr id="594" name="矩形 593">
            <a:extLst xmlns:a="http://schemas.openxmlformats.org/drawingml/2006/main">
              <a:ext uri="{FF2B5EF4-FFF2-40B4-BE49-F238E27FC236}">
                <a16:creationId xmlns:a16="http://schemas.microsoft.com/office/drawing/2014/main" id="{E8833909-48E6-4375-8B74-825DFC6810AA}"/>
              </a:ext>
            </a:extLst>
          </p:cNvPr>
          <p:cNvSpPr>
            <a:spLocks xmlns:a="http://schemas.openxmlformats.org/drawingml/2006/main" noGrp="1"/>
          </p:cNvSpPr>
          <p:nvPr/>
        </p:nvSpPr>
        <p:spPr>
          <a:xfrm xmlns:a="http://schemas.openxmlformats.org/drawingml/2006/main">
            <a:off x="5619750" y="4267200"/>
            <a:ext cx="9525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595" name="矩形 594">
            <a:extLst xmlns:a="http://schemas.openxmlformats.org/drawingml/2006/main">
              <a:ext uri="{FF2B5EF4-FFF2-40B4-BE49-F238E27FC236}">
                <a16:creationId xmlns:a16="http://schemas.microsoft.com/office/drawing/2014/main" id="{12210B48-C1E4-438A-8201-BDC5070CEE06}"/>
              </a:ext>
            </a:extLst>
          </p:cNvPr>
          <p:cNvSpPr>
            <a:spLocks xmlns:a="http://schemas.openxmlformats.org/drawingml/2006/main" noGrp="1"/>
          </p:cNvSpPr>
          <p:nvPr/>
        </p:nvSpPr>
        <p:spPr>
          <a:xfrm xmlns:a="http://schemas.openxmlformats.org/drawingml/2006/main">
            <a:off x="11144250" y="61245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微软雅黑"/>
                <a:ea typeface="微软雅黑"/>
                <a:cs typeface="微软雅黑"/>
              </a:rPr>
              <a:t>43 / 43</a:t>
            </a:r>
            <a:endParaRPr sz="1050" b="1">
              <a:solidFill>
                <a:srgbClr val="1E4FA8"/>
              </a:solidFill>
              <a:latin typeface="微软雅黑"/>
              <a:ea typeface="微软雅黑"/>
              <a:cs typeface="微软雅黑"/>
            </a:endParaRPr>
          </a:p>
        </p:txBody>
      </p:sp>
    </p:spTree>
    <p:extLst>
      <p:ext uri="{BB962C8B-B14F-4D97-AF65-F5344CB8AC3E}">
        <p14:creationId xmlns:p14="http://schemas.microsoft.com/office/powerpoint/2010/main" val="8514875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2026-08-22T11:20:07.9580000Z</dcterms:created>
  <dcterms:modified xsi:type="dcterms:W3CDTF">2026-08-22T11:20:07.9580000Z</dcterms:modified>
</coreProperties>
</file>