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0f4ca74e7d418f" /><Relationship Type="http://schemas.openxmlformats.org/officeDocument/2006/relationships/extended-properties" Target="/docProps/app.xml" Id="R4181474bb5b24fc5" /><Relationship Type="http://schemas.openxmlformats.org/officeDocument/2006/relationships/officeDocument" Target="/ppt/presentation.xml" Id="Rdcb1abd90df0493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757ef82c794399"/>
  </p:sldMasterIdLst>
  <p:notesMasterIdLst>
    <p:notesMasterId xmlns:r="http://schemas.openxmlformats.org/officeDocument/2006/relationships" r:id="Rb5ae4ab8ccc943a5"/>
  </p:notesMasterIdLst>
  <p:sldIdLst>
    <p:sldId xmlns:r="http://schemas.openxmlformats.org/officeDocument/2006/relationships" id="256" r:id="R2104fa8a7a8f4c80"/>
    <p:sldId xmlns:r="http://schemas.openxmlformats.org/officeDocument/2006/relationships" id="257" r:id="R2a912d47d199496b"/>
    <p:sldId xmlns:r="http://schemas.openxmlformats.org/officeDocument/2006/relationships" id="258" r:id="Re46873afe6a141f0"/>
    <p:sldId xmlns:r="http://schemas.openxmlformats.org/officeDocument/2006/relationships" id="259" r:id="Rcc2a0367044d4552"/>
    <p:sldId xmlns:r="http://schemas.openxmlformats.org/officeDocument/2006/relationships" id="260" r:id="Rb8d73ab25fb04101"/>
    <p:sldId xmlns:r="http://schemas.openxmlformats.org/officeDocument/2006/relationships" id="261" r:id="R8ab67c406a8444f2"/>
    <p:sldId xmlns:r="http://schemas.openxmlformats.org/officeDocument/2006/relationships" id="262" r:id="Rc434151744ac4e11"/>
    <p:sldId xmlns:r="http://schemas.openxmlformats.org/officeDocument/2006/relationships" id="263" r:id="R80a6a93682fe4c4c"/>
    <p:sldId xmlns:r="http://schemas.openxmlformats.org/officeDocument/2006/relationships" id="264" r:id="R3ddd48b8150d4c8c"/>
    <p:sldId xmlns:r="http://schemas.openxmlformats.org/officeDocument/2006/relationships" id="265" r:id="R147852b5b7d24dc4"/>
    <p:sldId xmlns:r="http://schemas.openxmlformats.org/officeDocument/2006/relationships" id="266" r:id="R107fda90d59641db"/>
    <p:sldId xmlns:r="http://schemas.openxmlformats.org/officeDocument/2006/relationships" id="267" r:id="Rf69ef075d8724655"/>
    <p:sldId xmlns:r="http://schemas.openxmlformats.org/officeDocument/2006/relationships" id="268" r:id="R8c1166aeb945436d"/>
    <p:sldId xmlns:r="http://schemas.openxmlformats.org/officeDocument/2006/relationships" id="269" r:id="Rf496997a8eb74065"/>
    <p:sldId xmlns:r="http://schemas.openxmlformats.org/officeDocument/2006/relationships" id="270" r:id="R7de3b4eb709b4fb4"/>
    <p:sldId xmlns:r="http://schemas.openxmlformats.org/officeDocument/2006/relationships" id="271" r:id="R80392f0592ae4dc8"/>
    <p:sldId xmlns:r="http://schemas.openxmlformats.org/officeDocument/2006/relationships" id="272" r:id="Rbb12dff93f0f465a"/>
    <p:sldId xmlns:r="http://schemas.openxmlformats.org/officeDocument/2006/relationships" id="273" r:id="R66b88f31ad92426a"/>
    <p:sldId xmlns:r="http://schemas.openxmlformats.org/officeDocument/2006/relationships" id="274" r:id="Rb1ac501d1fee4865"/>
    <p:sldId xmlns:r="http://schemas.openxmlformats.org/officeDocument/2006/relationships" id="275" r:id="Re532ce4d96964df5"/>
    <p:sldId xmlns:r="http://schemas.openxmlformats.org/officeDocument/2006/relationships" id="276" r:id="R50102e1dbfc64761"/>
    <p:sldId xmlns:r="http://schemas.openxmlformats.org/officeDocument/2006/relationships" id="277" r:id="R1de9f696b4174ccc"/>
    <p:sldId xmlns:r="http://schemas.openxmlformats.org/officeDocument/2006/relationships" id="278" r:id="R5845c2eb60fa4b11"/>
    <p:sldId xmlns:r="http://schemas.openxmlformats.org/officeDocument/2006/relationships" id="279" r:id="R3b2e7ea70b7b40d3"/>
    <p:sldId xmlns:r="http://schemas.openxmlformats.org/officeDocument/2006/relationships" id="280" r:id="Rbaf4e7d918d14e28"/>
    <p:sldId xmlns:r="http://schemas.openxmlformats.org/officeDocument/2006/relationships" id="281" r:id="Rdc8a50f426d74dd4"/>
    <p:sldId xmlns:r="http://schemas.openxmlformats.org/officeDocument/2006/relationships" id="282" r:id="R3e932b9763a1424f"/>
    <p:sldId xmlns:r="http://schemas.openxmlformats.org/officeDocument/2006/relationships" id="283" r:id="R5cd91986a86a4539"/>
    <p:sldId xmlns:r="http://schemas.openxmlformats.org/officeDocument/2006/relationships" id="284" r:id="Rc91cd4dfb1e44076"/>
    <p:sldId xmlns:r="http://schemas.openxmlformats.org/officeDocument/2006/relationships" id="285" r:id="R725238bbbf0c4b4a"/>
    <p:sldId xmlns:r="http://schemas.openxmlformats.org/officeDocument/2006/relationships" id="286" r:id="R9f88d3922a2448c2"/>
    <p:sldId xmlns:r="http://schemas.openxmlformats.org/officeDocument/2006/relationships" id="287" r:id="R7360e4201134406d"/>
    <p:sldId xmlns:r="http://schemas.openxmlformats.org/officeDocument/2006/relationships" id="288" r:id="Re19c440e285e4dd9"/>
    <p:sldId xmlns:r="http://schemas.openxmlformats.org/officeDocument/2006/relationships" id="289" r:id="R9e267c58230b436f"/>
    <p:sldId xmlns:r="http://schemas.openxmlformats.org/officeDocument/2006/relationships" id="290" r:id="R80b5d06bbca54435"/>
    <p:sldId xmlns:r="http://schemas.openxmlformats.org/officeDocument/2006/relationships" id="291" r:id="R4d0369edfd4d4e6e"/>
    <p:sldId xmlns:r="http://schemas.openxmlformats.org/officeDocument/2006/relationships" id="292" r:id="Rdea2f1000a6b40cf"/>
    <p:sldId xmlns:r="http://schemas.openxmlformats.org/officeDocument/2006/relationships" id="293" r:id="R1162adf88de5459c"/>
    <p:sldId xmlns:r="http://schemas.openxmlformats.org/officeDocument/2006/relationships" id="294" r:id="R44ee233acb114d23"/>
    <p:sldId xmlns:r="http://schemas.openxmlformats.org/officeDocument/2006/relationships" id="295" r:id="Rc31bc332a0e84373"/>
    <p:sldId xmlns:r="http://schemas.openxmlformats.org/officeDocument/2006/relationships" id="296" r:id="R1892acb8539f4d82"/>
    <p:sldId xmlns:r="http://schemas.openxmlformats.org/officeDocument/2006/relationships" id="297" r:id="R34ed2f86bc3345a0"/>
    <p:sldId xmlns:r="http://schemas.openxmlformats.org/officeDocument/2006/relationships" id="298" r:id="Rdbf5dd4668894e28"/>
    <p:sldId xmlns:r="http://schemas.openxmlformats.org/officeDocument/2006/relationships" id="299" r:id="R12341b3be5f44e0e"/>
    <p:sldId xmlns:r="http://schemas.openxmlformats.org/officeDocument/2006/relationships" id="300" r:id="R35f0aa6a414a435e"/>
    <p:sldId xmlns:r="http://schemas.openxmlformats.org/officeDocument/2006/relationships" id="301" r:id="Rde5a5612efd24857"/>
    <p:sldId xmlns:r="http://schemas.openxmlformats.org/officeDocument/2006/relationships" id="302" r:id="Rbac10ed6376f4454"/>
    <p:sldId xmlns:r="http://schemas.openxmlformats.org/officeDocument/2006/relationships" id="303" r:id="R6e5952bcaf29456b"/>
    <p:sldId xmlns:r="http://schemas.openxmlformats.org/officeDocument/2006/relationships" id="304" r:id="R21acbcc125cd462b"/>
    <p:sldId xmlns:r="http://schemas.openxmlformats.org/officeDocument/2006/relationships" id="305" r:id="R7df4d2e12fb144a2"/>
    <p:sldId xmlns:r="http://schemas.openxmlformats.org/officeDocument/2006/relationships" id="306" r:id="R7e04579052bc4ef2"/>
    <p:sldId xmlns:r="http://schemas.openxmlformats.org/officeDocument/2006/relationships" id="307" r:id="R5134676539634f26"/>
    <p:sldId xmlns:r="http://schemas.openxmlformats.org/officeDocument/2006/relationships" id="308" r:id="Rd1a86ca5b33749d4"/>
    <p:sldId xmlns:r="http://schemas.openxmlformats.org/officeDocument/2006/relationships" id="309" r:id="R687e69b542234da9"/>
    <p:sldId xmlns:r="http://schemas.openxmlformats.org/officeDocument/2006/relationships" id="310" r:id="R2fe486008465419b"/>
    <p:sldId xmlns:r="http://schemas.openxmlformats.org/officeDocument/2006/relationships" id="311" r:id="Rf9b2e14e8ba24042"/>
    <p:sldId xmlns:r="http://schemas.openxmlformats.org/officeDocument/2006/relationships" id="312" r:id="Rb4ced032614847c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d4cbe0a95bd48f0" /><Relationship Type="http://schemas.openxmlformats.org/officeDocument/2006/relationships/slideMaster" Target="/ppt/slideMasters/slideMaster1.xml" Id="R27757ef82c794399" /><Relationship Type="http://schemas.openxmlformats.org/officeDocument/2006/relationships/notesMaster" Target="/ppt/notesMasters/notesMaster1.xml" Id="Rb5ae4ab8ccc943a5" /><Relationship Type="http://schemas.openxmlformats.org/officeDocument/2006/relationships/presProps" Target="/ppt/presProps.xml" Id="Rf1a73d28d6854995" /><Relationship Type="http://schemas.openxmlformats.org/officeDocument/2006/relationships/viewProps" Target="/ppt/viewProps.xml" Id="R97bc86ba68694b84" /><Relationship Type="http://schemas.openxmlformats.org/officeDocument/2006/relationships/tableStyles" Target="/ppt/tableStyles.xml" Id="R0072808fe0c641a1" /><Relationship Type="http://schemas.openxmlformats.org/officeDocument/2006/relationships/slide" Target="/ppt/slides/slide1.xml" Id="R2104fa8a7a8f4c80" /><Relationship Type="http://schemas.openxmlformats.org/officeDocument/2006/relationships/slide" Target="/ppt/slides/slide2.xml" Id="R2a912d47d199496b" /><Relationship Type="http://schemas.openxmlformats.org/officeDocument/2006/relationships/slide" Target="/ppt/slides/slide3.xml" Id="Re46873afe6a141f0" /><Relationship Type="http://schemas.openxmlformats.org/officeDocument/2006/relationships/slide" Target="/ppt/slides/slide4.xml" Id="Rcc2a0367044d4552" /><Relationship Type="http://schemas.openxmlformats.org/officeDocument/2006/relationships/slide" Target="/ppt/slides/slide5.xml" Id="Rb8d73ab25fb04101" /><Relationship Type="http://schemas.openxmlformats.org/officeDocument/2006/relationships/slide" Target="/ppt/slides/slide6.xml" Id="R8ab67c406a8444f2" /><Relationship Type="http://schemas.openxmlformats.org/officeDocument/2006/relationships/slide" Target="/ppt/slides/slide7.xml" Id="Rc434151744ac4e11" /><Relationship Type="http://schemas.openxmlformats.org/officeDocument/2006/relationships/slide" Target="/ppt/slides/slide8.xml" Id="R80a6a93682fe4c4c" /><Relationship Type="http://schemas.openxmlformats.org/officeDocument/2006/relationships/slide" Target="/ppt/slides/slide9.xml" Id="R3ddd48b8150d4c8c" /><Relationship Type="http://schemas.openxmlformats.org/officeDocument/2006/relationships/slide" Target="/ppt/slides/slide10.xml" Id="R147852b5b7d24dc4" /><Relationship Type="http://schemas.openxmlformats.org/officeDocument/2006/relationships/slide" Target="/ppt/slides/slide11.xml" Id="R107fda90d59641db" /><Relationship Type="http://schemas.openxmlformats.org/officeDocument/2006/relationships/slide" Target="/ppt/slides/slide12.xml" Id="Rf69ef075d8724655" /><Relationship Type="http://schemas.openxmlformats.org/officeDocument/2006/relationships/slide" Target="/ppt/slides/slide13.xml" Id="R8c1166aeb945436d" /><Relationship Type="http://schemas.openxmlformats.org/officeDocument/2006/relationships/slide" Target="/ppt/slides/slide14.xml" Id="Rf496997a8eb74065" /><Relationship Type="http://schemas.openxmlformats.org/officeDocument/2006/relationships/slide" Target="/ppt/slides/slide15.xml" Id="R7de3b4eb709b4fb4" /><Relationship Type="http://schemas.openxmlformats.org/officeDocument/2006/relationships/slide" Target="/ppt/slides/slide16.xml" Id="R80392f0592ae4dc8" /><Relationship Type="http://schemas.openxmlformats.org/officeDocument/2006/relationships/slide" Target="/ppt/slides/slide17.xml" Id="Rbb12dff93f0f465a" /><Relationship Type="http://schemas.openxmlformats.org/officeDocument/2006/relationships/slide" Target="/ppt/slides/slide18.xml" Id="R66b88f31ad92426a" /><Relationship Type="http://schemas.openxmlformats.org/officeDocument/2006/relationships/slide" Target="/ppt/slides/slide19.xml" Id="Rb1ac501d1fee4865" /><Relationship Type="http://schemas.openxmlformats.org/officeDocument/2006/relationships/slide" Target="/ppt/slides/slide20.xml" Id="Re532ce4d96964df5" /><Relationship Type="http://schemas.openxmlformats.org/officeDocument/2006/relationships/slide" Target="/ppt/slides/slide21.xml" Id="R50102e1dbfc64761" /><Relationship Type="http://schemas.openxmlformats.org/officeDocument/2006/relationships/slide" Target="/ppt/slides/slide22.xml" Id="R1de9f696b4174ccc" /><Relationship Type="http://schemas.openxmlformats.org/officeDocument/2006/relationships/slide" Target="/ppt/slides/slide23.xml" Id="R5845c2eb60fa4b11" /><Relationship Type="http://schemas.openxmlformats.org/officeDocument/2006/relationships/slide" Target="/ppt/slides/slide24.xml" Id="R3b2e7ea70b7b40d3" /><Relationship Type="http://schemas.openxmlformats.org/officeDocument/2006/relationships/slide" Target="/ppt/slides/slide25.xml" Id="Rbaf4e7d918d14e28" /><Relationship Type="http://schemas.openxmlformats.org/officeDocument/2006/relationships/slide" Target="/ppt/slides/slide26.xml" Id="Rdc8a50f426d74dd4" /><Relationship Type="http://schemas.openxmlformats.org/officeDocument/2006/relationships/slide" Target="/ppt/slides/slide27.xml" Id="R3e932b9763a1424f" /><Relationship Type="http://schemas.openxmlformats.org/officeDocument/2006/relationships/slide" Target="/ppt/slides/slide28.xml" Id="R5cd91986a86a4539" /><Relationship Type="http://schemas.openxmlformats.org/officeDocument/2006/relationships/slide" Target="/ppt/slides/slide29.xml" Id="Rc91cd4dfb1e44076" /><Relationship Type="http://schemas.openxmlformats.org/officeDocument/2006/relationships/slide" Target="/ppt/slides/slide30.xml" Id="R725238bbbf0c4b4a" /><Relationship Type="http://schemas.openxmlformats.org/officeDocument/2006/relationships/slide" Target="/ppt/slides/slide31.xml" Id="R9f88d3922a2448c2" /><Relationship Type="http://schemas.openxmlformats.org/officeDocument/2006/relationships/slide" Target="/ppt/slides/slide32.xml" Id="R7360e4201134406d" /><Relationship Type="http://schemas.openxmlformats.org/officeDocument/2006/relationships/slide" Target="/ppt/slides/slide33.xml" Id="Re19c440e285e4dd9" /><Relationship Type="http://schemas.openxmlformats.org/officeDocument/2006/relationships/slide" Target="/ppt/slides/slide34.xml" Id="R9e267c58230b436f" /><Relationship Type="http://schemas.openxmlformats.org/officeDocument/2006/relationships/slide" Target="/ppt/slides/slide35.xml" Id="R80b5d06bbca54435" /><Relationship Type="http://schemas.openxmlformats.org/officeDocument/2006/relationships/slide" Target="/ppt/slides/slide36.xml" Id="R4d0369edfd4d4e6e" /><Relationship Type="http://schemas.openxmlformats.org/officeDocument/2006/relationships/slide" Target="/ppt/slides/slide37.xml" Id="Rdea2f1000a6b40cf" /><Relationship Type="http://schemas.openxmlformats.org/officeDocument/2006/relationships/slide" Target="/ppt/slides/slide38.xml" Id="R1162adf88de5459c" /><Relationship Type="http://schemas.openxmlformats.org/officeDocument/2006/relationships/slide" Target="/ppt/slides/slide39.xml" Id="R44ee233acb114d23" /><Relationship Type="http://schemas.openxmlformats.org/officeDocument/2006/relationships/slide" Target="/ppt/slides/slide40.xml" Id="Rc31bc332a0e84373" /><Relationship Type="http://schemas.openxmlformats.org/officeDocument/2006/relationships/slide" Target="/ppt/slides/slide41.xml" Id="R1892acb8539f4d82" /><Relationship Type="http://schemas.openxmlformats.org/officeDocument/2006/relationships/slide" Target="/ppt/slides/slide42.xml" Id="R34ed2f86bc3345a0" /><Relationship Type="http://schemas.openxmlformats.org/officeDocument/2006/relationships/slide" Target="/ppt/slides/slide43.xml" Id="Rdbf5dd4668894e28" /><Relationship Type="http://schemas.openxmlformats.org/officeDocument/2006/relationships/slide" Target="/ppt/slides/slide44.xml" Id="R12341b3be5f44e0e" /><Relationship Type="http://schemas.openxmlformats.org/officeDocument/2006/relationships/slide" Target="/ppt/slides/slide45.xml" Id="R35f0aa6a414a435e" /><Relationship Type="http://schemas.openxmlformats.org/officeDocument/2006/relationships/slide" Target="/ppt/slides/slide46.xml" Id="Rde5a5612efd24857" /><Relationship Type="http://schemas.openxmlformats.org/officeDocument/2006/relationships/slide" Target="/ppt/slides/slide47.xml" Id="Rbac10ed6376f4454" /><Relationship Type="http://schemas.openxmlformats.org/officeDocument/2006/relationships/slide" Target="/ppt/slides/slide48.xml" Id="R6e5952bcaf29456b" /><Relationship Type="http://schemas.openxmlformats.org/officeDocument/2006/relationships/slide" Target="/ppt/slides/slide49.xml" Id="R21acbcc125cd462b" /><Relationship Type="http://schemas.openxmlformats.org/officeDocument/2006/relationships/slide" Target="/ppt/slides/slide50.xml" Id="R7df4d2e12fb144a2" /><Relationship Type="http://schemas.openxmlformats.org/officeDocument/2006/relationships/slide" Target="/ppt/slides/slide51.xml" Id="R7e04579052bc4ef2" /><Relationship Type="http://schemas.openxmlformats.org/officeDocument/2006/relationships/slide" Target="/ppt/slides/slide52.xml" Id="R5134676539634f26" /><Relationship Type="http://schemas.openxmlformats.org/officeDocument/2006/relationships/slide" Target="/ppt/slides/slide53.xml" Id="Rd1a86ca5b33749d4" /><Relationship Type="http://schemas.openxmlformats.org/officeDocument/2006/relationships/slide" Target="/ppt/slides/slide54.xml" Id="R687e69b542234da9" /><Relationship Type="http://schemas.openxmlformats.org/officeDocument/2006/relationships/slide" Target="/ppt/slides/slide55.xml" Id="R2fe486008465419b" /><Relationship Type="http://schemas.openxmlformats.org/officeDocument/2006/relationships/slide" Target="/ppt/slides/slide56.xml" Id="Rf9b2e14e8ba24042" /><Relationship Type="http://schemas.openxmlformats.org/officeDocument/2006/relationships/slide" Target="/ppt/slides/slide57.xml" Id="Rb4ced032614847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521c80fc0f4d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906406664b64be9" /><Relationship Type="http://schemas.openxmlformats.org/officeDocument/2006/relationships/notesMaster" Target="/ppt/notesMasters/notesMaster1.xml" Id="R6a36b2dbc67044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a3bdc995354600" /><Relationship Type="http://schemas.openxmlformats.org/officeDocument/2006/relationships/notesMaster" Target="/ppt/notesMasters/notesMaster1.xml" Id="Ra4288ff113724d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cd74d4a19f41e4" /><Relationship Type="http://schemas.openxmlformats.org/officeDocument/2006/relationships/notesMaster" Target="/ppt/notesMasters/notesMaster1.xml" Id="R8e861a9538ff4e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56cf30373a4873" /><Relationship Type="http://schemas.openxmlformats.org/officeDocument/2006/relationships/notesMaster" Target="/ppt/notesMasters/notesMaster1.xml" Id="R0274b2e50e55407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6697e1071d04e1a" /><Relationship Type="http://schemas.openxmlformats.org/officeDocument/2006/relationships/notesMaster" Target="/ppt/notesMasters/notesMaster1.xml" Id="R8fff1a062b5e4e7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5ff7392d274056" /><Relationship Type="http://schemas.openxmlformats.org/officeDocument/2006/relationships/notesMaster" Target="/ppt/notesMasters/notesMaster1.xml" Id="R44bea4ff30a741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7618ee391894a82" /><Relationship Type="http://schemas.openxmlformats.org/officeDocument/2006/relationships/notesMaster" Target="/ppt/notesMasters/notesMaster1.xml" Id="R61c16ceffc50474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1f1ec002154efc" /><Relationship Type="http://schemas.openxmlformats.org/officeDocument/2006/relationships/notesMaster" Target="/ppt/notesMasters/notesMaster1.xml" Id="R87089229c48c463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f1010e9167e4e1b" /><Relationship Type="http://schemas.openxmlformats.org/officeDocument/2006/relationships/notesMaster" Target="/ppt/notesMasters/notesMaster1.xml" Id="R0550f0fc81c8462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f9501a78464a2f" /><Relationship Type="http://schemas.openxmlformats.org/officeDocument/2006/relationships/notesMaster" Target="/ppt/notesMasters/notesMaster1.xml" Id="R7cd35182808446e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800305f433a43ba" /><Relationship Type="http://schemas.openxmlformats.org/officeDocument/2006/relationships/notesMaster" Target="/ppt/notesMasters/notesMaster1.xml" Id="R2682b310772a43a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e026d8c027a475e" /><Relationship Type="http://schemas.openxmlformats.org/officeDocument/2006/relationships/notesMaster" Target="/ppt/notesMasters/notesMaster1.xml" Id="R565a3dde723e49f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f5008b44ea34cc6" /><Relationship Type="http://schemas.openxmlformats.org/officeDocument/2006/relationships/notesMaster" Target="/ppt/notesMasters/notesMaster1.xml" Id="R5157bca9b073476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c64c5c7aab5429e" /><Relationship Type="http://schemas.openxmlformats.org/officeDocument/2006/relationships/notesMaster" Target="/ppt/notesMasters/notesMaster1.xml" Id="R2cf6fb61c78d448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ee77fb2742f48ec" /><Relationship Type="http://schemas.openxmlformats.org/officeDocument/2006/relationships/notesMaster" Target="/ppt/notesMasters/notesMaster1.xml" Id="R6cbd737cbf014de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01e80cdd72a48cf" /><Relationship Type="http://schemas.openxmlformats.org/officeDocument/2006/relationships/notesMaster" Target="/ppt/notesMasters/notesMaster1.xml" Id="R4aee502565d7459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057710b98e148bc" /><Relationship Type="http://schemas.openxmlformats.org/officeDocument/2006/relationships/notesMaster" Target="/ppt/notesMasters/notesMaster1.xml" Id="Rd82cfac964b4423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f4bdc581c4c4f2c" /><Relationship Type="http://schemas.openxmlformats.org/officeDocument/2006/relationships/notesMaster" Target="/ppt/notesMasters/notesMaster1.xml" Id="R0da915f798c44f2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80705d2fa394d43" /><Relationship Type="http://schemas.openxmlformats.org/officeDocument/2006/relationships/notesMaster" Target="/ppt/notesMasters/notesMaster1.xml" Id="R09a9990cedcd45b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1261b164eac4ab4" /><Relationship Type="http://schemas.openxmlformats.org/officeDocument/2006/relationships/notesMaster" Target="/ppt/notesMasters/notesMaster1.xml" Id="R3a8e371f848d40a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5088e49bbc640d2" /><Relationship Type="http://schemas.openxmlformats.org/officeDocument/2006/relationships/notesMaster" Target="/ppt/notesMasters/notesMaster1.xml" Id="R12989ce9826c4a7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aa479caa3494a12" /><Relationship Type="http://schemas.openxmlformats.org/officeDocument/2006/relationships/notesMaster" Target="/ppt/notesMasters/notesMaster1.xml" Id="Racda605b88f14c5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0293a8676eb4bae" /><Relationship Type="http://schemas.openxmlformats.org/officeDocument/2006/relationships/notesMaster" Target="/ppt/notesMasters/notesMaster1.xml" Id="R18a4b639c0c348b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89eec8359f04d3a" /><Relationship Type="http://schemas.openxmlformats.org/officeDocument/2006/relationships/notesMaster" Target="/ppt/notesMasters/notesMaster1.xml" Id="Rb0b037839cd5403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9ffaad5f1a84e5a" /><Relationship Type="http://schemas.openxmlformats.org/officeDocument/2006/relationships/notesMaster" Target="/ppt/notesMasters/notesMaster1.xml" Id="R50bf694e7125438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d1704a188104b54" /><Relationship Type="http://schemas.openxmlformats.org/officeDocument/2006/relationships/notesMaster" Target="/ppt/notesMasters/notesMaster1.xml" Id="R1da2f490106b414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7da751fb4884b07" /><Relationship Type="http://schemas.openxmlformats.org/officeDocument/2006/relationships/notesMaster" Target="/ppt/notesMasters/notesMaster1.xml" Id="Rbe9f97530714420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cd4bd3d2b7a4341" /><Relationship Type="http://schemas.openxmlformats.org/officeDocument/2006/relationships/notesMaster" Target="/ppt/notesMasters/notesMaster1.xml" Id="R9a847b35cdee458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8df784fe2474587" /><Relationship Type="http://schemas.openxmlformats.org/officeDocument/2006/relationships/notesMaster" Target="/ppt/notesMasters/notesMaster1.xml" Id="R17647a8d80b240f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a83edb946bf4c60" /><Relationship Type="http://schemas.openxmlformats.org/officeDocument/2006/relationships/notesMaster" Target="/ppt/notesMasters/notesMaster1.xml" Id="Rd6c2906ad61b42e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d27094b61ef46eb" /><Relationship Type="http://schemas.openxmlformats.org/officeDocument/2006/relationships/notesMaster" Target="/ppt/notesMasters/notesMaster1.xml" Id="R86b9a74770ff4fa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9be2667aa8e45a6" /><Relationship Type="http://schemas.openxmlformats.org/officeDocument/2006/relationships/notesMaster" Target="/ppt/notesMasters/notesMaster1.xml" Id="R2b730a1a68f1424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50cc19310094ce5" /><Relationship Type="http://schemas.openxmlformats.org/officeDocument/2006/relationships/notesMaster" Target="/ppt/notesMasters/notesMaster1.xml" Id="R8ba3d0802ff04a0f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85e87a6141d45cb" /><Relationship Type="http://schemas.openxmlformats.org/officeDocument/2006/relationships/notesMaster" Target="/ppt/notesMasters/notesMaster1.xml" Id="Rc134dda1d2c4413e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922e1e9cc8674120" /><Relationship Type="http://schemas.openxmlformats.org/officeDocument/2006/relationships/notesMaster" Target="/ppt/notesMasters/notesMaster1.xml" Id="R5ca1c091395d49c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b633551607346b4" /><Relationship Type="http://schemas.openxmlformats.org/officeDocument/2006/relationships/notesMaster" Target="/ppt/notesMasters/notesMaster1.xml" Id="R32fa2580a01a4b8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b458094e7124eec" /><Relationship Type="http://schemas.openxmlformats.org/officeDocument/2006/relationships/notesMaster" Target="/ppt/notesMasters/notesMaster1.xml" Id="R5af3ead5eb1d4f2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69f8c3d63e948cc" /><Relationship Type="http://schemas.openxmlformats.org/officeDocument/2006/relationships/notesMaster" Target="/ppt/notesMasters/notesMaster1.xml" Id="R2e02769d5bb4460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33d784ad5da41cd" /><Relationship Type="http://schemas.openxmlformats.org/officeDocument/2006/relationships/notesMaster" Target="/ppt/notesMasters/notesMaster1.xml" Id="R02ba2e3af6974772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417ed6d3c2549b5" /><Relationship Type="http://schemas.openxmlformats.org/officeDocument/2006/relationships/notesMaster" Target="/ppt/notesMasters/notesMaster1.xml" Id="R2dd9752ae56e423f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c6c6395eaaa94f41" /><Relationship Type="http://schemas.openxmlformats.org/officeDocument/2006/relationships/notesMaster" Target="/ppt/notesMasters/notesMaster1.xml" Id="Rc0aa94e53e234828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9f0611d967b54d18" /><Relationship Type="http://schemas.openxmlformats.org/officeDocument/2006/relationships/notesMaster" Target="/ppt/notesMasters/notesMaster1.xml" Id="R95d9e9b3b0ea452f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0b1750682fe14680" /><Relationship Type="http://schemas.openxmlformats.org/officeDocument/2006/relationships/notesMaster" Target="/ppt/notesMasters/notesMaster1.xml" Id="R6f2763b0c8dd4b8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4bee020723644a13" /><Relationship Type="http://schemas.openxmlformats.org/officeDocument/2006/relationships/notesMaster" Target="/ppt/notesMasters/notesMaster1.xml" Id="R5337194bbe9a4567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3b970dce323846a3" /><Relationship Type="http://schemas.openxmlformats.org/officeDocument/2006/relationships/notesMaster" Target="/ppt/notesMasters/notesMaster1.xml" Id="R2edd0e58aa184dde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2a694c0102354f67" /><Relationship Type="http://schemas.openxmlformats.org/officeDocument/2006/relationships/notesMaster" Target="/ppt/notesMasters/notesMaster1.xml" Id="Rf370922190a745e5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db2e029a0d0d48b1" /><Relationship Type="http://schemas.openxmlformats.org/officeDocument/2006/relationships/notesMaster" Target="/ppt/notesMasters/notesMaster1.xml" Id="R9ac4595be34e42a5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b28e51b758c346ca" /><Relationship Type="http://schemas.openxmlformats.org/officeDocument/2006/relationships/notesMaster" Target="/ppt/notesMasters/notesMaster1.xml" Id="R4a8215acfbbe4b92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ea416044606e4ce1" /><Relationship Type="http://schemas.openxmlformats.org/officeDocument/2006/relationships/notesMaster" Target="/ppt/notesMasters/notesMaster1.xml" Id="R473f064ec43b4ac4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5d8075f125944c40" /><Relationship Type="http://schemas.openxmlformats.org/officeDocument/2006/relationships/notesMaster" Target="/ppt/notesMasters/notesMaster1.xml" Id="R13ff00a3405c4873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f731ac32490442ca" /><Relationship Type="http://schemas.openxmlformats.org/officeDocument/2006/relationships/notesMaster" Target="/ppt/notesMasters/notesMaster1.xml" Id="R50d7351ea4a94e1b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c67cfcd8c05b483c" /><Relationship Type="http://schemas.openxmlformats.org/officeDocument/2006/relationships/notesMaster" Target="/ppt/notesMasters/notesMaster1.xml" Id="Rb1cc9c85196b48a4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c8c4a379e9034d5a" /><Relationship Type="http://schemas.openxmlformats.org/officeDocument/2006/relationships/notesMaster" Target="/ppt/notesMasters/notesMaster1.xml" Id="Re22352b6bf5048dd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607d00c1012a4db8" /><Relationship Type="http://schemas.openxmlformats.org/officeDocument/2006/relationships/notesMaster" Target="/ppt/notesMasters/notesMaster1.xml" Id="R86c4f9e3b547474e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f5158ae7c8394744" /><Relationship Type="http://schemas.openxmlformats.org/officeDocument/2006/relationships/notesMaster" Target="/ppt/notesMasters/notesMaster1.xml" Id="R4316683d31054f72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2180bf71d86041ca" /><Relationship Type="http://schemas.openxmlformats.org/officeDocument/2006/relationships/notesMaster" Target="/ppt/notesMasters/notesMaster1.xml" Id="R8506872250a24b86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436652646c62491b" /><Relationship Type="http://schemas.openxmlformats.org/officeDocument/2006/relationships/notesMaster" Target="/ppt/notesMasters/notesMaster1.xml" Id="R3988ad53afdd4b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  <a:p xmlns:a="http://schemas.openxmlformats.org/drawingml/2006/main">
            <a:r>
              <a:t>
[课堂运行示例 / Classroom Demo]
课堂运行：课堂示例代码/第3章/OperatorDemo.java
修改 a、b，观察 / 与 %；再把 b 改成 0，讨论除零保护。
[Sources]
Source concepts: user-provided chapter deck. Demo code: original instructional material.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  <a:p xmlns:a="http://schemas.openxmlformats.org/drawingml/2006/main">
            <a:r>
              <a:t>
[课堂运行示例 / Classroom Demo]
课堂运行：课堂示例代码/第3章/ShortCircuitDemo.java
先预测 y 是否变化，再运行验证 || 和 &amp;&amp; 的短路效果。
[Sources]
Source concepts: user-provided chapter deck. Demo code: original instructional material.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  <a:p xmlns:a="http://schemas.openxmlformats.org/drawingml/2006/main">
            <a:r>
              <a:t>
[课堂运行示例 / Classroom Demo]
课堂运行：课堂示例代码/第3章/BranchDemo.java
依次输入 95、82、68、55 和 105，观察多分支与合法性检查。
[Sources]
Source concepts: user-provided chapter deck. Demo code: original instructional material.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  <a:p xmlns:a="http://schemas.openxmlformats.org/drawingml/2006/main">
            <a:r>
              <a:t>
[课堂运行示例 / Classroom Demo]
课堂运行：课堂示例代码/第3章/LoopSeriesDemo.java
逐轮观察 item 与 sum，说明下一项如何由上一项生成。
[Sources]
Source concepts: user-provided chapter deck. Demo code: original instructional material.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  <a:p xmlns:a="http://schemas.openxmlformats.org/drawingml/2006/main">
            <a:r>
              <a:t>
[课堂运行示例 / Classroom Demo]
课堂运行：课堂示例代码/第3章/ScannerAverageDemo.java
输入 98 129.77 865.88 end，观察计数、累加和平均值。
[Sources]
Source concepts: user-provided chapter deck. Demo code: original instructional material.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[编程题参考答案 / Reference Solution]</a:t>
            </a:r>
          </a:p>
          <a:p xmlns:a="http://schemas.openxmlformats.org/drawingml/2006/main">
            <a:r>
              <a:t>import java.util.Scanner;</a:t>
            </a:r>
          </a:p>
          <a:p xmlns:a="http://schemas.openxmlformats.org/drawingml/2006/main">
            <a:r>
              <a:t>public class ArithmeticCalculatorPracticeAnswer {</a:t>
            </a:r>
          </a:p>
          <a:p xmlns:a="http://schemas.openxmlformats.org/drawingml/2006/main">
            <a:r>
              <a:t>    public static void main(String[] args) {</a:t>
            </a:r>
          </a:p>
          <a:p xmlns:a="http://schemas.openxmlformats.org/drawingml/2006/main">
            <a:r>
              <a:t>        Scanner in = new Scanner(System.in);</a:t>
            </a:r>
          </a:p>
          <a:p xmlns:a="http://schemas.openxmlformats.org/drawingml/2006/main">
            <a:r>
              <a:t>        int a = in.nextInt();</a:t>
            </a:r>
          </a:p>
          <a:p xmlns:a="http://schemas.openxmlformats.org/drawingml/2006/main">
            <a:r>
              <a:t>        int b = in.nextInt();</a:t>
            </a:r>
          </a:p>
          <a:p xmlns:a="http://schemas.openxmlformats.org/drawingml/2006/main">
            <a:r>
              <a:t>        System.out.println(a + b);</a:t>
            </a:r>
          </a:p>
          <a:p xmlns:a="http://schemas.openxmlformats.org/drawingml/2006/main">
            <a:r>
              <a:t>        System.out.println(a - b);</a:t>
            </a:r>
          </a:p>
          <a:p xmlns:a="http://schemas.openxmlformats.org/drawingml/2006/main">
            <a:r>
              <a:t>        System.out.println(a * b);</a:t>
            </a:r>
          </a:p>
          <a:p xmlns:a="http://schemas.openxmlformats.org/drawingml/2006/main">
            <a:r>
              <a:t>        if (b != 0) {</a:t>
            </a:r>
          </a:p>
          <a:p xmlns:a="http://schemas.openxmlformats.org/drawingml/2006/main">
            <a:r>
              <a:t>            System.out.println(a / b);</a:t>
            </a:r>
          </a:p>
          <a:p xmlns:a="http://schemas.openxmlformats.org/drawingml/2006/main">
            <a:r>
              <a:t>            System.out.println(a % b);</a:t>
            </a:r>
          </a:p>
          <a:p xmlns:a="http://schemas.openxmlformats.org/drawingml/2006/main">
            <a:r>
              <a:t>        } else {</a:t>
            </a:r>
          </a:p>
          <a:p xmlns:a="http://schemas.openxmlformats.org/drawingml/2006/main">
            <a:r>
              <a:t>            System.out.println("除数不能为 0");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  in.close();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Original instructional exercise and 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[编程题参考答案 / Reference Solution]</a:t>
            </a:r>
          </a:p>
          <a:p xmlns:a="http://schemas.openxmlformats.org/drawingml/2006/main">
            <a:r>
              <a:t>import java.util.Scanner;</a:t>
            </a:r>
          </a:p>
          <a:p xmlns:a="http://schemas.openxmlformats.org/drawingml/2006/main">
            <a:r>
              <a:t>public class GradeClassifierPracticeAnswer {</a:t>
            </a:r>
          </a:p>
          <a:p xmlns:a="http://schemas.openxmlformats.org/drawingml/2006/main">
            <a:r>
              <a:t>    public static void main(String[] args) {</a:t>
            </a:r>
          </a:p>
          <a:p xmlns:a="http://schemas.openxmlformats.org/drawingml/2006/main">
            <a:r>
              <a:t>        Scanner in = new Scanner(System.in);</a:t>
            </a:r>
          </a:p>
          <a:p xmlns:a="http://schemas.openxmlformats.org/drawingml/2006/main">
            <a:r>
              <a:t>        int score = in.nextInt();</a:t>
            </a:r>
          </a:p>
          <a:p xmlns:a="http://schemas.openxmlformats.org/drawingml/2006/main">
            <a:r>
              <a:t>        if (score &lt; 0 || score &gt; 100) System.out.println("输入无效");</a:t>
            </a:r>
          </a:p>
          <a:p xmlns:a="http://schemas.openxmlformats.org/drawingml/2006/main">
            <a:r>
              <a:t>        else if (score &gt;= 90) System.out.println("A");</a:t>
            </a:r>
          </a:p>
          <a:p xmlns:a="http://schemas.openxmlformats.org/drawingml/2006/main">
            <a:r>
              <a:t>        else if (score &gt;= 80) System.out.println("B");</a:t>
            </a:r>
          </a:p>
          <a:p xmlns:a="http://schemas.openxmlformats.org/drawingml/2006/main">
            <a:r>
              <a:t>        else if (score &gt;= 70) System.out.println("C");</a:t>
            </a:r>
          </a:p>
          <a:p xmlns:a="http://schemas.openxmlformats.org/drawingml/2006/main">
            <a:r>
              <a:t>        else if (score &gt;= 60) System.out.println("D");</a:t>
            </a:r>
          </a:p>
          <a:p xmlns:a="http://schemas.openxmlformats.org/drawingml/2006/main">
            <a:r>
              <a:t>        else System.out.println("F");</a:t>
            </a:r>
          </a:p>
          <a:p xmlns:a="http://schemas.openxmlformats.org/drawingml/2006/main">
            <a:r>
              <a:t>        in.close();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Original instructional exercise and 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[编程题参考答案 / Reference Solution]</a:t>
            </a:r>
          </a:p>
          <a:p xmlns:a="http://schemas.openxmlformats.org/drawingml/2006/main">
            <a:r>
              <a:t>import java.util.Scanner;</a:t>
            </a:r>
          </a:p>
          <a:p xmlns:a="http://schemas.openxmlformats.org/drawingml/2006/main">
            <a:r>
              <a:t>public class LoopMathPracticeAnswer {</a:t>
            </a:r>
          </a:p>
          <a:p xmlns:a="http://schemas.openxmlformats.org/drawingml/2006/main">
            <a:r>
              <a:t>    public static void main(String[] args) {</a:t>
            </a:r>
          </a:p>
          <a:p xmlns:a="http://schemas.openxmlformats.org/drawingml/2006/main">
            <a:r>
              <a:t>        Scanner in = new Scanner(System.in);</a:t>
            </a:r>
          </a:p>
          <a:p xmlns:a="http://schemas.openxmlformats.org/drawingml/2006/main">
            <a:r>
              <a:t>        int n = in.nextInt();</a:t>
            </a:r>
          </a:p>
          <a:p xmlns:a="http://schemas.openxmlformats.org/drawingml/2006/main">
            <a:r>
              <a:t>        if (n &lt; 1) { System.out.println("输入无效"); return; }</a:t>
            </a:r>
          </a:p>
          <a:p xmlns:a="http://schemas.openxmlformats.org/drawingml/2006/main">
            <a:r>
              <a:t>        int sum = 0;</a:t>
            </a:r>
          </a:p>
          <a:p xmlns:a="http://schemas.openxmlformats.org/drawingml/2006/main">
            <a:r>
              <a:t>        for (int i = 1; i &lt;= n; i++) sum += i;</a:t>
            </a:r>
          </a:p>
          <a:p xmlns:a="http://schemas.openxmlformats.org/drawingml/2006/main">
            <a:r>
              <a:t>        long factorial = 1;</a:t>
            </a:r>
          </a:p>
          <a:p xmlns:a="http://schemas.openxmlformats.org/drawingml/2006/main">
            <a:r>
              <a:t>        int i = 1;</a:t>
            </a:r>
          </a:p>
          <a:p xmlns:a="http://schemas.openxmlformats.org/drawingml/2006/main">
            <a:r>
              <a:t>        while (i &lt;= n) factorial *= i++;</a:t>
            </a:r>
          </a:p>
          <a:p xmlns:a="http://schemas.openxmlformats.org/drawingml/2006/main">
            <a:r>
              <a:t>        System.out.println("和：" + sum);</a:t>
            </a:r>
          </a:p>
          <a:p xmlns:a="http://schemas.openxmlformats.org/drawingml/2006/main">
            <a:r>
              <a:t>        System.out.println("阶乘：" + factorial);</a:t>
            </a:r>
          </a:p>
          <a:p xmlns:a="http://schemas.openxmlformats.org/drawingml/2006/main">
            <a:r>
              <a:t>        in.close();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Original instructional exercise and 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[编程题参考答案 / Reference Solution]</a:t>
            </a:r>
          </a:p>
          <a:p xmlns:a="http://schemas.openxmlformats.org/drawingml/2006/main">
            <a:r>
              <a:t>import java.util.Scanner;</a:t>
            </a:r>
          </a:p>
          <a:p xmlns:a="http://schemas.openxmlformats.org/drawingml/2006/main">
            <a:r>
              <a:t>public class ScannerAveragePracticeAnswer {</a:t>
            </a:r>
          </a:p>
          <a:p xmlns:a="http://schemas.openxmlformats.org/drawingml/2006/main">
            <a:r>
              <a:t>    public static void main(String[] args) {</a:t>
            </a:r>
          </a:p>
          <a:p xmlns:a="http://schemas.openxmlformats.org/drawingml/2006/main">
            <a:r>
              <a:t>        Scanner in = new Scanner(System.in);</a:t>
            </a:r>
          </a:p>
          <a:p xmlns:a="http://schemas.openxmlformats.org/drawingml/2006/main">
            <a:r>
              <a:t>        int count = 0;</a:t>
            </a:r>
          </a:p>
          <a:p xmlns:a="http://schemas.openxmlformats.org/drawingml/2006/main">
            <a:r>
              <a:t>        double sum = 0;</a:t>
            </a:r>
          </a:p>
          <a:p xmlns:a="http://schemas.openxmlformats.org/drawingml/2006/main">
            <a:r>
              <a:t>        while (in.hasNextDouble()) { sum += in.nextDouble(); count++; }</a:t>
            </a:r>
          </a:p>
          <a:p xmlns:a="http://schemas.openxmlformats.org/drawingml/2006/main">
            <a:r>
              <a:t>        System.out.println("数量：" + count);</a:t>
            </a:r>
          </a:p>
          <a:p xmlns:a="http://schemas.openxmlformats.org/drawingml/2006/main">
            <a:r>
              <a:t>        System.out.println("总和：" + sum);</a:t>
            </a:r>
          </a:p>
          <a:p xmlns:a="http://schemas.openxmlformats.org/drawingml/2006/main">
            <a:r>
              <a:t>        if (count &gt; 0) System.out.println("平均值：" + sum / count);</a:t>
            </a:r>
          </a:p>
          <a:p xmlns:a="http://schemas.openxmlformats.org/drawingml/2006/main">
            <a:r>
              <a:t>        else System.out.println("没有输入数字");</a:t>
            </a:r>
          </a:p>
          <a:p xmlns:a="http://schemas.openxmlformats.org/drawingml/2006/main">
            <a:r>
              <a:t>        in.close();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Original instructional exercise and 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28ae45915b4cd4" /></Relationships>
</file>

<file path=ppt/slideLayouts/slideLayout1.xml><?xml version="1.0" encoding="utf-8"?>
<p:sldLayout xmlns:p="http://schemas.openxmlformats.org/presentationml/2006/main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80d77f0c654a96" /><Relationship Type="http://schemas.openxmlformats.org/officeDocument/2006/relationships/slideLayout" Target="/ppt/slideLayouts/slideLayout1.xml" Id="R9288ade536a44b5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288ade536a44b50"/>
  </p:sldLayoutIdLst>
  <p:hf sldNum="0" hdr="0" ftr="0" dt="0"/>
  <p:txStyles>
    <p:titleStyle>
      <a:lvl1pPr xmlns:a="http://schemas.openxmlformats.org/drawingml/2006/main" algn="ctr" defTabSz="914400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ed5971b2a4fe5" /><Relationship Type="http://schemas.openxmlformats.org/officeDocument/2006/relationships/notesSlide" Target="/ppt/notesSlides/notesSlide1.xml" Id="R5b80e014f41d43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00f2dce364bdb" /><Relationship Type="http://schemas.openxmlformats.org/officeDocument/2006/relationships/notesSlide" Target="/ppt/notesSlides/notesSlide2.xml" Id="R0909b4ff9e4945f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1eecfd8dc54ca4" /><Relationship Type="http://schemas.openxmlformats.org/officeDocument/2006/relationships/notesSlide" Target="/ppt/notesSlides/notesSlide3.xml" Id="R04d814db30604c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479520c3f447f8" /><Relationship Type="http://schemas.openxmlformats.org/officeDocument/2006/relationships/notesSlide" Target="/ppt/notesSlides/notesSlide4.xml" Id="Rff3e8faecbc04e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4731f72404be5" /><Relationship Type="http://schemas.openxmlformats.org/officeDocument/2006/relationships/notesSlide" Target="/ppt/notesSlides/notesSlide5.xml" Id="R55202c1f244f4e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27a88e0204449b" /><Relationship Type="http://schemas.openxmlformats.org/officeDocument/2006/relationships/notesSlide" Target="/ppt/notesSlides/notesSlide6.xml" Id="Rf67b599c74cc44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cfaec24b49430f" /><Relationship Type="http://schemas.openxmlformats.org/officeDocument/2006/relationships/notesSlide" Target="/ppt/notesSlides/notesSlide7.xml" Id="Red1f27ed929b472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c17dc29bb4317" /><Relationship Type="http://schemas.openxmlformats.org/officeDocument/2006/relationships/notesSlide" Target="/ppt/notesSlides/notesSlide8.xml" Id="Re94c40aae52549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d4f77060f24ca3" /><Relationship Type="http://schemas.openxmlformats.org/officeDocument/2006/relationships/notesSlide" Target="/ppt/notesSlides/notesSlide9.xml" Id="Rfc712150963e41f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33088a1ddf4f29" /><Relationship Type="http://schemas.openxmlformats.org/officeDocument/2006/relationships/image" Target="/ppt/media/image.png" Id="Rb76d013b8b3e4fec" /><Relationship Type="http://schemas.openxmlformats.org/officeDocument/2006/relationships/notesSlide" Target="/ppt/notesSlides/notesSlide10.xml" Id="R16716ac05c02467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8a37ab57e4473f" /><Relationship Type="http://schemas.openxmlformats.org/officeDocument/2006/relationships/notesSlide" Target="/ppt/notesSlides/notesSlide11.xml" Id="Rf4aeeb078c0b444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cdb25bf20b4a1f" /><Relationship Type="http://schemas.openxmlformats.org/officeDocument/2006/relationships/image" Target="/ppt/media/image2.png" Id="R6489f32e37de4575" /><Relationship Type="http://schemas.openxmlformats.org/officeDocument/2006/relationships/notesSlide" Target="/ppt/notesSlides/notesSlide12.xml" Id="R867e638b0e3842c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0ebdc0dd8349da" /><Relationship Type="http://schemas.openxmlformats.org/officeDocument/2006/relationships/notesSlide" Target="/ppt/notesSlides/notesSlide13.xml" Id="R3e9633cbdce6470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cd7911bb4f4d9d" /><Relationship Type="http://schemas.openxmlformats.org/officeDocument/2006/relationships/notesSlide" Target="/ppt/notesSlides/notesSlide14.xml" Id="R66a12d95ee51412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854fbc1a4049b7" /><Relationship Type="http://schemas.openxmlformats.org/officeDocument/2006/relationships/notesSlide" Target="/ppt/notesSlides/notesSlide15.xml" Id="R1d9744dcf92c424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e5bb834b1b44cd" /><Relationship Type="http://schemas.openxmlformats.org/officeDocument/2006/relationships/image" Target="/ppt/media/image3.png" Id="R1ec14ddb2deb4ec4" /><Relationship Type="http://schemas.openxmlformats.org/officeDocument/2006/relationships/notesSlide" Target="/ppt/notesSlides/notesSlide16.xml" Id="R4969a5d07a4d461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66e95f02f54ec4" /><Relationship Type="http://schemas.openxmlformats.org/officeDocument/2006/relationships/notesSlide" Target="/ppt/notesSlides/notesSlide17.xml" Id="R7172eb3925d6443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ac1a58b4554e8b" /><Relationship Type="http://schemas.openxmlformats.org/officeDocument/2006/relationships/notesSlide" Target="/ppt/notesSlides/notesSlide18.xml" Id="Rce6ab8cb0bb4422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e61f9c15204673" /><Relationship Type="http://schemas.openxmlformats.org/officeDocument/2006/relationships/notesSlide" Target="/ppt/notesSlides/notesSlide19.xml" Id="R7afa2e14f7354e6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5bb151728846fd" /><Relationship Type="http://schemas.openxmlformats.org/officeDocument/2006/relationships/notesSlide" Target="/ppt/notesSlides/notesSlide20.xml" Id="R1ed7ae65f2974a7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f9e787759421d" /><Relationship Type="http://schemas.openxmlformats.org/officeDocument/2006/relationships/notesSlide" Target="/ppt/notesSlides/notesSlide21.xml" Id="R6ed7975bfe3d44f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aaad6a344b42bc" /><Relationship Type="http://schemas.openxmlformats.org/officeDocument/2006/relationships/image" Target="/ppt/media/image4.png" Id="R56cd71e6da514a53" /><Relationship Type="http://schemas.openxmlformats.org/officeDocument/2006/relationships/notesSlide" Target="/ppt/notesSlides/notesSlide22.xml" Id="R8fb1808ee9b2479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dde3ea20b0465b" /><Relationship Type="http://schemas.openxmlformats.org/officeDocument/2006/relationships/image" Target="/ppt/media/image5.png" Id="R74b555e6f1d84cf0" /><Relationship Type="http://schemas.openxmlformats.org/officeDocument/2006/relationships/notesSlide" Target="/ppt/notesSlides/notesSlide23.xml" Id="R17996f2a7dc5488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5e8fbf1cdb43b4" /><Relationship Type="http://schemas.openxmlformats.org/officeDocument/2006/relationships/image" Target="/ppt/media/image6.png" Id="R14adfeaefbbd4e12" /><Relationship Type="http://schemas.openxmlformats.org/officeDocument/2006/relationships/notesSlide" Target="/ppt/notesSlides/notesSlide24.xml" Id="R13f1f0536ec94ef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144c88accf4db3" /><Relationship Type="http://schemas.openxmlformats.org/officeDocument/2006/relationships/notesSlide" Target="/ppt/notesSlides/notesSlide25.xml" Id="R8957854f607a4d5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04eda8e8254b73" /><Relationship Type="http://schemas.openxmlformats.org/officeDocument/2006/relationships/image" Target="/ppt/media/image7.png" Id="R78adf9aaf883459a" /><Relationship Type="http://schemas.openxmlformats.org/officeDocument/2006/relationships/notesSlide" Target="/ppt/notesSlides/notesSlide26.xml" Id="Rcdcf3c80664341a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032f3b02464587" /><Relationship Type="http://schemas.openxmlformats.org/officeDocument/2006/relationships/image" Target="/ppt/media/image8.png" Id="Rde844427bebf487c" /><Relationship Type="http://schemas.openxmlformats.org/officeDocument/2006/relationships/notesSlide" Target="/ppt/notesSlides/notesSlide27.xml" Id="R520dadf82c2745d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e90ab648994c2f" /><Relationship Type="http://schemas.openxmlformats.org/officeDocument/2006/relationships/image" Target="/ppt/media/image9.png" Id="R2999ae9269ce4d01" /><Relationship Type="http://schemas.openxmlformats.org/officeDocument/2006/relationships/notesSlide" Target="/ppt/notesSlides/notesSlide28.xml" Id="Rf96d8e0b11e54c9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0b282f171e464b" /><Relationship Type="http://schemas.openxmlformats.org/officeDocument/2006/relationships/notesSlide" Target="/ppt/notesSlides/notesSlide29.xml" Id="Rdd94061137be4fe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61a877c3cb441b" /><Relationship Type="http://schemas.openxmlformats.org/officeDocument/2006/relationships/image" Target="/ppt/media/image10.png" Id="R59a0d5cc097e4be8" /><Relationship Type="http://schemas.openxmlformats.org/officeDocument/2006/relationships/notesSlide" Target="/ppt/notesSlides/notesSlide30.xml" Id="R21acfdd28a6b499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4f872113c4e54" /><Relationship Type="http://schemas.openxmlformats.org/officeDocument/2006/relationships/notesSlide" Target="/ppt/notesSlides/notesSlide31.xml" Id="R3ff0465c6410463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e7bede78854332" /><Relationship Type="http://schemas.openxmlformats.org/officeDocument/2006/relationships/notesSlide" Target="/ppt/notesSlides/notesSlide32.xml" Id="R2cd394f3bd7442a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fb9b0dbb6d4807" /><Relationship Type="http://schemas.openxmlformats.org/officeDocument/2006/relationships/image" Target="/ppt/media/image11.png" Id="Redba9d901c9741c7" /><Relationship Type="http://schemas.openxmlformats.org/officeDocument/2006/relationships/notesSlide" Target="/ppt/notesSlides/notesSlide33.xml" Id="R880a7519f648450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c5881a0edf4447" /><Relationship Type="http://schemas.openxmlformats.org/officeDocument/2006/relationships/image" Target="/ppt/media/image12.png" Id="R7c4e01329d4d48e7" /><Relationship Type="http://schemas.openxmlformats.org/officeDocument/2006/relationships/notesSlide" Target="/ppt/notesSlides/notesSlide34.xml" Id="R72c2798c5d854b1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36cac56754bda" /><Relationship Type="http://schemas.openxmlformats.org/officeDocument/2006/relationships/image" Target="/ppt/media/image13.png" Id="R853b709d01194002" /><Relationship Type="http://schemas.openxmlformats.org/officeDocument/2006/relationships/notesSlide" Target="/ppt/notesSlides/notesSlide35.xml" Id="R888f453a1f9c43e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8ecf3044a14c0a" /><Relationship Type="http://schemas.openxmlformats.org/officeDocument/2006/relationships/notesSlide" Target="/ppt/notesSlides/notesSlide36.xml" Id="Ra98712fb8d5c4e0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8c59846c3d48a2" /><Relationship Type="http://schemas.openxmlformats.org/officeDocument/2006/relationships/image" Target="/ppt/media/image14.png" Id="R5147036108384e67" /><Relationship Type="http://schemas.openxmlformats.org/officeDocument/2006/relationships/notesSlide" Target="/ppt/notesSlides/notesSlide37.xml" Id="R1dc01fc594a14817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061ec360a04351" /><Relationship Type="http://schemas.openxmlformats.org/officeDocument/2006/relationships/image" Target="/ppt/media/image15.png" Id="Rbfa54d899cae436d" /><Relationship Type="http://schemas.openxmlformats.org/officeDocument/2006/relationships/notesSlide" Target="/ppt/notesSlides/notesSlide38.xml" Id="R7bbb031c8eef4a74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f1054b47064838" /><Relationship Type="http://schemas.openxmlformats.org/officeDocument/2006/relationships/notesSlide" Target="/ppt/notesSlides/notesSlide39.xml" Id="Rf3f470629be6494c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b9833c03044393" /><Relationship Type="http://schemas.openxmlformats.org/officeDocument/2006/relationships/image" Target="/ppt/media/image16.png" Id="R5a6f33f96cc54911" /><Relationship Type="http://schemas.openxmlformats.org/officeDocument/2006/relationships/notesSlide" Target="/ppt/notesSlides/notesSlide40.xml" Id="R8ab1b3033f084317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81a1205e5d416b" /><Relationship Type="http://schemas.openxmlformats.org/officeDocument/2006/relationships/notesSlide" Target="/ppt/notesSlides/notesSlide41.xml" Id="R18d2375a8c2e45d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68f97165c14c98" /><Relationship Type="http://schemas.openxmlformats.org/officeDocument/2006/relationships/image" Target="/ppt/media/image17.png" Id="R39174e0ba0ca42f7" /><Relationship Type="http://schemas.openxmlformats.org/officeDocument/2006/relationships/notesSlide" Target="/ppt/notesSlides/notesSlide42.xml" Id="R6d4755a41494437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6439e756d641d7" /><Relationship Type="http://schemas.openxmlformats.org/officeDocument/2006/relationships/image" Target="/ppt/media/image18.png" Id="Rcc07e6eed73d4564" /><Relationship Type="http://schemas.openxmlformats.org/officeDocument/2006/relationships/notesSlide" Target="/ppt/notesSlides/notesSlide43.xml" Id="Rde7d1a3aa43b4ef4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428a3d2d5c4455" /><Relationship Type="http://schemas.openxmlformats.org/officeDocument/2006/relationships/notesSlide" Target="/ppt/notesSlides/notesSlide44.xml" Id="Rd37514fe0f724cc9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955c8923c4427c" /><Relationship Type="http://schemas.openxmlformats.org/officeDocument/2006/relationships/image" Target="/ppt/media/image19.png" Id="R27a2a4f5091f43bb" /><Relationship Type="http://schemas.openxmlformats.org/officeDocument/2006/relationships/notesSlide" Target="/ppt/notesSlides/notesSlide45.xml" Id="Rb0e0545f545648fb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b48963cb924656" /><Relationship Type="http://schemas.openxmlformats.org/officeDocument/2006/relationships/image" Target="/ppt/media/image20.png" Id="R3dfa7e058b7f4df3" /><Relationship Type="http://schemas.openxmlformats.org/officeDocument/2006/relationships/notesSlide" Target="/ppt/notesSlides/notesSlide46.xml" Id="R5d1690e4dcac4615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5e7f875c3b4a97" /><Relationship Type="http://schemas.openxmlformats.org/officeDocument/2006/relationships/notesSlide" Target="/ppt/notesSlides/notesSlide47.xml" Id="R630a4ab8e66a4cb3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4f20aed54d434a" /><Relationship Type="http://schemas.openxmlformats.org/officeDocument/2006/relationships/image" Target="/ppt/media/image21.png" Id="R4ff029b7a9f54c8e" /><Relationship Type="http://schemas.openxmlformats.org/officeDocument/2006/relationships/notesSlide" Target="/ppt/notesSlides/notesSlide48.xml" Id="Rb79943391b7e498c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9197869b674df4" /><Relationship Type="http://schemas.openxmlformats.org/officeDocument/2006/relationships/image" Target="/ppt/media/image22.png" Id="Rd458a18d734a489f" /><Relationship Type="http://schemas.openxmlformats.org/officeDocument/2006/relationships/notesSlide" Target="/ppt/notesSlides/notesSlide49.xml" Id="Rc568055d68c14e75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ae409aa6164411" /><Relationship Type="http://schemas.openxmlformats.org/officeDocument/2006/relationships/image" Target="/ppt/media/image23.png" Id="Rc02cc739ee4e4dae" /><Relationship Type="http://schemas.openxmlformats.org/officeDocument/2006/relationships/notesSlide" Target="/ppt/notesSlides/notesSlide50.xml" Id="R563106e1d6f14ae6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c077ebf5ce4c5c" /><Relationship Type="http://schemas.openxmlformats.org/officeDocument/2006/relationships/notesSlide" Target="/ppt/notesSlides/notesSlide51.xml" Id="Re355041acd31429a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c65bece4e94785" /><Relationship Type="http://schemas.openxmlformats.org/officeDocument/2006/relationships/notesSlide" Target="/ppt/notesSlides/notesSlide52.xml" Id="R9083ad5687234584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3e860a6ee240b7" /><Relationship Type="http://schemas.openxmlformats.org/officeDocument/2006/relationships/notesSlide" Target="/ppt/notesSlides/notesSlide53.xml" Id="Ra17458a376aa42d6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70c06f1d64e73" /><Relationship Type="http://schemas.openxmlformats.org/officeDocument/2006/relationships/notesSlide" Target="/ppt/notesSlides/notesSlide54.xml" Id="Rdf23b16d31904033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a270db4842458c" /><Relationship Type="http://schemas.openxmlformats.org/officeDocument/2006/relationships/notesSlide" Target="/ppt/notesSlides/notesSlide55.xml" Id="R1c275a5d70e444a0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2eddf361b94430" /><Relationship Type="http://schemas.openxmlformats.org/officeDocument/2006/relationships/notesSlide" Target="/ppt/notesSlides/notesSlide56.xml" Id="Rac9a4cdb922c4c46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a260edc2f849d2" /><Relationship Type="http://schemas.openxmlformats.org/officeDocument/2006/relationships/notesSlide" Target="/ppt/notesSlides/notesSlide57.xml" Id="Rd26839103260492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9AB82E-38C5-4B39-8E3C-6D55AC16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62E63B-09AF-4DBE-914E-5FD4CE97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500" y="571500"/>
            <a:ext cx="11049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4ABC29-6F72-4DD0-BE7C-26D465E3D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57600" y="1295400"/>
            <a:ext cx="48768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spc="45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JAVA PROGRAMMING · CHAPTER 03</a:t>
            </a:r>
            <a:endParaRPr/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AE45B4-79EC-4814-AB7D-91A80419F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52850" y="1676400"/>
            <a:ext cx="46863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322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97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Java 程序设计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97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Java Programming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C0ACAA-E407-4F64-8144-D5D75D39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114675" y="2895600"/>
            <a:ext cx="5972175" cy="657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4962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1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1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9EE2D6-894E-44E5-BFE2-D06BEC59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5000" y="3724275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3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AFAD40-49E5-49CD-854E-8D6B179D0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81300" y="5172075"/>
            <a:ext cx="662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E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4910FB-5ED1-4FA4-A387-F47B8C0C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19600" y="5314950"/>
            <a:ext cx="335280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452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中国石油大学（北京）克拉玛依校区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China University of Petroleum (Beijing) Karamay Campus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B74FBE-C6D1-456D-B6C3-29467E6B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372100" y="5705475"/>
            <a:ext cx="144780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08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4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授课教师：潘啸晨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4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Instructor: Pan Xiaochen</a:t>
            </a:r>
          </a:p>
        </p:txBody>
      </p:sp>
    </p:spTree>
    <p:extLst>
      <p:ext uri="{BB962C8B-B14F-4D97-AF65-F5344CB8AC3E}">
        <p14:creationId xmlns:p14="http://schemas.microsoft.com/office/powerpoint/2010/main" val="12651728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B0FA6033-3704-4D1A-B84F-F22FFC63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D94D6BA9-315A-47FC-9680-CC51A1D0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C9B79743-A9ED-4881-BD08-883BECC1E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2830BB0F-C22C-4864-834B-9468AF3C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391150" y="2133600"/>
            <a:ext cx="1419225" cy="137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000" b="1">
                <a:solidFill>
                  <a:srgbClr val="DCE4F2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/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188165FA-16A9-481D-A02F-1743C08C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53100" y="36957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3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8545CF7D-B63C-40D4-B03B-81B525D7A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000500" y="3924300"/>
            <a:ext cx="4191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1912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19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19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Operators, expressions and statements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1F0EC3E8-130A-43DF-A145-DC814440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695825"/>
            <a:ext cx="3486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42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Java 语言的运算符、表达式及分支与循环语句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Operators, expressions, branch and loop statements of Java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1E33BC45-07FD-436D-B6E1-8BC6D08D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2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5175838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D677AAB9-BD2D-41E7-9357-704DC6CE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8CE60A47-F452-4BC0-A78B-1D0F3CDF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AEAD8799-AEB6-4905-A01B-BBCF8361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722B92F6-EFE0-4BDD-BA1D-37ED060F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导读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Introduction</a:t>
            </a:r>
          </a:p>
        </p:txBody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94B734E5-FB99-492A-A98A-3E40AA2E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本章导览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Chapter overview</a:t>
            </a:r>
          </a:p>
        </p:txBody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170D7C4D-BAA9-4D8B-8376-09C717BA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848E3B93-B855-4A62-B4ED-A7DF8AED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5262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Java 提供了丰富的运算符，并支持条件分支与循环控制语句。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Java provides a rich set of operators and supports conditional branches and loop control statements.</a:t>
            </a:r>
          </a:p>
        </p:txBody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3E3D502F-746D-4ACD-97D2-E033D23A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38625" y="1295400"/>
            <a:ext cx="7553325" cy="2705100"/>
          </a:xfrm>
          <a:prstGeom xmlns:a="http://schemas.openxmlformats.org/drawingml/2006/main" prst="roundRect">
            <a:avLst>
              <a:gd name="adj" fmla="val 3521"/>
            </a:avLst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EFFB8A3D-5BB7-4F7E-82DB-34ECA6B9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38625" y="1295400"/>
            <a:ext cx="7553325" cy="2705100"/>
          </a:xfrm>
          <a:custGeom xmlns:a="http://schemas.openxmlformats.org/drawingml/2006/main">
            <a:pathLst>
              <a:path w="793" h="284">
                <a:moveTo>
                  <a:pt x="10" y="0"/>
                </a:moveTo>
                <a:cubicBezTo>
                  <a:pt x="8" y="0"/>
                  <a:pt x="6" y="2"/>
                  <a:pt x="6" y="4"/>
                </a:cubicBezTo>
                <a:lnTo>
                  <a:pt x="6" y="280"/>
                </a:lnTo>
                <a:cubicBezTo>
                  <a:pt x="6" y="282"/>
                  <a:pt x="8" y="284"/>
                  <a:pt x="10" y="284"/>
                </a:cubicBezTo>
                <a:cubicBezTo>
                  <a:pt x="4" y="284"/>
                  <a:pt x="0" y="279"/>
                  <a:pt x="0" y="27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AE858BE5-B42B-4C6B-8C51-DEE676F9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29125" y="1447800"/>
            <a:ext cx="7115175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64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1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主要内容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1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Main content</a:t>
            </a:r>
          </a:p>
        </p:txBody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48A90247-C585-47C7-A780-9E87D889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29125" y="1685925"/>
            <a:ext cx="7115175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795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运算符与表达式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Operators and Expressions</a:t>
            </a:r>
          </a:p>
        </p:txBody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FF8F6E07-3811-468C-A885-B0345166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29125" y="2000250"/>
            <a:ext cx="7115175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795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语句概述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Statement overview</a:t>
            </a:r>
          </a:p>
        </p:txBody>
      </p:sp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19DFAD49-6B8D-4D09-92C9-6F647AE2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29125" y="2314575"/>
            <a:ext cx="7115175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795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if 条件分支语句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if conditional branch statement</a:t>
            </a:r>
          </a:p>
        </p:txBody>
      </p:sp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CE16CA76-D884-4799-8044-E11DA7289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29125" y="2628900"/>
            <a:ext cx="7115175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795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switch 开关语句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switch switch statement</a:t>
            </a:r>
          </a:p>
        </p:txBody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08C47CC5-B56E-432A-BEB1-1E563C52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29125" y="2943225"/>
            <a:ext cx="7115175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795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循环语句（for / while / do-while）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Loop statements (for/while/do-while)</a:t>
            </a:r>
          </a:p>
        </p:txBody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0014CE76-2E59-44B5-9832-2F14D81A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29125" y="3257550"/>
            <a:ext cx="7115175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795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break 和 continue 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break and continue statements</a:t>
            </a:r>
          </a:p>
        </p:txBody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2E0AD040-E3DE-4B4A-8F8B-6F3862DA7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29125" y="3571875"/>
            <a:ext cx="7115175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795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数组与 for 语句（for-each）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Arrays and for statements (for-each)</a:t>
            </a:r>
          </a:p>
        </p:txBody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E991D0D2-CED3-485A-987D-2172F951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38625" y="4133850"/>
            <a:ext cx="75533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FDE23CFE-591F-48E5-9782-8379B586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38625" y="4133850"/>
            <a:ext cx="7553325" cy="1133475"/>
          </a:xfrm>
          <a:custGeom xmlns:a="http://schemas.openxmlformats.org/drawingml/2006/main">
            <a:pathLst>
              <a:path w="793" h="119">
                <a:moveTo>
                  <a:pt x="10" y="0"/>
                </a:moveTo>
                <a:cubicBezTo>
                  <a:pt x="8" y="0"/>
                  <a:pt x="6" y="2"/>
                  <a:pt x="6" y="4"/>
                </a:cubicBezTo>
                <a:lnTo>
                  <a:pt x="6" y="115"/>
                </a:lnTo>
                <a:cubicBezTo>
                  <a:pt x="6" y="117"/>
                  <a:pt x="8" y="119"/>
                  <a:pt x="10" y="119"/>
                </a:cubicBezTo>
                <a:cubicBezTo>
                  <a:pt x="4" y="119"/>
                  <a:pt x="0" y="114"/>
                  <a:pt x="0" y="10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 xmlns:a="http://schemas.openxmlformats.org/drawingml/2006/main">
            <a:srgbClr val="3D7B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212456C3-0050-499E-9113-03569D86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29125" y="4286250"/>
            <a:ext cx="7115175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64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10" b="1">
                <a:solidFill>
                  <a:srgbClr val="3D7BD9"/>
                </a:solidFill>
                <a:latin typeface="Microsoft YaHei"/>
                <a:ea typeface="Microsoft YaHei"/>
                <a:cs typeface="Microsoft YaHei"/>
              </a:rPr>
              <a:t>重点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10" b="1">
                <a:solidFill>
                  <a:srgbClr val="3D7BD9"/>
                </a:solidFill>
                <a:latin typeface="Microsoft YaHei"/>
                <a:ea typeface="Microsoft YaHei"/>
                <a:cs typeface="Microsoft YaHei"/>
              </a:rPr>
              <a:t>focus</a:t>
            </a:r>
          </a:p>
        </p:txBody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9E8AB109-D6D2-499D-A776-4A61A83F7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29125" y="4524375"/>
            <a:ext cx="7115175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795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运算符、表达式的使用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Use of operators and expressions</a:t>
            </a:r>
          </a:p>
        </p:txBody>
      </p:sp>
      <p:sp>
        <p:nvSpPr>
          <p:cNvPr id="322" name="">
            <a:extLst xmlns:a="http://schemas.openxmlformats.org/drawingml/2006/main">
              <a:ext uri="{FF2B5EF4-FFF2-40B4-BE49-F238E27FC236}">
                <a16:creationId xmlns:a16="http://schemas.microsoft.com/office/drawing/2014/main" id="{9D4DCDE5-2306-473D-806F-87C4DD59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29125" y="4838700"/>
            <a:ext cx="7115175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795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各种控制语句的语法与执行流程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Syntax and execution flow of various control statements</a:t>
            </a:r>
          </a:p>
        </p:txBody>
      </p:sp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F3DB42E4-D0A1-43A1-B826-A24525599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38625" y="5400675"/>
            <a:ext cx="7553325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CD8A584F-C091-4CF9-BED8-D026A5C8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38625" y="5400675"/>
            <a:ext cx="7553325" cy="819150"/>
          </a:xfrm>
          <a:custGeom xmlns:a="http://schemas.openxmlformats.org/drawingml/2006/main">
            <a:pathLst>
              <a:path w="793" h="86">
                <a:moveTo>
                  <a:pt x="10" y="0"/>
                </a:moveTo>
                <a:cubicBezTo>
                  <a:pt x="8" y="0"/>
                  <a:pt x="6" y="2"/>
                  <a:pt x="6" y="4"/>
                </a:cubicBezTo>
                <a:lnTo>
                  <a:pt x="6" y="82"/>
                </a:lnTo>
                <a:cubicBezTo>
                  <a:pt x="6" y="84"/>
                  <a:pt x="8" y="86"/>
                  <a:pt x="10" y="86"/>
                </a:cubicBezTo>
                <a:cubicBezTo>
                  <a:pt x="4" y="86"/>
                  <a:pt x="0" y="81"/>
                  <a:pt x="0" y="7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 xmlns:a="http://schemas.openxmlformats.org/drawingml/2006/main">
            <a:srgbClr val="D953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F5A23DC6-2EAC-4C84-81AB-B4B09B7C7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29125" y="5553075"/>
            <a:ext cx="7115175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64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10" b="1">
                <a:solidFill>
                  <a:srgbClr val="D9534F"/>
                </a:solidFill>
                <a:latin typeface="Microsoft YaHei"/>
                <a:ea typeface="Microsoft YaHei"/>
                <a:cs typeface="Microsoft YaHei"/>
              </a:rPr>
              <a:t>难点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10" b="1">
                <a:solidFill>
                  <a:srgbClr val="D9534F"/>
                </a:solidFill>
                <a:latin typeface="Microsoft YaHei"/>
                <a:ea typeface="Microsoft YaHei"/>
                <a:cs typeface="Microsoft YaHei"/>
              </a:rPr>
              <a:t>difficulty</a:t>
            </a:r>
          </a:p>
        </p:txBody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4BE2E68F-B7D6-416C-90B9-ED6B565A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29125" y="5791200"/>
            <a:ext cx="7115175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795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各种控制语句的用法（嵌套、流程图）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Usage of various control statements (nested, flow chart)</a:t>
            </a:r>
          </a:p>
        </p:txBody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63200C23-20ED-4B9C-A776-FB0DC33D1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41032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3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2052649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8" name="">
            <a:extLst xmlns:a="http://schemas.openxmlformats.org/drawingml/2006/main">
              <a:ext uri="{FF2B5EF4-FFF2-40B4-BE49-F238E27FC236}">
                <a16:creationId xmlns:a16="http://schemas.microsoft.com/office/drawing/2014/main" id="{87DC5340-7BA6-418B-A59B-748B504D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9" name="">
            <a:extLst xmlns:a="http://schemas.openxmlformats.org/drawingml/2006/main">
              <a:ext uri="{FF2B5EF4-FFF2-40B4-BE49-F238E27FC236}">
                <a16:creationId xmlns:a16="http://schemas.microsoft.com/office/drawing/2014/main" id="{EBE7DAFD-905B-4989-836C-E7FDFD62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0" name="">
            <a:extLst xmlns:a="http://schemas.openxmlformats.org/drawingml/2006/main">
              <a:ext uri="{FF2B5EF4-FFF2-40B4-BE49-F238E27FC236}">
                <a16:creationId xmlns:a16="http://schemas.microsoft.com/office/drawing/2014/main" id="{93EF8F4A-B341-4881-B22F-3994010D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471" name="">
            <a:extLst xmlns:a="http://schemas.openxmlformats.org/drawingml/2006/main">
              <a:ext uri="{FF2B5EF4-FFF2-40B4-BE49-F238E27FC236}">
                <a16:creationId xmlns:a16="http://schemas.microsoft.com/office/drawing/2014/main" id="{38AA4EC3-5459-4FBA-A222-6EF04E85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§3.1</a:t>
            </a:r>
            <a:endParaRPr/>
          </a:p>
        </p:txBody>
      </p:sp>
      <p:sp>
        <p:nvSpPr>
          <p:cNvPr id="472" name="">
            <a:extLst xmlns:a="http://schemas.openxmlformats.org/drawingml/2006/main">
              <a:ext uri="{FF2B5EF4-FFF2-40B4-BE49-F238E27FC236}">
                <a16:creationId xmlns:a16="http://schemas.microsoft.com/office/drawing/2014/main" id="{FC55E515-C88F-4CB7-9A4C-773CC5427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运算符与表达式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Operators and Expressions</a:t>
            </a:r>
          </a:p>
        </p:txBody>
      </p:sp>
      <p:sp>
        <p:nvSpPr>
          <p:cNvPr id="473" name="">
            <a:extLst xmlns:a="http://schemas.openxmlformats.org/drawingml/2006/main">
              <a:ext uri="{FF2B5EF4-FFF2-40B4-BE49-F238E27FC236}">
                <a16:creationId xmlns:a16="http://schemas.microsoft.com/office/drawing/2014/main" id="{3A301FC0-D920-4261-8421-E0E4EEA4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4" name="">
            <a:extLst xmlns:a="http://schemas.openxmlformats.org/drawingml/2006/main">
              <a:ext uri="{FF2B5EF4-FFF2-40B4-BE49-F238E27FC236}">
                <a16:creationId xmlns:a16="http://schemas.microsoft.com/office/drawing/2014/main" id="{08DDF916-8CF0-4DC3-8900-A3667801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911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Java 提供了丰富的运算符（算术、关系、逻辑、位等）。绝大多数运算符与 C 语言相同，基本语句（条件分支、循环等）也与 C 类似，本章就主要知识点给予简单介绍。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Java provides a rich set of operators (arithmetic, relational, logical, bitwise, etc.). Most operators are the same as C language, and basic statements (conditional branches, loops, etc.) are also similar to C. This chapter gives a brief introduction to the main knowledge points.</a:t>
            </a:r>
          </a:p>
        </p:txBody>
      </p:sp>
      <p:sp>
        <p:nvSpPr>
          <p:cNvPr id="475" name="">
            <a:extLst xmlns:a="http://schemas.openxmlformats.org/drawingml/2006/main">
              <a:ext uri="{FF2B5EF4-FFF2-40B4-BE49-F238E27FC236}">
                <a16:creationId xmlns:a16="http://schemas.microsoft.com/office/drawing/2014/main" id="{9B564E3F-27B6-4D96-80D7-EA51F410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19526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6" name="">
            <a:extLst xmlns:a="http://schemas.openxmlformats.org/drawingml/2006/main">
              <a:ext uri="{FF2B5EF4-FFF2-40B4-BE49-F238E27FC236}">
                <a16:creationId xmlns:a16="http://schemas.microsoft.com/office/drawing/2014/main" id="{3F029E88-66AC-46F5-A18F-0B2570138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18383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算术运算符：+  -  *  /  %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Arithmetic operators: + - * / %</a:t>
            </a:r>
          </a:p>
        </p:txBody>
      </p:sp>
      <p:sp>
        <p:nvSpPr>
          <p:cNvPr id="477" name="">
            <a:extLst xmlns:a="http://schemas.openxmlformats.org/drawingml/2006/main">
              <a:ext uri="{FF2B5EF4-FFF2-40B4-BE49-F238E27FC236}">
                <a16:creationId xmlns:a16="http://schemas.microsoft.com/office/drawing/2014/main" id="{4231D969-EBC8-4F84-8780-7E709724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5146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8" name="">
            <a:extLst xmlns:a="http://schemas.openxmlformats.org/drawingml/2006/main">
              <a:ext uri="{FF2B5EF4-FFF2-40B4-BE49-F238E27FC236}">
                <a16:creationId xmlns:a16="http://schemas.microsoft.com/office/drawing/2014/main" id="{EE6CAE24-494B-4F75-B169-E3D9C2EF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4003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关系运算符：&gt;  &lt;  &gt;=  &lt;=  ==  !=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Relational operators: &gt; &lt; &gt;= &lt;= == !=</a:t>
            </a:r>
          </a:p>
        </p:txBody>
      </p:sp>
      <p:sp>
        <p:nvSpPr>
          <p:cNvPr id="479" name="">
            <a:extLst xmlns:a="http://schemas.openxmlformats.org/drawingml/2006/main">
              <a:ext uri="{FF2B5EF4-FFF2-40B4-BE49-F238E27FC236}">
                <a16:creationId xmlns:a16="http://schemas.microsoft.com/office/drawing/2014/main" id="{C869E580-C2D3-40A8-9E14-29B50174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0765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0" name="">
            <a:extLst xmlns:a="http://schemas.openxmlformats.org/drawingml/2006/main">
              <a:ext uri="{FF2B5EF4-FFF2-40B4-BE49-F238E27FC236}">
                <a16:creationId xmlns:a16="http://schemas.microsoft.com/office/drawing/2014/main" id="{33A8DE82-39A6-44A1-9A2B-47573106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96227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逻辑运算符：&amp;&amp;  ||  !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Logical operators: &amp;&amp; || !</a:t>
            </a:r>
          </a:p>
        </p:txBody>
      </p:sp>
      <p:sp>
        <p:nvSpPr>
          <p:cNvPr id="481" name="">
            <a:extLst xmlns:a="http://schemas.openxmlformats.org/drawingml/2006/main">
              <a:ext uri="{FF2B5EF4-FFF2-40B4-BE49-F238E27FC236}">
                <a16:creationId xmlns:a16="http://schemas.microsoft.com/office/drawing/2014/main" id="{3158B539-52F3-45E4-B83D-F4FE236F8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6385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2" name="">
            <a:extLst xmlns:a="http://schemas.openxmlformats.org/drawingml/2006/main">
              <a:ext uri="{FF2B5EF4-FFF2-40B4-BE49-F238E27FC236}">
                <a16:creationId xmlns:a16="http://schemas.microsoft.com/office/drawing/2014/main" id="{2FA99EF5-37E7-408B-8110-7C405866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5242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位运算符：&amp;  |  ~  ^  （按位运算）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Bitwise operators: &amp; | ~ ^ (bitwise operations)</a:t>
            </a:r>
          </a:p>
        </p:txBody>
      </p:sp>
      <p:sp>
        <p:nvSpPr>
          <p:cNvPr id="483" name="">
            <a:extLst xmlns:a="http://schemas.openxmlformats.org/drawingml/2006/main">
              <a:ext uri="{FF2B5EF4-FFF2-40B4-BE49-F238E27FC236}">
                <a16:creationId xmlns:a16="http://schemas.microsoft.com/office/drawing/2014/main" id="{A65AAE72-CEC3-45CC-92C4-C8D52360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2005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4" name="">
            <a:extLst xmlns:a="http://schemas.openxmlformats.org/drawingml/2006/main">
              <a:ext uri="{FF2B5EF4-FFF2-40B4-BE49-F238E27FC236}">
                <a16:creationId xmlns:a16="http://schemas.microsoft.com/office/drawing/2014/main" id="{CF4AC2AA-EFCC-4960-92E8-F5B4BA33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0862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赋值运算符：=；instanceof 运算符：判断对象类型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Assignment operator: =; instanceof operator: determine object type</a:t>
            </a:r>
          </a:p>
        </p:txBody>
      </p:sp>
      <p:sp>
        <p:nvSpPr>
          <p:cNvPr id="485" name="">
            <a:extLst xmlns:a="http://schemas.openxmlformats.org/drawingml/2006/main">
              <a:ext uri="{FF2B5EF4-FFF2-40B4-BE49-F238E27FC236}">
                <a16:creationId xmlns:a16="http://schemas.microsoft.com/office/drawing/2014/main" id="{F5721C5B-995B-4033-86CC-957556AE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648200"/>
            <a:ext cx="7553325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0F5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6" name="">
            <a:extLst xmlns:a="http://schemas.openxmlformats.org/drawingml/2006/main">
              <a:ext uri="{FF2B5EF4-FFF2-40B4-BE49-F238E27FC236}">
                <a16:creationId xmlns:a16="http://schemas.microsoft.com/office/drawing/2014/main" id="{2D0C668B-F3BE-47DB-9374-55CA9E14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781550"/>
            <a:ext cx="7172325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6118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与 C 语言对照学习：绝大多数运算符语法一致，重点是 boolean 型条件、String 类型支持、增强 for 等差异。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Comparative learning with C language: most operator syntax is consistent, focusing on differences such as boolean conditions, String type support, enhanced for, etc.</a:t>
            </a:r>
          </a:p>
        </p:txBody>
      </p:sp>
      <p:sp>
        <p:nvSpPr>
          <p:cNvPr id="487" name="">
            <a:extLst xmlns:a="http://schemas.openxmlformats.org/drawingml/2006/main">
              <a:ext uri="{FF2B5EF4-FFF2-40B4-BE49-F238E27FC236}">
                <a16:creationId xmlns:a16="http://schemas.microsoft.com/office/drawing/2014/main" id="{2FA403E4-E6D4-41ED-B4A2-36F8E146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4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9233073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3" name="">
            <a:extLst xmlns:a="http://schemas.openxmlformats.org/drawingml/2006/main">
              <a:ext uri="{FF2B5EF4-FFF2-40B4-BE49-F238E27FC236}">
                <a16:creationId xmlns:a16="http://schemas.microsoft.com/office/drawing/2014/main" id="{73086BBC-6CAE-46ED-A111-5AF452931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14" name="">
            <a:extLst xmlns:a="http://schemas.openxmlformats.org/drawingml/2006/main">
              <a:ext uri="{FF2B5EF4-FFF2-40B4-BE49-F238E27FC236}">
                <a16:creationId xmlns:a16="http://schemas.microsoft.com/office/drawing/2014/main" id="{46E6512F-6B54-4316-A406-285ECE436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15" name="">
            <a:extLst xmlns:a="http://schemas.openxmlformats.org/drawingml/2006/main">
              <a:ext uri="{FF2B5EF4-FFF2-40B4-BE49-F238E27FC236}">
                <a16:creationId xmlns:a16="http://schemas.microsoft.com/office/drawing/2014/main" id="{80ECA499-1570-4E76-B752-B6B4FFE4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616" name="">
            <a:extLst xmlns:a="http://schemas.openxmlformats.org/drawingml/2006/main">
              <a:ext uri="{FF2B5EF4-FFF2-40B4-BE49-F238E27FC236}">
                <a16:creationId xmlns:a16="http://schemas.microsoft.com/office/drawing/2014/main" id="{88F4983F-8F15-41CD-A009-6212E7854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§3.1.1</a:t>
            </a:r>
            <a:endParaRPr/>
          </a:p>
        </p:txBody>
      </p:sp>
      <p:sp>
        <p:nvSpPr>
          <p:cNvPr id="617" name="">
            <a:extLst xmlns:a="http://schemas.openxmlformats.org/drawingml/2006/main">
              <a:ext uri="{FF2B5EF4-FFF2-40B4-BE49-F238E27FC236}">
                <a16:creationId xmlns:a16="http://schemas.microsoft.com/office/drawing/2014/main" id="{A40629D8-D0EA-493E-9B9B-0BDCFFA5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4351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算术运算符与算术表达式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Arithmetic operators and arithmetic expressions</a:t>
            </a:r>
          </a:p>
        </p:txBody>
      </p:sp>
      <p:sp>
        <p:nvSpPr>
          <p:cNvPr id="618" name="">
            <a:extLst xmlns:a="http://schemas.openxmlformats.org/drawingml/2006/main">
              <a:ext uri="{FF2B5EF4-FFF2-40B4-BE49-F238E27FC236}">
                <a16:creationId xmlns:a16="http://schemas.microsoft.com/office/drawing/2014/main" id="{7F81F935-E502-4F9C-A440-4D89F2810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9337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19" name="">
            <a:extLst xmlns:a="http://schemas.openxmlformats.org/drawingml/2006/main">
              <a:ext uri="{FF2B5EF4-FFF2-40B4-BE49-F238E27FC236}">
                <a16:creationId xmlns:a16="http://schemas.microsoft.com/office/drawing/2014/main" id="{28BEE2E1-8546-4262-A642-B2EBADEB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476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0" name="">
            <a:extLst xmlns:a="http://schemas.openxmlformats.org/drawingml/2006/main">
              <a:ext uri="{FF2B5EF4-FFF2-40B4-BE49-F238E27FC236}">
                <a16:creationId xmlns:a16="http://schemas.microsoft.com/office/drawing/2014/main" id="{5CD38183-3268-478F-97F9-FF2AC926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3622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76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加减 +、- ：二目运算符；结合方向从左到右；操作元为整型或浮点型；优先级 4 级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Addition and subtraction +, -: binary operators; the combination direction is from left to right; the operand is an integer or floating point type; priority level 4</a:t>
            </a:r>
          </a:p>
        </p:txBody>
      </p:sp>
      <p:sp>
        <p:nvSpPr>
          <p:cNvPr id="621" name="">
            <a:extLst xmlns:a="http://schemas.openxmlformats.org/drawingml/2006/main">
              <a:ext uri="{FF2B5EF4-FFF2-40B4-BE49-F238E27FC236}">
                <a16:creationId xmlns:a16="http://schemas.microsoft.com/office/drawing/2014/main" id="{5D6EB2F9-93CA-4561-835A-E60213EE9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0384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2" name="">
            <a:extLst xmlns:a="http://schemas.openxmlformats.org/drawingml/2006/main">
              <a:ext uri="{FF2B5EF4-FFF2-40B4-BE49-F238E27FC236}">
                <a16:creationId xmlns:a16="http://schemas.microsoft.com/office/drawing/2014/main" id="{56ED6716-8FAF-4758-B7C8-8C4742C7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924175"/>
            <a:ext cx="736282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6035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乘除求余 *、/、% ：二目运算符；结合方向从左到右；操作元为整型或浮点型；优先级 3 级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Remainder of multiplication and division *, /, %: Binary operators; the combination direction is from left to right; the operand is an integer or floating point type; priority level 3</a:t>
            </a:r>
          </a:p>
        </p:txBody>
      </p:sp>
      <p:sp>
        <p:nvSpPr>
          <p:cNvPr id="623" name="">
            <a:extLst xmlns:a="http://schemas.openxmlformats.org/drawingml/2006/main">
              <a:ext uri="{FF2B5EF4-FFF2-40B4-BE49-F238E27FC236}">
                <a16:creationId xmlns:a16="http://schemas.microsoft.com/office/drawing/2014/main" id="{A7954FBA-D770-4391-9AAA-514AC8EB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9909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4" name="">
            <a:extLst xmlns:a="http://schemas.openxmlformats.org/drawingml/2006/main">
              <a:ext uri="{FF2B5EF4-FFF2-40B4-BE49-F238E27FC236}">
                <a16:creationId xmlns:a16="http://schemas.microsoft.com/office/drawing/2014/main" id="{8E1DCDC9-4BAB-4D38-A64C-C63BF065B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87667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4712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算术表达式：用算术符号和括号连接，符合 Java 语法的式子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Arithmetic expressions: connected by arithmetic symbols and parentheses, expressions that conform to Java syntax</a:t>
            </a:r>
          </a:p>
        </p:txBody>
      </p:sp>
      <p:sp>
        <p:nvSpPr>
          <p:cNvPr id="625" name="">
            <a:extLst xmlns:a="http://schemas.openxmlformats.org/drawingml/2006/main">
              <a:ext uri="{FF2B5EF4-FFF2-40B4-BE49-F238E27FC236}">
                <a16:creationId xmlns:a16="http://schemas.microsoft.com/office/drawing/2014/main" id="{35C705D3-5C71-45D7-9074-12CE0523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438650"/>
            <a:ext cx="7553325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6DCE5"/>
            </a:solidFill>
            <a:prstDash val="solid"/>
          </a:ln>
          <a:effectLst xmlns:a="http://schemas.openxmlformats.org/drawingml/2006/main">
            <a:outerShdw blurRad="57150" dist="19050" dir="5400000">
              <a:srgbClr val="0F1C2E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6" name="">
            <a:extLst xmlns:a="http://schemas.openxmlformats.org/drawingml/2006/main">
              <a:ext uri="{FF2B5EF4-FFF2-40B4-BE49-F238E27FC236}">
                <a16:creationId xmlns:a16="http://schemas.microsoft.com/office/drawing/2014/main" id="{F23807C4-CF69-4579-87BF-9E0BADF9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5529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x + 2*y - 30 + 3*(y+5)</a:t>
            </a:r>
            <a:endParaRPr/>
          </a:p>
        </p:txBody>
      </p:sp>
      <p:sp>
        <p:nvSpPr>
          <p:cNvPr id="627" name="">
            <a:extLst xmlns:a="http://schemas.openxmlformats.org/drawingml/2006/main">
              <a:ext uri="{FF2B5EF4-FFF2-40B4-BE49-F238E27FC236}">
                <a16:creationId xmlns:a16="http://schemas.microsoft.com/office/drawing/2014/main" id="{FA832E57-413B-4EC3-8918-A32D4938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5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2595312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7" name="">
            <a:extLst xmlns:a="http://schemas.openxmlformats.org/drawingml/2006/main">
              <a:ext uri="{FF2B5EF4-FFF2-40B4-BE49-F238E27FC236}">
                <a16:creationId xmlns:a16="http://schemas.microsoft.com/office/drawing/2014/main" id="{126ADB1A-A81E-49C3-9251-4F382C88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78" name="">
            <a:extLst xmlns:a="http://schemas.openxmlformats.org/drawingml/2006/main">
              <a:ext uri="{FF2B5EF4-FFF2-40B4-BE49-F238E27FC236}">
                <a16:creationId xmlns:a16="http://schemas.microsoft.com/office/drawing/2014/main" id="{CF172B32-20F1-4B58-B296-CE0AA5CA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79" name="">
            <a:extLst xmlns:a="http://schemas.openxmlformats.org/drawingml/2006/main">
              <a:ext uri="{FF2B5EF4-FFF2-40B4-BE49-F238E27FC236}">
                <a16:creationId xmlns:a16="http://schemas.microsoft.com/office/drawing/2014/main" id="{D93F8D72-1D75-43DA-91CF-709DA8E2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680" name="">
            <a:extLst xmlns:a="http://schemas.openxmlformats.org/drawingml/2006/main">
              <a:ext uri="{FF2B5EF4-FFF2-40B4-BE49-F238E27FC236}">
                <a16:creationId xmlns:a16="http://schemas.microsoft.com/office/drawing/2014/main" id="{CC072D84-F884-485A-954E-161FCC55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§3.1.2</a:t>
            </a:r>
            <a:endParaRPr/>
          </a:p>
        </p:txBody>
      </p:sp>
      <p:sp>
        <p:nvSpPr>
          <p:cNvPr id="681" name="">
            <a:extLst xmlns:a="http://schemas.openxmlformats.org/drawingml/2006/main">
              <a:ext uri="{FF2B5EF4-FFF2-40B4-BE49-F238E27FC236}">
                <a16:creationId xmlns:a16="http://schemas.microsoft.com/office/drawing/2014/main" id="{DA9D00C6-CA1E-43FB-9BE0-06BA221E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3331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自增、自减运算符 ++ / --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Increment and decrement operators ++ / --</a:t>
            </a:r>
          </a:p>
        </p:txBody>
      </p:sp>
      <p:sp>
        <p:nvSpPr>
          <p:cNvPr id="682" name="">
            <a:extLst xmlns:a="http://schemas.openxmlformats.org/drawingml/2006/main">
              <a:ext uri="{FF2B5EF4-FFF2-40B4-BE49-F238E27FC236}">
                <a16:creationId xmlns:a16="http://schemas.microsoft.com/office/drawing/2014/main" id="{4D46FBDA-1200-4E83-9160-C841250C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9337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83" name="">
            <a:extLst xmlns:a="http://schemas.openxmlformats.org/drawingml/2006/main">
              <a:ext uri="{FF2B5EF4-FFF2-40B4-BE49-F238E27FC236}">
                <a16:creationId xmlns:a16="http://schemas.microsoft.com/office/drawing/2014/main" id="{12DF14C2-04FB-46EE-8C13-E7FC85F3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190875"/>
            <a:ext cx="3381375" cy="1171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单目运算符，可前置或后置；操作元必须是整型或浮点型变量，作用是使变量增 1 / 减 1。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Unary operator, which can be prefixed or postfixed; the operand must be an integer or floating-point variable, and its function is to increase/decrease the variable by 1.</a:t>
            </a:r>
          </a:p>
        </p:txBody>
      </p:sp>
      <p:sp>
        <p:nvSpPr>
          <p:cNvPr id="684" name="">
            <a:extLst xmlns:a="http://schemas.openxmlformats.org/drawingml/2006/main">
              <a:ext uri="{FF2B5EF4-FFF2-40B4-BE49-F238E27FC236}">
                <a16:creationId xmlns:a16="http://schemas.microsoft.com/office/drawing/2014/main" id="{B69FA47F-9D68-42C5-AE35-E0CFB72F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524125"/>
            <a:ext cx="7553325" cy="2305050"/>
          </a:xfrm>
          <a:prstGeom xmlns:a="http://schemas.openxmlformats.org/drawingml/2006/main" prst="roundRect">
            <a:avLst>
              <a:gd name="adj" fmla="val 33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6DCE5"/>
            </a:solidFill>
            <a:prstDash val="solid"/>
          </a:ln>
          <a:effectLst xmlns:a="http://schemas.openxmlformats.org/drawingml/2006/main">
            <a:outerShdw blurRad="57150" dist="19050" dir="5400000">
              <a:srgbClr val="0F1C2E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85" name="">
            <a:extLst xmlns:a="http://schemas.openxmlformats.org/drawingml/2006/main">
              <a:ext uri="{FF2B5EF4-FFF2-40B4-BE49-F238E27FC236}">
                <a16:creationId xmlns:a16="http://schemas.microsoft.com/office/drawing/2014/main" id="{37C397F7-A6DB-4A89-B20F-464F1D244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263842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++x    //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在使用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x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之前，先使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x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增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1</a:t>
            </a:r>
            <a:endParaRPr/>
          </a:p>
        </p:txBody>
      </p:sp>
      <p:sp>
        <p:nvSpPr>
          <p:cNvPr id="686" name="">
            <a:extLst xmlns:a="http://schemas.openxmlformats.org/drawingml/2006/main">
              <a:ext uri="{FF2B5EF4-FFF2-40B4-BE49-F238E27FC236}">
                <a16:creationId xmlns:a16="http://schemas.microsoft.com/office/drawing/2014/main" id="{E230170D-ABAA-460A-9C81-04264898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29908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x++    //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在使用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x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之后，使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x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增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1</a:t>
            </a:r>
            <a:endParaRPr/>
          </a:p>
        </p:txBody>
      </p:sp>
      <p:sp>
        <p:nvSpPr>
          <p:cNvPr id="687" name="">
            <a:extLst xmlns:a="http://schemas.openxmlformats.org/drawingml/2006/main">
              <a:ext uri="{FF2B5EF4-FFF2-40B4-BE49-F238E27FC236}">
                <a16:creationId xmlns:a16="http://schemas.microsoft.com/office/drawing/2014/main" id="{947A27C9-CB0A-40E4-ABE7-4BEE433FC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3432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int f=2, m=2;</a:t>
            </a:r>
            <a:endParaRPr/>
          </a:p>
        </p:txBody>
      </p:sp>
      <p:sp>
        <p:nvSpPr>
          <p:cNvPr id="688" name="">
            <a:extLst xmlns:a="http://schemas.openxmlformats.org/drawingml/2006/main">
              <a:ext uri="{FF2B5EF4-FFF2-40B4-BE49-F238E27FC236}">
                <a16:creationId xmlns:a16="http://schemas.microsoft.com/office/drawing/2014/main" id="{48C1CFB1-7B48-4D9D-8449-290B189B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69570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int x = (f*m++) + m;   // x = 7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，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m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变为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3</a:t>
            </a:r>
            <a:endParaRPr/>
          </a:p>
        </p:txBody>
      </p:sp>
      <p:sp>
        <p:nvSpPr>
          <p:cNvPr id="689" name="">
            <a:extLst xmlns:a="http://schemas.openxmlformats.org/drawingml/2006/main">
              <a:ext uri="{FF2B5EF4-FFF2-40B4-BE49-F238E27FC236}">
                <a16:creationId xmlns:a16="http://schemas.microsoft.com/office/drawing/2014/main" id="{CC97EBB7-0EC0-4489-92FD-A51C0FB2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04812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m = 2;   //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重置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m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，再单独看前置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++</a:t>
            </a:r>
            <a:endParaRPr/>
          </a:p>
        </p:txBody>
      </p:sp>
      <p:sp>
        <p:nvSpPr>
          <p:cNvPr id="690" name="">
            <a:extLst xmlns:a="http://schemas.openxmlformats.org/drawingml/2006/main">
              <a:ext uri="{FF2B5EF4-FFF2-40B4-BE49-F238E27FC236}">
                <a16:creationId xmlns:a16="http://schemas.microsoft.com/office/drawing/2014/main" id="{A84FEE82-49F2-45E3-9346-C37C68F6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4005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int y = (f*++m) + m;   // y = 9</a:t>
            </a:r>
            <a:endParaRPr/>
          </a:p>
        </p:txBody>
      </p:sp>
      <p:sp>
        <p:nvSpPr>
          <p:cNvPr id="691" name="">
            <a:extLst xmlns:a="http://schemas.openxmlformats.org/drawingml/2006/main">
              <a:ext uri="{FF2B5EF4-FFF2-40B4-BE49-F238E27FC236}">
                <a16:creationId xmlns:a16="http://schemas.microsoft.com/office/drawing/2014/main" id="{02B73A1B-9F50-45A4-8B08-5E965114E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6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7899912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3" name="">
            <a:extLst xmlns:a="http://schemas.openxmlformats.org/drawingml/2006/main">
              <a:ext uri="{FF2B5EF4-FFF2-40B4-BE49-F238E27FC236}">
                <a16:creationId xmlns:a16="http://schemas.microsoft.com/office/drawing/2014/main" id="{6EB5A0BC-229E-427B-90E4-11713FC4C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94" name="">
            <a:extLst xmlns:a="http://schemas.openxmlformats.org/drawingml/2006/main">
              <a:ext uri="{FF2B5EF4-FFF2-40B4-BE49-F238E27FC236}">
                <a16:creationId xmlns:a16="http://schemas.microsoft.com/office/drawing/2014/main" id="{E1450617-F1B0-4554-AAE3-09B2809E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95" name="">
            <a:extLst xmlns:a="http://schemas.openxmlformats.org/drawingml/2006/main">
              <a:ext uri="{FF2B5EF4-FFF2-40B4-BE49-F238E27FC236}">
                <a16:creationId xmlns:a16="http://schemas.microsoft.com/office/drawing/2014/main" id="{355ADD08-45C9-43A6-ADA5-EA0550BE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696" name="">
            <a:extLst xmlns:a="http://schemas.openxmlformats.org/drawingml/2006/main">
              <a:ext uri="{FF2B5EF4-FFF2-40B4-BE49-F238E27FC236}">
                <a16:creationId xmlns:a16="http://schemas.microsoft.com/office/drawing/2014/main" id="{40235485-3C41-4C1B-926C-0F04400D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§3.1.3</a:t>
            </a:r>
            <a:endParaRPr/>
          </a:p>
        </p:txBody>
      </p:sp>
      <p:sp>
        <p:nvSpPr>
          <p:cNvPr id="697" name="">
            <a:extLst xmlns:a="http://schemas.openxmlformats.org/drawingml/2006/main">
              <a:ext uri="{FF2B5EF4-FFF2-40B4-BE49-F238E27FC236}">
                <a16:creationId xmlns:a16="http://schemas.microsoft.com/office/drawing/2014/main" id="{A4D1C447-BE29-4875-A1F6-77257AAA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算术混合运算的精度（上）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Precision of mixed arithmetic operations (Part 1)</a:t>
            </a:r>
          </a:p>
        </p:txBody>
      </p:sp>
      <p:sp>
        <p:nvSpPr>
          <p:cNvPr id="698" name="">
            <a:extLst xmlns:a="http://schemas.openxmlformats.org/drawingml/2006/main">
              <a:ext uri="{FF2B5EF4-FFF2-40B4-BE49-F238E27FC236}">
                <a16:creationId xmlns:a16="http://schemas.microsoft.com/office/drawing/2014/main" id="{490571BF-6602-4F6F-915C-FE0E0385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9337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99" name="">
            <a:extLst xmlns:a="http://schemas.openxmlformats.org/drawingml/2006/main">
              <a:ext uri="{FF2B5EF4-FFF2-40B4-BE49-F238E27FC236}">
                <a16:creationId xmlns:a16="http://schemas.microsoft.com/office/drawing/2014/main" id="{06CCD8EF-CA4D-4866-A068-C89AD8AC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1676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00" name="">
            <a:extLst xmlns:a="http://schemas.openxmlformats.org/drawingml/2006/main">
              <a:ext uri="{FF2B5EF4-FFF2-40B4-BE49-F238E27FC236}">
                <a16:creationId xmlns:a16="http://schemas.microsoft.com/office/drawing/2014/main" id="{5DB49E0A-B56B-40E9-B626-288F258B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15621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数据精度从低到高：byte → short → char → int → long → float → double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Data precision from low to high: byte → short → char → int → long → float → double</a:t>
            </a:r>
          </a:p>
        </p:txBody>
      </p:sp>
      <p:sp>
        <p:nvSpPr>
          <p:cNvPr id="701" name="">
            <a:extLst xmlns:a="http://schemas.openxmlformats.org/drawingml/2006/main">
              <a:ext uri="{FF2B5EF4-FFF2-40B4-BE49-F238E27FC236}">
                <a16:creationId xmlns:a16="http://schemas.microsoft.com/office/drawing/2014/main" id="{5643385B-2505-4E32-9BCA-90A8B594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2383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02" name="">
            <a:extLst xmlns:a="http://schemas.openxmlformats.org/drawingml/2006/main">
              <a:ext uri="{FF2B5EF4-FFF2-40B4-BE49-F238E27FC236}">
                <a16:creationId xmlns:a16="http://schemas.microsoft.com/office/drawing/2014/main" id="{468DDB7F-A49E-4CD6-96CE-722E256BB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12407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表达式中含 double → 按 double 精度运算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Expression contains double → evaluate to double precision</a:t>
            </a:r>
          </a:p>
        </p:txBody>
      </p:sp>
      <p:sp>
        <p:nvSpPr>
          <p:cNvPr id="703" name="">
            <a:extLst xmlns:a="http://schemas.openxmlformats.org/drawingml/2006/main">
              <a:ext uri="{FF2B5EF4-FFF2-40B4-BE49-F238E27FC236}">
                <a16:creationId xmlns:a16="http://schemas.microsoft.com/office/drawing/2014/main" id="{AAB1FF3F-0E0C-419F-B9E1-5CCB5887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8003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04" name="">
            <a:extLst xmlns:a="http://schemas.openxmlformats.org/drawingml/2006/main">
              <a:ext uri="{FF2B5EF4-FFF2-40B4-BE49-F238E27FC236}">
                <a16:creationId xmlns:a16="http://schemas.microsoft.com/office/drawing/2014/main" id="{CEDE6A66-2953-4B28-B447-1563DD07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6860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最高精度是 float → 按 float 精度运算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Highest precision is float → Operate with float precision</a:t>
            </a:r>
          </a:p>
        </p:txBody>
      </p:sp>
      <p:sp>
        <p:nvSpPr>
          <p:cNvPr id="705" name="">
            <a:extLst xmlns:a="http://schemas.openxmlformats.org/drawingml/2006/main">
              <a:ext uri="{FF2B5EF4-FFF2-40B4-BE49-F238E27FC236}">
                <a16:creationId xmlns:a16="http://schemas.microsoft.com/office/drawing/2014/main" id="{F2F75285-F179-4978-BFBF-1A3D7B2B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3623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06" name="">
            <a:extLst xmlns:a="http://schemas.openxmlformats.org/drawingml/2006/main">
              <a:ext uri="{FF2B5EF4-FFF2-40B4-BE49-F238E27FC236}">
                <a16:creationId xmlns:a16="http://schemas.microsoft.com/office/drawing/2014/main" id="{1AD66552-BE6C-4656-95D2-3B0F9988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2480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最高精度是 long → 按 long 精度运算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The highest precision is long → operate with long precision</a:t>
            </a:r>
          </a:p>
        </p:txBody>
      </p:sp>
      <p:sp>
        <p:nvSpPr>
          <p:cNvPr id="707" name="">
            <a:extLst xmlns:a="http://schemas.openxmlformats.org/drawingml/2006/main">
              <a:ext uri="{FF2B5EF4-FFF2-40B4-BE49-F238E27FC236}">
                <a16:creationId xmlns:a16="http://schemas.microsoft.com/office/drawing/2014/main" id="{52DBBFF7-6C02-4D69-8987-CE39868A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9243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08" name="">
            <a:extLst xmlns:a="http://schemas.openxmlformats.org/drawingml/2006/main">
              <a:ext uri="{FF2B5EF4-FFF2-40B4-BE49-F238E27FC236}">
                <a16:creationId xmlns:a16="http://schemas.microsoft.com/office/drawing/2014/main" id="{3CEBF4ED-E1D0-4465-9122-E9FE101F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8100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最高精度低于 int → 按 int 精度运算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Maximum precision is less than int → operate with int precision</a:t>
            </a:r>
          </a:p>
        </p:txBody>
      </p:sp>
      <p:sp>
        <p:nvSpPr>
          <p:cNvPr id="709" name="">
            <a:extLst xmlns:a="http://schemas.openxmlformats.org/drawingml/2006/main">
              <a:ext uri="{FF2B5EF4-FFF2-40B4-BE49-F238E27FC236}">
                <a16:creationId xmlns:a16="http://schemas.microsoft.com/office/drawing/2014/main" id="{7F9C60EA-5319-47A9-B30E-20E565D7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4862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10" name="">
            <a:extLst xmlns:a="http://schemas.openxmlformats.org/drawingml/2006/main">
              <a:ext uri="{FF2B5EF4-FFF2-40B4-BE49-F238E27FC236}">
                <a16:creationId xmlns:a16="http://schemas.microsoft.com/office/drawing/2014/main" id="{C4B45C8B-28BD-437B-9D03-4640AB48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37197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char 型与整型运算结果的精度是 int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The precision of the operation result between char type and integer type is int</a:t>
            </a:r>
          </a:p>
        </p:txBody>
      </p:sp>
      <p:sp>
        <p:nvSpPr>
          <p:cNvPr id="711" name="">
            <a:extLst xmlns:a="http://schemas.openxmlformats.org/drawingml/2006/main">
              <a:ext uri="{FF2B5EF4-FFF2-40B4-BE49-F238E27FC236}">
                <a16:creationId xmlns:a16="http://schemas.microsoft.com/office/drawing/2014/main" id="{C6C77872-1517-46FA-ADB4-4FC1939D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933950"/>
            <a:ext cx="7553325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0F5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12" name="">
            <a:extLst xmlns:a="http://schemas.openxmlformats.org/drawingml/2006/main">
              <a:ext uri="{FF2B5EF4-FFF2-40B4-BE49-F238E27FC236}">
                <a16:creationId xmlns:a16="http://schemas.microsoft.com/office/drawing/2014/main" id="{BA7FA52B-6924-47AE-8064-7F166672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5067300"/>
            <a:ext cx="7172325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125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例如：5/2 的结果是 2；想得到 2.5 必须写 5.0/2 或 5.0f/2。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For example: 5/2 is 2; to get 2.5 you must write 5.0/2 or 5.0f/2.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例如：byte x=7，表达式 'B'+x 的结果是 int 型。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For example: byte x=7, the result of the expression 'B'+x is int type.</a:t>
            </a:r>
          </a:p>
        </p:txBody>
      </p:sp>
      <p:sp>
        <p:nvSpPr>
          <p:cNvPr id="713" name="">
            <a:extLst xmlns:a="http://schemas.openxmlformats.org/drawingml/2006/main">
              <a:ext uri="{FF2B5EF4-FFF2-40B4-BE49-F238E27FC236}">
                <a16:creationId xmlns:a16="http://schemas.microsoft.com/office/drawing/2014/main" id="{6D0B1F40-793B-43B7-A887-9F8454B2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7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2331206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5" name="">
            <a:extLst xmlns:a="http://schemas.openxmlformats.org/drawingml/2006/main">
              <a:ext uri="{FF2B5EF4-FFF2-40B4-BE49-F238E27FC236}">
                <a16:creationId xmlns:a16="http://schemas.microsoft.com/office/drawing/2014/main" id="{65C59B8F-1F1A-4A13-B655-E7ABAEEA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16" name="">
            <a:extLst xmlns:a="http://schemas.openxmlformats.org/drawingml/2006/main">
              <a:ext uri="{FF2B5EF4-FFF2-40B4-BE49-F238E27FC236}">
                <a16:creationId xmlns:a16="http://schemas.microsoft.com/office/drawing/2014/main" id="{5883A1F0-151C-4A2C-8D11-29AA18CD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17" name="">
            <a:extLst xmlns:a="http://schemas.openxmlformats.org/drawingml/2006/main">
              <a:ext uri="{FF2B5EF4-FFF2-40B4-BE49-F238E27FC236}">
                <a16:creationId xmlns:a16="http://schemas.microsoft.com/office/drawing/2014/main" id="{8CEC12FA-92AF-4014-96C3-00E89A85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718" name="">
            <a:extLst xmlns:a="http://schemas.openxmlformats.org/drawingml/2006/main">
              <a:ext uri="{FF2B5EF4-FFF2-40B4-BE49-F238E27FC236}">
                <a16:creationId xmlns:a16="http://schemas.microsoft.com/office/drawing/2014/main" id="{F61AD6BA-C782-48E6-8901-B41324F8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§3.1.3</a:t>
            </a:r>
            <a:endParaRPr/>
          </a:p>
        </p:txBody>
      </p:sp>
      <p:sp>
        <p:nvSpPr>
          <p:cNvPr id="719" name="">
            <a:extLst xmlns:a="http://schemas.openxmlformats.org/drawingml/2006/main">
              <a:ext uri="{FF2B5EF4-FFF2-40B4-BE49-F238E27FC236}">
                <a16:creationId xmlns:a16="http://schemas.microsoft.com/office/drawing/2014/main" id="{E53F4B8C-01A8-4594-B90B-155505D4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算术混合运算的精度（下）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Precision of mixed arithmetic operations (Part 2)</a:t>
            </a:r>
          </a:p>
        </p:txBody>
      </p:sp>
      <p:sp>
        <p:nvSpPr>
          <p:cNvPr id="720" name="">
            <a:extLst xmlns:a="http://schemas.openxmlformats.org/drawingml/2006/main">
              <a:ext uri="{FF2B5EF4-FFF2-40B4-BE49-F238E27FC236}">
                <a16:creationId xmlns:a16="http://schemas.microsoft.com/office/drawing/2014/main" id="{080DF488-FB03-42AC-A9A4-75949DBF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9337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21" name="">
            <a:extLst xmlns:a="http://schemas.openxmlformats.org/drawingml/2006/main">
              <a:ext uri="{FF2B5EF4-FFF2-40B4-BE49-F238E27FC236}">
                <a16:creationId xmlns:a16="http://schemas.microsoft.com/office/drawing/2014/main" id="{512C3ED2-D929-42E7-A0C7-F14E6447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190875"/>
            <a:ext cx="338137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6761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常量与变量在编译期的差异。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The difference between constants and variables at compile time.</a:t>
            </a:r>
          </a:p>
        </p:txBody>
      </p:sp>
      <p:sp>
        <p:nvSpPr>
          <p:cNvPr id="722" name="">
            <a:extLst xmlns:a="http://schemas.openxmlformats.org/drawingml/2006/main">
              <a:ext uri="{FF2B5EF4-FFF2-40B4-BE49-F238E27FC236}">
                <a16:creationId xmlns:a16="http://schemas.microsoft.com/office/drawing/2014/main" id="{80B66D7D-615F-499E-8429-7D4A1373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5527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23" name="">
            <a:extLst xmlns:a="http://schemas.openxmlformats.org/drawingml/2006/main">
              <a:ext uri="{FF2B5EF4-FFF2-40B4-BE49-F238E27FC236}">
                <a16:creationId xmlns:a16="http://schemas.microsoft.com/office/drawing/2014/main" id="{9B3BFBA1-8861-4F09-A2B9-B3F58B86A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4384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513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Java 允许把不超出 byte/short/char 范围的常量算术表达式的值赋给对应类型变量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Java allows assigning the value of a constant arithmetic expression that does not exceed the range of byte/short/char to the corresponding type variable.</a:t>
            </a:r>
          </a:p>
        </p:txBody>
      </p:sp>
      <p:sp>
        <p:nvSpPr>
          <p:cNvPr id="724" name="">
            <a:extLst xmlns:a="http://schemas.openxmlformats.org/drawingml/2006/main">
              <a:ext uri="{FF2B5EF4-FFF2-40B4-BE49-F238E27FC236}">
                <a16:creationId xmlns:a16="http://schemas.microsoft.com/office/drawing/2014/main" id="{947CFA68-5C0F-4211-9450-909AF005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1146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25" name="">
            <a:extLst xmlns:a="http://schemas.openxmlformats.org/drawingml/2006/main">
              <a:ext uri="{FF2B5EF4-FFF2-40B4-BE49-F238E27FC236}">
                <a16:creationId xmlns:a16="http://schemas.microsoft.com/office/drawing/2014/main" id="{5356FA8C-7A22-4850-863D-B3507DCB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00037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示例：(byte)30 + 'a' = 127，是 int 常量，可赋给 byte 变量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Example: (byte)30 + 'a' = 127, which is an int constant and can be assigned to a byte variable</a:t>
            </a:r>
          </a:p>
        </p:txBody>
      </p:sp>
      <p:sp>
        <p:nvSpPr>
          <p:cNvPr id="726" name="">
            <a:extLst xmlns:a="http://schemas.openxmlformats.org/drawingml/2006/main">
              <a:ext uri="{FF2B5EF4-FFF2-40B4-BE49-F238E27FC236}">
                <a16:creationId xmlns:a16="http://schemas.microsoft.com/office/drawing/2014/main" id="{EA3FF873-036A-4DFF-A926-962830EF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6766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27" name="">
            <a:extLst xmlns:a="http://schemas.openxmlformats.org/drawingml/2006/main">
              <a:ext uri="{FF2B5EF4-FFF2-40B4-BE49-F238E27FC236}">
                <a16:creationId xmlns:a16="http://schemas.microsoft.com/office/drawing/2014/main" id="{6280438D-8F77-4845-99E1-AF2724D45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5623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740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⚠ 表达式含变量时，编译只检查变量类型，不检查变量值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⚠ When the expression contains variables, compilation only checks the variable type, not the variable value.</a:t>
            </a:r>
          </a:p>
        </p:txBody>
      </p:sp>
      <p:sp>
        <p:nvSpPr>
          <p:cNvPr id="728" name="">
            <a:extLst xmlns:a="http://schemas.openxmlformats.org/drawingml/2006/main">
              <a:ext uri="{FF2B5EF4-FFF2-40B4-BE49-F238E27FC236}">
                <a16:creationId xmlns:a16="http://schemas.microsoft.com/office/drawing/2014/main" id="{561BC762-633B-4C39-882B-136995FF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2386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29" name="">
            <a:extLst xmlns:a="http://schemas.openxmlformats.org/drawingml/2006/main">
              <a:ext uri="{FF2B5EF4-FFF2-40B4-BE49-F238E27FC236}">
                <a16:creationId xmlns:a16="http://schemas.microsoft.com/office/drawing/2014/main" id="{914314E8-CA6F-421E-B00F-270051D8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124325"/>
            <a:ext cx="736282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70000"/>
              </a:lnSpc>
              <a:buNone/>
            </a:pP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示例：</a:t>
            </a: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byte x = 97 + 1;  byte y = 1;  </a:t>
            </a: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正确；</a:t>
            </a: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byte z = 97 + y;  </a:t>
            </a: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错误——编译提示</a:t>
            </a: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"</a:t>
            </a: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不兼容的类型：从</a:t>
            </a: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 int </a:t>
            </a: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转换到</a:t>
            </a: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 byte </a:t>
            </a: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可能会有损失</a:t>
            </a: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"</a:t>
            </a:r>
            <a:endParaRPr/>
          </a:p>
        </p:txBody>
      </p:sp>
      <p:sp>
        <p:nvSpPr>
          <p:cNvPr id="730" name="">
            <a:extLst xmlns:a="http://schemas.openxmlformats.org/drawingml/2006/main">
              <a:ext uri="{FF2B5EF4-FFF2-40B4-BE49-F238E27FC236}">
                <a16:creationId xmlns:a16="http://schemas.microsoft.com/office/drawing/2014/main" id="{561B48C3-E13D-4B07-9F76-F9A9A9548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8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7350407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2" name="">
            <a:extLst xmlns:a="http://schemas.openxmlformats.org/drawingml/2006/main">
              <a:ext uri="{FF2B5EF4-FFF2-40B4-BE49-F238E27FC236}">
                <a16:creationId xmlns:a16="http://schemas.microsoft.com/office/drawing/2014/main" id="{B324A0CF-CE99-45AC-B9FA-C2FE8999F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33" name="">
            <a:extLst xmlns:a="http://schemas.openxmlformats.org/drawingml/2006/main">
              <a:ext uri="{FF2B5EF4-FFF2-40B4-BE49-F238E27FC236}">
                <a16:creationId xmlns:a16="http://schemas.microsoft.com/office/drawing/2014/main" id="{D0335199-C365-4E5A-A4EC-E16D571A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34" name="">
            <a:extLst xmlns:a="http://schemas.openxmlformats.org/drawingml/2006/main">
              <a:ext uri="{FF2B5EF4-FFF2-40B4-BE49-F238E27FC236}">
                <a16:creationId xmlns:a16="http://schemas.microsoft.com/office/drawing/2014/main" id="{3C26E6AA-DC1C-42ED-8E6F-AB65CC97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735" name="">
            <a:extLst xmlns:a="http://schemas.openxmlformats.org/drawingml/2006/main">
              <a:ext uri="{FF2B5EF4-FFF2-40B4-BE49-F238E27FC236}">
                <a16:creationId xmlns:a16="http://schemas.microsoft.com/office/drawing/2014/main" id="{EF78FE26-1D55-448D-B5FB-C458EE6E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§3.1.4</a:t>
            </a:r>
            <a:endParaRPr/>
          </a:p>
        </p:txBody>
      </p:sp>
      <p:sp>
        <p:nvSpPr>
          <p:cNvPr id="736" name="">
            <a:extLst xmlns:a="http://schemas.openxmlformats.org/drawingml/2006/main">
              <a:ext uri="{FF2B5EF4-FFF2-40B4-BE49-F238E27FC236}">
                <a16:creationId xmlns:a16="http://schemas.microsoft.com/office/drawing/2014/main" id="{8AFE0C2F-547E-4484-BCAA-098C201C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557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关系运算符与关系表达式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Relational operators and relational expressions</a:t>
            </a:r>
          </a:p>
        </p:txBody>
      </p:sp>
      <p:sp>
        <p:nvSpPr>
          <p:cNvPr id="737" name="">
            <a:extLst xmlns:a="http://schemas.openxmlformats.org/drawingml/2006/main">
              <a:ext uri="{FF2B5EF4-FFF2-40B4-BE49-F238E27FC236}">
                <a16:creationId xmlns:a16="http://schemas.microsoft.com/office/drawing/2014/main" id="{4C1D86A9-59BD-4E71-8E30-E44E8C8B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9337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38" name="">
            <a:extLst xmlns:a="http://schemas.openxmlformats.org/drawingml/2006/main">
              <a:ext uri="{FF2B5EF4-FFF2-40B4-BE49-F238E27FC236}">
                <a16:creationId xmlns:a16="http://schemas.microsoft.com/office/drawing/2014/main" id="{70F2FF94-10B7-4320-8ACB-D6855415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1050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39" name="">
            <a:extLst xmlns:a="http://schemas.openxmlformats.org/drawingml/2006/main">
              <a:ext uri="{FF2B5EF4-FFF2-40B4-BE49-F238E27FC236}">
                <a16:creationId xmlns:a16="http://schemas.microsoft.com/office/drawing/2014/main" id="{7C66F326-0D9B-4537-8726-4D75442F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19907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运算符：&gt;、&lt;、&gt;=、&lt;=、==、!=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Operators: &gt;, &lt;, &gt;=, &lt;=, ==, !=</a:t>
            </a:r>
          </a:p>
        </p:txBody>
      </p:sp>
      <p:sp>
        <p:nvSpPr>
          <p:cNvPr id="740" name="">
            <a:extLst xmlns:a="http://schemas.openxmlformats.org/drawingml/2006/main">
              <a:ext uri="{FF2B5EF4-FFF2-40B4-BE49-F238E27FC236}">
                <a16:creationId xmlns:a16="http://schemas.microsoft.com/office/drawing/2014/main" id="{57D417E2-9448-4D39-BBEA-E4BE636E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667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41" name="">
            <a:extLst xmlns:a="http://schemas.openxmlformats.org/drawingml/2006/main">
              <a:ext uri="{FF2B5EF4-FFF2-40B4-BE49-F238E27FC236}">
                <a16:creationId xmlns:a16="http://schemas.microsoft.com/office/drawing/2014/main" id="{D58A96A0-7ED4-48FE-8E28-A0444B8C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5527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二目运算符，用来比较两个值的关系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Binary operator, used to compare the relationship between two values</a:t>
            </a:r>
          </a:p>
        </p:txBody>
      </p:sp>
      <p:sp>
        <p:nvSpPr>
          <p:cNvPr id="742" name="">
            <a:extLst xmlns:a="http://schemas.openxmlformats.org/drawingml/2006/main">
              <a:ext uri="{FF2B5EF4-FFF2-40B4-BE49-F238E27FC236}">
                <a16:creationId xmlns:a16="http://schemas.microsoft.com/office/drawing/2014/main" id="{48739218-21E9-4CDF-978F-3A302EBC5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2289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43" name="">
            <a:extLst xmlns:a="http://schemas.openxmlformats.org/drawingml/2006/main">
              <a:ext uri="{FF2B5EF4-FFF2-40B4-BE49-F238E27FC236}">
                <a16:creationId xmlns:a16="http://schemas.microsoft.com/office/drawing/2014/main" id="{B73526E2-04A0-4FE2-8BC7-DBDB2E2B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11467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运算结果是 boolean 型：关系成立为 true，否则 false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The operation result is of boolean type: the relationship is true, otherwise false</a:t>
            </a:r>
          </a:p>
        </p:txBody>
      </p:sp>
      <p:sp>
        <p:nvSpPr>
          <p:cNvPr id="744" name="">
            <a:extLst xmlns:a="http://schemas.openxmlformats.org/drawingml/2006/main">
              <a:ext uri="{FF2B5EF4-FFF2-40B4-BE49-F238E27FC236}">
                <a16:creationId xmlns:a16="http://schemas.microsoft.com/office/drawing/2014/main" id="{54CB91DE-E6BD-44FF-BCEB-73A7303B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7909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45" name="">
            <a:extLst xmlns:a="http://schemas.openxmlformats.org/drawingml/2006/main">
              <a:ext uri="{FF2B5EF4-FFF2-40B4-BE49-F238E27FC236}">
                <a16:creationId xmlns:a16="http://schemas.microsoft.com/office/drawing/2014/main" id="{587700EA-9AB3-42D1-8912-DFF5D3B1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6766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操作数是基本数据类型时，比较数据内容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When the operand is a basic data type, compare the data content</a:t>
            </a:r>
          </a:p>
        </p:txBody>
      </p:sp>
      <p:sp>
        <p:nvSpPr>
          <p:cNvPr id="746" name="">
            <a:extLst xmlns:a="http://schemas.openxmlformats.org/drawingml/2006/main">
              <a:ext uri="{FF2B5EF4-FFF2-40B4-BE49-F238E27FC236}">
                <a16:creationId xmlns:a16="http://schemas.microsoft.com/office/drawing/2014/main" id="{C2DA704B-4D6E-45E5-99B0-9DB1494C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3529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47" name="">
            <a:extLst xmlns:a="http://schemas.openxmlformats.org/drawingml/2006/main">
              <a:ext uri="{FF2B5EF4-FFF2-40B4-BE49-F238E27FC236}">
                <a16:creationId xmlns:a16="http://schemas.microsoft.com/office/drawing/2014/main" id="{2F0974EF-5149-4F18-B477-BE43297B2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2386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60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操作数是引用类型时，比较对象的引用值（是否同一对象）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When the operand is a reference type, compare the reference value of the object (whether it is the same object)</a:t>
            </a:r>
          </a:p>
        </p:txBody>
      </p:sp>
      <p:sp>
        <p:nvSpPr>
          <p:cNvPr id="748" name="">
            <a:extLst xmlns:a="http://schemas.openxmlformats.org/drawingml/2006/main">
              <a:ext uri="{FF2B5EF4-FFF2-40B4-BE49-F238E27FC236}">
                <a16:creationId xmlns:a16="http://schemas.microsoft.com/office/drawing/2014/main" id="{C72BF719-F53B-4EBD-B261-F01F8E58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800600"/>
            <a:ext cx="7553325" cy="561975"/>
          </a:xfrm>
          <a:prstGeom xmlns:a="http://schemas.openxmlformats.org/drawingml/2006/main" prst="roundRect">
            <a:avLst>
              <a:gd name="adj" fmla="val 16949"/>
            </a:avLst>
          </a:prstGeom>
          <a:solidFill xmlns:a="http://schemas.openxmlformats.org/drawingml/2006/main">
            <a:srgbClr val="F0F5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49" name="">
            <a:extLst xmlns:a="http://schemas.openxmlformats.org/drawingml/2006/main">
              <a:ext uri="{FF2B5EF4-FFF2-40B4-BE49-F238E27FC236}">
                <a16:creationId xmlns:a16="http://schemas.microsoft.com/office/drawing/2014/main" id="{4522D9D1-D0BC-4690-A387-55937FE9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933950"/>
            <a:ext cx="7172325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125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详见表 3.1 关系运算符（见下页）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See Table 3.1 Relational Operators for details (see next page)</a:t>
            </a:r>
          </a:p>
        </p:txBody>
      </p:sp>
      <p:sp>
        <p:nvSpPr>
          <p:cNvPr id="750" name="">
            <a:extLst xmlns:a="http://schemas.openxmlformats.org/drawingml/2006/main">
              <a:ext uri="{FF2B5EF4-FFF2-40B4-BE49-F238E27FC236}">
                <a16:creationId xmlns:a16="http://schemas.microsoft.com/office/drawing/2014/main" id="{A83FAAEE-A71B-475B-8199-9FE7813C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9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7442573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737CAF-46A1-48D3-BA0F-15F10FD3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DA18F7-C7C2-4BBB-AE21-12D4A9FB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0558F2-DCB0-46AA-9839-F4774077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BDCAFE-A3D6-4FBC-B9FF-F007207C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表 3.1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Table 3.1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D7EAD9-3EC4-47AC-8811-6F799932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关系运算符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Relational operators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78722B-DE5E-4C18-A1F5-96549582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6d013b8b3e4fec"/>
          <a:srcRect xmlns:a="http://schemas.openxmlformats.org/drawingml/2006/main" l="27" t="0" r="2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343400" y="2295525"/>
            <a:ext cx="7239000" cy="2905125"/>
          </a:xfrm>
          <a:prstGeom xmlns:a="http://schemas.openxmlformats.org/drawingml/2006/main" prst="roundRect">
            <a:avLst>
              <a:gd name="adj" fmla="val 2623"/>
            </a:avLst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DB5258-E44F-44BB-BD7F-603846A9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10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4022667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626C44-8726-4273-A616-311CB08D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4D3F2B-6291-4271-AFD6-7C1E6625B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CB4C23-021C-4A54-A2DA-DFB3BD3B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2179D6-FCAE-4801-A39F-58B0CD06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§3.1.5</a:t>
            </a:r>
            <a:endParaRPr/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CFEB69-B368-411B-B24E-7FC600FB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1201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逻辑运算符与逻辑表达式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Logical operators and logical expressions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E58D8C-C339-43F6-8F69-D67DFB64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9337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EC4177-553F-4C9E-A4BE-0009F76D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16573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7135B0-13E8-4012-A717-0F03EB85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15430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运算符：&amp;&amp;、||、!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Operators: &amp;&amp;, ||, !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C3BBC1-4067-4EAC-8D30-DA6C05C4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2193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0CC1BF-F916-4427-A7D2-4254FC37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1050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&amp;&amp;、|| 为二目，实现逻辑与 / 逻辑或；! 为单目，实现逻辑非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&amp;&amp;, || are binary, realizing logical AND / logical OR; ! is single-order, realizing logical negation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069673-855B-4C17-A15B-3C868603B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7813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22717B-3835-419E-9908-8455318E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6670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操作元必须是 boolean 型，可用来连接关系表达式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The operand must be of type boolean and can be used to connect relational expressions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F8C68C-45DF-4BAD-BB9F-6EC24F60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3432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17C165-1971-41C5-8E17-4310E964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228975"/>
            <a:ext cx="736282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62633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&amp;&amp;、|| 是短路运算符：op1=false 时 &amp;&amp; 不再计算 op2；op1=true 时 || 不再计算 op2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&amp;&amp; and || are short-circuit operators: when op1=false, &amp;&amp; no longer calculates op2; when op1=true, || no longer calculates op2.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626AA5D-D8AF-4470-8228-01959561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181475"/>
            <a:ext cx="7553325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6DCE5"/>
            </a:solidFill>
            <a:prstDash val="solid"/>
          </a:ln>
          <a:effectLst xmlns:a="http://schemas.openxmlformats.org/drawingml/2006/main">
            <a:outerShdw blurRad="57150" dist="19050" dir="5400000">
              <a:srgbClr val="0F1C2E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FD5606-5EDB-4EBA-AF40-458BC90B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2957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op1 &amp;&amp; op2    //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短路与：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op1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为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false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时不计算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op2</a:t>
            </a:r>
            <a:endParaRPr/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05952B0-A259-44E5-B905-79032C1D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64820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op1 || op2    //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短路或：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op1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为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true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时不计算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op2</a:t>
            </a:r>
            <a:endParaRPr/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D25665-515D-4D48-A9E9-12DFEE7B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5248275"/>
            <a:ext cx="7553325" cy="561975"/>
          </a:xfrm>
          <a:prstGeom xmlns:a="http://schemas.openxmlformats.org/drawingml/2006/main" prst="roundRect">
            <a:avLst>
              <a:gd name="adj" fmla="val 16949"/>
            </a:avLst>
          </a:prstGeom>
          <a:solidFill xmlns:a="http://schemas.openxmlformats.org/drawingml/2006/main">
            <a:srgbClr val="F0F5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4C423C-7B22-48CE-85A2-1A104DD6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5381625"/>
            <a:ext cx="7172325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125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逻辑运算规则详见表 3.2（下页）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See Table 3.2 for details of logical operation rules (next page)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B07B537-9D32-437A-AF48-62D2FE53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11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7389097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2C7AF7-F0B9-44BF-8227-F82424D60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77F0ECB-4315-4470-89CE-2B44790D5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E6EFFF0-2D57-426F-A9EC-47866B1F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4023D4C-4B5F-4C55-8EBB-21A3F5EF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表 3.2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Table 3.2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977E773-F11A-49D6-B696-963CB76A8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1945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用逻辑运算符进行逻辑运算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Perform logical operations using logical operators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99FD53E-C164-40EC-BCD0-B81E43F3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9337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89f32e37de4575"/>
          <a:srcRect xmlns:a="http://schemas.openxmlformats.org/drawingml/2006/main" l="47" t="0" r="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343400" y="2695575"/>
            <a:ext cx="7239000" cy="2114550"/>
          </a:xfrm>
          <a:prstGeom xmlns:a="http://schemas.openxmlformats.org/drawingml/2006/main" prst="roundRect">
            <a:avLst>
              <a:gd name="adj" fmla="val 3604"/>
            </a:avLst>
          </a:prstGeom>
        </p:spPr>
      </p:pic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0219FA7-1198-4C33-B33E-48232E982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12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4912264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C504ECF-B006-466D-97E9-A13FB6E8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95A10DA-1D03-4FFB-B3F5-983557578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D32A665-CD2C-40DE-A85F-6499A7FA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84BF0BC-3E79-42AA-A7F4-3D2F1D09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短路例题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Short circuit example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64E93B4-C05B-48F0-8DAE-D2AC58CF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0312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短路运算符演示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Short circuit operator demonstration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CC9C376-D04C-4253-A345-9C9B1CCC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E9B7CC8-73E8-4C69-84E5-FAC2B167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注意 y 的值：因为 || 短路，y=20 没有被执行。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Note the value of y: y=20 is not executed because || is short-circuited.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48D2248-8B4C-413B-B42B-442DCEFC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695575"/>
            <a:ext cx="7553325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6DCE5"/>
            </a:solidFill>
            <a:prstDash val="solid"/>
          </a:ln>
          <a:effectLst xmlns:a="http://schemas.openxmlformats.org/drawingml/2006/main">
            <a:outerShdw blurRad="57150" dist="19050" dir="5400000">
              <a:srgbClr val="0F1C2E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65B4965-39ED-40F8-A8EA-36FE7A0E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28098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int x = 10, y = 10;</a:t>
            </a:r>
            <a:endParaRPr/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7903291-089D-4CA7-A4D2-82E11904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16230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if ( ((x=0)==0) || ((y=20)==20) ) {</a:t>
            </a:r>
            <a:endParaRPr/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93380FE-AAF6-40F8-9113-118072AB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51472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System.out.println("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现在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x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的值是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:" + x);   // x = 0</a:t>
            </a:r>
            <a:endParaRPr/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08080FC-CA99-4AD4-93E0-48BF4CF7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8671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System.out.println("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现在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y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的值是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:" + y);   // y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仍为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10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（短路）</a:t>
            </a:r>
            <a:endParaRPr/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6E7A88B-ED5E-4793-8EC6-E8709854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2195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3FEE701-A58B-40E1-A742-237AFFAA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13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9941608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93A1C1A-A2FB-475E-9FBC-F07C9419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321E6D4-DBAA-4FAC-AE04-728762ACF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08DA277-B52B-436C-8AE7-F3C7E473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27D4C1B-BB84-40A2-B278-BF601C09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§3.1.6</a:t>
            </a:r>
            <a:endParaRPr/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9DF30B1-3CF2-4558-94EC-6D4E2763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2225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赋值运算符与赋值表达式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Assignment operators and assignment expressions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C35F500-F083-4754-B20F-669ED01F5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9337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EE8B1C6-5D31-4558-AAF2-933DD438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19335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FFCEB64-6648-4E16-B638-EC3704AA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181927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赋值运算符：=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Assignment operator: =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0E1511C-FD4C-4534-830E-D7678E39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4955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344702D-147F-476C-8D15-9FA3FFDF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3812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二目运算符，左操作元必须是变量，不能是常量或表达式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Binary operator, the left operand must be a variable, not a constant or an expression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66B5A20-8C50-44A8-AD1F-AF1FE768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0575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67B250E-E6C5-40C4-8B04-946B241C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9432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优先级较低（14 级），结合方向从右到左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Lower priority (level 14), binding direction from right to left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5C70114-BB59-4AAA-AE69-C54F4C066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619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57C1F25-A36E-427D-9DC3-10C8786F2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5052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赋值表达式的值就是 = 左面变量的值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The value of the assignment expression is the value of the variable on the left of =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2CDA7B8-98C7-4453-B977-A64BEBF1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1814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57566E9-F8A6-4D2E-A4D0-ED9E56AAB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06717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⚠ 不要将赋值 = 与等号逻辑 == 混淆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⚠ Do not confuse assignment = with equal sign logic ==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A55A05B-D6E9-46C4-B1EE-1F86F9F6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629150"/>
            <a:ext cx="7553325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6DCE5"/>
            </a:solidFill>
            <a:prstDash val="solid"/>
          </a:ln>
          <a:effectLst xmlns:a="http://schemas.openxmlformats.org/drawingml/2006/main">
            <a:outerShdw blurRad="57150" dist="19050" dir="5400000">
              <a:srgbClr val="0F1C2E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1C6BE89-1707-473D-8AD3-0FE30D67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7434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x = 20;</a:t>
            </a:r>
            <a:endParaRPr/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0DC20D6-A261-43C4-A33A-7AE297FE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50958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b = true;</a:t>
            </a:r>
            <a:endParaRPr/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3330DE7-0174-4266-B9C6-565860C1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14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2262419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8B80920-2E8E-44CA-B87E-1CE26663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1B5B7F6-5830-491E-9075-4BEAE929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EC892ED-D41F-4056-B184-C98E1AD7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9FA4B57-9835-4DFC-BB64-9BD40E8AA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§3.1.7</a:t>
            </a:r>
            <a:endParaRPr/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61346E6-F332-40FE-AC2A-1C444F1D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位运算符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Bit operators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59E9935-B858-46F3-A09F-A55C3542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C57760C-2FC0-4367-A687-2849ADC2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3873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对两个整型数据按对应位进行运算，结果为新的整型数据。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Operate two integer data according to corresponding bits, and the result is new integer data.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19C6733-90E1-44F9-8F54-AD708F02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7527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C7C6FA2-D00D-483A-A83B-AF74EEA6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6384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0182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按位与 &amp; ：双目，a、b 对应位都是 1 时 c 的该位是 1，否则 0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Bitwise AND &amp;: Binary, when the corresponding bits of a and b are both 1, the bit of c is 1, otherwise 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F14C1EE-6D42-4192-9312-018CB890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3147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C13F502-FAC2-4D7E-B802-C0D54552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2004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170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按位或 | ：双目，a、b 对应位都是 0 时 c 的该位是 0，否则 1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Bitwise OR |: Binary, when the corresponding bits of a and b are both 0, the bit of c is 0, otherwise 1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093D372-31E1-498A-AE9F-8D3B64250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8766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B382A1F-3F57-4FC6-B5DF-C1F23342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76237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1783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按位非 ~ ：单目，a 对应位是 0 时 c 的该位是 1，否则是 0（取反）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Bitwise not ~: unary, when the corresponding bit of a is 0, the bit of c is 1, otherwise it is 0 (reverse)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742FA98-3449-417C-A980-E1101167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4386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5216193-8A7C-462C-924D-43423267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3243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9241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按位异或 ^ ：双目，a、b 对应位相同时 c 的该位是 0，否则 1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Bitwise XOR ^: Binary, when the corresponding bits of a and b are the same, the bit of c is 0, otherwise 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7BF9750-49E4-4623-9563-C8596A95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15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6491927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EB5C35A-A230-4063-86DC-76F1F116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CD41AC3-6569-4CDA-972D-FDD79372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51AA7FC1-A52E-4A9D-AE56-33865ADB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33AD7208-2D9E-495F-8278-2B41759D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573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例子1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Example 1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400AEF4A-11E3-458E-92CC-38EA5FBAA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5621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1201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用异或对字符加密与解密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Encrypt and decrypt characters using XOR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31336FB5-00F1-4168-84D7-52E520AD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8956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531C7A10-744C-42B8-A134-17A6E36A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152775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992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利用 "异或" 的性质：对同一字符 a 与 secret 异或两次，结果仍是 a。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Utilize the properties of "XOR": XOR the same character a with secret twice, the result is still a.</a:t>
            </a:r>
          </a:p>
        </p:txBody>
      </p:sp>
      <p:pic>
        <p:nvPicPr>
          <p:cNvPr id="1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c14ddb2deb4ec4"/>
          <a:srcRect xmlns:a="http://schemas.openxmlformats.org/drawingml/2006/main" l="0" t="7" r="0" b="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524500" y="1600200"/>
            <a:ext cx="4829175" cy="4114800"/>
          </a:xfrm>
          <a:prstGeom xmlns:a="http://schemas.openxmlformats.org/drawingml/2006/main" prst="roundRect">
            <a:avLst>
              <a:gd name="adj" fmla="val 2778"/>
            </a:avLst>
          </a:prstGeom>
          <a:effectLst xmlns:a="http://schemas.openxmlformats.org/drawingml/2006/main">
            <a:outerShdw blurRad="152400" dist="38100" dir="5400000">
              <a:srgbClr val="0F1C2E">
                <a:alpha val="8000"/>
              </a:srgbClr>
            </a:outerShdw>
          </a:effectLst>
        </p:spPr>
      </p:pic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5EB1D731-B844-4CD3-93DF-DF3000ABD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16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32889636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E5A90B2-AE58-4791-9F0E-29CDCDC2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F9A495DC-EB58-4505-8D52-E9A6A4F2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FE0B5D0A-AC66-41A0-8C47-8907B9C1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7159810-99C5-4AA9-A2C5-E8FFA2B7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§3.1.8</a:t>
            </a:r>
            <a:endParaRPr/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29068DA1-2B8A-4BCD-8E54-2B7E0045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instanceof 运算符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instanceof operator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B252B8B3-2CE2-4DCB-8A85-8A69701A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7622FF0-27C7-4029-A2AC-6654B5BCD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1171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653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二目运算符，左操作元是对象，右操作元是类。当左对象是右类或子类创建的对象时，结果为 true，否则 false。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Binary operator, the left operand is an object and the right operand is a class. The result is true when the left object is an object created by the right class or subclass, false otherwise.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5F81331-06F9-436C-8AA5-F8477B24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505075"/>
            <a:ext cx="7553325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6DCE5"/>
            </a:solidFill>
            <a:prstDash val="solid"/>
          </a:ln>
          <a:effectLst xmlns:a="http://schemas.openxmlformats.org/drawingml/2006/main">
            <a:outerShdw blurRad="57150" dist="19050" dir="5400000">
              <a:srgbClr val="0F1C2E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8FC141B-3984-4F30-9366-6C5E5D7AE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26193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String s = new String("abc");</a:t>
            </a:r>
            <a:endParaRPr/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2A3C473F-E884-4FEB-B761-7BD18318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297180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if (s instanceof String)</a:t>
            </a:r>
            <a:endParaRPr/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4C09560A-73A0-48C8-90DE-BFDDC4F4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32422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System.out.println("s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是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String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对象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");</a:t>
            </a:r>
            <a:endParaRPr/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E7029D3D-3B27-4434-966C-9301A7F7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676650"/>
            <a:ext cx="7210425" cy="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8C839152-6532-4ABA-BE7C-2BB6BEAF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7147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Test b = new Test();</a:t>
            </a:r>
            <a:endParaRPr/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596B5D0-8D31-49DD-8622-3C53A2A9D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0671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if (b instanceof Test)</a:t>
            </a:r>
            <a:endParaRPr/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F9760BB8-8617-4C9D-ABBC-BA75DEA5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41960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System.out.println("b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是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Test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对象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");</a:t>
            </a:r>
            <a:endParaRPr/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06473F84-389E-4C95-84C2-D6646892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17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7581072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C1841905-B61B-4362-8091-773816CD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F6F83DB1-A683-440D-8402-B3D9C6BA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E13D3894-23F0-4DD3-BD7A-0E112801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7F5F6A86-8499-4B40-8C37-0FDC81C1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§3.1.9</a:t>
            </a:r>
            <a:endParaRPr/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7D1A6C3F-D3BC-488E-AA04-9937406B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运算符综述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Operator overview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DA34F546-08E4-49A0-AEA8-D18C5051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AD6B8F54-C3C2-4D23-A827-1704F2B46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7527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C52AB2D0-DCEC-4BD3-899E-C95F7F3B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6384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113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Java 表达式是用运算符连接起来、符合 Java 规则的式子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Java expressions are expressions that are connected using operators and conform to Java rules.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E144709C-560B-431B-B133-D8BC582C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3147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4704B4CF-DD8C-4DD2-B5C5-EFB15351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2004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9718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运算符的优先级决定表达式中运算执行的先后顺序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The precedence of operators determines the order in which operations in an expression are performed.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B24B4428-1AB8-4539-A57F-F51335E1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8766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54B88634-CFFD-488D-8424-EF3FC09F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76237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98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建议多用括号 () 明确运算次序，避免阅读歧义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It is recommended to use parentheses () to clarify the order of operations and avoid reading ambiguities.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692BD790-20EA-4B11-8627-FCBF72E2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4386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B71F070A-7B0A-4708-B855-BA2668D9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3243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运算符的结合性决定具有相同级别运算符的先后顺序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The associativity of operators determines the order of operators with the same level.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8B66DBB3-4996-496C-801E-1827303E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18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8632487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2C492042-1491-4083-A82E-238AEBD2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5C54733B-DF44-4378-9DD0-D2DD7FA7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B11A673C-9979-4169-85BE-CFCC2C529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CCC064A1-D594-47B2-9FD4-A4AA5E5F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§3.2</a:t>
            </a:r>
            <a:endParaRPr/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2D8832EB-5140-4D89-9D3A-A074A59E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语句概述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Statement overview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8A42540D-35F2-482F-9F4F-7A6CEA38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1BF2A1C1-ACB1-4135-942C-045CA209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5201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Java 里的语句可分为以下六类。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Statements in Java can be divided into the following six categories.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E618771F-1E98-4696-8AB7-D57EC4F9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190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81A5C85E-5656-4ED8-9729-CDD086D9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0764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70000"/>
              </a:lnSpc>
              <a:buNone/>
            </a:pP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方法调用语句：如</a:t>
            </a: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 System.out.println("Hello");</a:t>
            </a:r>
            <a:endParaRPr/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9511DE7A-F910-4059-B978-D39241CB0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7527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696854CB-812B-421B-B742-CD126285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6384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表达式语句：表达式末尾加分号，如 x = 23;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Expression statement: Add a semicolon at the end of the expression, such as x = 23;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83C54F11-3861-49AF-9A51-2E61A536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3147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BB366A54-6561-410F-A93C-FF7CB5AE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2004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复合语句：用 { } 把若干语句括起来构成复合语句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Compound statement: Use { } to enclose several statements to form a compound statement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E073049-A444-45FC-A58D-618A2FB23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8766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266396CC-9729-4883-B9BE-EB1B5B1A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76237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空语句：一个分号也是一条语句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Empty statement: a semicolon is also a statement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10A7E668-6D7E-43D8-B62C-A4888248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4386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78F9D17-057F-4897-AF0B-73DEB4A4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3243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5281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控制语句：条件分支语句、开关语句、循环语句（本章重点）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Control statements: conditional branch statements, switch statements, loop statements (the focus of this chapter)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3146EB06-C891-47F9-B5D1-B035EEE7D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50006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AF804495-9782-4529-A304-5A0B5B65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8863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0093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package 语句和 import 语句：与类、对象有关，将在第 4 章讲解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package statement and import statement: related to classes and objects, will be explained in Chapter 4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B5B249D1-F4D7-4B6F-8E89-49BC3B7C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19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2556916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E042C8C1-9F32-4BAC-B5EE-89BDC1D0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5F09D8BC-CC78-4EAB-97BA-CF682C0C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EA45385E-40F9-4415-8DF3-FE13403A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78690D5A-3C4F-4873-8AC8-D4C5D024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§3.3</a:t>
            </a:r>
            <a:endParaRPr/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9229539E-2F58-4320-A862-AAFAD481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3312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if 条件分支语句（三种形式）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if conditional branch statement (three forms)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8D42EC18-0181-4144-8EFD-EF6E6C72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9337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03FBF73D-40F5-4B2C-B10B-EED3A27DF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190875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3432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按语法格式细分为三种形式，均要求条件表达式为 boolean 型。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It is subdivided into three forms according to the syntax format, all of which require the conditional expression to be of boolean type.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0B8BEBF8-37B9-417C-BD68-63AF98C8B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0289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EC57FC74-D9B5-4053-923D-76ADB22A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9146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if 语句：单条件、单分支——满足条件才执行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if statement: single condition, single branch - executed only when the condition is met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5D143D59-8FC9-4067-A95B-0F8A0175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5909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A8ACC808-9A65-4CBA-BEAC-32F95E07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4766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if-else 语句：单条件、双分支——二选一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if-else statement: single condition, double branch - choose one of the two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4F38003E-46E5-44A8-908E-8F3D5683C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1529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34DBDC23-5AC3-4998-B487-2DE0646B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0386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if-else if-...-else 语句：多条件、多分支——依次判断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if-else if-...-else statement: multiple conditions, multiple branches - judge in sequence</a:t>
            </a:r>
          </a:p>
        </p:txBody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F608B77F-EE65-492A-8082-6FE44760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20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55397474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808F4586-AFC2-4163-BD2A-23D78CD47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7C7063B8-AB1C-49F3-A374-30F6AEB68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B450E4C0-6F48-47C7-A2BA-7AC68DF7E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B62B5DE3-C050-4749-ACF2-3E3ABF45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§3.3.1</a:t>
            </a:r>
            <a:endParaRPr/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ABED0EB2-9871-4759-9BDE-690CAD26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if 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if statement</a:t>
            </a: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9B364939-5419-4DBE-BBD9-F547AD0E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F61096EC-DCA9-4AEE-9C6A-552A1D18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3432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单条件分支语句，根据一个条件控制程序执行流程（见图 3.2）。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A single conditional branch statement controls the program execution flow based on a condition (see Figure 3.2).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2DCC1211-7C79-4F6D-8DEE-0F226BB0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686050"/>
            <a:ext cx="7553325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6DCE5"/>
            </a:solidFill>
            <a:prstDash val="solid"/>
          </a:ln>
          <a:effectLst xmlns:a="http://schemas.openxmlformats.org/drawingml/2006/main">
            <a:outerShdw blurRad="57150" dist="19050" dir="5400000">
              <a:srgbClr val="0F1C2E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C8563EE5-2251-4587-8551-DA6A231E7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28003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if (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表达式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) {</a:t>
            </a:r>
            <a:endParaRPr/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A954B50A-2190-4100-9FFC-D5C9D465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1527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6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若干语句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several sentences</a:t>
            </a: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F331667F-3D1D-40D1-83AB-029FC2482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50520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9F7E52DA-4792-4BB8-8F3D-917D884E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105275"/>
            <a:ext cx="7553325" cy="561975"/>
          </a:xfrm>
          <a:prstGeom xmlns:a="http://schemas.openxmlformats.org/drawingml/2006/main" prst="roundRect">
            <a:avLst>
              <a:gd name="adj" fmla="val 16949"/>
            </a:avLst>
          </a:prstGeom>
          <a:solidFill xmlns:a="http://schemas.openxmlformats.org/drawingml/2006/main">
            <a:srgbClr val="F0F5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0BA6797B-2CB1-4501-9A00-DEE24E86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238625"/>
            <a:ext cx="7172325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125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表达式的值必须是 boolean 型；不能用 0 代表 false，1 代表 true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The value of the expression must be of type boolean; 0 cannot be used to represent false or 1 to represent true.</a:t>
            </a: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FF6C3A10-F2DC-4E0C-97FC-08EF2A92D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21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5487409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4F693168-999A-421E-9005-6B400463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33D3D555-5CBD-4C65-BFC1-E83427F7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47560935-02DA-44E7-8332-181B6BDE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DA25ABA8-FE63-49BA-BE8D-72881C29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图 3.2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Figure 3.2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78E478E4-77F7-4926-B149-6BA4CAC4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63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if 单条件、单分支语句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if single condition, single branch statement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E0038B5E-BD3D-4F63-AFA8-8AB74918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9337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cd71e6da514a53"/>
          <a:srcRect xmlns:a="http://schemas.openxmlformats.org/drawingml/2006/main" l="0" t="48" r="0" b="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667375" y="1657350"/>
            <a:ext cx="4591050" cy="4191000"/>
          </a:xfrm>
          <a:prstGeom xmlns:a="http://schemas.openxmlformats.org/drawingml/2006/main" prst="roundRect">
            <a:avLst>
              <a:gd name="adj" fmla="val 1818"/>
            </a:avLst>
          </a:prstGeom>
        </p:spPr>
      </p:pic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2D92BF70-6818-49B3-AACD-87BECC27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22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640261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6DC69F1B-A549-4B74-9176-0C7473C2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A7D15B0C-EF23-4455-A65E-7476460EB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9FE63C08-693F-4AA3-B56F-20917FD0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D2C255F3-5E2B-44B8-923E-C12B24F1D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573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例子2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Example 2</a:t>
            </a:r>
          </a:p>
        </p:txBody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7A5FFBBA-4980-4E7D-982A-48A0D5FA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562100"/>
            <a:ext cx="3381375" cy="1647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3818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用 if 语句将三个数从小到大排序（上）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Use if statement to sort three numbers from small to large (Part 1)</a:t>
            </a:r>
          </a:p>
        </p:txBody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97A5FB62-4247-4F1D-881F-E9925489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438525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301E7547-6194-4E00-80CC-A7C232D4A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695700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9881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三个 if 块依次确保 a ≤ b、a ≤ c、b ≤ c。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The three if blocks in turn ensure that a ≤ b, a ≤ c, b ≤ c.</a:t>
            </a:r>
          </a:p>
        </p:txBody>
      </p:sp>
      <p:pic>
        <p:nvPicPr>
          <p:cNvPr id="2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b555e6f1d84cf0"/>
          <a:srcRect xmlns:a="http://schemas.openxmlformats.org/drawingml/2006/main" l="5" t="0" r="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495800" y="1600200"/>
            <a:ext cx="6886575" cy="4114800"/>
          </a:xfrm>
          <a:prstGeom xmlns:a="http://schemas.openxmlformats.org/drawingml/2006/main" prst="roundRect">
            <a:avLst>
              <a:gd name="adj" fmla="val 2778"/>
            </a:avLst>
          </a:prstGeom>
          <a:effectLst xmlns:a="http://schemas.openxmlformats.org/drawingml/2006/main">
            <a:outerShdw blurRad="152400" dist="38100" dir="5400000">
              <a:srgbClr val="0F1C2E">
                <a:alpha val="8000"/>
              </a:srgbClr>
            </a:outerShdw>
          </a:effectLst>
        </p:spPr>
      </p:pic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8FCFC146-EBFB-45E9-94EA-3C7BD300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23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7491348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0437D299-191A-4FF3-8BBA-9CEA2050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A2BB2F27-4995-46E2-8992-4D10A387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B5E14022-4628-410D-9F65-D4ACBC6A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1330457E-23D3-493C-87D1-F921F9630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573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例子2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Example 2</a:t>
            </a: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C32D686F-A7AF-42B8-8B63-D5442F52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562100"/>
            <a:ext cx="3381375" cy="1647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3818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用 if 语句将三个数从小到大排序（下）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Use the if statement to sort three numbers from small to large (Part 2)</a:t>
            </a:r>
          </a:p>
        </p:txBody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25B22768-662A-430A-BAEC-EEB44471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438525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FB3345ED-8B3A-4105-A094-E649D376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695700"/>
            <a:ext cx="338137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7826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接上页（行号连续）。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Continued from previous page (line numbers are consecutive).</a:t>
            </a:r>
          </a:p>
        </p:txBody>
      </p:sp>
      <p:pic>
        <p:nvPicPr>
          <p:cNvPr id="2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adfeaefbbd4e12"/>
          <a:srcRect xmlns:a="http://schemas.openxmlformats.org/drawingml/2006/main" l="0" t="25" r="0" b="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238625" y="1600200"/>
            <a:ext cx="7410450" cy="4114800"/>
          </a:xfrm>
          <a:prstGeom xmlns:a="http://schemas.openxmlformats.org/drawingml/2006/main" prst="roundRect">
            <a:avLst>
              <a:gd name="adj" fmla="val 2778"/>
            </a:avLst>
          </a:prstGeom>
          <a:effectLst xmlns:a="http://schemas.openxmlformats.org/drawingml/2006/main">
            <a:outerShdw blurRad="152400" dist="38100" dir="5400000">
              <a:srgbClr val="0F1C2E">
                <a:alpha val="8000"/>
              </a:srgbClr>
            </a:outerShdw>
          </a:effectLst>
        </p:spPr>
      </p:pic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DE8C0E05-9DF0-4852-8B46-057D76CB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24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8050048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9CE6637A-A4DF-40C9-B437-153DB917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269C2DEB-AF60-46DE-A406-DF74F9AA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4316D25B-872A-4ED1-B70F-32604EDD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4083B0FA-A3ED-4D0F-90DC-381EA5F2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§3.3.2</a:t>
            </a:r>
            <a:endParaRPr/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60A51B50-AA6C-4F6D-A399-8C7175EA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if-else 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if-else statement</a:t>
            </a: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84ACB107-54FE-4F3F-B027-10659B38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97576462-E668-4261-A284-F77FD140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5901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双条件分支语句，根据一个条件选择两个分支之一（见图 3.3）。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A biconditional branch statement selects one of two branches based on a condition (see Figure 3.3).</a:t>
            </a:r>
          </a:p>
        </p:txBody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22CFF78C-C357-46D5-ADC4-102300F2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524125"/>
            <a:ext cx="7553325" cy="2305050"/>
          </a:xfrm>
          <a:prstGeom xmlns:a="http://schemas.openxmlformats.org/drawingml/2006/main" prst="roundRect">
            <a:avLst>
              <a:gd name="adj" fmla="val 33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6DCE5"/>
            </a:solidFill>
            <a:prstDash val="solid"/>
          </a:ln>
          <a:effectLst xmlns:a="http://schemas.openxmlformats.org/drawingml/2006/main">
            <a:outerShdw blurRad="57150" dist="19050" dir="5400000">
              <a:srgbClr val="0F1C2E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1687E4EA-7C2E-40C2-8C1A-5763348F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263842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if (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表达式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) {</a:t>
            </a:r>
            <a:endParaRPr/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B7255271-5722-4B75-AF17-3327E5B5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29908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6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若干语句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several sentences</a:t>
            </a: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CC0BD1CF-07D0-43E4-9C31-58207676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3432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</p:txBody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1DB4122C-7838-4EF2-987F-5756BE0C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69570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else {</a:t>
            </a:r>
            <a:endParaRPr/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A33D9911-4761-47A1-B691-8E940FF4F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04812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6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若干语句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several sentences</a:t>
            </a: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5E72364E-0167-414C-B147-378F0B97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4005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</p:txBody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993A2F33-3FDD-4A49-B31A-CFAFEC29B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25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9416930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6060A879-40DE-4E71-9E6A-A133DDEA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13473E45-F53F-4C1D-8108-4C69AAF7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46CCA57E-B713-44EA-BB12-9EBB4733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C7D17271-C505-408C-A731-5CBC2079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图 3.3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Figure 3.3</a:t>
            </a: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50C3B939-8CAD-4FAE-8E0B-D2F79E18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4356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if-else 单条件、双分支语句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if-else single condition, double branch statement</a:t>
            </a: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B8BAA5FB-577E-496C-8C4C-A7EDCD90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9337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adf9aaf883459a"/>
          <a:srcRect xmlns:a="http://schemas.openxmlformats.org/drawingml/2006/main" l="23" t="0" r="2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53100" y="1657350"/>
            <a:ext cx="4410075" cy="4191000"/>
          </a:xfrm>
          <a:prstGeom xmlns:a="http://schemas.openxmlformats.org/drawingml/2006/main" prst="roundRect">
            <a:avLst>
              <a:gd name="adj" fmla="val 1818"/>
            </a:avLst>
          </a:prstGeom>
        </p:spPr>
      </p:pic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E1CEE382-6ECB-4D7F-BFF9-B9738CDF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26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26850144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47350088-EB28-4405-B534-A08A98570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8B5B37A6-E824-4C0D-BA79-AA829920D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930DCCFB-BCED-4A8A-BEED-5928CBD4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B323FB6C-2153-487F-86F0-2F299B4D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573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例子3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Example 3</a:t>
            </a: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EC014A1B-7B06-456B-ABE2-240BE0D7E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5621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680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用 if-else 输出成绩评价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Use if-else to output performance evaluation</a:t>
            </a: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BC0EAB5E-28EE-415C-8D4D-9C416E111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8956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DE1C3B8A-CC9C-43A3-A434-B277A206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152775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两条 if-else：根据数学/英语分数输出对应评价。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Two if-else: output corresponding evaluation based on math/English scores.</a:t>
            </a:r>
          </a:p>
        </p:txBody>
      </p:sp>
      <p:pic>
        <p:nvPicPr>
          <p:cNvPr id="2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844427bebf487c"/>
          <a:srcRect xmlns:a="http://schemas.openxmlformats.org/drawingml/2006/main" l="0" t="25" r="0" b="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562600" y="1600200"/>
            <a:ext cx="4762500" cy="4114800"/>
          </a:xfrm>
          <a:prstGeom xmlns:a="http://schemas.openxmlformats.org/drawingml/2006/main" prst="roundRect">
            <a:avLst>
              <a:gd name="adj" fmla="val 2778"/>
            </a:avLst>
          </a:prstGeom>
          <a:effectLst xmlns:a="http://schemas.openxmlformats.org/drawingml/2006/main">
            <a:outerShdw blurRad="152400" dist="38100" dir="5400000">
              <a:srgbClr val="0F1C2E">
                <a:alpha val="8000"/>
              </a:srgbClr>
            </a:outerShdw>
          </a:effectLst>
        </p:spPr>
      </p:pic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787A43B2-1521-4506-88B6-A1AECD06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27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31617565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D3052070-2EEC-47EA-834E-37B81F9D1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C5975259-3674-4B77-AE2A-FBBA7380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89114297-1737-4015-91B5-0A2AF5DD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F9EDB337-3C53-4DAF-8D43-FBD06C56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运行效果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Run result</a:t>
            </a:r>
          </a:p>
        </p:txBody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CC48B729-12FC-497F-A74B-8B0022F4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例子3 运行效果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Example 3 Operation effect</a:t>
            </a:r>
          </a:p>
        </p:txBody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090D5AEE-3989-4BF7-A066-8AAC9F229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6DD11C7E-31B5-4B77-B6EF-9AAE9456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设定 math=65、english=85，输出两条 if-else 的判定结果。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Set math=65, english=85, and output two if-else judgment results.</a:t>
            </a:r>
          </a:p>
        </p:txBody>
      </p:sp>
      <p:pic>
        <p:nvPicPr>
          <p:cNvPr id="2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99ae9269ce4d01"/>
          <a:srcRect xmlns:a="http://schemas.openxmlformats.org/drawingml/2006/main" l="44" t="0" r="4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43575" y="2609850"/>
            <a:ext cx="4438650" cy="2286000"/>
          </a:xfrm>
          <a:prstGeom xmlns:a="http://schemas.openxmlformats.org/drawingml/2006/main" prst="roundRect">
            <a:avLst>
              <a:gd name="adj" fmla="val 3333"/>
            </a:avLst>
          </a:prstGeom>
        </p:spPr>
      </p:pic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93E616BD-855A-4F19-A539-64CB0216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28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770705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79FFEBCB-D9EE-44BB-9758-4781E128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E614492B-098E-4FA4-8706-AC78364E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0EC02BBF-C87F-4606-9180-57A4A456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F7840902-BCDE-4901-A84E-4979921F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§3.3.3</a:t>
            </a:r>
            <a:endParaRPr/>
          </a:p>
        </p:txBody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7EF00160-7B9A-467C-ABD8-8DE7C732F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if-else if-else 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if-else if-else statement</a:t>
            </a:r>
          </a:p>
        </p:txBody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2282558C-9A42-4122-BE94-CA374823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E05E2FE1-C188-44FA-B015-0B8B6E097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898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多条件分支语句，按顺序判断多个条件（见图 3.5）。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A multi-condition branch statement evaluates multiple conditions in sequence (see Figure 3.5).</a:t>
            </a:r>
          </a:p>
        </p:txBody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BF1C2B04-1F2E-4311-B835-096887D0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1819275"/>
            <a:ext cx="7553325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6DCE5"/>
            </a:solidFill>
            <a:prstDash val="solid"/>
          </a:ln>
          <a:effectLst xmlns:a="http://schemas.openxmlformats.org/drawingml/2006/main">
            <a:outerShdw blurRad="57150" dist="19050" dir="5400000">
              <a:srgbClr val="0F1C2E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297FC1A8-8310-4D9D-9423-BAD12057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19335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if (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表达式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1) {</a:t>
            </a:r>
            <a:endParaRPr/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15A02D1B-DF4D-4607-8D39-03E63E3B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228600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6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若干语句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several sentences</a:t>
            </a:r>
          </a:p>
        </p:txBody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03B282C0-91BD-421D-90BF-EDAF5C4B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263842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ADB14D55-6D66-489C-8442-E657A28F2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29908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else if (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表达式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2) {</a:t>
            </a:r>
            <a:endParaRPr/>
          </a:p>
        </p:txBody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20C8FA4B-B112-4AE3-8F1C-DEFF1EE9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3432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6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若干语句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several sentences</a:t>
            </a:r>
          </a:p>
        </p:txBody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A062984F-51C5-420D-85CF-2429A92B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69570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</p:txBody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37182381-20D7-4D83-AE97-D91B1A86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04812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…</a:t>
            </a:r>
            <a:endParaRPr/>
          </a:p>
        </p:txBody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EC2BB34E-6F02-4D41-8647-2CCEDFE4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4005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else {</a:t>
            </a:r>
            <a:endParaRPr/>
          </a:p>
        </p:txBody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DF9DB416-77FC-4EBA-9B63-F46B757A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7529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6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若干语句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several sentences</a:t>
            </a:r>
          </a:p>
        </p:txBody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E90FC30D-9383-4A28-BDE7-EC39D402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510540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</p:txBody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D91A6660-0755-4FDA-A74E-017DCA1B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29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74399031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9" name="">
            <a:extLst xmlns:a="http://schemas.openxmlformats.org/drawingml/2006/main">
              <a:ext uri="{FF2B5EF4-FFF2-40B4-BE49-F238E27FC236}">
                <a16:creationId xmlns:a16="http://schemas.microsoft.com/office/drawing/2014/main" id="{5763D194-CD83-437D-AA81-4199F83A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0" name="">
            <a:extLst xmlns:a="http://schemas.openxmlformats.org/drawingml/2006/main">
              <a:ext uri="{FF2B5EF4-FFF2-40B4-BE49-F238E27FC236}">
                <a16:creationId xmlns:a16="http://schemas.microsoft.com/office/drawing/2014/main" id="{A1562F3F-A87C-406E-A5FD-54F96749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1" name="">
            <a:extLst xmlns:a="http://schemas.openxmlformats.org/drawingml/2006/main">
              <a:ext uri="{FF2B5EF4-FFF2-40B4-BE49-F238E27FC236}">
                <a16:creationId xmlns:a16="http://schemas.microsoft.com/office/drawing/2014/main" id="{643C4427-6BC0-4B9F-89C8-3558EC41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740DD971-D414-4DF4-B4F7-19AF3962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图 3.5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Figure 3.5</a:t>
            </a:r>
          </a:p>
        </p:txBody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0C2839E6-74F3-490B-A1E6-E74A969A0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38035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if-else if-else 多条件、多分支语句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if-else if-else multi-condition, multi-branch statement</a:t>
            </a:r>
          </a:p>
        </p:txBody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11908386-C623-4E0B-811D-C22604C2F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9337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a0d5cc097e4be8"/>
          <a:srcRect xmlns:a="http://schemas.openxmlformats.org/drawingml/2006/main" l="0" t="56" r="0" b="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343400" y="1685925"/>
            <a:ext cx="7239000" cy="4124325"/>
          </a:xfrm>
          <a:prstGeom xmlns:a="http://schemas.openxmlformats.org/drawingml/2006/main" prst="roundRect">
            <a:avLst>
              <a:gd name="adj" fmla="val 1848"/>
            </a:avLst>
          </a:prstGeom>
        </p:spPr>
      </p:pic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7576053A-20ED-4A39-861F-CC361452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30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3206521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8" name="">
            <a:extLst xmlns:a="http://schemas.openxmlformats.org/drawingml/2006/main">
              <a:ext uri="{FF2B5EF4-FFF2-40B4-BE49-F238E27FC236}">
                <a16:creationId xmlns:a16="http://schemas.microsoft.com/office/drawing/2014/main" id="{9A393819-EEDF-49FD-AE1C-651F1BD9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C9CAC369-7B9B-460D-9F72-D6A59F8E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16CC85F3-66C0-4635-9C03-3230B65F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CEC0B9E6-570A-476B-830C-1B5F44039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§3.4</a:t>
            </a:r>
            <a:endParaRPr/>
          </a:p>
        </p:txBody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2842BB23-4104-4532-8EB1-9A26295F4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switch 开关语句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switch switch statement</a:t>
            </a:r>
          </a:p>
        </p:txBody>
      </p:sp>
      <p:sp>
        <p:nvSp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675CDE8B-13FF-472A-87AD-2740AB34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1F333971-7503-4B55-BCD2-74AD7AFE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320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单条件多分支开关语句，其中 break 语句可选。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Single conditional multi-branch switch statement, in which the break statement is optional.</a:t>
            </a:r>
          </a:p>
        </p:txBody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B219BE0F-6C90-42AE-9D39-4EA406BC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7527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77860E1F-E56A-4677-B562-1BE59F96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6384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表达式的值可以是 byte、short、int、char、String 或 enum（但不可以是 long）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The value of the expression can be byte, short, int, char, String, or enum (but not long)</a:t>
            </a:r>
          </a:p>
        </p:txBody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AF7887E4-24CC-4249-9B61-8E7B29E8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3147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734DC984-AA30-458A-A300-C1A6EB8D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2004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case 常量必须与 switch 表达式类型相同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case constant must be of the same type as the switch expression</a:t>
            </a:r>
          </a:p>
        </p:txBody>
      </p:sp>
      <p:sp>
        <p:nvSpPr>
          <p:cNvPr id="349" name="">
            <a:extLst xmlns:a="http://schemas.openxmlformats.org/drawingml/2006/main">
              <a:ext uri="{FF2B5EF4-FFF2-40B4-BE49-F238E27FC236}">
                <a16:creationId xmlns:a16="http://schemas.microsoft.com/office/drawing/2014/main" id="{87FA6B12-1D08-498B-B1A7-ECB37C08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8766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9262E35A-2073-4E5E-B929-E2DE37D4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76237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根据需要设置 break，否则会从匹配的 case 一直贯穿到最后（fall-through）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Set break as needed, otherwise it will run from the matching case to the end (fall-through)</a:t>
            </a:r>
          </a:p>
        </p:txBody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0858733F-5B71-4FEF-95BB-28F94DD1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4386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755E8297-5D5D-49AA-AB7A-C06B514E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3243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default 语句可放在任意位置；不匹配任何 case 时执行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The default statement can be placed anywhere; it is executed when no case matches</a:t>
            </a:r>
          </a:p>
        </p:txBody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EF72C9F1-602B-4BA3-A11A-1F7CF728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31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86376813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5F1E6091-C94B-4699-B1C1-FFEA321F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E265A578-636C-4282-AF52-DBD8660C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ECE0D41C-3A73-4426-8003-E6808EDE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76A5073B-3700-458F-9EBE-40D481FF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§3.4</a:t>
            </a:r>
            <a:endParaRPr/>
          </a:p>
        </p:txBody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EF73ED02-CEEB-4F7F-8F4E-2002BFEE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switch 格式定义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switch format definition</a:t>
            </a:r>
          </a:p>
        </p:txBody>
      </p:sp>
      <p:sp>
        <p:nvSpPr>
          <p:cNvPr id="360" name="">
            <a:extLst xmlns:a="http://schemas.openxmlformats.org/drawingml/2006/main">
              <a:ext uri="{FF2B5EF4-FFF2-40B4-BE49-F238E27FC236}">
                <a16:creationId xmlns:a16="http://schemas.microsoft.com/office/drawing/2014/main" id="{0165D708-E11B-4D2D-A6BB-545E4924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D045DA0A-72DA-4189-B425-BCC24FC6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762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单条件多分支的开关语句，其中 break 语句是可选的。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Single conditional multi-branch switch statement, in which the break statement is optional.</a:t>
            </a:r>
          </a:p>
        </p:txBody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368B3E93-673A-41CA-BE1C-E7CEB378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1295400"/>
            <a:ext cx="7553325" cy="5124450"/>
          </a:xfrm>
          <a:prstGeom xmlns:a="http://schemas.openxmlformats.org/drawingml/2006/main" prst="roundRect">
            <a:avLst>
              <a:gd name="adj" fmla="val 14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6DCE5"/>
            </a:solidFill>
            <a:prstDash val="solid"/>
          </a:ln>
          <a:effectLst xmlns:a="http://schemas.openxmlformats.org/drawingml/2006/main">
            <a:outerShdw blurRad="57150" dist="19050" dir="5400000">
              <a:srgbClr val="0F1C2E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6368BD40-F50D-47BD-B6C6-EB778871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140970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switch (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表达式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) {</a:t>
            </a:r>
            <a:endParaRPr/>
          </a:p>
        </p:txBody>
      </p:sp>
      <p:sp>
        <p:nvSpPr>
          <p:cNvPr id="364" name="">
            <a:extLst xmlns:a="http://schemas.openxmlformats.org/drawingml/2006/main">
              <a:ext uri="{FF2B5EF4-FFF2-40B4-BE49-F238E27FC236}">
                <a16:creationId xmlns:a16="http://schemas.microsoft.com/office/drawing/2014/main" id="{BDFDF48D-8C15-4388-A11C-13E17F49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176212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6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case 常量值1: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case constant value 1:</a:t>
            </a:r>
          </a:p>
        </p:txBody>
      </p:sp>
      <p:sp>
        <p:nvSpPr>
          <p:cNvPr id="365" name="">
            <a:extLst xmlns:a="http://schemas.openxmlformats.org/drawingml/2006/main">
              <a:ext uri="{FF2B5EF4-FFF2-40B4-BE49-F238E27FC236}">
                <a16:creationId xmlns:a16="http://schemas.microsoft.com/office/drawing/2014/main" id="{E384E29E-E5B8-4136-B3A3-A184F990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21145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6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    若干个语句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several statements</a:t>
            </a:r>
          </a:p>
        </p:txBody>
      </p:sp>
      <p:sp>
        <p:nvSpPr>
          <p:cNvPr id="366" name="">
            <a:extLst xmlns:a="http://schemas.openxmlformats.org/drawingml/2006/main">
              <a:ext uri="{FF2B5EF4-FFF2-40B4-BE49-F238E27FC236}">
                <a16:creationId xmlns:a16="http://schemas.microsoft.com/office/drawing/2014/main" id="{F1812090-62B9-4B74-B593-3B96CC79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24669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    break;</a:t>
            </a:r>
            <a:endParaRPr/>
          </a:p>
        </p:txBody>
      </p:sp>
      <p:sp>
        <p:nvSpPr>
          <p:cNvPr id="367" name="">
            <a:extLst xmlns:a="http://schemas.openxmlformats.org/drawingml/2006/main">
              <a:ext uri="{FF2B5EF4-FFF2-40B4-BE49-F238E27FC236}">
                <a16:creationId xmlns:a16="http://schemas.microsoft.com/office/drawing/2014/main" id="{67313E7B-AB35-439A-B292-702AB6B5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281940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6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case 常量值2: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case constant value 2:</a:t>
            </a:r>
          </a:p>
        </p:txBody>
      </p:sp>
      <p:sp>
        <p:nvSpPr>
          <p:cNvPr id="368" name="">
            <a:extLst xmlns:a="http://schemas.openxmlformats.org/drawingml/2006/main">
              <a:ext uri="{FF2B5EF4-FFF2-40B4-BE49-F238E27FC236}">
                <a16:creationId xmlns:a16="http://schemas.microsoft.com/office/drawing/2014/main" id="{0F94F6A1-3DC0-4A85-ACF2-23D54056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17182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6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    若干个语句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several statements</a:t>
            </a:r>
          </a:p>
        </p:txBody>
      </p:sp>
      <p:sp>
        <p:nvSpPr>
          <p:cNvPr id="369" name="">
            <a:extLst xmlns:a="http://schemas.openxmlformats.org/drawingml/2006/main">
              <a:ext uri="{FF2B5EF4-FFF2-40B4-BE49-F238E27FC236}">
                <a16:creationId xmlns:a16="http://schemas.microsoft.com/office/drawing/2014/main" id="{A029F2EB-92D9-4FB1-B58A-5C4DD2BD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5242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    break;</a:t>
            </a:r>
            <a:endParaRPr/>
          </a:p>
        </p:txBody>
      </p:sp>
      <p:sp>
        <p:nvSpPr>
          <p:cNvPr id="370" name="">
            <a:extLst xmlns:a="http://schemas.openxmlformats.org/drawingml/2006/main">
              <a:ext uri="{FF2B5EF4-FFF2-40B4-BE49-F238E27FC236}">
                <a16:creationId xmlns:a16="http://schemas.microsoft.com/office/drawing/2014/main" id="{94D5ED0B-F945-417B-9631-8B889B8AB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8766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...</a:t>
            </a:r>
            <a:endParaRPr/>
          </a:p>
        </p:txBody>
      </p:sp>
      <p:sp>
        <p:nvSpPr>
          <p:cNvPr id="371" name="">
            <a:extLst xmlns:a="http://schemas.openxmlformats.org/drawingml/2006/main">
              <a:ext uri="{FF2B5EF4-FFF2-40B4-BE49-F238E27FC236}">
                <a16:creationId xmlns:a16="http://schemas.microsoft.com/office/drawing/2014/main" id="{AAB673FC-48FE-4CAD-9E92-DF3D08EB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22910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6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case 常量值n: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case constant value n:</a:t>
            </a:r>
          </a:p>
        </p:txBody>
      </p:sp>
      <p:sp>
        <p:nvSpPr>
          <p:cNvPr id="372" name="">
            <a:extLst xmlns:a="http://schemas.openxmlformats.org/drawingml/2006/main">
              <a:ext uri="{FF2B5EF4-FFF2-40B4-BE49-F238E27FC236}">
                <a16:creationId xmlns:a16="http://schemas.microsoft.com/office/drawing/2014/main" id="{62D8E873-928B-47C4-9DA1-35158811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58152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6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    若干个语句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several statements</a:t>
            </a:r>
          </a:p>
        </p:txBody>
      </p:sp>
      <p:sp>
        <p:nvSpPr>
          <p:cNvPr id="373" name="">
            <a:extLst xmlns:a="http://schemas.openxmlformats.org/drawingml/2006/main">
              <a:ext uri="{FF2B5EF4-FFF2-40B4-BE49-F238E27FC236}">
                <a16:creationId xmlns:a16="http://schemas.microsoft.com/office/drawing/2014/main" id="{F9F8EA7C-C8A5-432D-BB04-80078EF6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9339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    break;</a:t>
            </a:r>
            <a:endParaRPr/>
          </a:p>
        </p:txBody>
      </p:sp>
      <p:sp>
        <p:nvSpPr>
          <p:cNvPr id="374" name="">
            <a:extLst xmlns:a="http://schemas.openxmlformats.org/drawingml/2006/main">
              <a:ext uri="{FF2B5EF4-FFF2-40B4-BE49-F238E27FC236}">
                <a16:creationId xmlns:a16="http://schemas.microsoft.com/office/drawing/2014/main" id="{C47F1041-3ABB-4B2A-9B9E-22FC35DB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52863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default:</a:t>
            </a:r>
            <a:endParaRPr/>
          </a:p>
        </p:txBody>
      </p:sp>
      <p:sp>
        <p:nvSpPr>
          <p:cNvPr id="375" name="">
            <a:extLst xmlns:a="http://schemas.openxmlformats.org/drawingml/2006/main">
              <a:ext uri="{FF2B5EF4-FFF2-40B4-BE49-F238E27FC236}">
                <a16:creationId xmlns:a16="http://schemas.microsoft.com/office/drawing/2014/main" id="{EE94EB8F-01BD-4C67-9C0B-232536627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563880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6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    若干语句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several sentences</a:t>
            </a:r>
          </a:p>
        </p:txBody>
      </p:sp>
      <p:sp>
        <p:nvSpPr>
          <p:cNvPr id="376" name="">
            <a:extLst xmlns:a="http://schemas.openxmlformats.org/drawingml/2006/main">
              <a:ext uri="{FF2B5EF4-FFF2-40B4-BE49-F238E27FC236}">
                <a16:creationId xmlns:a16="http://schemas.microsoft.com/office/drawing/2014/main" id="{35C5E8FD-C2E0-4121-B309-96040D82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599122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</p:txBody>
      </p:sp>
      <p:sp>
        <p:nvSpPr>
          <p:cNvPr id="377" name="">
            <a:extLst xmlns:a="http://schemas.openxmlformats.org/drawingml/2006/main">
              <a:ext uri="{FF2B5EF4-FFF2-40B4-BE49-F238E27FC236}">
                <a16:creationId xmlns:a16="http://schemas.microsoft.com/office/drawing/2014/main" id="{C5DA53F0-F604-4DAA-A7A6-71A6A1D0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610350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32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29746164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9" name="">
            <a:extLst xmlns:a="http://schemas.openxmlformats.org/drawingml/2006/main">
              <a:ext uri="{FF2B5EF4-FFF2-40B4-BE49-F238E27FC236}">
                <a16:creationId xmlns:a16="http://schemas.microsoft.com/office/drawing/2014/main" id="{A509531A-F5CF-4B71-88F9-6E57A3716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0" name="">
            <a:extLst xmlns:a="http://schemas.openxmlformats.org/drawingml/2006/main">
              <a:ext uri="{FF2B5EF4-FFF2-40B4-BE49-F238E27FC236}">
                <a16:creationId xmlns:a16="http://schemas.microsoft.com/office/drawing/2014/main" id="{831079C1-3BC1-4FEC-B2D5-560227A6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1" name="">
            <a:extLst xmlns:a="http://schemas.openxmlformats.org/drawingml/2006/main">
              <a:ext uri="{FF2B5EF4-FFF2-40B4-BE49-F238E27FC236}">
                <a16:creationId xmlns:a16="http://schemas.microsoft.com/office/drawing/2014/main" id="{1C4104FA-B8B8-47B8-A5AE-4F2C9D42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382" name="">
            <a:extLst xmlns:a="http://schemas.openxmlformats.org/drawingml/2006/main">
              <a:ext uri="{FF2B5EF4-FFF2-40B4-BE49-F238E27FC236}">
                <a16:creationId xmlns:a16="http://schemas.microsoft.com/office/drawing/2014/main" id="{5F048ACF-281E-4B9C-A69F-DFA55449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573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例子4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Example 4</a:t>
            </a:r>
          </a:p>
        </p:txBody>
      </p:sp>
      <p:sp>
        <p:nvSpPr>
          <p:cNvPr id="383" name="">
            <a:extLst xmlns:a="http://schemas.openxmlformats.org/drawingml/2006/main">
              <a:ext uri="{FF2B5EF4-FFF2-40B4-BE49-F238E27FC236}">
                <a16:creationId xmlns:a16="http://schemas.microsoft.com/office/drawing/2014/main" id="{3CCF54A7-987C-4D98-A054-9C67D207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5621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35616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用 switch 判断输入是否中奖（上）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Use switch to determine whether the input is winning (Part 1)</a:t>
            </a:r>
          </a:p>
        </p:txBody>
      </p:sp>
      <p:sp>
        <p:nvSpPr>
          <p:cNvPr id="384" name="">
            <a:extLst xmlns:a="http://schemas.openxmlformats.org/drawingml/2006/main">
              <a:ext uri="{FF2B5EF4-FFF2-40B4-BE49-F238E27FC236}">
                <a16:creationId xmlns:a16="http://schemas.microsoft.com/office/drawing/2014/main" id="{85C18760-7DDF-4A05-9167-502B98FA5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8956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5" name="">
            <a:extLst xmlns:a="http://schemas.openxmlformats.org/drawingml/2006/main">
              <a:ext uri="{FF2B5EF4-FFF2-40B4-BE49-F238E27FC236}">
                <a16:creationId xmlns:a16="http://schemas.microsoft.com/office/drawing/2014/main" id="{2972EB20-F397-4978-ABA0-59BEEDDB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152775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用户从键盘输入一个正整数，程序判断奖项。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The user inputs a positive integer from the keyboard, and the program determines the award.</a:t>
            </a:r>
          </a:p>
        </p:txBody>
      </p:sp>
      <p:pic>
        <p:nvPicPr>
          <p:cNvPr id="3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ba9d901c9741c7"/>
          <a:srcRect xmlns:a="http://schemas.openxmlformats.org/drawingml/2006/main" l="0" t="32" r="0" b="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457700" y="1600200"/>
            <a:ext cx="6972300" cy="4114800"/>
          </a:xfrm>
          <a:prstGeom xmlns:a="http://schemas.openxmlformats.org/drawingml/2006/main" prst="roundRect">
            <a:avLst>
              <a:gd name="adj" fmla="val 2778"/>
            </a:avLst>
          </a:prstGeom>
          <a:effectLst xmlns:a="http://schemas.openxmlformats.org/drawingml/2006/main">
            <a:outerShdw blurRad="152400" dist="38100" dir="5400000">
              <a:srgbClr val="0F1C2E">
                <a:alpha val="8000"/>
              </a:srgbClr>
            </a:outerShdw>
          </a:effectLst>
        </p:spPr>
      </p:pic>
      <p:sp>
        <p:nvSpPr>
          <p:cNvPr id="387" name="">
            <a:extLst xmlns:a="http://schemas.openxmlformats.org/drawingml/2006/main">
              <a:ext uri="{FF2B5EF4-FFF2-40B4-BE49-F238E27FC236}">
                <a16:creationId xmlns:a16="http://schemas.microsoft.com/office/drawing/2014/main" id="{48A0FFAA-05C7-43BC-81DD-BD30B358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33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61895737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9" name="">
            <a:extLst xmlns:a="http://schemas.openxmlformats.org/drawingml/2006/main">
              <a:ext uri="{FF2B5EF4-FFF2-40B4-BE49-F238E27FC236}">
                <a16:creationId xmlns:a16="http://schemas.microsoft.com/office/drawing/2014/main" id="{790026B6-EF19-450F-95FF-E0A96FD7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0" name="">
            <a:extLst xmlns:a="http://schemas.openxmlformats.org/drawingml/2006/main">
              <a:ext uri="{FF2B5EF4-FFF2-40B4-BE49-F238E27FC236}">
                <a16:creationId xmlns:a16="http://schemas.microsoft.com/office/drawing/2014/main" id="{7F680DB4-0ACE-466E-B65A-6AB1D5AA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1" name="">
            <a:extLst xmlns:a="http://schemas.openxmlformats.org/drawingml/2006/main">
              <a:ext uri="{FF2B5EF4-FFF2-40B4-BE49-F238E27FC236}">
                <a16:creationId xmlns:a16="http://schemas.microsoft.com/office/drawing/2014/main" id="{61F88151-0484-420A-98AB-27F3D115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392" name="">
            <a:extLst xmlns:a="http://schemas.openxmlformats.org/drawingml/2006/main">
              <a:ext uri="{FF2B5EF4-FFF2-40B4-BE49-F238E27FC236}">
                <a16:creationId xmlns:a16="http://schemas.microsoft.com/office/drawing/2014/main" id="{C8AC67BA-ECF1-467A-8C83-AF84FE08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573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例子4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Example 4</a:t>
            </a:r>
          </a:p>
        </p:txBody>
      </p:sp>
      <p:sp>
        <p:nvSpPr>
          <p:cNvPr id="393" name="">
            <a:extLst xmlns:a="http://schemas.openxmlformats.org/drawingml/2006/main">
              <a:ext uri="{FF2B5EF4-FFF2-40B4-BE49-F238E27FC236}">
                <a16:creationId xmlns:a16="http://schemas.microsoft.com/office/drawing/2014/main" id="{A0DF94AA-52AA-4780-A3E8-3DD8FAB4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5621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35616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用 switch 判断输入是否中奖（下）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Use switch to determine whether the input is winning (Part 2)</a:t>
            </a:r>
          </a:p>
        </p:txBody>
      </p:sp>
      <p:sp>
        <p:nvSpPr>
          <p:cNvPr id="394" name="">
            <a:extLst xmlns:a="http://schemas.openxmlformats.org/drawingml/2006/main">
              <a:ext uri="{FF2B5EF4-FFF2-40B4-BE49-F238E27FC236}">
                <a16:creationId xmlns:a16="http://schemas.microsoft.com/office/drawing/2014/main" id="{3FDD2EA6-F5F6-42B2-A658-B6CE132C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8956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5" name="">
            <a:extLst xmlns:a="http://schemas.openxmlformats.org/drawingml/2006/main">
              <a:ext uri="{FF2B5EF4-FFF2-40B4-BE49-F238E27FC236}">
                <a16:creationId xmlns:a16="http://schemas.microsoft.com/office/drawing/2014/main" id="{0BA4AA09-7103-42F3-ADCB-A695AB1C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152775"/>
            <a:ext cx="338137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7826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接上页（行号连续）。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Continued from previous page (line numbers are consecutive).</a:t>
            </a:r>
          </a:p>
        </p:txBody>
      </p:sp>
      <p:pic>
        <p:nvPicPr>
          <p:cNvPr id="4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4e01329d4d48e7"/>
          <a:srcRect xmlns:a="http://schemas.openxmlformats.org/drawingml/2006/main" l="38" t="0" r="3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143375" y="1695450"/>
            <a:ext cx="7591425" cy="3924300"/>
          </a:xfrm>
          <a:prstGeom xmlns:a="http://schemas.openxmlformats.org/drawingml/2006/main" prst="roundRect">
            <a:avLst>
              <a:gd name="adj" fmla="val 2913"/>
            </a:avLst>
          </a:prstGeom>
          <a:effectLst xmlns:a="http://schemas.openxmlformats.org/drawingml/2006/main">
            <a:outerShdw blurRad="152400" dist="38100" dir="5400000">
              <a:srgbClr val="0F1C2E">
                <a:alpha val="8000"/>
              </a:srgbClr>
            </a:outerShdw>
          </a:effectLst>
        </p:spPr>
      </p:pic>
      <p:sp>
        <p:nvSpPr>
          <p:cNvPr id="397" name="">
            <a:extLst xmlns:a="http://schemas.openxmlformats.org/drawingml/2006/main">
              <a:ext uri="{FF2B5EF4-FFF2-40B4-BE49-F238E27FC236}">
                <a16:creationId xmlns:a16="http://schemas.microsoft.com/office/drawing/2014/main" id="{74C4ED12-6AC6-463C-8779-8066E5BF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34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45155835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9" name="">
            <a:extLst xmlns:a="http://schemas.openxmlformats.org/drawingml/2006/main">
              <a:ext uri="{FF2B5EF4-FFF2-40B4-BE49-F238E27FC236}">
                <a16:creationId xmlns:a16="http://schemas.microsoft.com/office/drawing/2014/main" id="{FD478C62-8B32-46F4-97C2-9BEE4505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0" name="">
            <a:extLst xmlns:a="http://schemas.openxmlformats.org/drawingml/2006/main">
              <a:ext uri="{FF2B5EF4-FFF2-40B4-BE49-F238E27FC236}">
                <a16:creationId xmlns:a16="http://schemas.microsoft.com/office/drawing/2014/main" id="{E3CE5EAE-E3C1-49B6-A408-07AAD741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1" name="">
            <a:extLst xmlns:a="http://schemas.openxmlformats.org/drawingml/2006/main">
              <a:ext uri="{FF2B5EF4-FFF2-40B4-BE49-F238E27FC236}">
                <a16:creationId xmlns:a16="http://schemas.microsoft.com/office/drawing/2014/main" id="{1709B3F6-3097-4529-BFF8-68A59F9D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402" name="">
            <a:extLst xmlns:a="http://schemas.openxmlformats.org/drawingml/2006/main">
              <a:ext uri="{FF2B5EF4-FFF2-40B4-BE49-F238E27FC236}">
                <a16:creationId xmlns:a16="http://schemas.microsoft.com/office/drawing/2014/main" id="{A33BCAE3-E718-45CF-827C-BF2B1241B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运行效果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Run result</a:t>
            </a:r>
          </a:p>
        </p:txBody>
      </p:sp>
      <p:sp>
        <p:nvSpPr>
          <p:cNvPr id="403" name="">
            <a:extLst xmlns:a="http://schemas.openxmlformats.org/drawingml/2006/main">
              <a:ext uri="{FF2B5EF4-FFF2-40B4-BE49-F238E27FC236}">
                <a16:creationId xmlns:a16="http://schemas.microsoft.com/office/drawing/2014/main" id="{DB4B5512-2177-489E-B511-B95E4F42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例子4 运行效果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Example 4 Operation effect</a:t>
            </a:r>
          </a:p>
        </p:txBody>
      </p:sp>
      <p:sp>
        <p:nvSpPr>
          <p:cNvPr id="404" name="">
            <a:extLst xmlns:a="http://schemas.openxmlformats.org/drawingml/2006/main">
              <a:ext uri="{FF2B5EF4-FFF2-40B4-BE49-F238E27FC236}">
                <a16:creationId xmlns:a16="http://schemas.microsoft.com/office/drawing/2014/main" id="{DA0E4C9C-FF58-48A5-8330-C30C369B7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5" name="">
            <a:extLst xmlns:a="http://schemas.openxmlformats.org/drawingml/2006/main">
              <a:ext uri="{FF2B5EF4-FFF2-40B4-BE49-F238E27FC236}">
                <a16:creationId xmlns:a16="http://schemas.microsoft.com/office/drawing/2014/main" id="{F9B8AB68-581B-41D6-B600-F9AF2CD6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3432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输入 9、131、209、875 等测试中奖号码，观察 switch 各分支输出。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Enter the test winning numbers such as 9, 131, 209, 875, etc., and observe the output of each branch of the switch.</a:t>
            </a:r>
          </a:p>
        </p:txBody>
      </p:sp>
      <p:pic>
        <p:nvPicPr>
          <p:cNvPr id="4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3b709d01194002"/>
          <a:srcRect xmlns:a="http://schemas.openxmlformats.org/drawingml/2006/main" l="47" t="0" r="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81675" y="2609850"/>
            <a:ext cx="4362450" cy="2286000"/>
          </a:xfrm>
          <a:prstGeom xmlns:a="http://schemas.openxmlformats.org/drawingml/2006/main" prst="roundRect">
            <a:avLst>
              <a:gd name="adj" fmla="val 3333"/>
            </a:avLst>
          </a:prstGeom>
        </p:spPr>
      </p:pic>
      <p:sp>
        <p:nvSpPr>
          <p:cNvPr id="407" name="">
            <a:extLst xmlns:a="http://schemas.openxmlformats.org/drawingml/2006/main">
              <a:ext uri="{FF2B5EF4-FFF2-40B4-BE49-F238E27FC236}">
                <a16:creationId xmlns:a16="http://schemas.microsoft.com/office/drawing/2014/main" id="{463A9F70-B30A-4C1B-B94D-C1B9DE9B0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35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07973418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9" name="">
            <a:extLst xmlns:a="http://schemas.openxmlformats.org/drawingml/2006/main">
              <a:ext uri="{FF2B5EF4-FFF2-40B4-BE49-F238E27FC236}">
                <a16:creationId xmlns:a16="http://schemas.microsoft.com/office/drawing/2014/main" id="{7D3010A4-A1BF-4875-9D85-A0C7B8A8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0" name="">
            <a:extLst xmlns:a="http://schemas.openxmlformats.org/drawingml/2006/main">
              <a:ext uri="{FF2B5EF4-FFF2-40B4-BE49-F238E27FC236}">
                <a16:creationId xmlns:a16="http://schemas.microsoft.com/office/drawing/2014/main" id="{99E92E84-A4F1-428B-9226-6758C7AF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1" name="">
            <a:extLst xmlns:a="http://schemas.openxmlformats.org/drawingml/2006/main">
              <a:ext uri="{FF2B5EF4-FFF2-40B4-BE49-F238E27FC236}">
                <a16:creationId xmlns:a16="http://schemas.microsoft.com/office/drawing/2014/main" id="{0BCAAC5F-96F9-42FC-99B6-AC0E6C7B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412" name="">
            <a:extLst xmlns:a="http://schemas.openxmlformats.org/drawingml/2006/main">
              <a:ext uri="{FF2B5EF4-FFF2-40B4-BE49-F238E27FC236}">
                <a16:creationId xmlns:a16="http://schemas.microsoft.com/office/drawing/2014/main" id="{9569694A-BE48-495D-B2CC-E8B511CE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§3.5.1</a:t>
            </a:r>
            <a:endParaRPr/>
          </a:p>
        </p:txBody>
      </p:sp>
      <p:sp>
        <p:nvSpPr>
          <p:cNvPr id="413" name="">
            <a:extLst xmlns:a="http://schemas.openxmlformats.org/drawingml/2006/main">
              <a:ext uri="{FF2B5EF4-FFF2-40B4-BE49-F238E27FC236}">
                <a16:creationId xmlns:a16="http://schemas.microsoft.com/office/drawing/2014/main" id="{5CAC9106-5920-4D7A-A459-522492A5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for 循环语句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for loop statement</a:t>
            </a:r>
          </a:p>
        </p:txBody>
      </p:sp>
      <p:sp>
        <p:nvSpPr>
          <p:cNvPr id="414" name="">
            <a:extLst xmlns:a="http://schemas.openxmlformats.org/drawingml/2006/main">
              <a:ext uri="{FF2B5EF4-FFF2-40B4-BE49-F238E27FC236}">
                <a16:creationId xmlns:a16="http://schemas.microsoft.com/office/drawing/2014/main" id="{4877A3C1-9810-4898-92F4-49DE882A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5" name="">
            <a:extLst xmlns:a="http://schemas.openxmlformats.org/drawingml/2006/main">
              <a:ext uri="{FF2B5EF4-FFF2-40B4-BE49-F238E27FC236}">
                <a16:creationId xmlns:a16="http://schemas.microsoft.com/office/drawing/2014/main" id="{9BD96AB9-BA96-4525-A1B4-CA88A2771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6842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语法格式与执行规则（见图 3.6）。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Syntax format and execution rules (see Figure 3.6).</a:t>
            </a:r>
          </a:p>
        </p:txBody>
      </p:sp>
      <p:sp>
        <p:nvSpPr>
          <p:cNvPr id="416" name="">
            <a:extLst xmlns:a="http://schemas.openxmlformats.org/drawingml/2006/main">
              <a:ext uri="{FF2B5EF4-FFF2-40B4-BE49-F238E27FC236}">
                <a16:creationId xmlns:a16="http://schemas.microsoft.com/office/drawing/2014/main" id="{DC40DF9F-EE1A-4124-BC0A-958AACF40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0383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7" name="">
            <a:extLst xmlns:a="http://schemas.openxmlformats.org/drawingml/2006/main">
              <a:ext uri="{FF2B5EF4-FFF2-40B4-BE49-F238E27FC236}">
                <a16:creationId xmlns:a16="http://schemas.microsoft.com/office/drawing/2014/main" id="{7DF4BBC5-F7F3-4438-BD2D-55A6A6EE1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19240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1. 计算表达式 1：完成必要的初始化工作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1. Calculate expression 1: Complete necessary initialization work</a:t>
            </a:r>
          </a:p>
        </p:txBody>
      </p:sp>
      <p:sp>
        <p:nvSpPr>
          <p:cNvPr id="418" name="">
            <a:extLst xmlns:a="http://schemas.openxmlformats.org/drawingml/2006/main">
              <a:ext uri="{FF2B5EF4-FFF2-40B4-BE49-F238E27FC236}">
                <a16:creationId xmlns:a16="http://schemas.microsoft.com/office/drawing/2014/main" id="{35984F5B-900F-4887-8C36-F67B3844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6003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9" name="">
            <a:extLst xmlns:a="http://schemas.openxmlformats.org/drawingml/2006/main">
              <a:ext uri="{FF2B5EF4-FFF2-40B4-BE49-F238E27FC236}">
                <a16:creationId xmlns:a16="http://schemas.microsoft.com/office/drawing/2014/main" id="{030639C6-407E-40F0-B982-020977B4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4860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2. 判断表达式 2：true 则执行 3，false 则执行 4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2. Judgment expression 2: if true, execute 3, if false, execute 4</a:t>
            </a:r>
          </a:p>
        </p:txBody>
      </p:sp>
      <p:sp>
        <p:nvSpPr>
          <p:cNvPr id="420" name="">
            <a:extLst xmlns:a="http://schemas.openxmlformats.org/drawingml/2006/main">
              <a:ext uri="{FF2B5EF4-FFF2-40B4-BE49-F238E27FC236}">
                <a16:creationId xmlns:a16="http://schemas.microsoft.com/office/drawing/2014/main" id="{22C92FD8-1366-4FDB-85BF-6404AD16E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1623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1" name="">
            <a:extLst xmlns:a="http://schemas.openxmlformats.org/drawingml/2006/main">
              <a:ext uri="{FF2B5EF4-FFF2-40B4-BE49-F238E27FC236}">
                <a16:creationId xmlns:a16="http://schemas.microsoft.com/office/drawing/2014/main" id="{B0BF2452-29C1-4489-A218-2AA6BE75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0480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2823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3. 执行循环体，然后计算表达式 3（改变循环条件），回到 2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3. Execute the loop body, then evaluate expression 3 (change the loop condition), and return to 2</a:t>
            </a:r>
          </a:p>
        </p:txBody>
      </p:sp>
      <p:sp>
        <p:nvSpPr>
          <p:cNvPr id="422" name="">
            <a:extLst xmlns:a="http://schemas.openxmlformats.org/drawingml/2006/main">
              <a:ext uri="{FF2B5EF4-FFF2-40B4-BE49-F238E27FC236}">
                <a16:creationId xmlns:a16="http://schemas.microsoft.com/office/drawing/2014/main" id="{D7E251E3-4394-4E03-B0C9-67857AE1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7242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3" name="">
            <a:extLst xmlns:a="http://schemas.openxmlformats.org/drawingml/2006/main">
              <a:ext uri="{FF2B5EF4-FFF2-40B4-BE49-F238E27FC236}">
                <a16:creationId xmlns:a16="http://schemas.microsoft.com/office/drawing/2014/main" id="{C7C08D32-3204-4EE8-ABA7-7AF7C61A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60997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4. 结束 for 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4. End the for statement</a:t>
            </a:r>
          </a:p>
        </p:txBody>
      </p:sp>
      <p:sp>
        <p:nvSpPr>
          <p:cNvPr id="424" name="">
            <a:extLst xmlns:a="http://schemas.openxmlformats.org/drawingml/2006/main">
              <a:ext uri="{FF2B5EF4-FFF2-40B4-BE49-F238E27FC236}">
                <a16:creationId xmlns:a16="http://schemas.microsoft.com/office/drawing/2014/main" id="{C758682E-7651-4FF9-AA97-5CDED71C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171950"/>
            <a:ext cx="7553325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6DCE5"/>
            </a:solidFill>
            <a:prstDash val="solid"/>
          </a:ln>
          <a:effectLst xmlns:a="http://schemas.openxmlformats.org/drawingml/2006/main">
            <a:outerShdw blurRad="57150" dist="19050" dir="5400000">
              <a:srgbClr val="0F1C2E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5" name="">
            <a:extLst xmlns:a="http://schemas.openxmlformats.org/drawingml/2006/main">
              <a:ext uri="{FF2B5EF4-FFF2-40B4-BE49-F238E27FC236}">
                <a16:creationId xmlns:a16="http://schemas.microsoft.com/office/drawing/2014/main" id="{37C50BC3-B558-4A9F-8D97-73DAE7857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2862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for (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表达式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1;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表达式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2;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表达式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3) {</a:t>
            </a:r>
            <a:endParaRPr/>
          </a:p>
        </p:txBody>
      </p:sp>
      <p:sp>
        <p:nvSpPr>
          <p:cNvPr id="426" name="">
            <a:extLst xmlns:a="http://schemas.openxmlformats.org/drawingml/2006/main">
              <a:ext uri="{FF2B5EF4-FFF2-40B4-BE49-F238E27FC236}">
                <a16:creationId xmlns:a16="http://schemas.microsoft.com/office/drawing/2014/main" id="{8CA02EB3-6F86-40DD-8ACC-7FA73E4E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6386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6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若干语句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several sentences</a:t>
            </a:r>
          </a:p>
        </p:txBody>
      </p:sp>
      <p:sp>
        <p:nvSpPr>
          <p:cNvPr id="427" name="">
            <a:extLst xmlns:a="http://schemas.openxmlformats.org/drawingml/2006/main">
              <a:ext uri="{FF2B5EF4-FFF2-40B4-BE49-F238E27FC236}">
                <a16:creationId xmlns:a16="http://schemas.microsoft.com/office/drawing/2014/main" id="{2CC269EA-BE75-46F5-9887-C2DB0211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99110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</p:txBody>
      </p:sp>
      <p:sp>
        <p:nvSpPr>
          <p:cNvPr id="428" name="">
            <a:extLst xmlns:a="http://schemas.openxmlformats.org/drawingml/2006/main">
              <a:ext uri="{FF2B5EF4-FFF2-40B4-BE49-F238E27FC236}">
                <a16:creationId xmlns:a16="http://schemas.microsoft.com/office/drawing/2014/main" id="{55327F57-1331-4802-BAAE-EA19D8ED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36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90115641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0" name="">
            <a:extLst xmlns:a="http://schemas.openxmlformats.org/drawingml/2006/main">
              <a:ext uri="{FF2B5EF4-FFF2-40B4-BE49-F238E27FC236}">
                <a16:creationId xmlns:a16="http://schemas.microsoft.com/office/drawing/2014/main" id="{EC536868-D68D-4D0C-A134-41BF7ED9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1" name="">
            <a:extLst xmlns:a="http://schemas.openxmlformats.org/drawingml/2006/main">
              <a:ext uri="{FF2B5EF4-FFF2-40B4-BE49-F238E27FC236}">
                <a16:creationId xmlns:a16="http://schemas.microsoft.com/office/drawing/2014/main" id="{AE6F04C9-7D93-4550-80A7-6C6F2FEE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2" name="">
            <a:extLst xmlns:a="http://schemas.openxmlformats.org/drawingml/2006/main">
              <a:ext uri="{FF2B5EF4-FFF2-40B4-BE49-F238E27FC236}">
                <a16:creationId xmlns:a16="http://schemas.microsoft.com/office/drawing/2014/main" id="{359517D7-D087-48B2-876E-DED821A1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433" name="">
            <a:extLst xmlns:a="http://schemas.openxmlformats.org/drawingml/2006/main">
              <a:ext uri="{FF2B5EF4-FFF2-40B4-BE49-F238E27FC236}">
                <a16:creationId xmlns:a16="http://schemas.microsoft.com/office/drawing/2014/main" id="{D0D920FB-FD42-4A7E-A04B-ADA12930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图 3.6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Figure 3.6</a:t>
            </a:r>
          </a:p>
        </p:txBody>
      </p:sp>
      <p:sp>
        <p:nvSpPr>
          <p:cNvPr id="434" name="">
            <a:extLst xmlns:a="http://schemas.openxmlformats.org/drawingml/2006/main">
              <a:ext uri="{FF2B5EF4-FFF2-40B4-BE49-F238E27FC236}">
                <a16:creationId xmlns:a16="http://schemas.microsoft.com/office/drawing/2014/main" id="{5F246444-382F-4597-B3F3-BFF8B019B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for 循环语句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for loop statement</a:t>
            </a:r>
          </a:p>
        </p:txBody>
      </p:sp>
      <p:sp>
        <p:nvSpPr>
          <p:cNvPr id="435" name="">
            <a:extLst xmlns:a="http://schemas.openxmlformats.org/drawingml/2006/main">
              <a:ext uri="{FF2B5EF4-FFF2-40B4-BE49-F238E27FC236}">
                <a16:creationId xmlns:a16="http://schemas.microsoft.com/office/drawing/2014/main" id="{779D8E4D-5C11-4C79-A6BD-F29CDDBB5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47036108384e67"/>
          <a:srcRect xmlns:a="http://schemas.openxmlformats.org/drawingml/2006/main" l="47" t="0" r="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6638925" y="1657350"/>
            <a:ext cx="2647950" cy="4191000"/>
          </a:xfrm>
          <a:prstGeom xmlns:a="http://schemas.openxmlformats.org/drawingml/2006/main" prst="roundRect">
            <a:avLst>
              <a:gd name="adj" fmla="val 2878"/>
            </a:avLst>
          </a:prstGeom>
        </p:spPr>
      </p:pic>
      <p:sp>
        <p:nvSpPr>
          <p:cNvPr id="437" name="">
            <a:extLst xmlns:a="http://schemas.openxmlformats.org/drawingml/2006/main">
              <a:ext uri="{FF2B5EF4-FFF2-40B4-BE49-F238E27FC236}">
                <a16:creationId xmlns:a16="http://schemas.microsoft.com/office/drawing/2014/main" id="{86D139B9-0298-4A3B-A8D3-89CFFBB84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37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93837303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9" name="">
            <a:extLst xmlns:a="http://schemas.openxmlformats.org/drawingml/2006/main">
              <a:ext uri="{FF2B5EF4-FFF2-40B4-BE49-F238E27FC236}">
                <a16:creationId xmlns:a16="http://schemas.microsoft.com/office/drawing/2014/main" id="{2ACE6A83-36AC-4F04-A7A4-DD2BDC84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0" name="">
            <a:extLst xmlns:a="http://schemas.openxmlformats.org/drawingml/2006/main">
              <a:ext uri="{FF2B5EF4-FFF2-40B4-BE49-F238E27FC236}">
                <a16:creationId xmlns:a16="http://schemas.microsoft.com/office/drawing/2014/main" id="{A5BA06BC-B77A-461B-9F5E-FF49B969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1" name="">
            <a:extLst xmlns:a="http://schemas.openxmlformats.org/drawingml/2006/main">
              <a:ext uri="{FF2B5EF4-FFF2-40B4-BE49-F238E27FC236}">
                <a16:creationId xmlns:a16="http://schemas.microsoft.com/office/drawing/2014/main" id="{FA008190-8222-4681-869E-45EEE7F1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442" name="">
            <a:extLst xmlns:a="http://schemas.openxmlformats.org/drawingml/2006/main">
              <a:ext uri="{FF2B5EF4-FFF2-40B4-BE49-F238E27FC236}">
                <a16:creationId xmlns:a16="http://schemas.microsoft.com/office/drawing/2014/main" id="{CD2782F0-F0B9-4E44-AB1A-4AC4D3D0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573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例子5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Example 5</a:t>
            </a:r>
          </a:p>
        </p:txBody>
      </p:sp>
      <p:sp>
        <p:nvSpPr>
          <p:cNvPr id="443" name="">
            <a:extLst xmlns:a="http://schemas.openxmlformats.org/drawingml/2006/main">
              <a:ext uri="{FF2B5EF4-FFF2-40B4-BE49-F238E27FC236}">
                <a16:creationId xmlns:a16="http://schemas.microsoft.com/office/drawing/2014/main" id="{AC6E557B-DC0A-4343-A951-0B4FCCE8B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562100"/>
            <a:ext cx="3552825" cy="1647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5816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计算 8+88+888+8888... 前 12 项和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Calculate the sum of the first 12 terms of 8+88+888+8888...</a:t>
            </a:r>
          </a:p>
        </p:txBody>
      </p:sp>
      <p:sp>
        <p:nvSpPr>
          <p:cNvPr id="444" name="">
            <a:extLst xmlns:a="http://schemas.openxmlformats.org/drawingml/2006/main">
              <a:ext uri="{FF2B5EF4-FFF2-40B4-BE49-F238E27FC236}">
                <a16:creationId xmlns:a16="http://schemas.microsoft.com/office/drawing/2014/main" id="{3FA3FED5-1A33-4024-A14E-3CD6AF24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438525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5" name="">
            <a:extLst xmlns:a="http://schemas.openxmlformats.org/drawingml/2006/main">
              <a:ext uri="{FF2B5EF4-FFF2-40B4-BE49-F238E27FC236}">
                <a16:creationId xmlns:a16="http://schemas.microsoft.com/office/drawing/2014/main" id="{D436AF78-51B5-4CAF-844E-78C888FC7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695700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每一项 item 自身乘 10 加 a（8）得到下一项。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Each item is multiplied by 10 and a(8) is added to get the next item.</a:t>
            </a:r>
          </a:p>
        </p:txBody>
      </p:sp>
      <p:pic>
        <p:nvPicPr>
          <p:cNvPr id="4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a54d899cae436d"/>
          <a:srcRect xmlns:a="http://schemas.openxmlformats.org/drawingml/2006/main" l="0" t="9" r="0" b="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619625" y="1600200"/>
            <a:ext cx="6638925" cy="4114800"/>
          </a:xfrm>
          <a:prstGeom xmlns:a="http://schemas.openxmlformats.org/drawingml/2006/main" prst="roundRect">
            <a:avLst>
              <a:gd name="adj" fmla="val 2778"/>
            </a:avLst>
          </a:prstGeom>
          <a:effectLst xmlns:a="http://schemas.openxmlformats.org/drawingml/2006/main">
            <a:outerShdw blurRad="152400" dist="38100" dir="5400000">
              <a:srgbClr val="0F1C2E">
                <a:alpha val="8000"/>
              </a:srgbClr>
            </a:outerShdw>
          </a:effectLst>
        </p:spPr>
      </p:pic>
      <p:sp>
        <p:nvSpPr>
          <p:cNvPr id="447" name="">
            <a:extLst xmlns:a="http://schemas.openxmlformats.org/drawingml/2006/main">
              <a:ext uri="{FF2B5EF4-FFF2-40B4-BE49-F238E27FC236}">
                <a16:creationId xmlns:a16="http://schemas.microsoft.com/office/drawing/2014/main" id="{A3113EF2-BA4F-4DE6-B1E0-0A0B5675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38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70072422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9" name="">
            <a:extLst xmlns:a="http://schemas.openxmlformats.org/drawingml/2006/main">
              <a:ext uri="{FF2B5EF4-FFF2-40B4-BE49-F238E27FC236}">
                <a16:creationId xmlns:a16="http://schemas.microsoft.com/office/drawing/2014/main" id="{226783E6-AF62-4189-93F1-E49611E6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0" name="">
            <a:extLst xmlns:a="http://schemas.openxmlformats.org/drawingml/2006/main">
              <a:ext uri="{FF2B5EF4-FFF2-40B4-BE49-F238E27FC236}">
                <a16:creationId xmlns:a16="http://schemas.microsoft.com/office/drawing/2014/main" id="{F6D90052-637F-45D9-BD69-61A34C3A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1" name="">
            <a:extLst xmlns:a="http://schemas.openxmlformats.org/drawingml/2006/main">
              <a:ext uri="{FF2B5EF4-FFF2-40B4-BE49-F238E27FC236}">
                <a16:creationId xmlns:a16="http://schemas.microsoft.com/office/drawing/2014/main" id="{183FF20B-FA24-4258-9775-C5567591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452" name="">
            <a:extLst xmlns:a="http://schemas.openxmlformats.org/drawingml/2006/main">
              <a:ext uri="{FF2B5EF4-FFF2-40B4-BE49-F238E27FC236}">
                <a16:creationId xmlns:a16="http://schemas.microsoft.com/office/drawing/2014/main" id="{043BBF94-0294-4B57-888A-22C6E372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§3.5.2</a:t>
            </a:r>
            <a:endParaRPr/>
          </a:p>
        </p:txBody>
      </p:sp>
      <p:sp>
        <p:nvSpPr>
          <p:cNvPr id="453" name="">
            <a:extLst xmlns:a="http://schemas.openxmlformats.org/drawingml/2006/main">
              <a:ext uri="{FF2B5EF4-FFF2-40B4-BE49-F238E27FC236}">
                <a16:creationId xmlns:a16="http://schemas.microsoft.com/office/drawing/2014/main" id="{12F0F489-EC7E-4DDC-BEDC-C14A4E94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while 循环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while loop</a:t>
            </a:r>
          </a:p>
        </p:txBody>
      </p:sp>
      <p:sp>
        <p:nvSpPr>
          <p:cNvPr id="454" name="">
            <a:extLst xmlns:a="http://schemas.openxmlformats.org/drawingml/2006/main">
              <a:ext uri="{FF2B5EF4-FFF2-40B4-BE49-F238E27FC236}">
                <a16:creationId xmlns:a16="http://schemas.microsoft.com/office/drawing/2014/main" id="{4077DE38-98EC-476E-9491-430B32F9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5" name="">
            <a:extLst xmlns:a="http://schemas.openxmlformats.org/drawingml/2006/main">
              <a:ext uri="{FF2B5EF4-FFF2-40B4-BE49-F238E27FC236}">
                <a16:creationId xmlns:a16="http://schemas.microsoft.com/office/drawing/2014/main" id="{BE7DEED5-EC68-42B2-8515-4ABC7E47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8631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先判断后执行，循环体可能一次都不执行（见图 3.7）。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Judgment first and then execution, the loop body may not be executed at all (see Figure 3.7).</a:t>
            </a:r>
          </a:p>
        </p:txBody>
      </p:sp>
      <p:sp>
        <p:nvSpPr>
          <p:cNvPr id="456" name="">
            <a:extLst xmlns:a="http://schemas.openxmlformats.org/drawingml/2006/main">
              <a:ext uri="{FF2B5EF4-FFF2-40B4-BE49-F238E27FC236}">
                <a16:creationId xmlns:a16="http://schemas.microsoft.com/office/drawing/2014/main" id="{691093EB-3AE9-4476-80FA-996F0C52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3241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7" name="">
            <a:extLst xmlns:a="http://schemas.openxmlformats.org/drawingml/2006/main">
              <a:ext uri="{FF2B5EF4-FFF2-40B4-BE49-F238E27FC236}">
                <a16:creationId xmlns:a16="http://schemas.microsoft.com/office/drawing/2014/main" id="{8476550F-B25F-412F-94BE-892F46DEB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2098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1. 计算表达式的值：true 则执行 2，false 则执行 3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1. Calculate the value of the expression: if true, execute 2; if false, execute 3</a:t>
            </a:r>
          </a:p>
        </p:txBody>
      </p:sp>
      <p:sp>
        <p:nvSpPr>
          <p:cNvPr id="458" name="">
            <a:extLst xmlns:a="http://schemas.openxmlformats.org/drawingml/2006/main">
              <a:ext uri="{FF2B5EF4-FFF2-40B4-BE49-F238E27FC236}">
                <a16:creationId xmlns:a16="http://schemas.microsoft.com/office/drawing/2014/main" id="{8C0EC23C-6F62-4FD5-A222-3CC316F5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8860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9" name="">
            <a:extLst xmlns:a="http://schemas.openxmlformats.org/drawingml/2006/main">
              <a:ext uri="{FF2B5EF4-FFF2-40B4-BE49-F238E27FC236}">
                <a16:creationId xmlns:a16="http://schemas.microsoft.com/office/drawing/2014/main" id="{B4BFE379-51D0-4EF1-8D48-A7BE8F29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77177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2. 执行循环体，回到 1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2. Execute the loop body and return to 1</a:t>
            </a:r>
          </a:p>
        </p:txBody>
      </p:sp>
      <p:sp>
        <p:nvSpPr>
          <p:cNvPr id="460" name="">
            <a:extLst xmlns:a="http://schemas.openxmlformats.org/drawingml/2006/main">
              <a:ext uri="{FF2B5EF4-FFF2-40B4-BE49-F238E27FC236}">
                <a16:creationId xmlns:a16="http://schemas.microsoft.com/office/drawing/2014/main" id="{C7B399F8-BC74-4C7F-BFD0-AF27BB33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4480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1" name="">
            <a:extLst xmlns:a="http://schemas.openxmlformats.org/drawingml/2006/main">
              <a:ext uri="{FF2B5EF4-FFF2-40B4-BE49-F238E27FC236}">
                <a16:creationId xmlns:a16="http://schemas.microsoft.com/office/drawing/2014/main" id="{B7744CFE-811F-4E57-85F5-F9B448EF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3337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3. 结束 while 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3. End the while statement</a:t>
            </a:r>
          </a:p>
        </p:txBody>
      </p:sp>
      <p:sp>
        <p:nvSpPr>
          <p:cNvPr id="462" name="">
            <a:extLst xmlns:a="http://schemas.openxmlformats.org/drawingml/2006/main">
              <a:ext uri="{FF2B5EF4-FFF2-40B4-BE49-F238E27FC236}">
                <a16:creationId xmlns:a16="http://schemas.microsoft.com/office/drawing/2014/main" id="{A95BF62B-69BD-4DAF-B92A-8B8B1FBF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895725"/>
            <a:ext cx="7553325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6DCE5"/>
            </a:solidFill>
            <a:prstDash val="solid"/>
          </a:ln>
          <a:effectLst xmlns:a="http://schemas.openxmlformats.org/drawingml/2006/main">
            <a:outerShdw blurRad="57150" dist="19050" dir="5400000">
              <a:srgbClr val="0F1C2E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3" name="">
            <a:extLst xmlns:a="http://schemas.openxmlformats.org/drawingml/2006/main">
              <a:ext uri="{FF2B5EF4-FFF2-40B4-BE49-F238E27FC236}">
                <a16:creationId xmlns:a16="http://schemas.microsoft.com/office/drawing/2014/main" id="{E0369C54-454D-4A57-9871-C6C8A830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01002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while (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表达式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) {</a:t>
            </a:r>
            <a:endParaRPr/>
          </a:p>
        </p:txBody>
      </p:sp>
      <p:sp>
        <p:nvSpPr>
          <p:cNvPr id="464" name="">
            <a:extLst xmlns:a="http://schemas.openxmlformats.org/drawingml/2006/main">
              <a:ext uri="{FF2B5EF4-FFF2-40B4-BE49-F238E27FC236}">
                <a16:creationId xmlns:a16="http://schemas.microsoft.com/office/drawing/2014/main" id="{BCE7C5B7-C267-435F-AFF6-32030770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3624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6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若干语句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several sentences</a:t>
            </a:r>
          </a:p>
        </p:txBody>
      </p:sp>
      <p:sp>
        <p:nvSpPr>
          <p:cNvPr id="465" name="">
            <a:extLst xmlns:a="http://schemas.openxmlformats.org/drawingml/2006/main">
              <a:ext uri="{FF2B5EF4-FFF2-40B4-BE49-F238E27FC236}">
                <a16:creationId xmlns:a16="http://schemas.microsoft.com/office/drawing/2014/main" id="{BDB51CDF-0DBE-41C1-AFD7-D57307CD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7148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</p:txBody>
      </p:sp>
      <p:sp>
        <p:nvSpPr>
          <p:cNvPr id="466" name="">
            <a:extLst xmlns:a="http://schemas.openxmlformats.org/drawingml/2006/main">
              <a:ext uri="{FF2B5EF4-FFF2-40B4-BE49-F238E27FC236}">
                <a16:creationId xmlns:a16="http://schemas.microsoft.com/office/drawing/2014/main" id="{D4053ADC-1CCF-4BD0-92A9-E403BADB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39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9325704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9" name="">
            <a:extLst xmlns:a="http://schemas.openxmlformats.org/drawingml/2006/main">
              <a:ext uri="{FF2B5EF4-FFF2-40B4-BE49-F238E27FC236}">
                <a16:creationId xmlns:a16="http://schemas.microsoft.com/office/drawing/2014/main" id="{9B6B9E55-17DB-42EF-A0BE-9E793B23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0" name="">
            <a:extLst xmlns:a="http://schemas.openxmlformats.org/drawingml/2006/main">
              <a:ext uri="{FF2B5EF4-FFF2-40B4-BE49-F238E27FC236}">
                <a16:creationId xmlns:a16="http://schemas.microsoft.com/office/drawing/2014/main" id="{D2519616-684E-4309-A55B-4379BB32D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1" name="">
            <a:extLst xmlns:a="http://schemas.openxmlformats.org/drawingml/2006/main">
              <a:ext uri="{FF2B5EF4-FFF2-40B4-BE49-F238E27FC236}">
                <a16:creationId xmlns:a16="http://schemas.microsoft.com/office/drawing/2014/main" id="{7A5D3328-16C2-4485-BAD4-6451D099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492" name="">
            <a:extLst xmlns:a="http://schemas.openxmlformats.org/drawingml/2006/main">
              <a:ext uri="{FF2B5EF4-FFF2-40B4-BE49-F238E27FC236}">
                <a16:creationId xmlns:a16="http://schemas.microsoft.com/office/drawing/2014/main" id="{AF166A0F-69B6-4E47-ADE5-27AE538C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图 3.7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Figure 3.7</a:t>
            </a:r>
          </a:p>
        </p:txBody>
      </p:sp>
      <p:sp>
        <p:nvSpPr>
          <p:cNvPr id="493" name="">
            <a:extLst xmlns:a="http://schemas.openxmlformats.org/drawingml/2006/main">
              <a:ext uri="{FF2B5EF4-FFF2-40B4-BE49-F238E27FC236}">
                <a16:creationId xmlns:a16="http://schemas.microsoft.com/office/drawing/2014/main" id="{779E6448-DE70-4C7B-816C-0E5C21AC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while 循环语句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while loop statement</a:t>
            </a:r>
          </a:p>
        </p:txBody>
      </p:sp>
      <p:sp>
        <p:nvSpPr>
          <p:cNvPr id="494" name="">
            <a:extLst xmlns:a="http://schemas.openxmlformats.org/drawingml/2006/main">
              <a:ext uri="{FF2B5EF4-FFF2-40B4-BE49-F238E27FC236}">
                <a16:creationId xmlns:a16="http://schemas.microsoft.com/office/drawing/2014/main" id="{84F0D071-DFFA-469B-A3FE-381FDE7B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6f33f96cc54911"/>
          <a:srcRect xmlns:a="http://schemas.openxmlformats.org/drawingml/2006/main" l="10" t="0" r="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6724650" y="1657350"/>
            <a:ext cx="2476500" cy="4191000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  <p:sp>
        <p:nvSpPr>
          <p:cNvPr id="496" name="">
            <a:extLst xmlns:a="http://schemas.openxmlformats.org/drawingml/2006/main">
              <a:ext uri="{FF2B5EF4-FFF2-40B4-BE49-F238E27FC236}">
                <a16:creationId xmlns:a16="http://schemas.microsoft.com/office/drawing/2014/main" id="{8B2DD49B-E7F0-4556-A547-90F11712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40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29956554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8" name="">
            <a:extLst xmlns:a="http://schemas.openxmlformats.org/drawingml/2006/main">
              <a:ext uri="{FF2B5EF4-FFF2-40B4-BE49-F238E27FC236}">
                <a16:creationId xmlns:a16="http://schemas.microsoft.com/office/drawing/2014/main" id="{A50C19A8-E3A4-4AE9-8925-A08D4BE8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9" name="">
            <a:extLst xmlns:a="http://schemas.openxmlformats.org/drawingml/2006/main">
              <a:ext uri="{FF2B5EF4-FFF2-40B4-BE49-F238E27FC236}">
                <a16:creationId xmlns:a16="http://schemas.microsoft.com/office/drawing/2014/main" id="{347922D9-CC46-4D76-A439-E517C0C1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0" name="">
            <a:extLst xmlns:a="http://schemas.openxmlformats.org/drawingml/2006/main">
              <a:ext uri="{FF2B5EF4-FFF2-40B4-BE49-F238E27FC236}">
                <a16:creationId xmlns:a16="http://schemas.microsoft.com/office/drawing/2014/main" id="{F4BC818B-E4CC-49D3-BB43-3FD78ED9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501" name="">
            <a:extLst xmlns:a="http://schemas.openxmlformats.org/drawingml/2006/main">
              <a:ext uri="{FF2B5EF4-FFF2-40B4-BE49-F238E27FC236}">
                <a16:creationId xmlns:a16="http://schemas.microsoft.com/office/drawing/2014/main" id="{8C9A1E3E-A83E-4FFA-B28C-CA49DD281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§3.5.3</a:t>
            </a:r>
            <a:endParaRPr/>
          </a:p>
        </p:txBody>
      </p:sp>
      <p:sp>
        <p:nvSpPr>
          <p:cNvPr id="502" name="">
            <a:extLst xmlns:a="http://schemas.openxmlformats.org/drawingml/2006/main">
              <a:ext uri="{FF2B5EF4-FFF2-40B4-BE49-F238E27FC236}">
                <a16:creationId xmlns:a16="http://schemas.microsoft.com/office/drawing/2014/main" id="{10F5C30E-CAD8-427C-8426-890981202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do-while 循环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do-while loop</a:t>
            </a:r>
          </a:p>
        </p:txBody>
      </p:sp>
      <p:sp>
        <p:nvSpPr>
          <p:cNvPr id="503" name="">
            <a:extLst xmlns:a="http://schemas.openxmlformats.org/drawingml/2006/main">
              <a:ext uri="{FF2B5EF4-FFF2-40B4-BE49-F238E27FC236}">
                <a16:creationId xmlns:a16="http://schemas.microsoft.com/office/drawing/2014/main" id="{817057CE-1E45-4221-AA2B-3F4120CB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4" name="">
            <a:extLst xmlns:a="http://schemas.openxmlformats.org/drawingml/2006/main">
              <a:ext uri="{FF2B5EF4-FFF2-40B4-BE49-F238E27FC236}">
                <a16:creationId xmlns:a16="http://schemas.microsoft.com/office/drawing/2014/main" id="{EC4A89A7-FFEF-46E8-A606-41498D9E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403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先执行后判断，循环体至少执行一次（见图 3.8）。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Execute first and then judge. The loop body is executed at least once (see Figure 3.8).</a:t>
            </a:r>
          </a:p>
        </p:txBody>
      </p:sp>
      <p:sp>
        <p:nvSpPr>
          <p:cNvPr id="505" name="">
            <a:extLst xmlns:a="http://schemas.openxmlformats.org/drawingml/2006/main">
              <a:ext uri="{FF2B5EF4-FFF2-40B4-BE49-F238E27FC236}">
                <a16:creationId xmlns:a16="http://schemas.microsoft.com/office/drawing/2014/main" id="{C9FD3BCF-B76F-4292-BE08-4439DF4C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3241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6" name="">
            <a:extLst xmlns:a="http://schemas.openxmlformats.org/drawingml/2006/main">
              <a:ext uri="{FF2B5EF4-FFF2-40B4-BE49-F238E27FC236}">
                <a16:creationId xmlns:a16="http://schemas.microsoft.com/office/drawing/2014/main" id="{BAC0B375-389A-40E1-B8E0-1FCBA4A8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2098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1. 执行循环体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1. Execute the loop body</a:t>
            </a:r>
          </a:p>
        </p:txBody>
      </p:sp>
      <p:sp>
        <p:nvSpPr>
          <p:cNvPr id="507" name="">
            <a:extLst xmlns:a="http://schemas.openxmlformats.org/drawingml/2006/main">
              <a:ext uri="{FF2B5EF4-FFF2-40B4-BE49-F238E27FC236}">
                <a16:creationId xmlns:a16="http://schemas.microsoft.com/office/drawing/2014/main" id="{496AA3EA-EB73-4B13-A32A-E2270847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8860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8" name="">
            <a:extLst xmlns:a="http://schemas.openxmlformats.org/drawingml/2006/main">
              <a:ext uri="{FF2B5EF4-FFF2-40B4-BE49-F238E27FC236}">
                <a16:creationId xmlns:a16="http://schemas.microsoft.com/office/drawing/2014/main" id="{92A5E26E-120D-456F-A6A3-842668CA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77177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2. 计算表达式的值：true 则回到 1，false 则执行 3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2. Calculate the value of the expression: if true, return to 1; if false, execute 3</a:t>
            </a:r>
          </a:p>
        </p:txBody>
      </p:sp>
      <p:sp>
        <p:nvSpPr>
          <p:cNvPr id="509" name="">
            <a:extLst xmlns:a="http://schemas.openxmlformats.org/drawingml/2006/main">
              <a:ext uri="{FF2B5EF4-FFF2-40B4-BE49-F238E27FC236}">
                <a16:creationId xmlns:a16="http://schemas.microsoft.com/office/drawing/2014/main" id="{A0E5DF5D-DBB6-490F-A60B-33038BDB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4480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0" name="">
            <a:extLst xmlns:a="http://schemas.openxmlformats.org/drawingml/2006/main">
              <a:ext uri="{FF2B5EF4-FFF2-40B4-BE49-F238E27FC236}">
                <a16:creationId xmlns:a16="http://schemas.microsoft.com/office/drawing/2014/main" id="{FD2F8579-618E-4B80-833E-0BA34053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3337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3. 结束 do-while 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3. End the do-while statement</a:t>
            </a:r>
          </a:p>
        </p:txBody>
      </p:sp>
      <p:sp>
        <p:nvSpPr>
          <p:cNvPr id="511" name="">
            <a:extLst xmlns:a="http://schemas.openxmlformats.org/drawingml/2006/main">
              <a:ext uri="{FF2B5EF4-FFF2-40B4-BE49-F238E27FC236}">
                <a16:creationId xmlns:a16="http://schemas.microsoft.com/office/drawing/2014/main" id="{871CE8D4-4B78-4979-AC1F-7AF01492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895725"/>
            <a:ext cx="7553325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6DCE5"/>
            </a:solidFill>
            <a:prstDash val="solid"/>
          </a:ln>
          <a:effectLst xmlns:a="http://schemas.openxmlformats.org/drawingml/2006/main">
            <a:outerShdw blurRad="57150" dist="19050" dir="5400000">
              <a:srgbClr val="0F1C2E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2" name="">
            <a:extLst xmlns:a="http://schemas.openxmlformats.org/drawingml/2006/main">
              <a:ext uri="{FF2B5EF4-FFF2-40B4-BE49-F238E27FC236}">
                <a16:creationId xmlns:a16="http://schemas.microsoft.com/office/drawing/2014/main" id="{20CF9219-8D34-422F-803F-C35686E9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01002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do {</a:t>
            </a:r>
            <a:endParaRPr/>
          </a:p>
        </p:txBody>
      </p:sp>
      <p:sp>
        <p:nvSpPr>
          <p:cNvPr id="513" name="">
            <a:extLst xmlns:a="http://schemas.openxmlformats.org/drawingml/2006/main">
              <a:ext uri="{FF2B5EF4-FFF2-40B4-BE49-F238E27FC236}">
                <a16:creationId xmlns:a16="http://schemas.microsoft.com/office/drawing/2014/main" id="{A01E27CE-C200-46FC-85F3-ABD8F9A4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3624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6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若干语句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several sentences</a:t>
            </a:r>
          </a:p>
        </p:txBody>
      </p:sp>
      <p:sp>
        <p:nvSpPr>
          <p:cNvPr id="514" name="">
            <a:extLst xmlns:a="http://schemas.openxmlformats.org/drawingml/2006/main">
              <a:ext uri="{FF2B5EF4-FFF2-40B4-BE49-F238E27FC236}">
                <a16:creationId xmlns:a16="http://schemas.microsoft.com/office/drawing/2014/main" id="{8D453641-515F-4652-9B8A-A03F248F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7148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} while (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表达式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);</a:t>
            </a:r>
            <a:endParaRPr/>
          </a:p>
        </p:txBody>
      </p:sp>
      <p:sp>
        <p:nvSpPr>
          <p:cNvPr id="515" name="">
            <a:extLst xmlns:a="http://schemas.openxmlformats.org/drawingml/2006/main">
              <a:ext uri="{FF2B5EF4-FFF2-40B4-BE49-F238E27FC236}">
                <a16:creationId xmlns:a16="http://schemas.microsoft.com/office/drawing/2014/main" id="{C18A75CC-0ABC-4387-824D-2C905EC7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41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26223061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7" name="">
            <a:extLst xmlns:a="http://schemas.openxmlformats.org/drawingml/2006/main">
              <a:ext uri="{FF2B5EF4-FFF2-40B4-BE49-F238E27FC236}">
                <a16:creationId xmlns:a16="http://schemas.microsoft.com/office/drawing/2014/main" id="{D9B7961E-20C4-42E8-B197-E06C4F83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8" name="">
            <a:extLst xmlns:a="http://schemas.openxmlformats.org/drawingml/2006/main">
              <a:ext uri="{FF2B5EF4-FFF2-40B4-BE49-F238E27FC236}">
                <a16:creationId xmlns:a16="http://schemas.microsoft.com/office/drawing/2014/main" id="{1133EB21-132F-471B-8CC2-76CB6F55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9" name="">
            <a:extLst xmlns:a="http://schemas.openxmlformats.org/drawingml/2006/main">
              <a:ext uri="{FF2B5EF4-FFF2-40B4-BE49-F238E27FC236}">
                <a16:creationId xmlns:a16="http://schemas.microsoft.com/office/drawing/2014/main" id="{8E9EE24D-BB25-4C95-BFC4-EC5C2A4F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520" name="">
            <a:extLst xmlns:a="http://schemas.openxmlformats.org/drawingml/2006/main">
              <a:ext uri="{FF2B5EF4-FFF2-40B4-BE49-F238E27FC236}">
                <a16:creationId xmlns:a16="http://schemas.microsoft.com/office/drawing/2014/main" id="{9C956063-D272-4E77-A023-74DFA299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图 3.8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Figure 3.8</a:t>
            </a:r>
          </a:p>
        </p:txBody>
      </p:sp>
      <p:sp>
        <p:nvSpPr>
          <p:cNvPr id="521" name="">
            <a:extLst xmlns:a="http://schemas.openxmlformats.org/drawingml/2006/main">
              <a:ext uri="{FF2B5EF4-FFF2-40B4-BE49-F238E27FC236}">
                <a16:creationId xmlns:a16="http://schemas.microsoft.com/office/drawing/2014/main" id="{DA530707-497B-4FF0-A63E-70EB32196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do-while 循环语句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do-while loop statement</a:t>
            </a:r>
          </a:p>
        </p:txBody>
      </p:sp>
      <p:sp>
        <p:nvSpPr>
          <p:cNvPr id="522" name="">
            <a:extLst xmlns:a="http://schemas.openxmlformats.org/drawingml/2006/main">
              <a:ext uri="{FF2B5EF4-FFF2-40B4-BE49-F238E27FC236}">
                <a16:creationId xmlns:a16="http://schemas.microsoft.com/office/drawing/2014/main" id="{7F4BB99C-DE18-4AF8-B40D-02313069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174e0ba0ca42f7"/>
          <a:srcRect xmlns:a="http://schemas.openxmlformats.org/drawingml/2006/main" l="0" t="16" r="0" b="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6610350" y="1657350"/>
            <a:ext cx="2705100" cy="4191000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  <p:sp>
        <p:nvSpPr>
          <p:cNvPr id="524" name="">
            <a:extLst xmlns:a="http://schemas.openxmlformats.org/drawingml/2006/main">
              <a:ext uri="{FF2B5EF4-FFF2-40B4-BE49-F238E27FC236}">
                <a16:creationId xmlns:a16="http://schemas.microsoft.com/office/drawing/2014/main" id="{A250F2B2-5DB2-4358-A5B6-58316200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42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55731902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6" name="">
            <a:extLst xmlns:a="http://schemas.openxmlformats.org/drawingml/2006/main">
              <a:ext uri="{FF2B5EF4-FFF2-40B4-BE49-F238E27FC236}">
                <a16:creationId xmlns:a16="http://schemas.microsoft.com/office/drawing/2014/main" id="{5115101A-B93E-4B09-B188-6446416E1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7" name="">
            <a:extLst xmlns:a="http://schemas.openxmlformats.org/drawingml/2006/main">
              <a:ext uri="{FF2B5EF4-FFF2-40B4-BE49-F238E27FC236}">
                <a16:creationId xmlns:a16="http://schemas.microsoft.com/office/drawing/2014/main" id="{BC3D425D-E9F1-434F-A166-17FE6619E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8" name="">
            <a:extLst xmlns:a="http://schemas.openxmlformats.org/drawingml/2006/main">
              <a:ext uri="{FF2B5EF4-FFF2-40B4-BE49-F238E27FC236}">
                <a16:creationId xmlns:a16="http://schemas.microsoft.com/office/drawing/2014/main" id="{01D5735C-EE4B-47B9-92E1-4DD1A7A9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529" name="">
            <a:extLst xmlns:a="http://schemas.openxmlformats.org/drawingml/2006/main">
              <a:ext uri="{FF2B5EF4-FFF2-40B4-BE49-F238E27FC236}">
                <a16:creationId xmlns:a16="http://schemas.microsoft.com/office/drawing/2014/main" id="{2919424D-9891-4A8C-9955-90BF879B4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573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例子6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Example 6</a:t>
            </a:r>
          </a:p>
        </p:txBody>
      </p:sp>
      <p:sp>
        <p:nvSpPr>
          <p:cNvPr id="530" name="">
            <a:extLst xmlns:a="http://schemas.openxmlformats.org/drawingml/2006/main">
              <a:ext uri="{FF2B5EF4-FFF2-40B4-BE49-F238E27FC236}">
                <a16:creationId xmlns:a16="http://schemas.microsoft.com/office/drawing/2014/main" id="{CAFF8653-6AD8-408D-BD95-94EA6C30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562100"/>
            <a:ext cx="3381375" cy="1647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341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用 while 计算 1+1/2!+1/3!+... 前 20 项和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Use while to calculate the sum of the first 20 terms of 1+1/2!+1/3!+...</a:t>
            </a:r>
          </a:p>
        </p:txBody>
      </p:sp>
      <p:sp>
        <p:nvSpPr>
          <p:cNvPr id="531" name="">
            <a:extLst xmlns:a="http://schemas.openxmlformats.org/drawingml/2006/main">
              <a:ext uri="{FF2B5EF4-FFF2-40B4-BE49-F238E27FC236}">
                <a16:creationId xmlns:a16="http://schemas.microsoft.com/office/drawing/2014/main" id="{2A2792C4-8057-4ABC-B208-52679810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438525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32" name="">
            <a:extLst xmlns:a="http://schemas.openxmlformats.org/drawingml/2006/main">
              <a:ext uri="{FF2B5EF4-FFF2-40B4-BE49-F238E27FC236}">
                <a16:creationId xmlns:a16="http://schemas.microsoft.com/office/drawing/2014/main" id="{44A717B7-1F8B-4A5B-9718-B1807B16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695700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每轮 item 乘以 1.0/i 得到下一项的阶倒数。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Each round item is multiplied by 1.0/i to get the reciprocal of the order of the next item.</a:t>
            </a:r>
          </a:p>
        </p:txBody>
      </p:sp>
      <p:pic>
        <p:nvPicPr>
          <p:cNvPr id="5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07e6eed73d4564"/>
          <a:srcRect xmlns:a="http://schemas.openxmlformats.org/drawingml/2006/main" l="0" t="38" r="0" b="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057775" y="1600200"/>
            <a:ext cx="5772150" cy="4114800"/>
          </a:xfrm>
          <a:prstGeom xmlns:a="http://schemas.openxmlformats.org/drawingml/2006/main" prst="roundRect">
            <a:avLst>
              <a:gd name="adj" fmla="val 2778"/>
            </a:avLst>
          </a:prstGeom>
          <a:effectLst xmlns:a="http://schemas.openxmlformats.org/drawingml/2006/main">
            <a:outerShdw blurRad="152400" dist="38100" dir="5400000">
              <a:srgbClr val="0F1C2E">
                <a:alpha val="8000"/>
              </a:srgbClr>
            </a:outerShdw>
          </a:effectLst>
        </p:spPr>
      </p:pic>
      <p:sp>
        <p:nvSpPr>
          <p:cNvPr id="534" name="">
            <a:extLst xmlns:a="http://schemas.openxmlformats.org/drawingml/2006/main">
              <a:ext uri="{FF2B5EF4-FFF2-40B4-BE49-F238E27FC236}">
                <a16:creationId xmlns:a16="http://schemas.microsoft.com/office/drawing/2014/main" id="{6698FFD6-C259-4703-89D6-01285AED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43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13074854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6" name="">
            <a:extLst xmlns:a="http://schemas.openxmlformats.org/drawingml/2006/main">
              <a:ext uri="{FF2B5EF4-FFF2-40B4-BE49-F238E27FC236}">
                <a16:creationId xmlns:a16="http://schemas.microsoft.com/office/drawing/2014/main" id="{C4A52285-7F16-4D8E-B8CA-1E4DB9DD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37" name="">
            <a:extLst xmlns:a="http://schemas.openxmlformats.org/drawingml/2006/main">
              <a:ext uri="{FF2B5EF4-FFF2-40B4-BE49-F238E27FC236}">
                <a16:creationId xmlns:a16="http://schemas.microsoft.com/office/drawing/2014/main" id="{5E9B3E7F-E698-4C2D-A548-6EFA5A11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38" name="">
            <a:extLst xmlns:a="http://schemas.openxmlformats.org/drawingml/2006/main">
              <a:ext uri="{FF2B5EF4-FFF2-40B4-BE49-F238E27FC236}">
                <a16:creationId xmlns:a16="http://schemas.microsoft.com/office/drawing/2014/main" id="{4397FC19-64C1-4657-9DE3-1D7D6E0C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539" name="">
            <a:extLst xmlns:a="http://schemas.openxmlformats.org/drawingml/2006/main">
              <a:ext uri="{FF2B5EF4-FFF2-40B4-BE49-F238E27FC236}">
                <a16:creationId xmlns:a16="http://schemas.microsoft.com/office/drawing/2014/main" id="{B0F12091-B9A9-4538-9365-C904039D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§3.6</a:t>
            </a:r>
            <a:endParaRPr/>
          </a:p>
        </p:txBody>
      </p:sp>
      <p:sp>
        <p:nvSpPr>
          <p:cNvPr id="540" name="">
            <a:extLst xmlns:a="http://schemas.openxmlformats.org/drawingml/2006/main">
              <a:ext uri="{FF2B5EF4-FFF2-40B4-BE49-F238E27FC236}">
                <a16:creationId xmlns:a16="http://schemas.microsoft.com/office/drawing/2014/main" id="{63965C1A-3910-400A-921D-0D29083F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056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break 和 continue 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break and continue statements</a:t>
            </a:r>
          </a:p>
        </p:txBody>
      </p:sp>
      <p:sp>
        <p:nvSpPr>
          <p:cNvPr id="541" name="">
            <a:extLst xmlns:a="http://schemas.openxmlformats.org/drawingml/2006/main">
              <a:ext uri="{FF2B5EF4-FFF2-40B4-BE49-F238E27FC236}">
                <a16:creationId xmlns:a16="http://schemas.microsoft.com/office/drawing/2014/main" id="{9E92B768-33F5-4FE4-A5D4-50F2C9A9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9337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2" name="">
            <a:extLst xmlns:a="http://schemas.openxmlformats.org/drawingml/2006/main">
              <a:ext uri="{FF2B5EF4-FFF2-40B4-BE49-F238E27FC236}">
                <a16:creationId xmlns:a16="http://schemas.microsoft.com/office/drawing/2014/main" id="{67975AD8-77E7-4BCB-8ED0-8E12BA9B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5527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3" name="">
            <a:extLst xmlns:a="http://schemas.openxmlformats.org/drawingml/2006/main">
              <a:ext uri="{FF2B5EF4-FFF2-40B4-BE49-F238E27FC236}">
                <a16:creationId xmlns:a16="http://schemas.microsoft.com/office/drawing/2014/main" id="{80A3F2AF-80E2-4D25-8AB6-D6386825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4384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由关键字 break 或 continue 加分号构成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It consists of the keyword break or continue followed by a semicolon</a:t>
            </a:r>
          </a:p>
        </p:txBody>
      </p:sp>
      <p:sp>
        <p:nvSpPr>
          <p:cNvPr id="544" name="">
            <a:extLst xmlns:a="http://schemas.openxmlformats.org/drawingml/2006/main">
              <a:ext uri="{FF2B5EF4-FFF2-40B4-BE49-F238E27FC236}">
                <a16:creationId xmlns:a16="http://schemas.microsoft.com/office/drawing/2014/main" id="{D48BC205-5A0F-4E72-B0A5-8D05129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1146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5" name="">
            <a:extLst xmlns:a="http://schemas.openxmlformats.org/drawingml/2006/main">
              <a:ext uri="{FF2B5EF4-FFF2-40B4-BE49-F238E27FC236}">
                <a16:creationId xmlns:a16="http://schemas.microsoft.com/office/drawing/2014/main" id="{65331C9A-3C34-49DC-A4AB-4EC8E88E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00037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在循环体中可使用 break 和 continue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You can use break and continue in the loop body</a:t>
            </a:r>
          </a:p>
        </p:txBody>
      </p:sp>
      <p:sp>
        <p:nvSpPr>
          <p:cNvPr id="546" name="">
            <a:extLst xmlns:a="http://schemas.openxmlformats.org/drawingml/2006/main">
              <a:ext uri="{FF2B5EF4-FFF2-40B4-BE49-F238E27FC236}">
                <a16:creationId xmlns:a16="http://schemas.microsoft.com/office/drawing/2014/main" id="{3D72F755-6698-4000-BFBA-776C1D54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6766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7" name="">
            <a:extLst xmlns:a="http://schemas.openxmlformats.org/drawingml/2006/main">
              <a:ext uri="{FF2B5EF4-FFF2-40B4-BE49-F238E27FC236}">
                <a16:creationId xmlns:a16="http://schemas.microsoft.com/office/drawing/2014/main" id="{22FC9C52-FCA0-4D00-9C79-0F5B7F25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5623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执行 break：整个循环语句结束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Execute break: the entire loop statement ends</a:t>
            </a:r>
          </a:p>
        </p:txBody>
      </p:sp>
      <p:sp>
        <p:nvSpPr>
          <p:cNvPr id="548" name="">
            <a:extLst xmlns:a="http://schemas.openxmlformats.org/drawingml/2006/main">
              <a:ext uri="{FF2B5EF4-FFF2-40B4-BE49-F238E27FC236}">
                <a16:creationId xmlns:a16="http://schemas.microsoft.com/office/drawing/2014/main" id="{460B2A49-B4E6-4399-97DA-90894957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2386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9" name="">
            <a:extLst xmlns:a="http://schemas.openxmlformats.org/drawingml/2006/main">
              <a:ext uri="{FF2B5EF4-FFF2-40B4-BE49-F238E27FC236}">
                <a16:creationId xmlns:a16="http://schemas.microsoft.com/office/drawing/2014/main" id="{BDCA0573-8E24-44FF-81D2-485E9606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124325"/>
            <a:ext cx="736282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61435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执行 continue：本次循环结束（continue 之后的循环体语句不再执行），转入下一次循环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Execute continue: This loop ends (the loop body statement after continue will no longer be executed) and transfers to the next loop.</a:t>
            </a:r>
          </a:p>
        </p:txBody>
      </p:sp>
      <p:sp>
        <p:nvSpPr>
          <p:cNvPr id="550" name="">
            <a:extLst xmlns:a="http://schemas.openxmlformats.org/drawingml/2006/main">
              <a:ext uri="{FF2B5EF4-FFF2-40B4-BE49-F238E27FC236}">
                <a16:creationId xmlns:a16="http://schemas.microsoft.com/office/drawing/2014/main" id="{296BC6FD-09F6-44B0-8152-14B9CC8F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44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9042833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2" name="">
            <a:extLst xmlns:a="http://schemas.openxmlformats.org/drawingml/2006/main">
              <a:ext uri="{FF2B5EF4-FFF2-40B4-BE49-F238E27FC236}">
                <a16:creationId xmlns:a16="http://schemas.microsoft.com/office/drawing/2014/main" id="{71C53A90-3761-4459-B9B9-99F02E432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3" name="">
            <a:extLst xmlns:a="http://schemas.openxmlformats.org/drawingml/2006/main">
              <a:ext uri="{FF2B5EF4-FFF2-40B4-BE49-F238E27FC236}">
                <a16:creationId xmlns:a16="http://schemas.microsoft.com/office/drawing/2014/main" id="{26CA29F7-C3AF-4D21-BC32-CE7CD937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4" name="">
            <a:extLst xmlns:a="http://schemas.openxmlformats.org/drawingml/2006/main">
              <a:ext uri="{FF2B5EF4-FFF2-40B4-BE49-F238E27FC236}">
                <a16:creationId xmlns:a16="http://schemas.microsoft.com/office/drawing/2014/main" id="{2BB48EC5-250F-4602-9B4E-F91FA3A5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555" name="">
            <a:extLst xmlns:a="http://schemas.openxmlformats.org/drawingml/2006/main">
              <a:ext uri="{FF2B5EF4-FFF2-40B4-BE49-F238E27FC236}">
                <a16:creationId xmlns:a16="http://schemas.microsoft.com/office/drawing/2014/main" id="{7CB6B007-928A-42EF-A355-952E6CB15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573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例子7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Example 7</a:t>
            </a:r>
          </a:p>
        </p:txBody>
      </p:sp>
      <p:sp>
        <p:nvSpPr>
          <p:cNvPr id="556" name="">
            <a:extLst xmlns:a="http://schemas.openxmlformats.org/drawingml/2006/main">
              <a:ext uri="{FF2B5EF4-FFF2-40B4-BE49-F238E27FC236}">
                <a16:creationId xmlns:a16="http://schemas.microsoft.com/office/drawing/2014/main" id="{83468F83-8559-430E-B4CF-F6BECDAF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562100"/>
            <a:ext cx="3381375" cy="2200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36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用 continue/break 计算 1+3+5... 与 50 以内素数（上）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Use continue/break to calculate 1+3+5... and prime numbers within 50 (Part 1)</a:t>
            </a:r>
          </a:p>
        </p:txBody>
      </p:sp>
      <p:sp>
        <p:nvSpPr>
          <p:cNvPr id="557" name="">
            <a:extLst xmlns:a="http://schemas.openxmlformats.org/drawingml/2006/main">
              <a:ext uri="{FF2B5EF4-FFF2-40B4-BE49-F238E27FC236}">
                <a16:creationId xmlns:a16="http://schemas.microsoft.com/office/drawing/2014/main" id="{BE972878-5785-4A8C-8335-8955A3CE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990975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8" name="">
            <a:extLst xmlns:a="http://schemas.openxmlformats.org/drawingml/2006/main">
              <a:ext uri="{FF2B5EF4-FFF2-40B4-BE49-F238E27FC236}">
                <a16:creationId xmlns:a16="http://schemas.microsoft.com/office/drawing/2014/main" id="{16ECAD52-34EE-4FD4-8019-2761CCF3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248150"/>
            <a:ext cx="3381375" cy="1171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653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第一个 for 演示 continue：跳过偶数累加奇数和；第二个 for 演示 break：判断 50 以内素数。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The first for demonstrates continue: skips even numbers and accumulates the sum of odd numbers; the second for demonstrates break: determines prime numbers within 50.</a:t>
            </a:r>
          </a:p>
        </p:txBody>
      </p:sp>
      <p:pic>
        <p:nvPicPr>
          <p:cNvPr id="5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2a4f5091f43bb"/>
          <a:srcRect xmlns:a="http://schemas.openxmlformats.org/drawingml/2006/main" l="5" t="0" r="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495800" y="1600200"/>
            <a:ext cx="6886575" cy="4114800"/>
          </a:xfrm>
          <a:prstGeom xmlns:a="http://schemas.openxmlformats.org/drawingml/2006/main" prst="roundRect">
            <a:avLst>
              <a:gd name="adj" fmla="val 2778"/>
            </a:avLst>
          </a:prstGeom>
          <a:effectLst xmlns:a="http://schemas.openxmlformats.org/drawingml/2006/main">
            <a:outerShdw blurRad="152400" dist="38100" dir="5400000">
              <a:srgbClr val="0F1C2E">
                <a:alpha val="8000"/>
              </a:srgbClr>
            </a:outerShdw>
          </a:effectLst>
        </p:spPr>
      </p:pic>
      <p:sp>
        <p:nvSpPr>
          <p:cNvPr id="560" name="">
            <a:extLst xmlns:a="http://schemas.openxmlformats.org/drawingml/2006/main">
              <a:ext uri="{FF2B5EF4-FFF2-40B4-BE49-F238E27FC236}">
                <a16:creationId xmlns:a16="http://schemas.microsoft.com/office/drawing/2014/main" id="{8ACB297C-6080-4D79-98FC-1D6565DF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45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36286497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2" name="">
            <a:extLst xmlns:a="http://schemas.openxmlformats.org/drawingml/2006/main">
              <a:ext uri="{FF2B5EF4-FFF2-40B4-BE49-F238E27FC236}">
                <a16:creationId xmlns:a16="http://schemas.microsoft.com/office/drawing/2014/main" id="{AEB1D501-4F11-4EF6-8BF0-7973BE75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3" name="">
            <a:extLst xmlns:a="http://schemas.openxmlformats.org/drawingml/2006/main">
              <a:ext uri="{FF2B5EF4-FFF2-40B4-BE49-F238E27FC236}">
                <a16:creationId xmlns:a16="http://schemas.microsoft.com/office/drawing/2014/main" id="{307E0031-A5D3-4F07-A9E0-3E5463C4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4" name="">
            <a:extLst xmlns:a="http://schemas.openxmlformats.org/drawingml/2006/main">
              <a:ext uri="{FF2B5EF4-FFF2-40B4-BE49-F238E27FC236}">
                <a16:creationId xmlns:a16="http://schemas.microsoft.com/office/drawing/2014/main" id="{E17D9397-5142-41F4-8A16-D1205E28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565" name="">
            <a:extLst xmlns:a="http://schemas.openxmlformats.org/drawingml/2006/main">
              <a:ext uri="{FF2B5EF4-FFF2-40B4-BE49-F238E27FC236}">
                <a16:creationId xmlns:a16="http://schemas.microsoft.com/office/drawing/2014/main" id="{B3427131-826B-445A-A88F-56895EBC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573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例子7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Example 7</a:t>
            </a:r>
          </a:p>
        </p:txBody>
      </p:sp>
      <p:sp>
        <p:nvSpPr>
          <p:cNvPr id="566" name="">
            <a:extLst xmlns:a="http://schemas.openxmlformats.org/drawingml/2006/main">
              <a:ext uri="{FF2B5EF4-FFF2-40B4-BE49-F238E27FC236}">
                <a16:creationId xmlns:a16="http://schemas.microsoft.com/office/drawing/2014/main" id="{7AF9800E-0B88-41E5-9A8E-7CCA5529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562100"/>
            <a:ext cx="3381375" cy="2200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36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用 continue/break 计算 1+3+5... 与 50 以内素数（下）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Use continue/break to calculate 1+3+5... and prime numbers within 50 (Part 2)</a:t>
            </a:r>
          </a:p>
        </p:txBody>
      </p:sp>
      <p:sp>
        <p:nvSpPr>
          <p:cNvPr id="567" name="">
            <a:extLst xmlns:a="http://schemas.openxmlformats.org/drawingml/2006/main">
              <a:ext uri="{FF2B5EF4-FFF2-40B4-BE49-F238E27FC236}">
                <a16:creationId xmlns:a16="http://schemas.microsoft.com/office/drawing/2014/main" id="{281798C2-AE4F-496F-9056-D2E3BC298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990975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8" name="">
            <a:extLst xmlns:a="http://schemas.openxmlformats.org/drawingml/2006/main">
              <a:ext uri="{FF2B5EF4-FFF2-40B4-BE49-F238E27FC236}">
                <a16:creationId xmlns:a16="http://schemas.microsoft.com/office/drawing/2014/main" id="{A6FF94EF-94DC-4ADE-B70A-7D79CABA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248150"/>
            <a:ext cx="338137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7826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接上页（行号连续）。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Continued from previous page (line numbers are consecutive).</a:t>
            </a:r>
          </a:p>
        </p:txBody>
      </p:sp>
      <p:pic>
        <p:nvPicPr>
          <p:cNvPr id="5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fa7e058b7f4df3"/>
          <a:srcRect xmlns:a="http://schemas.openxmlformats.org/drawingml/2006/main" l="0" t="25" r="0" b="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238625" y="1600200"/>
            <a:ext cx="7410450" cy="4114800"/>
          </a:xfrm>
          <a:prstGeom xmlns:a="http://schemas.openxmlformats.org/drawingml/2006/main" prst="roundRect">
            <a:avLst>
              <a:gd name="adj" fmla="val 2778"/>
            </a:avLst>
          </a:prstGeom>
          <a:effectLst xmlns:a="http://schemas.openxmlformats.org/drawingml/2006/main">
            <a:outerShdw blurRad="152400" dist="38100" dir="5400000">
              <a:srgbClr val="0F1C2E">
                <a:alpha val="8000"/>
              </a:srgbClr>
            </a:outerShdw>
          </a:effectLst>
        </p:spPr>
      </p:pic>
      <p:sp>
        <p:nvSpPr>
          <p:cNvPr id="570" name="">
            <a:extLst xmlns:a="http://schemas.openxmlformats.org/drawingml/2006/main">
              <a:ext uri="{FF2B5EF4-FFF2-40B4-BE49-F238E27FC236}">
                <a16:creationId xmlns:a16="http://schemas.microsoft.com/office/drawing/2014/main" id="{8C26061F-BD9D-496B-B789-9F7D09BE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46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78331258"/>
      </p:ext>
    </p:extLst>
  </p:cSld>
</p:sld>
</file>

<file path=ppt/slides/slide4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2" name="">
            <a:extLst xmlns:a="http://schemas.openxmlformats.org/drawingml/2006/main">
              <a:ext uri="{FF2B5EF4-FFF2-40B4-BE49-F238E27FC236}">
                <a16:creationId xmlns:a16="http://schemas.microsoft.com/office/drawing/2014/main" id="{87DEB3AA-58D5-4CA6-BDC8-A6AE1579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73" name="">
            <a:extLst xmlns:a="http://schemas.openxmlformats.org/drawingml/2006/main">
              <a:ext uri="{FF2B5EF4-FFF2-40B4-BE49-F238E27FC236}">
                <a16:creationId xmlns:a16="http://schemas.microsoft.com/office/drawing/2014/main" id="{DD047FCF-C498-457F-9DA5-7F4992DB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74" name="">
            <a:extLst xmlns:a="http://schemas.openxmlformats.org/drawingml/2006/main">
              <a:ext uri="{FF2B5EF4-FFF2-40B4-BE49-F238E27FC236}">
                <a16:creationId xmlns:a16="http://schemas.microsoft.com/office/drawing/2014/main" id="{44420F5B-632B-429A-BF84-06030AB7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575" name="">
            <a:extLst xmlns:a="http://schemas.openxmlformats.org/drawingml/2006/main">
              <a:ext uri="{FF2B5EF4-FFF2-40B4-BE49-F238E27FC236}">
                <a16:creationId xmlns:a16="http://schemas.microsoft.com/office/drawing/2014/main" id="{6DFFA9BD-E5F2-4036-893B-260F8CF9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§3.7</a:t>
            </a:r>
            <a:endParaRPr/>
          </a:p>
        </p:txBody>
      </p:sp>
      <p:sp>
        <p:nvSpPr>
          <p:cNvPr id="576" name="">
            <a:extLst xmlns:a="http://schemas.openxmlformats.org/drawingml/2006/main">
              <a:ext uri="{FF2B5EF4-FFF2-40B4-BE49-F238E27FC236}">
                <a16:creationId xmlns:a16="http://schemas.microsoft.com/office/drawing/2014/main" id="{2FF68198-6AE1-4619-A349-31CC7C34B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for 语句与数组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for statement and array</a:t>
            </a:r>
          </a:p>
        </p:txBody>
      </p:sp>
      <p:sp>
        <p:nvSpPr>
          <p:cNvPr id="577" name="">
            <a:extLst xmlns:a="http://schemas.openxmlformats.org/drawingml/2006/main">
              <a:ext uri="{FF2B5EF4-FFF2-40B4-BE49-F238E27FC236}">
                <a16:creationId xmlns:a16="http://schemas.microsoft.com/office/drawing/2014/main" id="{BDC9B91A-CC66-40FA-A59F-5DB2222E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78" name="">
            <a:extLst xmlns:a="http://schemas.openxmlformats.org/drawingml/2006/main">
              <a:ext uri="{FF2B5EF4-FFF2-40B4-BE49-F238E27FC236}">
                <a16:creationId xmlns:a16="http://schemas.microsoft.com/office/drawing/2014/main" id="{4E95D665-E9D3-456F-94B3-E48E39EB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1171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653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JDK 5 起对 for 语句的功能给予扩充、增强，以便更好地遍历数组。这种形式类似 "for each"。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Starting from JDK 5, the functions of the for statement have been expanded and enhanced to better traverse arrays. This form is similar to "for each".</a:t>
            </a:r>
          </a:p>
        </p:txBody>
      </p:sp>
      <p:sp>
        <p:nvSpPr>
          <p:cNvPr id="579" name="">
            <a:extLst xmlns:a="http://schemas.openxmlformats.org/drawingml/2006/main">
              <a:ext uri="{FF2B5EF4-FFF2-40B4-BE49-F238E27FC236}">
                <a16:creationId xmlns:a16="http://schemas.microsoft.com/office/drawing/2014/main" id="{1AAA4058-C24F-44ED-AC4C-D543B363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19526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0" name="">
            <a:extLst xmlns:a="http://schemas.openxmlformats.org/drawingml/2006/main">
              <a:ext uri="{FF2B5EF4-FFF2-40B4-BE49-F238E27FC236}">
                <a16:creationId xmlns:a16="http://schemas.microsoft.com/office/drawing/2014/main" id="{D460979A-81FC-4112-AAC6-A826FEEA4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18383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542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循环变量依次取数组的每一个元素的值，自动遍历完整个数组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The loop variable takes the value of each element of the array in turn and automatically traverses the entire array.</a:t>
            </a:r>
          </a:p>
        </p:txBody>
      </p:sp>
      <p:sp>
        <p:nvSpPr>
          <p:cNvPr id="581" name="">
            <a:extLst xmlns:a="http://schemas.openxmlformats.org/drawingml/2006/main">
              <a:ext uri="{FF2B5EF4-FFF2-40B4-BE49-F238E27FC236}">
                <a16:creationId xmlns:a16="http://schemas.microsoft.com/office/drawing/2014/main" id="{5DD401F4-CE02-419C-B6E7-D3242076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5146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2" name="">
            <a:extLst xmlns:a="http://schemas.openxmlformats.org/drawingml/2006/main">
              <a:ext uri="{FF2B5EF4-FFF2-40B4-BE49-F238E27FC236}">
                <a16:creationId xmlns:a16="http://schemas.microsoft.com/office/drawing/2014/main" id="{BAA575B8-D35C-4432-96C6-0F1E33FF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4003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70000"/>
              </a:lnSpc>
              <a:buNone/>
            </a:pP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比传统</a:t>
            </a: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 for(;;) </a:t>
            </a: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更简洁：无需下标、无需</a:t>
            </a:r>
            <a:r>
              <a:rPr sz="150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 length</a:t>
            </a:r>
            <a:endParaRPr/>
          </a:p>
        </p:txBody>
      </p:sp>
      <p:sp>
        <p:nvSpPr>
          <p:cNvPr id="583" name="">
            <a:extLst xmlns:a="http://schemas.openxmlformats.org/drawingml/2006/main">
              <a:ext uri="{FF2B5EF4-FFF2-40B4-BE49-F238E27FC236}">
                <a16:creationId xmlns:a16="http://schemas.microsoft.com/office/drawing/2014/main" id="{88A2437D-A05C-4D4A-BFA4-38C56FCEF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0765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4" name="">
            <a:extLst xmlns:a="http://schemas.openxmlformats.org/drawingml/2006/main">
              <a:ext uri="{FF2B5EF4-FFF2-40B4-BE49-F238E27FC236}">
                <a16:creationId xmlns:a16="http://schemas.microsoft.com/office/drawing/2014/main" id="{C0890D5A-EAFD-4F82-A46F-0E797F9C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96227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只读遍历：无法通过循环变量修改数组元素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Read-only traversal: array elements cannot be modified through loop variables</a:t>
            </a:r>
          </a:p>
        </p:txBody>
      </p:sp>
      <p:sp>
        <p:nvSpPr>
          <p:cNvPr id="585" name="">
            <a:extLst xmlns:a="http://schemas.openxmlformats.org/drawingml/2006/main">
              <a:ext uri="{FF2B5EF4-FFF2-40B4-BE49-F238E27FC236}">
                <a16:creationId xmlns:a16="http://schemas.microsoft.com/office/drawing/2014/main" id="{FABC35D6-6A36-4A10-BA82-D2DA236ED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524250"/>
            <a:ext cx="7553325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6DCE5"/>
            </a:solidFill>
            <a:prstDash val="solid"/>
          </a:ln>
          <a:effectLst xmlns:a="http://schemas.openxmlformats.org/drawingml/2006/main">
            <a:outerShdw blurRad="57150" dist="19050" dir="5400000">
              <a:srgbClr val="0F1C2E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6" name="">
            <a:extLst xmlns:a="http://schemas.openxmlformats.org/drawingml/2006/main">
              <a:ext uri="{FF2B5EF4-FFF2-40B4-BE49-F238E27FC236}">
                <a16:creationId xmlns:a16="http://schemas.microsoft.com/office/drawing/2014/main" id="{13753051-15AA-4DA9-A109-83818996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63855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for (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声明循环变量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: 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数组的名字</a:t>
            </a: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) {</a:t>
            </a:r>
            <a:endParaRPr/>
          </a:p>
        </p:txBody>
      </p:sp>
      <p:sp>
        <p:nvSpPr>
          <p:cNvPr id="587" name="">
            <a:extLst xmlns:a="http://schemas.openxmlformats.org/drawingml/2006/main">
              <a:ext uri="{FF2B5EF4-FFF2-40B4-BE49-F238E27FC236}">
                <a16:creationId xmlns:a16="http://schemas.microsoft.com/office/drawing/2014/main" id="{B7411FA0-0103-4AE0-92C5-C61E6EA6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3990975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48644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    // 循环变量依次取数组的每一个元素的值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2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//The loop variable takes the value of each element of the array in turn</a:t>
            </a:r>
          </a:p>
        </p:txBody>
      </p:sp>
      <p:sp>
        <p:nvSpPr>
          <p:cNvPr id="588" name="">
            <a:extLst xmlns:a="http://schemas.openxmlformats.org/drawingml/2006/main">
              <a:ext uri="{FF2B5EF4-FFF2-40B4-BE49-F238E27FC236}">
                <a16:creationId xmlns:a16="http://schemas.microsoft.com/office/drawing/2014/main" id="{7A9A9E0B-E443-4B2E-9977-B4C1FFCF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2925" y="4343400"/>
            <a:ext cx="7210425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35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}</a:t>
            </a:r>
            <a:endParaRPr/>
          </a:p>
        </p:txBody>
      </p:sp>
      <p:sp>
        <p:nvSpPr>
          <p:cNvPr id="589" name="">
            <a:extLst xmlns:a="http://schemas.openxmlformats.org/drawingml/2006/main">
              <a:ext uri="{FF2B5EF4-FFF2-40B4-BE49-F238E27FC236}">
                <a16:creationId xmlns:a16="http://schemas.microsoft.com/office/drawing/2014/main" id="{90B6948A-8F76-4243-9EFF-8F5E5A91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943475"/>
            <a:ext cx="7553325" cy="561975"/>
          </a:xfrm>
          <a:prstGeom xmlns:a="http://schemas.openxmlformats.org/drawingml/2006/main" prst="roundRect">
            <a:avLst>
              <a:gd name="adj" fmla="val 16949"/>
            </a:avLst>
          </a:prstGeom>
          <a:solidFill xmlns:a="http://schemas.openxmlformats.org/drawingml/2006/main">
            <a:srgbClr val="F0F5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90" name="">
            <a:extLst xmlns:a="http://schemas.openxmlformats.org/drawingml/2006/main">
              <a:ext uri="{FF2B5EF4-FFF2-40B4-BE49-F238E27FC236}">
                <a16:creationId xmlns:a16="http://schemas.microsoft.com/office/drawing/2014/main" id="{0854534E-213E-40CE-A417-9349E2108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5076825"/>
            <a:ext cx="7172325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125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声明的循环变量类型必须和数组的类型相同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The type of the declared loop variable must be the same as the type of the array</a:t>
            </a:r>
          </a:p>
        </p:txBody>
      </p:sp>
      <p:sp>
        <p:nvSpPr>
          <p:cNvPr id="591" name="">
            <a:extLst xmlns:a="http://schemas.openxmlformats.org/drawingml/2006/main">
              <a:ext uri="{FF2B5EF4-FFF2-40B4-BE49-F238E27FC236}">
                <a16:creationId xmlns:a16="http://schemas.microsoft.com/office/drawing/2014/main" id="{7E8B6BF0-6CE1-4604-A5A2-94E8676B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47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41577022"/>
      </p:ext>
    </p:extLst>
  </p:cSld>
</p:sld>
</file>

<file path=ppt/slides/slide4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3" name="">
            <a:extLst xmlns:a="http://schemas.openxmlformats.org/drawingml/2006/main">
              <a:ext uri="{FF2B5EF4-FFF2-40B4-BE49-F238E27FC236}">
                <a16:creationId xmlns:a16="http://schemas.microsoft.com/office/drawing/2014/main" id="{BC174C5C-13B5-45E2-B0CC-BEBA4C51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94" name="">
            <a:extLst xmlns:a="http://schemas.openxmlformats.org/drawingml/2006/main">
              <a:ext uri="{FF2B5EF4-FFF2-40B4-BE49-F238E27FC236}">
                <a16:creationId xmlns:a16="http://schemas.microsoft.com/office/drawing/2014/main" id="{091BAB6C-8E26-4A87-97BB-D48EB49D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95" name="">
            <a:extLst xmlns:a="http://schemas.openxmlformats.org/drawingml/2006/main">
              <a:ext uri="{FF2B5EF4-FFF2-40B4-BE49-F238E27FC236}">
                <a16:creationId xmlns:a16="http://schemas.microsoft.com/office/drawing/2014/main" id="{6FA029C8-0C68-46BF-903F-28B8FFC3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596" name="">
            <a:extLst xmlns:a="http://schemas.openxmlformats.org/drawingml/2006/main">
              <a:ext uri="{FF2B5EF4-FFF2-40B4-BE49-F238E27FC236}">
                <a16:creationId xmlns:a16="http://schemas.microsoft.com/office/drawing/2014/main" id="{0D1CE0A9-68B4-4C2D-9178-82113AEA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573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例子8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Example 8</a:t>
            </a:r>
          </a:p>
        </p:txBody>
      </p:sp>
      <p:sp>
        <p:nvSpPr>
          <p:cNvPr id="597" name="">
            <a:extLst xmlns:a="http://schemas.openxmlformats.org/drawingml/2006/main">
              <a:ext uri="{FF2B5EF4-FFF2-40B4-BE49-F238E27FC236}">
                <a16:creationId xmlns:a16="http://schemas.microsoft.com/office/drawing/2014/main" id="{D26F0CD0-82AF-4A7C-AE30-12D7301B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562100"/>
            <a:ext cx="33813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用传统 for 与 for-each 遍历数组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Traverse arrays using traditional for and for-each</a:t>
            </a:r>
          </a:p>
        </p:txBody>
      </p:sp>
      <p:sp>
        <p:nvSpPr>
          <p:cNvPr id="598" name="">
            <a:extLst xmlns:a="http://schemas.openxmlformats.org/drawingml/2006/main">
              <a:ext uri="{FF2B5EF4-FFF2-40B4-BE49-F238E27FC236}">
                <a16:creationId xmlns:a16="http://schemas.microsoft.com/office/drawing/2014/main" id="{D97E1C62-01F8-4DE2-937B-1562E52D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8956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99" name="">
            <a:extLst xmlns:a="http://schemas.openxmlformats.org/drawingml/2006/main">
              <a:ext uri="{FF2B5EF4-FFF2-40B4-BE49-F238E27FC236}">
                <a16:creationId xmlns:a16="http://schemas.microsoft.com/office/drawing/2014/main" id="{558EBB84-6541-472D-9ED3-7B7ECAA0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152775"/>
            <a:ext cx="338137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70000"/>
              </a:lnSpc>
              <a:buNone/>
            </a:pPr>
            <a:r>
              <a:rPr sz="150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同一数组分别用</a:t>
            </a:r>
            <a:r>
              <a:rPr sz="150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 for(;;) </a:t>
            </a:r>
            <a:r>
              <a:rPr sz="150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和</a:t>
            </a:r>
            <a:r>
              <a:rPr sz="150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 for(:) </a:t>
            </a:r>
            <a:r>
              <a:rPr sz="150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两种方式遍历。</a:t>
            </a:r>
            <a:endParaRPr/>
          </a:p>
        </p:txBody>
      </p:sp>
      <p:pic>
        <p:nvPicPr>
          <p:cNvPr id="6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029b7a9f54c8e"/>
          <a:srcRect xmlns:a="http://schemas.openxmlformats.org/drawingml/2006/main" l="19" t="0" r="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324350" y="1600200"/>
            <a:ext cx="7229475" cy="4114800"/>
          </a:xfrm>
          <a:prstGeom xmlns:a="http://schemas.openxmlformats.org/drawingml/2006/main" prst="roundRect">
            <a:avLst>
              <a:gd name="adj" fmla="val 2778"/>
            </a:avLst>
          </a:prstGeom>
          <a:effectLst xmlns:a="http://schemas.openxmlformats.org/drawingml/2006/main">
            <a:outerShdw blurRad="152400" dist="38100" dir="5400000">
              <a:srgbClr val="0F1C2E">
                <a:alpha val="8000"/>
              </a:srgbClr>
            </a:outerShdw>
          </a:effectLst>
        </p:spPr>
      </p:pic>
      <p:sp>
        <p:nvSpPr>
          <p:cNvPr id="601" name="">
            <a:extLst xmlns:a="http://schemas.openxmlformats.org/drawingml/2006/main">
              <a:ext uri="{FF2B5EF4-FFF2-40B4-BE49-F238E27FC236}">
                <a16:creationId xmlns:a16="http://schemas.microsoft.com/office/drawing/2014/main" id="{43D8E7ED-F6E8-4E38-95D2-B15F5DBA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48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80786004"/>
      </p:ext>
    </p:extLst>
  </p:cSld>
</p:sld>
</file>

<file path=ppt/slides/slide4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3" name="">
            <a:extLst xmlns:a="http://schemas.openxmlformats.org/drawingml/2006/main">
              <a:ext uri="{FF2B5EF4-FFF2-40B4-BE49-F238E27FC236}">
                <a16:creationId xmlns:a16="http://schemas.microsoft.com/office/drawing/2014/main" id="{253A2DC5-E21C-4263-A529-30BE56C1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04" name="">
            <a:extLst xmlns:a="http://schemas.openxmlformats.org/drawingml/2006/main">
              <a:ext uri="{FF2B5EF4-FFF2-40B4-BE49-F238E27FC236}">
                <a16:creationId xmlns:a16="http://schemas.microsoft.com/office/drawing/2014/main" id="{BCA6FEA1-A2C9-424B-A0BD-A82AF269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05" name="">
            <a:extLst xmlns:a="http://schemas.openxmlformats.org/drawingml/2006/main">
              <a:ext uri="{FF2B5EF4-FFF2-40B4-BE49-F238E27FC236}">
                <a16:creationId xmlns:a16="http://schemas.microsoft.com/office/drawing/2014/main" id="{668C5DC0-66D0-4FD8-B073-9DE61387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606" name="">
            <a:extLst xmlns:a="http://schemas.openxmlformats.org/drawingml/2006/main">
              <a:ext uri="{FF2B5EF4-FFF2-40B4-BE49-F238E27FC236}">
                <a16:creationId xmlns:a16="http://schemas.microsoft.com/office/drawing/2014/main" id="{535571F0-0EA1-43DE-A6E0-52F4847F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573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例子9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Example 9</a:t>
            </a:r>
          </a:p>
        </p:txBody>
      </p:sp>
      <p:sp>
        <p:nvSpPr>
          <p:cNvPr id="607" name="">
            <a:extLst xmlns:a="http://schemas.openxmlformats.org/drawingml/2006/main">
              <a:ext uri="{FF2B5EF4-FFF2-40B4-BE49-F238E27FC236}">
                <a16:creationId xmlns:a16="http://schemas.microsoft.com/office/drawing/2014/main" id="{020B2BBF-77DB-443D-B0E9-DEE71A77C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562100"/>
            <a:ext cx="3381375" cy="1647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3818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用 Scanner 累加键盘输入的若干数并求平均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Use Scanner to accumulate several numbers entered on the keyboard and average them</a:t>
            </a:r>
          </a:p>
        </p:txBody>
      </p:sp>
      <p:sp>
        <p:nvSpPr>
          <p:cNvPr id="608" name="">
            <a:extLst xmlns:a="http://schemas.openxmlformats.org/drawingml/2006/main">
              <a:ext uri="{FF2B5EF4-FFF2-40B4-BE49-F238E27FC236}">
                <a16:creationId xmlns:a16="http://schemas.microsoft.com/office/drawing/2014/main" id="{040CE43D-323E-451C-BCB0-D74C05E3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438525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09" name="">
            <a:extLst xmlns:a="http://schemas.openxmlformats.org/drawingml/2006/main">
              <a:ext uri="{FF2B5EF4-FFF2-40B4-BE49-F238E27FC236}">
                <a16:creationId xmlns:a16="http://schemas.microsoft.com/office/drawing/2014/main" id="{DFB4FF0E-BFA1-40F0-8808-B443A67DA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3695700"/>
            <a:ext cx="3381375" cy="1562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循环调用 hasNextDouble() 等待、nextDouble() 获取输入，遇到非数字字符串结束；最后用 printf 输出和与平均值。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Call hasNextDouble() in a loop to wait, nextDouble() to get input, and end when encountering a non-numeric string; finally use printf to output the sum and average.</a:t>
            </a:r>
          </a:p>
        </p:txBody>
      </p:sp>
      <p:pic>
        <p:nvPicPr>
          <p:cNvPr id="6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8a18d734a489f"/>
          <a:srcRect xmlns:a="http://schemas.openxmlformats.org/drawingml/2006/main" l="0" t="31" r="0" b="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838700" y="1600200"/>
            <a:ext cx="6210300" cy="4114800"/>
          </a:xfrm>
          <a:prstGeom xmlns:a="http://schemas.openxmlformats.org/drawingml/2006/main" prst="roundRect">
            <a:avLst>
              <a:gd name="adj" fmla="val 2778"/>
            </a:avLst>
          </a:prstGeom>
          <a:effectLst xmlns:a="http://schemas.openxmlformats.org/drawingml/2006/main">
            <a:outerShdw blurRad="152400" dist="38100" dir="5400000">
              <a:srgbClr val="0F1C2E">
                <a:alpha val="8000"/>
              </a:srgbClr>
            </a:outerShdw>
          </a:effectLst>
        </p:spPr>
      </p:pic>
      <p:sp>
        <p:nvSpPr>
          <p:cNvPr id="611" name="">
            <a:extLst xmlns:a="http://schemas.openxmlformats.org/drawingml/2006/main">
              <a:ext uri="{FF2B5EF4-FFF2-40B4-BE49-F238E27FC236}">
                <a16:creationId xmlns:a16="http://schemas.microsoft.com/office/drawing/2014/main" id="{12E222C3-F2AA-45BE-BD91-6BC220AD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49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3001673"/>
      </p:ext>
    </p:extLst>
  </p:cSld>
</p:sld>
</file>

<file path=ppt/slides/slide5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9" name="">
            <a:extLst xmlns:a="http://schemas.openxmlformats.org/drawingml/2006/main">
              <a:ext uri="{FF2B5EF4-FFF2-40B4-BE49-F238E27FC236}">
                <a16:creationId xmlns:a16="http://schemas.microsoft.com/office/drawing/2014/main" id="{A53FBC4B-7CF5-4484-B547-5440713B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30" name="">
            <a:extLst xmlns:a="http://schemas.openxmlformats.org/drawingml/2006/main">
              <a:ext uri="{FF2B5EF4-FFF2-40B4-BE49-F238E27FC236}">
                <a16:creationId xmlns:a16="http://schemas.microsoft.com/office/drawing/2014/main" id="{DF8BE44A-3E6A-400C-A405-9DB0A53F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31" name="">
            <a:extLst xmlns:a="http://schemas.openxmlformats.org/drawingml/2006/main">
              <a:ext uri="{FF2B5EF4-FFF2-40B4-BE49-F238E27FC236}">
                <a16:creationId xmlns:a16="http://schemas.microsoft.com/office/drawing/2014/main" id="{33258D84-723D-4B1D-9CAC-03F288EB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632" name="">
            <a:extLst xmlns:a="http://schemas.openxmlformats.org/drawingml/2006/main">
              <a:ext uri="{FF2B5EF4-FFF2-40B4-BE49-F238E27FC236}">
                <a16:creationId xmlns:a16="http://schemas.microsoft.com/office/drawing/2014/main" id="{53620E2A-EE61-4F07-A665-2A9A16DC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运行效果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Run result</a:t>
            </a:r>
          </a:p>
        </p:txBody>
      </p:sp>
      <p:sp>
        <p:nvSpPr>
          <p:cNvPr id="633" name="">
            <a:extLst xmlns:a="http://schemas.openxmlformats.org/drawingml/2006/main">
              <a:ext uri="{FF2B5EF4-FFF2-40B4-BE49-F238E27FC236}">
                <a16:creationId xmlns:a16="http://schemas.microsoft.com/office/drawing/2014/main" id="{8AEF5C2F-E4C1-44FE-A1F6-E848755A8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例子9 运行效果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Example 9 Operation effect</a:t>
            </a:r>
          </a:p>
        </p:txBody>
      </p:sp>
      <p:sp>
        <p:nvSpPr>
          <p:cNvPr id="634" name="">
            <a:extLst xmlns:a="http://schemas.openxmlformats.org/drawingml/2006/main">
              <a:ext uri="{FF2B5EF4-FFF2-40B4-BE49-F238E27FC236}">
                <a16:creationId xmlns:a16="http://schemas.microsoft.com/office/drawing/2014/main" id="{00242B41-EB9E-423B-8D0B-092A5767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35" name="">
            <a:extLst xmlns:a="http://schemas.openxmlformats.org/drawingml/2006/main">
              <a:ext uri="{FF2B5EF4-FFF2-40B4-BE49-F238E27FC236}">
                <a16:creationId xmlns:a16="http://schemas.microsoft.com/office/drawing/2014/main" id="{DB323742-F782-4410-9284-4522E5EE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638425"/>
            <a:ext cx="3381375" cy="1171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依次输入 98、129.77、865.88，最后输入非数字 end 结束，输出和与平均值。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4A5568"/>
                </a:solidFill>
                <a:latin typeface="Microsoft YaHei"/>
                <a:ea typeface="Microsoft YaHei"/>
                <a:cs typeface="Microsoft YaHei"/>
              </a:rPr>
              <a:t>Enter 98, 129.77, 865.88 in sequence, and finally enter a non-number end to end, and output the sum and average.</a:t>
            </a:r>
          </a:p>
        </p:txBody>
      </p:sp>
      <p:pic>
        <p:nvPicPr>
          <p:cNvPr id="6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2cc739ee4e4dae"/>
          <a:srcRect xmlns:a="http://schemas.openxmlformats.org/drawingml/2006/main" l="29" t="0" r="2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524500" y="2609850"/>
            <a:ext cx="4867275" cy="2286000"/>
          </a:xfrm>
          <a:prstGeom xmlns:a="http://schemas.openxmlformats.org/drawingml/2006/main" prst="roundRect">
            <a:avLst>
              <a:gd name="adj" fmla="val 3333"/>
            </a:avLst>
          </a:prstGeom>
        </p:spPr>
      </p:pic>
      <p:sp>
        <p:nvSpPr>
          <p:cNvPr id="637" name="">
            <a:extLst xmlns:a="http://schemas.openxmlformats.org/drawingml/2006/main">
              <a:ext uri="{FF2B5EF4-FFF2-40B4-BE49-F238E27FC236}">
                <a16:creationId xmlns:a16="http://schemas.microsoft.com/office/drawing/2014/main" id="{F03D2E9A-4109-4CA0-829A-493C96F5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50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10877796"/>
      </p:ext>
    </p:extLst>
  </p:cSld>
</p:sld>
</file>

<file path=ppt/slides/slide5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9" name="">
            <a:extLst xmlns:a="http://schemas.openxmlformats.org/drawingml/2006/main">
              <a:ext uri="{FF2B5EF4-FFF2-40B4-BE49-F238E27FC236}">
                <a16:creationId xmlns:a16="http://schemas.microsoft.com/office/drawing/2014/main" id="{3C240410-473B-45D6-A177-436C3C381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0" name="">
            <a:extLst xmlns:a="http://schemas.openxmlformats.org/drawingml/2006/main">
              <a:ext uri="{FF2B5EF4-FFF2-40B4-BE49-F238E27FC236}">
                <a16:creationId xmlns:a16="http://schemas.microsoft.com/office/drawing/2014/main" id="{DCBD1442-6AE9-405B-925B-75B47CF04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1" name="">
            <a:extLst xmlns:a="http://schemas.openxmlformats.org/drawingml/2006/main">
              <a:ext uri="{FF2B5EF4-FFF2-40B4-BE49-F238E27FC236}">
                <a16:creationId xmlns:a16="http://schemas.microsoft.com/office/drawing/2014/main" id="{97692CDB-A397-4F8A-B3EE-2E81EEE4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642" name="">
            <a:extLst xmlns:a="http://schemas.openxmlformats.org/drawingml/2006/main">
              <a:ext uri="{FF2B5EF4-FFF2-40B4-BE49-F238E27FC236}">
                <a16:creationId xmlns:a16="http://schemas.microsoft.com/office/drawing/2014/main" id="{B6B3382C-BC3C-4A87-952E-C7972963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总结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Summary</a:t>
            </a:r>
          </a:p>
        </p:txBody>
      </p:sp>
      <p:sp>
        <p:nvSpPr>
          <p:cNvPr id="643" name="">
            <a:extLst xmlns:a="http://schemas.openxmlformats.org/drawingml/2006/main">
              <a:ext uri="{FF2B5EF4-FFF2-40B4-BE49-F238E27FC236}">
                <a16:creationId xmlns:a16="http://schemas.microsoft.com/office/drawing/2014/main" id="{BFF5AC65-8D4B-4C9A-AE92-9930462C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本章要点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Key points of this chapter</a:t>
            </a:r>
          </a:p>
        </p:txBody>
      </p:sp>
      <p:sp>
        <p:nvSpPr>
          <p:cNvPr id="644" name="">
            <a:extLst xmlns:a="http://schemas.openxmlformats.org/drawingml/2006/main">
              <a:ext uri="{FF2B5EF4-FFF2-40B4-BE49-F238E27FC236}">
                <a16:creationId xmlns:a16="http://schemas.microsoft.com/office/drawing/2014/main" id="{9BFE2EA7-EE93-45FE-BE23-C5295485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5" name="">
            <a:extLst xmlns:a="http://schemas.openxmlformats.org/drawingml/2006/main">
              <a:ext uri="{FF2B5EF4-FFF2-40B4-BE49-F238E27FC236}">
                <a16:creationId xmlns:a16="http://schemas.microsoft.com/office/drawing/2014/main" id="{314C66E1-77D2-4A08-BCF6-2B8E840A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2847975"/>
            <a:ext cx="2428875" cy="1647825"/>
          </a:xfrm>
          <a:prstGeom xmlns:a="http://schemas.openxmlformats.org/drawingml/2006/main" prst="roundRect">
            <a:avLst>
              <a:gd name="adj" fmla="val 5780"/>
            </a:avLst>
          </a:prstGeom>
          <a:solidFill xmlns:a="http://schemas.openxmlformats.org/drawingml/2006/main">
            <a:srgbClr val="F0F5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6" name="">
            <a:extLst xmlns:a="http://schemas.openxmlformats.org/drawingml/2006/main">
              <a:ext uri="{FF2B5EF4-FFF2-40B4-BE49-F238E27FC236}">
                <a16:creationId xmlns:a16="http://schemas.microsoft.com/office/drawing/2014/main" id="{B59386CA-3DD6-4134-B297-D34ECF31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000375"/>
            <a:ext cx="2047875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75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/>
          </a:p>
        </p:txBody>
      </p:sp>
      <p:sp>
        <p:nvSpPr>
          <p:cNvPr id="647" name="">
            <a:extLst xmlns:a="http://schemas.openxmlformats.org/drawingml/2006/main">
              <a:ext uri="{FF2B5EF4-FFF2-40B4-BE49-F238E27FC236}">
                <a16:creationId xmlns:a16="http://schemas.microsoft.com/office/drawing/2014/main" id="{578B72AD-7BF2-4878-8A32-EE0773C7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238500"/>
            <a:ext cx="20478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4262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Java 提供了丰富的运算符，学会各种运算符的使用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Java provides a wealth of operators, learn how to use them</a:t>
            </a:r>
          </a:p>
        </p:txBody>
      </p:sp>
      <p:sp>
        <p:nvSpPr>
          <p:cNvPr id="648" name="">
            <a:extLst xmlns:a="http://schemas.openxmlformats.org/drawingml/2006/main">
              <a:ext uri="{FF2B5EF4-FFF2-40B4-BE49-F238E27FC236}">
                <a16:creationId xmlns:a16="http://schemas.microsoft.com/office/drawing/2014/main" id="{D849B863-2425-4E55-B430-1428A484A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43700" y="2847975"/>
            <a:ext cx="2428875" cy="1647825"/>
          </a:xfrm>
          <a:prstGeom xmlns:a="http://schemas.openxmlformats.org/drawingml/2006/main" prst="roundRect">
            <a:avLst>
              <a:gd name="adj" fmla="val 5780"/>
            </a:avLst>
          </a:prstGeom>
          <a:solidFill xmlns:a="http://schemas.openxmlformats.org/drawingml/2006/main">
            <a:srgbClr val="F0F5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9" name="">
            <a:extLst xmlns:a="http://schemas.openxmlformats.org/drawingml/2006/main">
              <a:ext uri="{FF2B5EF4-FFF2-40B4-BE49-F238E27FC236}">
                <a16:creationId xmlns:a16="http://schemas.microsoft.com/office/drawing/2014/main" id="{DB2BE078-C76F-4C92-A850-2D9C17DB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34200" y="3000375"/>
            <a:ext cx="2047875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75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/>
          </a:p>
        </p:txBody>
      </p:sp>
      <p:sp>
        <p:nvSpPr>
          <p:cNvPr id="650" name="">
            <a:extLst xmlns:a="http://schemas.openxmlformats.org/drawingml/2006/main">
              <a:ext uri="{FF2B5EF4-FFF2-40B4-BE49-F238E27FC236}">
                <a16:creationId xmlns:a16="http://schemas.microsoft.com/office/drawing/2014/main" id="{5586972A-8796-46DF-8DE8-8BAE8EBD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34200" y="3238500"/>
            <a:ext cx="204787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0645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Java 控制语句分为条件控制语句（if / switch）和循环控制语句（for / while / do-while）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Java control statements are divided into conditional control statements (if / switch) and loop control statements (for / while / do-while)</a:t>
            </a:r>
          </a:p>
        </p:txBody>
      </p:sp>
      <p:sp>
        <p:nvSpPr>
          <p:cNvPr id="651" name="">
            <a:extLst xmlns:a="http://schemas.openxmlformats.org/drawingml/2006/main">
              <a:ext uri="{FF2B5EF4-FFF2-40B4-BE49-F238E27FC236}">
                <a16:creationId xmlns:a16="http://schemas.microsoft.com/office/drawing/2014/main" id="{3D43FCD5-C54B-41A4-B6C3-317701FD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05925" y="2847975"/>
            <a:ext cx="2428875" cy="1647825"/>
          </a:xfrm>
          <a:prstGeom xmlns:a="http://schemas.openxmlformats.org/drawingml/2006/main" prst="roundRect">
            <a:avLst>
              <a:gd name="adj" fmla="val 5780"/>
            </a:avLst>
          </a:prstGeom>
          <a:solidFill xmlns:a="http://schemas.openxmlformats.org/drawingml/2006/main">
            <a:srgbClr val="F0F5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52" name="">
            <a:extLst xmlns:a="http://schemas.openxmlformats.org/drawingml/2006/main">
              <a:ext uri="{FF2B5EF4-FFF2-40B4-BE49-F238E27FC236}">
                <a16:creationId xmlns:a16="http://schemas.microsoft.com/office/drawing/2014/main" id="{0BECEA41-1EBC-45A5-9066-1709E1308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96425" y="3000375"/>
            <a:ext cx="2047875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75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3</a:t>
            </a:r>
            <a:endParaRPr/>
          </a:p>
        </p:txBody>
      </p:sp>
      <p:sp>
        <p:nvSpPr>
          <p:cNvPr id="653" name="">
            <a:extLst xmlns:a="http://schemas.openxmlformats.org/drawingml/2006/main">
              <a:ext uri="{FF2B5EF4-FFF2-40B4-BE49-F238E27FC236}">
                <a16:creationId xmlns:a16="http://schemas.microsoft.com/office/drawing/2014/main" id="{4F43C780-FB8B-48B7-9BC6-E3E116F6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96425" y="3238500"/>
            <a:ext cx="2047875" cy="828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normAutofit fontScale="5434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Java 5 提供了 for-each 形式的增强 for 循环，便于遍历数组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Java 5 provides an enhanced for loop in the form of for-each to facilitate array traversal</a:t>
            </a:r>
          </a:p>
        </p:txBody>
      </p:sp>
      <p:sp>
        <p:nvSpPr>
          <p:cNvPr id="654" name="">
            <a:extLst xmlns:a="http://schemas.openxmlformats.org/drawingml/2006/main">
              <a:ext uri="{FF2B5EF4-FFF2-40B4-BE49-F238E27FC236}">
                <a16:creationId xmlns:a16="http://schemas.microsoft.com/office/drawing/2014/main" id="{2B1E4BDD-2D04-461D-956B-7D195B49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51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00523841"/>
      </p:ext>
    </p:extLst>
  </p:cSld>
</p:sld>
</file>

<file path=ppt/slides/slide5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6" name="">
            <a:extLst xmlns:a="http://schemas.openxmlformats.org/drawingml/2006/main">
              <a:ext uri="{FF2B5EF4-FFF2-40B4-BE49-F238E27FC236}">
                <a16:creationId xmlns:a16="http://schemas.microsoft.com/office/drawing/2014/main" id="{5F29A04B-5AB3-4AFE-9781-BC421D58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57" name="">
            <a:extLst xmlns:a="http://schemas.openxmlformats.org/drawingml/2006/main">
              <a:ext uri="{FF2B5EF4-FFF2-40B4-BE49-F238E27FC236}">
                <a16:creationId xmlns:a16="http://schemas.microsoft.com/office/drawing/2014/main" id="{8BD66332-1D92-44E5-82B3-C0D0D0FB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58" name="">
            <a:extLst xmlns:a="http://schemas.openxmlformats.org/drawingml/2006/main">
              <a:ext uri="{FF2B5EF4-FFF2-40B4-BE49-F238E27FC236}">
                <a16:creationId xmlns:a16="http://schemas.microsoft.com/office/drawing/2014/main" id="{746B5147-DA1B-47E1-B486-7F6C7F38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659" name="">
            <a:extLst xmlns:a="http://schemas.openxmlformats.org/drawingml/2006/main">
              <a:ext uri="{FF2B5EF4-FFF2-40B4-BE49-F238E27FC236}">
                <a16:creationId xmlns:a16="http://schemas.microsoft.com/office/drawing/2014/main" id="{F0AA3188-8668-4497-AA57-C215C64F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作业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Homework</a:t>
            </a:r>
          </a:p>
        </p:txBody>
      </p:sp>
      <p:sp>
        <p:nvSpPr>
          <p:cNvPr id="660" name="">
            <a:extLst xmlns:a="http://schemas.openxmlformats.org/drawingml/2006/main">
              <a:ext uri="{FF2B5EF4-FFF2-40B4-BE49-F238E27FC236}">
                <a16:creationId xmlns:a16="http://schemas.microsoft.com/office/drawing/2014/main" id="{7357D5C3-CBE2-4221-89A7-4CEA073E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课后练习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After-class exercises</a:t>
            </a:r>
          </a:p>
        </p:txBody>
      </p:sp>
      <p:sp>
        <p:nvSpPr>
          <p:cNvPr id="661" name="">
            <a:extLst xmlns:a="http://schemas.openxmlformats.org/drawingml/2006/main">
              <a:ext uri="{FF2B5EF4-FFF2-40B4-BE49-F238E27FC236}">
                <a16:creationId xmlns:a16="http://schemas.microsoft.com/office/drawing/2014/main" id="{C8B40BC0-B6E1-4950-9B7C-05C786B1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2" name="">
            <a:extLst xmlns:a="http://schemas.openxmlformats.org/drawingml/2006/main">
              <a:ext uri="{FF2B5EF4-FFF2-40B4-BE49-F238E27FC236}">
                <a16:creationId xmlns:a16="http://schemas.microsoft.com/office/drawing/2014/main" id="{1AA3C594-D709-46E5-B58C-83870CB9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0289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3" name="">
            <a:extLst xmlns:a="http://schemas.openxmlformats.org/drawingml/2006/main">
              <a:ext uri="{FF2B5EF4-FFF2-40B4-BE49-F238E27FC236}">
                <a16:creationId xmlns:a16="http://schemas.microsoft.com/office/drawing/2014/main" id="{5FE70CF0-0090-4CDB-8167-1A206A6A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9146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按时完成老师布置的作业。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Complete the homework assigned by the teacher on time.</a:t>
            </a:r>
          </a:p>
        </p:txBody>
      </p:sp>
      <p:sp>
        <p:nvSpPr>
          <p:cNvPr id="664" name="">
            <a:extLst xmlns:a="http://schemas.openxmlformats.org/drawingml/2006/main">
              <a:ext uri="{FF2B5EF4-FFF2-40B4-BE49-F238E27FC236}">
                <a16:creationId xmlns:a16="http://schemas.microsoft.com/office/drawing/2014/main" id="{3FF26A4A-606F-4066-967D-E9AA895C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5909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5" name="">
            <a:extLst xmlns:a="http://schemas.openxmlformats.org/drawingml/2006/main">
              <a:ext uri="{FF2B5EF4-FFF2-40B4-BE49-F238E27FC236}">
                <a16:creationId xmlns:a16="http://schemas.microsoft.com/office/drawing/2014/main" id="{D7C7930F-2DDC-432B-96E2-D5D0486E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4766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7683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教材提供了题库练习系统（见前言二维码），可在线刷题自测。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The textbook provides a question bank practice system (see the QR code in the preface), and you can write questions online for self-test.</a:t>
            </a:r>
          </a:p>
        </p:txBody>
      </p:sp>
      <p:sp>
        <p:nvSpPr>
          <p:cNvPr id="666" name="">
            <a:extLst xmlns:a="http://schemas.openxmlformats.org/drawingml/2006/main">
              <a:ext uri="{FF2B5EF4-FFF2-40B4-BE49-F238E27FC236}">
                <a16:creationId xmlns:a16="http://schemas.microsoft.com/office/drawing/2014/main" id="{94304D25-7646-413B-B91F-A0BC89EA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1529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7" name="">
            <a:extLst xmlns:a="http://schemas.openxmlformats.org/drawingml/2006/main">
              <a:ext uri="{FF2B5EF4-FFF2-40B4-BE49-F238E27FC236}">
                <a16:creationId xmlns:a16="http://schemas.microsoft.com/office/drawing/2014/main" id="{600E3AE6-66AF-4A63-9694-5E31BFEC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0386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433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建议动手实现本章 9 个例子并观察运行结果，加深对控制语句的理解。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It is recommended to implement the 9 examples in this chapter and observe the running results to deepen your understanding of control statements.</a:t>
            </a:r>
          </a:p>
        </p:txBody>
      </p:sp>
      <p:sp>
        <p:nvSpPr>
          <p:cNvPr id="668" name="">
            <a:extLst xmlns:a="http://schemas.openxmlformats.org/drawingml/2006/main">
              <a:ext uri="{FF2B5EF4-FFF2-40B4-BE49-F238E27FC236}">
                <a16:creationId xmlns:a16="http://schemas.microsoft.com/office/drawing/2014/main" id="{991F08BD-F1BF-42C6-8742-AD5EE8B1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52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10452650"/>
      </p:ext>
    </p:extLst>
  </p:cSld>
</p:sld>
</file>

<file path=ppt/slides/slide5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6" name="">
            <a:extLst xmlns:a="http://schemas.openxmlformats.org/drawingml/2006/main">
              <a:ext uri="{FF2B5EF4-FFF2-40B4-BE49-F238E27FC236}">
                <a16:creationId xmlns:a16="http://schemas.microsoft.com/office/drawing/2014/main" id="{5F29A04B-5AB3-4AFE-9781-BC421D58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57" name="">
            <a:extLst xmlns:a="http://schemas.openxmlformats.org/drawingml/2006/main">
              <a:ext uri="{FF2B5EF4-FFF2-40B4-BE49-F238E27FC236}">
                <a16:creationId xmlns:a16="http://schemas.microsoft.com/office/drawing/2014/main" id="{8BD66332-1D92-44E5-82B3-C0D0D0FB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58" name="">
            <a:extLst xmlns:a="http://schemas.openxmlformats.org/drawingml/2006/main">
              <a:ext uri="{FF2B5EF4-FFF2-40B4-BE49-F238E27FC236}">
                <a16:creationId xmlns:a16="http://schemas.microsoft.com/office/drawing/2014/main" id="{746B5147-DA1B-47E1-B486-7F6C7F38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659" name="">
            <a:extLst xmlns:a="http://schemas.openxmlformats.org/drawingml/2006/main">
              <a:ext uri="{FF2B5EF4-FFF2-40B4-BE49-F238E27FC236}">
                <a16:creationId xmlns:a16="http://schemas.microsoft.com/office/drawing/2014/main" id="{F0AA3188-8668-4497-AA57-C215C64F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编程题 1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Programming Task 1</a:t>
            </a:r>
          </a:p>
        </p:txBody>
      </p:sp>
      <p:sp>
        <p:nvSpPr>
          <p:cNvPr id="660" name="">
            <a:extLst xmlns:a="http://schemas.openxmlformats.org/drawingml/2006/main">
              <a:ext uri="{FF2B5EF4-FFF2-40B4-BE49-F238E27FC236}">
                <a16:creationId xmlns:a16="http://schemas.microsoft.com/office/drawing/2014/main" id="{7357D5C3-CBE2-4221-89A7-4CEA073E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四则运算计算器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Arithmetic calculator</a:t>
            </a:r>
          </a:p>
        </p:txBody>
      </p:sp>
      <p:sp>
        <p:nvSpPr>
          <p:cNvPr id="661" name="">
            <a:extLst xmlns:a="http://schemas.openxmlformats.org/drawingml/2006/main">
              <a:ext uri="{FF2B5EF4-FFF2-40B4-BE49-F238E27FC236}">
                <a16:creationId xmlns:a16="http://schemas.microsoft.com/office/drawing/2014/main" id="{C8B40BC0-B6E1-4950-9B7C-05C786B1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2" name="">
            <a:extLst xmlns:a="http://schemas.openxmlformats.org/drawingml/2006/main">
              <a:ext uri="{FF2B5EF4-FFF2-40B4-BE49-F238E27FC236}">
                <a16:creationId xmlns:a16="http://schemas.microsoft.com/office/drawing/2014/main" id="{1AA3C594-D709-46E5-B58C-83870CB9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0289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3" name="">
            <a:extLst xmlns:a="http://schemas.openxmlformats.org/drawingml/2006/main">
              <a:ext uri="{FF2B5EF4-FFF2-40B4-BE49-F238E27FC236}">
                <a16:creationId xmlns:a16="http://schemas.microsoft.com/office/drawing/2014/main" id="{5FE70CF0-0090-4CDB-8167-1A206A6A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9146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读入两个整数，输出 +、-、*、/ 和 % 的结果。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Read two integers and print the results of +, -, *, /, and %.</a:t>
            </a:r>
          </a:p>
        </p:txBody>
      </p:sp>
      <p:sp>
        <p:nvSpPr>
          <p:cNvPr id="664" name="">
            <a:extLst xmlns:a="http://schemas.openxmlformats.org/drawingml/2006/main">
              <a:ext uri="{FF2B5EF4-FFF2-40B4-BE49-F238E27FC236}">
                <a16:creationId xmlns:a16="http://schemas.microsoft.com/office/drawing/2014/main" id="{3FF26A4A-606F-4066-967D-E9AA895C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5909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5" name="">
            <a:extLst xmlns:a="http://schemas.openxmlformats.org/drawingml/2006/main">
              <a:ext uri="{FF2B5EF4-FFF2-40B4-BE49-F238E27FC236}">
                <a16:creationId xmlns:a16="http://schemas.microsoft.com/office/drawing/2014/main" id="{D7C7930F-2DDC-432B-96E2-D5D0486E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4766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除数为 0 时，不执行除法和取余，输出提示信息。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If the divisor is 0, skip division and remainder and print a message.</a:t>
            </a:r>
          </a:p>
        </p:txBody>
      </p:sp>
      <p:sp>
        <p:nvSpPr>
          <p:cNvPr id="666" name="">
            <a:extLst xmlns:a="http://schemas.openxmlformats.org/drawingml/2006/main">
              <a:ext uri="{FF2B5EF4-FFF2-40B4-BE49-F238E27FC236}">
                <a16:creationId xmlns:a16="http://schemas.microsoft.com/office/drawing/2014/main" id="{94304D25-7646-413B-B91F-A0BC89EA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1529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7" name="">
            <a:extLst xmlns:a="http://schemas.openxmlformats.org/drawingml/2006/main">
              <a:ext uri="{FF2B5EF4-FFF2-40B4-BE49-F238E27FC236}">
                <a16:creationId xmlns:a16="http://schemas.microsoft.com/office/drawing/2014/main" id="{600E3AE6-66AF-4A63-9694-5E31BFEC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0386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文件名：ArithmeticCalculatorPractice.java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File: ArithmeticCalculatorPractice.java</a:t>
            </a:r>
          </a:p>
        </p:txBody>
      </p:sp>
      <p:sp>
        <p:nvSpPr>
          <p:cNvPr id="668" name="">
            <a:extLst xmlns:a="http://schemas.openxmlformats.org/drawingml/2006/main">
              <a:ext uri="{FF2B5EF4-FFF2-40B4-BE49-F238E27FC236}">
                <a16:creationId xmlns:a16="http://schemas.microsoft.com/office/drawing/2014/main" id="{991F08BD-F1BF-42C6-8742-AD5EE8B1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53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10452650"/>
      </p:ext>
    </p:extLst>
  </p:cSld>
</p:sld>
</file>

<file path=ppt/slides/slide5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6" name="">
            <a:extLst xmlns:a="http://schemas.openxmlformats.org/drawingml/2006/main">
              <a:ext uri="{FF2B5EF4-FFF2-40B4-BE49-F238E27FC236}">
                <a16:creationId xmlns:a16="http://schemas.microsoft.com/office/drawing/2014/main" id="{5F29A04B-5AB3-4AFE-9781-BC421D58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57" name="">
            <a:extLst xmlns:a="http://schemas.openxmlformats.org/drawingml/2006/main">
              <a:ext uri="{FF2B5EF4-FFF2-40B4-BE49-F238E27FC236}">
                <a16:creationId xmlns:a16="http://schemas.microsoft.com/office/drawing/2014/main" id="{8BD66332-1D92-44E5-82B3-C0D0D0FB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58" name="">
            <a:extLst xmlns:a="http://schemas.openxmlformats.org/drawingml/2006/main">
              <a:ext uri="{FF2B5EF4-FFF2-40B4-BE49-F238E27FC236}">
                <a16:creationId xmlns:a16="http://schemas.microsoft.com/office/drawing/2014/main" id="{746B5147-DA1B-47E1-B486-7F6C7F38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659" name="">
            <a:extLst xmlns:a="http://schemas.openxmlformats.org/drawingml/2006/main">
              <a:ext uri="{FF2B5EF4-FFF2-40B4-BE49-F238E27FC236}">
                <a16:creationId xmlns:a16="http://schemas.microsoft.com/office/drawing/2014/main" id="{F0AA3188-8668-4497-AA57-C215C64F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编程题 2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Programming Task 2</a:t>
            </a:r>
          </a:p>
        </p:txBody>
      </p:sp>
      <p:sp>
        <p:nvSpPr>
          <p:cNvPr id="660" name="">
            <a:extLst xmlns:a="http://schemas.openxmlformats.org/drawingml/2006/main">
              <a:ext uri="{FF2B5EF4-FFF2-40B4-BE49-F238E27FC236}">
                <a16:creationId xmlns:a16="http://schemas.microsoft.com/office/drawing/2014/main" id="{7357D5C3-CBE2-4221-89A7-4CEA073E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成绩等级判断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Grade classifier</a:t>
            </a:r>
          </a:p>
        </p:txBody>
      </p:sp>
      <p:sp>
        <p:nvSpPr>
          <p:cNvPr id="661" name="">
            <a:extLst xmlns:a="http://schemas.openxmlformats.org/drawingml/2006/main">
              <a:ext uri="{FF2B5EF4-FFF2-40B4-BE49-F238E27FC236}">
                <a16:creationId xmlns:a16="http://schemas.microsoft.com/office/drawing/2014/main" id="{C8B40BC0-B6E1-4950-9B7C-05C786B1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2" name="">
            <a:extLst xmlns:a="http://schemas.openxmlformats.org/drawingml/2006/main">
              <a:ext uri="{FF2B5EF4-FFF2-40B4-BE49-F238E27FC236}">
                <a16:creationId xmlns:a16="http://schemas.microsoft.com/office/drawing/2014/main" id="{1AA3C594-D709-46E5-B58C-83870CB9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0289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3" name="">
            <a:extLst xmlns:a="http://schemas.openxmlformats.org/drawingml/2006/main">
              <a:ext uri="{FF2B5EF4-FFF2-40B4-BE49-F238E27FC236}">
                <a16:creationId xmlns:a16="http://schemas.microsoft.com/office/drawing/2014/main" id="{5FE70CF0-0090-4CDB-8167-1A206A6A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9146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读入 0—100 的成绩，用 if-else if 输出 A、B、C、D 或 F。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Read a score from 0 to 100 and print A, B, C, D, or F with if-else if.</a:t>
            </a:r>
          </a:p>
        </p:txBody>
      </p:sp>
      <p:sp>
        <p:nvSpPr>
          <p:cNvPr id="664" name="">
            <a:extLst xmlns:a="http://schemas.openxmlformats.org/drawingml/2006/main">
              <a:ext uri="{FF2B5EF4-FFF2-40B4-BE49-F238E27FC236}">
                <a16:creationId xmlns:a16="http://schemas.microsoft.com/office/drawing/2014/main" id="{3FF26A4A-606F-4066-967D-E9AA895C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5909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5" name="">
            <a:extLst xmlns:a="http://schemas.openxmlformats.org/drawingml/2006/main">
              <a:ext uri="{FF2B5EF4-FFF2-40B4-BE49-F238E27FC236}">
                <a16:creationId xmlns:a16="http://schemas.microsoft.com/office/drawing/2014/main" id="{D7C7930F-2DDC-432B-96E2-D5D0486E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4766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成绩超出范围时输出“输入无效”，不能进入正常分支。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Print “invalid input” when the score is outside the valid range.</a:t>
            </a:r>
          </a:p>
        </p:txBody>
      </p:sp>
      <p:sp>
        <p:nvSpPr>
          <p:cNvPr id="666" name="">
            <a:extLst xmlns:a="http://schemas.openxmlformats.org/drawingml/2006/main">
              <a:ext uri="{FF2B5EF4-FFF2-40B4-BE49-F238E27FC236}">
                <a16:creationId xmlns:a16="http://schemas.microsoft.com/office/drawing/2014/main" id="{94304D25-7646-413B-B91F-A0BC89EA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1529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7" name="">
            <a:extLst xmlns:a="http://schemas.openxmlformats.org/drawingml/2006/main">
              <a:ext uri="{FF2B5EF4-FFF2-40B4-BE49-F238E27FC236}">
                <a16:creationId xmlns:a16="http://schemas.microsoft.com/office/drawing/2014/main" id="{600E3AE6-66AF-4A63-9694-5E31BFEC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0386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文件名：GradeClassifierPractice.java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File: GradeClassifierPractice.java</a:t>
            </a:r>
          </a:p>
        </p:txBody>
      </p:sp>
      <p:sp>
        <p:nvSpPr>
          <p:cNvPr id="668" name="">
            <a:extLst xmlns:a="http://schemas.openxmlformats.org/drawingml/2006/main">
              <a:ext uri="{FF2B5EF4-FFF2-40B4-BE49-F238E27FC236}">
                <a16:creationId xmlns:a16="http://schemas.microsoft.com/office/drawing/2014/main" id="{991F08BD-F1BF-42C6-8742-AD5EE8B1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54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10452650"/>
      </p:ext>
    </p:extLst>
  </p:cSld>
</p:sld>
</file>

<file path=ppt/slides/slide5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6" name="">
            <a:extLst xmlns:a="http://schemas.openxmlformats.org/drawingml/2006/main">
              <a:ext uri="{FF2B5EF4-FFF2-40B4-BE49-F238E27FC236}">
                <a16:creationId xmlns:a16="http://schemas.microsoft.com/office/drawing/2014/main" id="{5F29A04B-5AB3-4AFE-9781-BC421D58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57" name="">
            <a:extLst xmlns:a="http://schemas.openxmlformats.org/drawingml/2006/main">
              <a:ext uri="{FF2B5EF4-FFF2-40B4-BE49-F238E27FC236}">
                <a16:creationId xmlns:a16="http://schemas.microsoft.com/office/drawing/2014/main" id="{8BD66332-1D92-44E5-82B3-C0D0D0FB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58" name="">
            <a:extLst xmlns:a="http://schemas.openxmlformats.org/drawingml/2006/main">
              <a:ext uri="{FF2B5EF4-FFF2-40B4-BE49-F238E27FC236}">
                <a16:creationId xmlns:a16="http://schemas.microsoft.com/office/drawing/2014/main" id="{746B5147-DA1B-47E1-B486-7F6C7F38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659" name="">
            <a:extLst xmlns:a="http://schemas.openxmlformats.org/drawingml/2006/main">
              <a:ext uri="{FF2B5EF4-FFF2-40B4-BE49-F238E27FC236}">
                <a16:creationId xmlns:a16="http://schemas.microsoft.com/office/drawing/2014/main" id="{F0AA3188-8668-4497-AA57-C215C64F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编程题 3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Programming Task 3</a:t>
            </a:r>
          </a:p>
        </p:txBody>
      </p:sp>
      <p:sp>
        <p:nvSpPr>
          <p:cNvPr id="660" name="">
            <a:extLst xmlns:a="http://schemas.openxmlformats.org/drawingml/2006/main">
              <a:ext uri="{FF2B5EF4-FFF2-40B4-BE49-F238E27FC236}">
                <a16:creationId xmlns:a16="http://schemas.microsoft.com/office/drawing/2014/main" id="{7357D5C3-CBE2-4221-89A7-4CEA073E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循环求和与阶乘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Loop sum and factorial</a:t>
            </a:r>
          </a:p>
        </p:txBody>
      </p:sp>
      <p:sp>
        <p:nvSpPr>
          <p:cNvPr id="661" name="">
            <a:extLst xmlns:a="http://schemas.openxmlformats.org/drawingml/2006/main">
              <a:ext uri="{FF2B5EF4-FFF2-40B4-BE49-F238E27FC236}">
                <a16:creationId xmlns:a16="http://schemas.microsoft.com/office/drawing/2014/main" id="{C8B40BC0-B6E1-4950-9B7C-05C786B1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2" name="">
            <a:extLst xmlns:a="http://schemas.openxmlformats.org/drawingml/2006/main">
              <a:ext uri="{FF2B5EF4-FFF2-40B4-BE49-F238E27FC236}">
                <a16:creationId xmlns:a16="http://schemas.microsoft.com/office/drawing/2014/main" id="{1AA3C594-D709-46E5-B58C-83870CB9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0289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3" name="">
            <a:extLst xmlns:a="http://schemas.openxmlformats.org/drawingml/2006/main">
              <a:ext uri="{FF2B5EF4-FFF2-40B4-BE49-F238E27FC236}">
                <a16:creationId xmlns:a16="http://schemas.microsoft.com/office/drawing/2014/main" id="{5FE70CF0-0090-4CDB-8167-1A206A6A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9146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读入正整数 n，用 for 计算 1+2+…+n。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Read a positive integer n and use for to calculate 1+2+…+n.</a:t>
            </a:r>
          </a:p>
        </p:txBody>
      </p:sp>
      <p:sp>
        <p:nvSpPr>
          <p:cNvPr id="664" name="">
            <a:extLst xmlns:a="http://schemas.openxmlformats.org/drawingml/2006/main">
              <a:ext uri="{FF2B5EF4-FFF2-40B4-BE49-F238E27FC236}">
                <a16:creationId xmlns:a16="http://schemas.microsoft.com/office/drawing/2014/main" id="{3FF26A4A-606F-4066-967D-E9AA895C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5909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5" name="">
            <a:extLst xmlns:a="http://schemas.openxmlformats.org/drawingml/2006/main">
              <a:ext uri="{FF2B5EF4-FFF2-40B4-BE49-F238E27FC236}">
                <a16:creationId xmlns:a16="http://schemas.microsoft.com/office/drawing/2014/main" id="{D7C7930F-2DDC-432B-96E2-D5D0486E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4766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再用 while 计算 n!；n 不合法时输出提示。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Then use while to calculate n!; print a message for invalid n.</a:t>
            </a:r>
          </a:p>
        </p:txBody>
      </p:sp>
      <p:sp>
        <p:nvSpPr>
          <p:cNvPr id="666" name="">
            <a:extLst xmlns:a="http://schemas.openxmlformats.org/drawingml/2006/main">
              <a:ext uri="{FF2B5EF4-FFF2-40B4-BE49-F238E27FC236}">
                <a16:creationId xmlns:a16="http://schemas.microsoft.com/office/drawing/2014/main" id="{94304D25-7646-413B-B91F-A0BC89EA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1529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7" name="">
            <a:extLst xmlns:a="http://schemas.openxmlformats.org/drawingml/2006/main">
              <a:ext uri="{FF2B5EF4-FFF2-40B4-BE49-F238E27FC236}">
                <a16:creationId xmlns:a16="http://schemas.microsoft.com/office/drawing/2014/main" id="{600E3AE6-66AF-4A63-9694-5E31BFEC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0386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文件名：LoopMathPractice.java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File: LoopMathPractice.java</a:t>
            </a:r>
          </a:p>
        </p:txBody>
      </p:sp>
      <p:sp>
        <p:nvSpPr>
          <p:cNvPr id="668" name="">
            <a:extLst xmlns:a="http://schemas.openxmlformats.org/drawingml/2006/main">
              <a:ext uri="{FF2B5EF4-FFF2-40B4-BE49-F238E27FC236}">
                <a16:creationId xmlns:a16="http://schemas.microsoft.com/office/drawing/2014/main" id="{991F08BD-F1BF-42C6-8742-AD5EE8B1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55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10452650"/>
      </p:ext>
    </p:extLst>
  </p:cSld>
</p:sld>
</file>

<file path=ppt/slides/slide5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6" name="">
            <a:extLst xmlns:a="http://schemas.openxmlformats.org/drawingml/2006/main">
              <a:ext uri="{FF2B5EF4-FFF2-40B4-BE49-F238E27FC236}">
                <a16:creationId xmlns:a16="http://schemas.microsoft.com/office/drawing/2014/main" id="{5F29A04B-5AB3-4AFE-9781-BC421D58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57" name="">
            <a:extLst xmlns:a="http://schemas.openxmlformats.org/drawingml/2006/main">
              <a:ext uri="{FF2B5EF4-FFF2-40B4-BE49-F238E27FC236}">
                <a16:creationId xmlns:a16="http://schemas.microsoft.com/office/drawing/2014/main" id="{8BD66332-1D92-44E5-82B3-C0D0D0FB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457200"/>
            <a:ext cx="1127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58" name="">
            <a:extLst xmlns:a="http://schemas.openxmlformats.org/drawingml/2006/main">
              <a:ext uri="{FF2B5EF4-FFF2-40B4-BE49-F238E27FC236}">
                <a16:creationId xmlns:a16="http://schemas.microsoft.com/office/drawing/2014/main" id="{746B5147-DA1B-47E1-B486-7F6C7F38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" y="714375"/>
            <a:ext cx="2219325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章 · 运算符、表达式和语句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</a:t>
            </a:r>
          </a:p>
        </p:txBody>
      </p:sp>
      <p:sp>
        <p:nvSpPr>
          <p:cNvPr id="659" name="">
            <a:extLst xmlns:a="http://schemas.openxmlformats.org/drawingml/2006/main">
              <a:ext uri="{FF2B5EF4-FFF2-40B4-BE49-F238E27FC236}">
                <a16:creationId xmlns:a16="http://schemas.microsoft.com/office/drawing/2014/main" id="{F0AA3188-8668-4497-AA57-C215C64F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295400"/>
            <a:ext cx="3381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3069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编程题 4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9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Programming Task 4</a:t>
            </a:r>
          </a:p>
        </p:txBody>
      </p:sp>
      <p:sp>
        <p:nvSpPr>
          <p:cNvPr id="660" name="">
            <a:extLst xmlns:a="http://schemas.openxmlformats.org/drawingml/2006/main">
              <a:ext uri="{FF2B5EF4-FFF2-40B4-BE49-F238E27FC236}">
                <a16:creationId xmlns:a16="http://schemas.microsoft.com/office/drawing/2014/main" id="{7357D5C3-CBE2-4221-89A7-4CEA073E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1600200"/>
            <a:ext cx="3381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840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输入若干数求平均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72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Average multiple inputs</a:t>
            </a:r>
          </a:p>
        </p:txBody>
      </p:sp>
      <p:sp>
        <p:nvSpPr>
          <p:cNvPr id="661" name="">
            <a:extLst xmlns:a="http://schemas.openxmlformats.org/drawingml/2006/main">
              <a:ext uri="{FF2B5EF4-FFF2-40B4-BE49-F238E27FC236}">
                <a16:creationId xmlns:a16="http://schemas.microsoft.com/office/drawing/2014/main" id="{C8B40BC0-B6E1-4950-9B7C-05C786B1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200" y="23812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2" name="">
            <a:extLst xmlns:a="http://schemas.openxmlformats.org/drawingml/2006/main">
              <a:ext uri="{FF2B5EF4-FFF2-40B4-BE49-F238E27FC236}">
                <a16:creationId xmlns:a16="http://schemas.microsoft.com/office/drawing/2014/main" id="{1AA3C594-D709-46E5-B58C-83870CB9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0289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3" name="">
            <a:extLst xmlns:a="http://schemas.openxmlformats.org/drawingml/2006/main">
              <a:ext uri="{FF2B5EF4-FFF2-40B4-BE49-F238E27FC236}">
                <a16:creationId xmlns:a16="http://schemas.microsoft.com/office/drawing/2014/main" id="{5FE70CF0-0090-4CDB-8167-1A206A6A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291465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循环读取 double，遇到非数字字符串结束。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Read doubles in a loop and stop when a non-number token is entered.</a:t>
            </a:r>
          </a:p>
        </p:txBody>
      </p:sp>
      <p:sp>
        <p:nvSpPr>
          <p:cNvPr id="664" name="">
            <a:extLst xmlns:a="http://schemas.openxmlformats.org/drawingml/2006/main">
              <a:ext uri="{FF2B5EF4-FFF2-40B4-BE49-F238E27FC236}">
                <a16:creationId xmlns:a16="http://schemas.microsoft.com/office/drawing/2014/main" id="{3FF26A4A-606F-4066-967D-E9AA895C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35909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5" name="">
            <a:extLst xmlns:a="http://schemas.openxmlformats.org/drawingml/2006/main">
              <a:ext uri="{FF2B5EF4-FFF2-40B4-BE49-F238E27FC236}">
                <a16:creationId xmlns:a16="http://schemas.microsoft.com/office/drawing/2014/main" id="{D7C7930F-2DDC-432B-96E2-D5D0486E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3476625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输出数量、总和和平均值；没有数字时避免除零。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Print count, sum, and average; avoid division by zero when no number is entered.</a:t>
            </a:r>
          </a:p>
        </p:txBody>
      </p:sp>
      <p:sp>
        <p:nvSpPr>
          <p:cNvPr id="666" name="">
            <a:extLst xmlns:a="http://schemas.openxmlformats.org/drawingml/2006/main">
              <a:ext uri="{FF2B5EF4-FFF2-40B4-BE49-F238E27FC236}">
                <a16:creationId xmlns:a16="http://schemas.microsoft.com/office/drawing/2014/main" id="{94304D25-7646-413B-B91F-A0BC89EA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1475" y="41529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4FA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7" name="">
            <a:extLst xmlns:a="http://schemas.openxmlformats.org/drawingml/2006/main">
              <a:ext uri="{FF2B5EF4-FFF2-40B4-BE49-F238E27FC236}">
                <a16:creationId xmlns:a16="http://schemas.microsoft.com/office/drawing/2014/main" id="{600E3AE6-66AF-4A63-9694-5E31BFEC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71975" y="4038600"/>
            <a:ext cx="7362825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54290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文件名：ScannerAveragePractice.java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60">
                <a:solidFill>
                  <a:srgbClr val="1A2230"/>
                </a:solidFill>
                <a:latin typeface="Microsoft YaHei"/>
                <a:ea typeface="Microsoft YaHei"/>
                <a:cs typeface="Microsoft YaHei"/>
              </a:rPr>
              <a:t>File: ScannerAveragePractice.java</a:t>
            </a:r>
          </a:p>
        </p:txBody>
      </p:sp>
      <p:sp>
        <p:nvSpPr>
          <p:cNvPr id="668" name="">
            <a:extLst xmlns:a="http://schemas.openxmlformats.org/drawingml/2006/main">
              <a:ext uri="{FF2B5EF4-FFF2-40B4-BE49-F238E27FC236}">
                <a16:creationId xmlns:a16="http://schemas.microsoft.com/office/drawing/2014/main" id="{991F08BD-F1BF-42C6-8742-AD5EE8B1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58550" y="62388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56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10452650"/>
      </p:ext>
    </p:extLst>
  </p:cSld>
</p:sld>
</file>

<file path=ppt/slides/slide5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0" name="">
            <a:extLst xmlns:a="http://schemas.openxmlformats.org/drawingml/2006/main">
              <a:ext uri="{FF2B5EF4-FFF2-40B4-BE49-F238E27FC236}">
                <a16:creationId xmlns:a16="http://schemas.microsoft.com/office/drawing/2014/main" id="{71249A29-9F36-4F5A-825C-5D1954FC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71" name="">
            <a:extLst xmlns:a="http://schemas.openxmlformats.org/drawingml/2006/main">
              <a:ext uri="{FF2B5EF4-FFF2-40B4-BE49-F238E27FC236}">
                <a16:creationId xmlns:a16="http://schemas.microsoft.com/office/drawing/2014/main" id="{194CEDE8-EDCE-4BDB-8640-42308F66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500" y="571500"/>
            <a:ext cx="11049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F8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72" name="">
            <a:extLst xmlns:a="http://schemas.openxmlformats.org/drawingml/2006/main">
              <a:ext uri="{FF2B5EF4-FFF2-40B4-BE49-F238E27FC236}">
                <a16:creationId xmlns:a16="http://schemas.microsoft.com/office/drawing/2014/main" id="{BE925C19-EC44-4A22-8EA2-638F241F5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48100" y="2457450"/>
            <a:ext cx="44958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6000" b="1">
                <a:solidFill>
                  <a:srgbClr val="0E3F8C"/>
                </a:solidFill>
                <a:latin typeface="Microsoft YaHei"/>
                <a:ea typeface="Microsoft YaHei"/>
                <a:cs typeface="Microsoft YaHei"/>
              </a:rPr>
              <a:t>Thank You !</a:t>
            </a:r>
            <a:endParaRPr/>
          </a:p>
        </p:txBody>
      </p:sp>
      <p:sp>
        <p:nvSpPr>
          <p:cNvPr id="673" name="">
            <a:extLst xmlns:a="http://schemas.openxmlformats.org/drawingml/2006/main">
              <a:ext uri="{FF2B5EF4-FFF2-40B4-BE49-F238E27FC236}">
                <a16:creationId xmlns:a16="http://schemas.microsoft.com/office/drawing/2014/main" id="{727DE651-DBDC-4FC9-82B8-E3BDDFC8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19500" y="3600450"/>
            <a:ext cx="4953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>
            <a:normAutofit fontScale="32197"/>
          </a:bodyPr>
          <a:lstStyle xmlns:a="http://schemas.openxmlformats.org/drawingml/2006/main"/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30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第 3 章 · 运算符、表达式和语句 到此结束</a:t>
            </a:r>
          </a:p>
          <a:p xmlns:a="http://schemas.openxmlformats.org/drawingml/2006/main"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30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Chapter 3 · Operators, Expressions, and Statements That Ends</a:t>
            </a:r>
          </a:p>
        </p:txBody>
      </p:sp>
      <p:sp>
        <p:nvSpPr>
          <p:cNvPr id="674" name="">
            <a:extLst xmlns:a="http://schemas.openxmlformats.org/drawingml/2006/main">
              <a:ext uri="{FF2B5EF4-FFF2-40B4-BE49-F238E27FC236}">
                <a16:creationId xmlns:a16="http://schemas.microsoft.com/office/drawing/2014/main" id="{4033EF9F-7E63-4B7E-8C31-652C4AAA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619750" y="4267200"/>
            <a:ext cx="952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3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75" name="">
            <a:extLst xmlns:a="http://schemas.openxmlformats.org/drawingml/2006/main">
              <a:ext uri="{FF2B5EF4-FFF2-40B4-BE49-F238E27FC236}">
                <a16:creationId xmlns:a16="http://schemas.microsoft.com/office/drawing/2014/main" id="{FD00C531-DCDA-4866-B06D-D3FA973D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44250" y="6124575"/>
            <a:ext cx="476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  <a:cs typeface="Microsoft YaHei"/>
              </a:rPr>
              <a:t>57 / 57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547130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2026-08-27T08:31:17.8420000Z</dcterms:created>
  <dcterms:modified xsi:type="dcterms:W3CDTF">2026-08-27T08:31:17.8420000Z</dcterms:modified>
</coreProperties>
</file>