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 / Classroom Demo]
课堂运行：课堂示例代码/第3章/OperatorDemo.java
修改 a、b，观察 / 与 %；再把 b 改成 0，讨论除零保护。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 / Classroom Demo]
课堂运行：课堂示例代码/第3章/ShortCircuitDemo.java
先预测 y 是否变化，再运行验证 || 和 &amp;&amp; 的短路效果。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 / Classroom Demo]
课堂运行：课堂示例代码/第3章/BranchDemo.java
依次输入 95、82、68、55 和 105，观察多分支与合法性检查。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 / Classroom Demo]
课堂运行：课堂示例代码/第3章/LoopSeriesDemo.java
逐轮观察 item 与 sum，说明下一项如何由上一项生成。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
[课堂运行示例 / Classroom Demo]
课堂运行：课堂示例代码/第3章/ScannerAverageDemo.java
输入 98 129.77 865.88 end，观察计数、累加和平均值。
[Sources]
Source concepts: user-provided chapter deck. Demo code: original instructional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import java.util.Scanner;</a:t>
            </a:r>
          </a:p>
          <a:p>
            <a:r>
              <a:t>public class ArithmeticCalculatorPracticeAnswer {</a:t>
            </a:r>
          </a:p>
          <a:p>
            <a:r>
              <a:t>    public static void main(String[] args) {</a:t>
            </a:r>
          </a:p>
          <a:p>
            <a:r>
              <a:t>        Scanner in = new Scanner(System.in);</a:t>
            </a:r>
          </a:p>
          <a:p>
            <a:r>
              <a:t>        int a = in.nextInt();</a:t>
            </a:r>
          </a:p>
          <a:p>
            <a:r>
              <a:t>        int b = in.nextInt();</a:t>
            </a:r>
          </a:p>
          <a:p>
            <a:r>
              <a:t>        System.out.println(a + b);</a:t>
            </a:r>
          </a:p>
          <a:p>
            <a:r>
              <a:t>        System.out.println(a - b);</a:t>
            </a:r>
          </a:p>
          <a:p>
            <a:r>
              <a:t>        System.out.println(a * b);</a:t>
            </a:r>
          </a:p>
          <a:p>
            <a:r>
              <a:t>        if (b != 0) {</a:t>
            </a:r>
          </a:p>
          <a:p>
            <a:r>
              <a:t>            System.out.println(a / b);</a:t>
            </a:r>
          </a:p>
          <a:p>
            <a:r>
              <a:t>            System.out.println(a % b);</a:t>
            </a:r>
          </a:p>
          <a:p>
            <a:r>
              <a:t>        } else {</a:t>
            </a:r>
          </a:p>
          <a:p>
            <a:r>
              <a:t>            System.out.println("除数不能为 0");</a:t>
            </a:r>
          </a:p>
          <a:p>
            <a:r>
              <a:t>        }</a:t>
            </a:r>
          </a:p>
          <a:p>
            <a:r>
              <a:t>        in.close();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import java.util.Scanner;</a:t>
            </a:r>
          </a:p>
          <a:p>
            <a:r>
              <a:t>public class GradeClassifierPracticeAnswer {</a:t>
            </a:r>
          </a:p>
          <a:p>
            <a:r>
              <a:t>    public static void main(String[] args) {</a:t>
            </a:r>
          </a:p>
          <a:p>
            <a:r>
              <a:t>        Scanner in = new Scanner(System.in);</a:t>
            </a:r>
          </a:p>
          <a:p>
            <a:r>
              <a:t>        int score = in.nextInt();</a:t>
            </a:r>
          </a:p>
          <a:p>
            <a:r>
              <a:t>        if (score &lt; 0 || score &gt; 100) System.out.println("输入无效");</a:t>
            </a:r>
          </a:p>
          <a:p>
            <a:r>
              <a:t>        else if (score &gt;= 90) System.out.println("A");</a:t>
            </a:r>
          </a:p>
          <a:p>
            <a:r>
              <a:t>        else if (score &gt;= 80) System.out.println("B");</a:t>
            </a:r>
          </a:p>
          <a:p>
            <a:r>
              <a:t>        else if (score &gt;= 70) System.out.println("C");</a:t>
            </a:r>
          </a:p>
          <a:p>
            <a:r>
              <a:t>        else if (score &gt;= 60) System.out.println("D");</a:t>
            </a:r>
          </a:p>
          <a:p>
            <a:r>
              <a:t>        else System.out.println("F");</a:t>
            </a:r>
          </a:p>
          <a:p>
            <a:r>
              <a:t>        in.close();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import java.util.Scanner;</a:t>
            </a:r>
          </a:p>
          <a:p>
            <a:r>
              <a:t>public class LoopMathPracticeAnswer {</a:t>
            </a:r>
          </a:p>
          <a:p>
            <a:r>
              <a:t>    public static void main(String[] args) {</a:t>
            </a:r>
          </a:p>
          <a:p>
            <a:r>
              <a:t>        Scanner in = new Scanner(System.in);</a:t>
            </a:r>
          </a:p>
          <a:p>
            <a:r>
              <a:t>        int n = in.nextInt();</a:t>
            </a:r>
          </a:p>
          <a:p>
            <a:r>
              <a:t>        if (n &lt; 1) { System.out.println("输入无效"); return; }</a:t>
            </a:r>
          </a:p>
          <a:p>
            <a:r>
              <a:t>        int sum = 0;</a:t>
            </a:r>
          </a:p>
          <a:p>
            <a:r>
              <a:t>        for (int i = 1; i &lt;= n; i++) sum += i;</a:t>
            </a:r>
          </a:p>
          <a:p>
            <a:r>
              <a:t>        long factorial = 1;</a:t>
            </a:r>
          </a:p>
          <a:p>
            <a:r>
              <a:t>        int i = 1;</a:t>
            </a:r>
          </a:p>
          <a:p>
            <a:r>
              <a:t>        while (i &lt;= n) factorial *= i++;</a:t>
            </a:r>
          </a:p>
          <a:p>
            <a:r>
              <a:t>        System.out.println("和：" + sum);</a:t>
            </a:r>
          </a:p>
          <a:p>
            <a:r>
              <a:t>        System.out.println("阶乘：" + factorial);</a:t>
            </a:r>
          </a:p>
          <a:p>
            <a:r>
              <a:t>        in.close();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[编程题参考答案 / Reference Solution]</a:t>
            </a:r>
          </a:p>
          <a:p>
            <a:r>
              <a:t>import java.util.Scanner;</a:t>
            </a:r>
          </a:p>
          <a:p>
            <a:r>
              <a:t>public class ScannerAveragePracticeAnswer {</a:t>
            </a:r>
          </a:p>
          <a:p>
            <a:r>
              <a:t>    public static void main(String[] args) {</a:t>
            </a:r>
          </a:p>
          <a:p>
            <a:r>
              <a:t>        Scanner in = new Scanner(System.in);</a:t>
            </a:r>
          </a:p>
          <a:p>
            <a:r>
              <a:t>        int count = 0;</a:t>
            </a:r>
          </a:p>
          <a:p>
            <a:r>
              <a:t>        double sum = 0;</a:t>
            </a:r>
          </a:p>
          <a:p>
            <a:r>
              <a:t>        while (in.hasNextDouble()) { sum += in.nextDouble(); count++; }</a:t>
            </a:r>
          </a:p>
          <a:p>
            <a:r>
              <a:t>        System.out.println("数量：" + count);</a:t>
            </a:r>
          </a:p>
          <a:p>
            <a:r>
              <a:t>        System.out.println("总和：" + sum);</a:t>
            </a:r>
          </a:p>
          <a:p>
            <a:r>
              <a:t>        if (count &gt; 0) System.out.println("平均值：" + sum / count);</a:t>
            </a:r>
          </a:p>
          <a:p>
            <a:r>
              <a:t>        else System.out.println("没有输入数字");</a:t>
            </a:r>
          </a:p>
          <a:p>
            <a:r>
              <a:t>        in.close();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[Sources]</a:t>
            </a:r>
          </a:p>
          <a:p>
            <a:r>
              <a:t>Original instructional exercise and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571500"/>
            <a:ext cx="11049000" cy="5715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657600" y="1295400"/>
            <a:ext cx="4876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350" b="1" spc="45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PROGRAMMING · CHAPTER 03</a:t>
            </a:r>
            <a:endParaRPr sz="1350" b="1" spc="45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752850" y="1676400"/>
            <a:ext cx="4686300" cy="1047750"/>
          </a:xfrm>
          <a:prstGeom prst="rect">
            <a:avLst/>
          </a:prstGeom>
        </p:spPr>
        <p:txBody>
          <a:bodyPr wrap="none" lIns="0" tIns="0" rIns="0" bIns="0">
            <a:normAutofit fontScale="3832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程序设计</a:t>
            </a:r>
            <a:endParaRPr sz="89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7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Programming</a:t>
            </a:r>
            <a:endParaRPr sz="897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114675" y="2895600"/>
            <a:ext cx="5972175" cy="657225"/>
          </a:xfrm>
          <a:prstGeom prst="rect">
            <a:avLst/>
          </a:prstGeom>
        </p:spPr>
        <p:txBody>
          <a:bodyPr wrap="none" lIns="0" tIns="0" rIns="0" bIns="0">
            <a:normAutofit fontScale="3496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51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51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0" y="3724275"/>
            <a:ext cx="7620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81300" y="5172075"/>
            <a:ext cx="6629400" cy="9525"/>
          </a:xfrm>
          <a:prstGeom prst="rect">
            <a:avLst/>
          </a:prstGeom>
          <a:solidFill>
            <a:srgbClr val="D6DCE5"/>
          </a:solidFill>
        </p:spPr>
        <p:txBody>
          <a:bodyPr/>
          <a:lstStyle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19600" y="5314950"/>
            <a:ext cx="3352800" cy="257175"/>
          </a:xfrm>
          <a:prstGeom prst="rect">
            <a:avLst/>
          </a:prstGeom>
        </p:spPr>
        <p:txBody>
          <a:bodyPr wrap="none" lIns="0" tIns="0" rIns="0" bIns="0">
            <a:normAutofit fontScale="3245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中国石油大学（北京）克拉玛依校区</a:t>
            </a:r>
            <a:endParaRPr sz="26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China University of Petroleum (Beijing) Karamay Campus</a:t>
            </a:r>
            <a:endParaRPr sz="26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72100" y="5705475"/>
            <a:ext cx="1447800" cy="219075"/>
          </a:xfrm>
          <a:prstGeom prst="rect">
            <a:avLst/>
          </a:prstGeom>
        </p:spPr>
        <p:txBody>
          <a:bodyPr wrap="none" lIns="0" tIns="0" rIns="0" bIns="0">
            <a:normAutofit fontScale="3208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4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授课教师：潘啸晨</a:t>
            </a:r>
            <a:endParaRPr sz="224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4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Instructor: Pan Xiaochen</a:t>
            </a:r>
            <a:endParaRPr sz="224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" name="矩形 16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5391150" y="2133600"/>
            <a:ext cx="1419225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9000" b="1">
                <a:solidFill>
                  <a:srgbClr val="DC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0" b="1">
              <a:solidFill>
                <a:srgbClr val="DCE4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5753100" y="3695700"/>
            <a:ext cx="6858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4000500" y="3924300"/>
            <a:ext cx="4191000" cy="504825"/>
          </a:xfrm>
          <a:prstGeom prst="rect">
            <a:avLst/>
          </a:prstGeom>
        </p:spPr>
        <p:txBody>
          <a:bodyPr wrap="none" lIns="0" tIns="0" rIns="0" bIns="0">
            <a:normAutofit fontScale="3191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运算符、表达式和语句</a:t>
            </a:r>
            <a:endParaRPr sz="519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19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Operators, expressions and statements</a:t>
            </a:r>
            <a:endParaRPr sz="519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矩形 173"/>
          <p:cNvSpPr>
            <a:spLocks noGrp="1"/>
          </p:cNvSpPr>
          <p:nvPr/>
        </p:nvSpPr>
        <p:spPr>
          <a:xfrm>
            <a:off x="4352925" y="4695825"/>
            <a:ext cx="3486150" cy="209550"/>
          </a:xfrm>
          <a:prstGeom prst="rect">
            <a:avLst/>
          </a:prstGeom>
        </p:spPr>
        <p:txBody>
          <a:bodyPr wrap="none" lIns="0" tIns="0" rIns="0" bIns="0">
            <a:normAutofit fontScale="3242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语言的运算符、表达式及分支与循环语句</a:t>
            </a:r>
            <a:endParaRPr sz="212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Operators, expressions, branch and loop statements of Java</a:t>
            </a:r>
            <a:endParaRPr sz="212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1" name="矩形 30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02" name="矩形 30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03" name="矩形 30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4" name="矩形 30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导读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Introduction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矩形 30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本章导览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overview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" name="矩形 30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07" name="矩形 306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526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提供了丰富的运算符，并支持条件分支与循环控制语句。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provides a rich set of operators and supports conditional branches and loop control statements.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圆角矩形 307"/>
          <p:cNvSpPr>
            <a:spLocks noGrp="1"/>
          </p:cNvSpPr>
          <p:nvPr/>
        </p:nvSpPr>
        <p:spPr>
          <a:xfrm>
            <a:off x="4238625" y="1295400"/>
            <a:ext cx="7553325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09" name="任意多边形 308"/>
          <p:cNvSpPr>
            <a:spLocks noGrp="1"/>
          </p:cNvSpPr>
          <p:nvPr/>
        </p:nvSpPr>
        <p:spPr>
          <a:xfrm>
            <a:off x="4238625" y="1295400"/>
            <a:ext cx="7553325" cy="2705100"/>
          </a:xfrm>
          <a:custGeom>
            <a:avLst/>
            <a:gdLst/>
            <a:ahLst/>
            <a:cxnLst/>
            <a:pathLst>
              <a:path w="793" h="284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280"/>
                </a:lnTo>
                <a:cubicBezTo>
                  <a:pt x="6" y="282"/>
                  <a:pt x="8" y="284"/>
                  <a:pt x="10" y="284"/>
                </a:cubicBezTo>
                <a:cubicBezTo>
                  <a:pt x="4" y="284"/>
                  <a:pt x="0" y="279"/>
                  <a:pt x="0" y="2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10" name="矩形 309"/>
          <p:cNvSpPr>
            <a:spLocks noGrp="1"/>
          </p:cNvSpPr>
          <p:nvPr/>
        </p:nvSpPr>
        <p:spPr>
          <a:xfrm>
            <a:off x="4429125" y="1447800"/>
            <a:ext cx="7115175" cy="200025"/>
          </a:xfrm>
          <a:prstGeom prst="rect">
            <a:avLst/>
          </a:prstGeom>
        </p:spPr>
        <p:txBody>
          <a:bodyPr wrap="none" lIns="0" tIns="0" rIns="0" bIns="0">
            <a:normAutofit fontScale="3264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主要内容</a:t>
            </a:r>
            <a:endParaRPr sz="20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content</a:t>
            </a:r>
            <a:endParaRPr sz="201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1" name="矩形 310"/>
          <p:cNvSpPr>
            <a:spLocks noGrp="1"/>
          </p:cNvSpPr>
          <p:nvPr/>
        </p:nvSpPr>
        <p:spPr>
          <a:xfrm>
            <a:off x="4429125" y="1685925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运算符与表达式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 and Expressions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" name="矩形 311"/>
          <p:cNvSpPr>
            <a:spLocks noGrp="1"/>
          </p:cNvSpPr>
          <p:nvPr/>
        </p:nvSpPr>
        <p:spPr>
          <a:xfrm>
            <a:off x="4429125" y="2000250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语句概述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Statement overview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矩形 312"/>
          <p:cNvSpPr>
            <a:spLocks noGrp="1"/>
          </p:cNvSpPr>
          <p:nvPr/>
        </p:nvSpPr>
        <p:spPr>
          <a:xfrm>
            <a:off x="4429125" y="2314575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条件分支语句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conditional branch statement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矩形 313"/>
          <p:cNvSpPr>
            <a:spLocks noGrp="1"/>
          </p:cNvSpPr>
          <p:nvPr/>
        </p:nvSpPr>
        <p:spPr>
          <a:xfrm>
            <a:off x="4429125" y="2628900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开关语句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switch statement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矩形 314"/>
          <p:cNvSpPr>
            <a:spLocks noGrp="1"/>
          </p:cNvSpPr>
          <p:nvPr/>
        </p:nvSpPr>
        <p:spPr>
          <a:xfrm>
            <a:off x="4429125" y="2943225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循环语句（for / while / do-while）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 statements (for/while/do-while)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矩形 315"/>
          <p:cNvSpPr>
            <a:spLocks noGrp="1"/>
          </p:cNvSpPr>
          <p:nvPr/>
        </p:nvSpPr>
        <p:spPr>
          <a:xfrm>
            <a:off x="4429125" y="3257550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和 continue 语句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and continue statements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矩形 316"/>
          <p:cNvSpPr>
            <a:spLocks noGrp="1"/>
          </p:cNvSpPr>
          <p:nvPr/>
        </p:nvSpPr>
        <p:spPr>
          <a:xfrm>
            <a:off x="4429125" y="3571875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数组与 for 语句（for-each）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Arrays and for statements (for-each)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8" name="圆角矩形 317"/>
          <p:cNvSpPr>
            <a:spLocks noGrp="1"/>
          </p:cNvSpPr>
          <p:nvPr/>
        </p:nvSpPr>
        <p:spPr>
          <a:xfrm>
            <a:off x="4238625" y="4133850"/>
            <a:ext cx="755332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9" name="任意多边形 318"/>
          <p:cNvSpPr>
            <a:spLocks noGrp="1"/>
          </p:cNvSpPr>
          <p:nvPr/>
        </p:nvSpPr>
        <p:spPr>
          <a:xfrm>
            <a:off x="4238625" y="4133850"/>
            <a:ext cx="7553325" cy="1133475"/>
          </a:xfrm>
          <a:custGeom>
            <a:avLst/>
            <a:gdLst/>
            <a:ahLst/>
            <a:cxnLst/>
            <a:pathLst>
              <a:path w="793" h="119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115"/>
                </a:lnTo>
                <a:cubicBezTo>
                  <a:pt x="6" y="117"/>
                  <a:pt x="8" y="119"/>
                  <a:pt x="10" y="119"/>
                </a:cubicBezTo>
                <a:cubicBezTo>
                  <a:pt x="4" y="119"/>
                  <a:pt x="0" y="114"/>
                  <a:pt x="0" y="10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</p:spPr>
        <p:txBody>
          <a:bodyPr/>
          <a:lstStyle/>
          <a:p/>
        </p:txBody>
      </p:sp>
      <p:sp>
        <p:nvSpPr>
          <p:cNvPr id="320" name="矩形 319"/>
          <p:cNvSpPr>
            <a:spLocks noGrp="1"/>
          </p:cNvSpPr>
          <p:nvPr/>
        </p:nvSpPr>
        <p:spPr>
          <a:xfrm>
            <a:off x="4429125" y="4286250"/>
            <a:ext cx="7115175" cy="200025"/>
          </a:xfrm>
          <a:prstGeom prst="rect">
            <a:avLst/>
          </a:prstGeom>
        </p:spPr>
        <p:txBody>
          <a:bodyPr wrap="none" lIns="0" tIns="0" rIns="0" bIns="0">
            <a:normAutofit fontScale="3264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</a:t>
            </a:r>
            <a:endParaRPr sz="2010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focus</a:t>
            </a:r>
            <a:endParaRPr sz="2010" b="1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1" name="矩形 320"/>
          <p:cNvSpPr>
            <a:spLocks noGrp="1"/>
          </p:cNvSpPr>
          <p:nvPr/>
        </p:nvSpPr>
        <p:spPr>
          <a:xfrm>
            <a:off x="4429125" y="4524375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运算符、表达式的使用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of operators and expressions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2" name="矩形 321"/>
          <p:cNvSpPr>
            <a:spLocks noGrp="1"/>
          </p:cNvSpPr>
          <p:nvPr/>
        </p:nvSpPr>
        <p:spPr>
          <a:xfrm>
            <a:off x="4429125" y="4838700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各种控制语句的语法与执行流程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Syntax and execution flow of various control statements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3" name="圆角矩形 322"/>
          <p:cNvSpPr>
            <a:spLocks noGrp="1"/>
          </p:cNvSpPr>
          <p:nvPr/>
        </p:nvSpPr>
        <p:spPr>
          <a:xfrm>
            <a:off x="4238625" y="5400675"/>
            <a:ext cx="7553325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24" name="任意多边形 323"/>
          <p:cNvSpPr>
            <a:spLocks noGrp="1"/>
          </p:cNvSpPr>
          <p:nvPr/>
        </p:nvSpPr>
        <p:spPr>
          <a:xfrm>
            <a:off x="4238625" y="5400675"/>
            <a:ext cx="7553325" cy="819150"/>
          </a:xfrm>
          <a:custGeom>
            <a:avLst/>
            <a:gdLst/>
            <a:ahLst/>
            <a:cxnLst/>
            <a:pathLst>
              <a:path w="793" h="86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82"/>
                </a:lnTo>
                <a:cubicBezTo>
                  <a:pt x="6" y="84"/>
                  <a:pt x="8" y="86"/>
                  <a:pt x="10" y="86"/>
                </a:cubicBezTo>
                <a:cubicBezTo>
                  <a:pt x="4" y="86"/>
                  <a:pt x="0" y="81"/>
                  <a:pt x="0" y="7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325" name="矩形 324"/>
          <p:cNvSpPr>
            <a:spLocks noGrp="1"/>
          </p:cNvSpPr>
          <p:nvPr/>
        </p:nvSpPr>
        <p:spPr>
          <a:xfrm>
            <a:off x="4429125" y="5553075"/>
            <a:ext cx="7115175" cy="200025"/>
          </a:xfrm>
          <a:prstGeom prst="rect">
            <a:avLst/>
          </a:prstGeom>
        </p:spPr>
        <p:txBody>
          <a:bodyPr wrap="none" lIns="0" tIns="0" rIns="0" bIns="0">
            <a:normAutofit fontScale="3264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endParaRPr sz="201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1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difficulty</a:t>
            </a:r>
            <a:endParaRPr sz="201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6" name="矩形 325"/>
          <p:cNvSpPr>
            <a:spLocks noGrp="1"/>
          </p:cNvSpPr>
          <p:nvPr/>
        </p:nvSpPr>
        <p:spPr>
          <a:xfrm>
            <a:off x="4429125" y="5791200"/>
            <a:ext cx="7115175" cy="276225"/>
          </a:xfrm>
          <a:prstGeom prst="rect">
            <a:avLst/>
          </a:prstGeom>
        </p:spPr>
        <p:txBody>
          <a:bodyPr wrap="none" lIns="0" tIns="0" rIns="0" bIns="0">
            <a:normAutofit fontScale="4795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各种控制语句的用法（嵌套、流程图）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Usage of various control statements (nested, flow chart)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7" name="矩形 326"/>
          <p:cNvSpPr>
            <a:spLocks noGrp="1"/>
          </p:cNvSpPr>
          <p:nvPr/>
        </p:nvSpPr>
        <p:spPr>
          <a:xfrm>
            <a:off x="11258550" y="641032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" name="矩形 46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69" name="矩形 46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70" name="矩形 469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1" name="矩形 47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矩形 47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运算符与表达式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 and Expressions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3" name="矩形 47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4" name="矩形 473"/>
          <p:cNvSpPr>
            <a:spLocks noGrp="1"/>
          </p:cNvSpPr>
          <p:nvPr/>
        </p:nvSpPr>
        <p:spPr>
          <a:xfrm>
            <a:off x="457200" y="2638425"/>
            <a:ext cx="3381375" cy="1943100"/>
          </a:xfrm>
          <a:prstGeom prst="rect">
            <a:avLst/>
          </a:prstGeom>
        </p:spPr>
        <p:txBody>
          <a:bodyPr wrap="square" lIns="0" tIns="0" rIns="0" bIns="0">
            <a:normAutofit fontScale="4911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提供了丰富的运算符（算术、关系、逻辑、位等）。绝大多数运算符与 C 语言相同，基本语句（条件分支、循环等）也与 C 类似，本章就主要知识点给予简单介绍。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provides a rich set of operators (arithmetic, relational, logical, bitwise, etc.). Most operators are the same as C language, and basic statements (conditional branches, loops, etc.) are also similar to C. This chapter gives a brief introduction to the main knowledge points.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5" name="圆角矩形 474"/>
          <p:cNvSpPr>
            <a:spLocks noGrp="1"/>
          </p:cNvSpPr>
          <p:nvPr/>
        </p:nvSpPr>
        <p:spPr>
          <a:xfrm>
            <a:off x="4181475" y="1952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6" name="矩形 475"/>
          <p:cNvSpPr>
            <a:spLocks noGrp="1"/>
          </p:cNvSpPr>
          <p:nvPr/>
        </p:nvSpPr>
        <p:spPr>
          <a:xfrm>
            <a:off x="4371975" y="18383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算术运算符：+  -  *  /  %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Arithmetic operators: + - * / %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7" name="圆角矩形 476"/>
          <p:cNvSpPr>
            <a:spLocks noGrp="1"/>
          </p:cNvSpPr>
          <p:nvPr/>
        </p:nvSpPr>
        <p:spPr>
          <a:xfrm>
            <a:off x="4181475" y="2514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78" name="矩形 477"/>
          <p:cNvSpPr>
            <a:spLocks noGrp="1"/>
          </p:cNvSpPr>
          <p:nvPr/>
        </p:nvSpPr>
        <p:spPr>
          <a:xfrm>
            <a:off x="4371975" y="24003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关系运算符：&gt;  &lt;  &gt;=  &lt;=  ==  !=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Relational operators: &gt; &lt; &gt;= &lt;= == !=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9" name="圆角矩形 478"/>
          <p:cNvSpPr>
            <a:spLocks noGrp="1"/>
          </p:cNvSpPr>
          <p:nvPr/>
        </p:nvSpPr>
        <p:spPr>
          <a:xfrm>
            <a:off x="4181475" y="3076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80" name="矩形 479"/>
          <p:cNvSpPr>
            <a:spLocks noGrp="1"/>
          </p:cNvSpPr>
          <p:nvPr/>
        </p:nvSpPr>
        <p:spPr>
          <a:xfrm>
            <a:off x="4371975" y="29622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逻辑运算符：&amp;&amp;  ||  !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Logical operators: &amp;&amp; || !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" name="圆角矩形 480"/>
          <p:cNvSpPr>
            <a:spLocks noGrp="1"/>
          </p:cNvSpPr>
          <p:nvPr/>
        </p:nvSpPr>
        <p:spPr>
          <a:xfrm>
            <a:off x="4181475" y="3638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82" name="矩形 481"/>
          <p:cNvSpPr>
            <a:spLocks noGrp="1"/>
          </p:cNvSpPr>
          <p:nvPr/>
        </p:nvSpPr>
        <p:spPr>
          <a:xfrm>
            <a:off x="4371975" y="35242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位运算符：&amp;  |  ~  ^  （按位运算）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Bitwise operators: &amp; | ~ ^ (bitwise operations)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3" name="圆角矩形 482"/>
          <p:cNvSpPr>
            <a:spLocks noGrp="1"/>
          </p:cNvSpPr>
          <p:nvPr/>
        </p:nvSpPr>
        <p:spPr>
          <a:xfrm>
            <a:off x="4181475" y="4200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84" name="矩形 483"/>
          <p:cNvSpPr>
            <a:spLocks noGrp="1"/>
          </p:cNvSpPr>
          <p:nvPr/>
        </p:nvSpPr>
        <p:spPr>
          <a:xfrm>
            <a:off x="4371975" y="40862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赋值运算符：=；instanceof 运算符：判断对象类型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Assignment operator: =; instanceof operator: determine object type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5" name="圆角矩形 484"/>
          <p:cNvSpPr>
            <a:spLocks noGrp="1"/>
          </p:cNvSpPr>
          <p:nvPr/>
        </p:nvSpPr>
        <p:spPr>
          <a:xfrm>
            <a:off x="4181475" y="4648200"/>
            <a:ext cx="7553325" cy="8572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486" name="矩形 485"/>
          <p:cNvSpPr>
            <a:spLocks noGrp="1"/>
          </p:cNvSpPr>
          <p:nvPr/>
        </p:nvSpPr>
        <p:spPr>
          <a:xfrm>
            <a:off x="4371975" y="4781550"/>
            <a:ext cx="7172325" cy="590550"/>
          </a:xfrm>
          <a:prstGeom prst="rect">
            <a:avLst/>
          </a:prstGeom>
        </p:spPr>
        <p:txBody>
          <a:bodyPr wrap="square" lIns="0" tIns="0" rIns="0" bIns="0">
            <a:normAutofit fontScale="611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C 语言对照学习：绝大多数运算符语法一致，重点是 boolean 型条件、String 类型支持、增强 for 等差异。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Comparative learning with C language: most operator syntax is consistent, focusing on differences such as boolean conditions, String type support, enhanced for, etc.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7" name="矩形 48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3" name="矩形 6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14" name="矩形 61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15" name="矩形 614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6" name="矩形 615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§3.1.1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7" name="矩形 616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435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算术运算符与算术表达式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Arithmetic operators and arithmetic expressions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8" name="矩形 617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19" name="圆角矩形 618"/>
          <p:cNvSpPr>
            <a:spLocks noGrp="1"/>
          </p:cNvSpPr>
          <p:nvPr/>
        </p:nvSpPr>
        <p:spPr>
          <a:xfrm>
            <a:off x="4181475" y="2476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20" name="矩形 619"/>
          <p:cNvSpPr>
            <a:spLocks noGrp="1"/>
          </p:cNvSpPr>
          <p:nvPr/>
        </p:nvSpPr>
        <p:spPr>
          <a:xfrm>
            <a:off x="4371975" y="2362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276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加减 +、- ：二目运算符；结合方向从左到右；操作元为整型或浮点型；优先级 4 级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Addition and subtraction +, -: binary operators; the combination direction is from left to right; the operand is an integer or floating point type; priority level 4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1" name="圆角矩形 620"/>
          <p:cNvSpPr>
            <a:spLocks noGrp="1"/>
          </p:cNvSpPr>
          <p:nvPr/>
        </p:nvSpPr>
        <p:spPr>
          <a:xfrm>
            <a:off x="4181475" y="3038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22" name="矩形 621"/>
          <p:cNvSpPr>
            <a:spLocks noGrp="1"/>
          </p:cNvSpPr>
          <p:nvPr/>
        </p:nvSpPr>
        <p:spPr>
          <a:xfrm>
            <a:off x="4371975" y="2924175"/>
            <a:ext cx="7362825" cy="781050"/>
          </a:xfrm>
          <a:prstGeom prst="rect">
            <a:avLst/>
          </a:prstGeom>
        </p:spPr>
        <p:txBody>
          <a:bodyPr wrap="square" lIns="0" tIns="0" rIns="0" bIns="0">
            <a:normAutofit fontScale="560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乘除求余 *、/、% ：二目运算符；结合方向从左到右；操作元为整型或浮点型；优先级 3 级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Remainder of multiplication and division *, /, %: Binary operators; the combination direction is from left to right; the operand is an integer or floating point type; priority level 3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3" name="圆角矩形 622"/>
          <p:cNvSpPr>
            <a:spLocks noGrp="1"/>
          </p:cNvSpPr>
          <p:nvPr/>
        </p:nvSpPr>
        <p:spPr>
          <a:xfrm>
            <a:off x="4181475" y="3990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24" name="矩形 623"/>
          <p:cNvSpPr>
            <a:spLocks noGrp="1"/>
          </p:cNvSpPr>
          <p:nvPr/>
        </p:nvSpPr>
        <p:spPr>
          <a:xfrm>
            <a:off x="4371975" y="38766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471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算术表达式：用算术符号和括号连接，符合 Java 语法的式子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Arithmetic expressions: connected by arithmetic symbols and parentheses, expressions that conform to Java syntax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5" name="圆角矩形 624"/>
          <p:cNvSpPr>
            <a:spLocks noGrp="1"/>
          </p:cNvSpPr>
          <p:nvPr/>
        </p:nvSpPr>
        <p:spPr>
          <a:xfrm>
            <a:off x="4181475" y="4438650"/>
            <a:ext cx="75533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626" name="矩形 625"/>
          <p:cNvSpPr>
            <a:spLocks noGrp="1"/>
          </p:cNvSpPr>
          <p:nvPr/>
        </p:nvSpPr>
        <p:spPr>
          <a:xfrm>
            <a:off x="4352925" y="45529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+ 2*y - 30 + 3*(y+5)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27" name="矩形 62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7" name="矩形 67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78" name="矩形 67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79" name="矩形 678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0" name="矩形 67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§3.1.2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1" name="矩形 680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333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自增、自减运算符 ++ / --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Increment and decrement operators ++ / --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2" name="矩形 681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83" name="矩形 682"/>
          <p:cNvSpPr>
            <a:spLocks noGrp="1"/>
          </p:cNvSpPr>
          <p:nvPr/>
        </p:nvSpPr>
        <p:spPr>
          <a:xfrm>
            <a:off x="457200" y="3190875"/>
            <a:ext cx="3381375" cy="1171575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单目运算符，可前置或后置；操作元必须是整型或浮点型变量，作用是使变量增 1 / 减 1。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Unary operator, which can be prefixed or postfixed; the operand must be an integer or floating-point variable, and its function is to increase/decrease the variable by 1.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4" name="圆角矩形 683"/>
          <p:cNvSpPr>
            <a:spLocks noGrp="1"/>
          </p:cNvSpPr>
          <p:nvPr/>
        </p:nvSpPr>
        <p:spPr>
          <a:xfrm>
            <a:off x="4181475" y="2524125"/>
            <a:ext cx="7553325" cy="230505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685" name="矩形 684"/>
          <p:cNvSpPr>
            <a:spLocks noGrp="1"/>
          </p:cNvSpPr>
          <p:nvPr/>
        </p:nvSpPr>
        <p:spPr>
          <a:xfrm>
            <a:off x="4352925" y="26384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++x    //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在使用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之前，先使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增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1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86" name="矩形 685"/>
          <p:cNvSpPr>
            <a:spLocks noGrp="1"/>
          </p:cNvSpPr>
          <p:nvPr/>
        </p:nvSpPr>
        <p:spPr>
          <a:xfrm>
            <a:off x="4352925" y="29908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x++    //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在使用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之后，使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增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1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87" name="矩形 686"/>
          <p:cNvSpPr>
            <a:spLocks noGrp="1"/>
          </p:cNvSpPr>
          <p:nvPr/>
        </p:nvSpPr>
        <p:spPr>
          <a:xfrm>
            <a:off x="4352925" y="33432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f=2, m=2;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88" name="矩形 687"/>
          <p:cNvSpPr>
            <a:spLocks noGrp="1"/>
          </p:cNvSpPr>
          <p:nvPr/>
        </p:nvSpPr>
        <p:spPr>
          <a:xfrm>
            <a:off x="4352925" y="36957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(f*m++) + m;   // x = 7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，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变为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3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89" name="矩形 688"/>
          <p:cNvSpPr>
            <a:spLocks noGrp="1"/>
          </p:cNvSpPr>
          <p:nvPr/>
        </p:nvSpPr>
        <p:spPr>
          <a:xfrm>
            <a:off x="4352925" y="40481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 = 2;   //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重置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m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，再单独看前置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++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90" name="矩形 689"/>
          <p:cNvSpPr>
            <a:spLocks noGrp="1"/>
          </p:cNvSpPr>
          <p:nvPr/>
        </p:nvSpPr>
        <p:spPr>
          <a:xfrm>
            <a:off x="4352925" y="44005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y = (f*++m) + m;   // y = 9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91" name="矩形 69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2" name="矩形 73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733" name="矩形 73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734" name="矩形 73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5" name="矩形 73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§3.1.4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6" name="矩形 735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557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关系运算符与关系表达式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Relational operators and relational expressions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7" name="矩形 736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38" name="圆角矩形 737"/>
          <p:cNvSpPr>
            <a:spLocks noGrp="1"/>
          </p:cNvSpPr>
          <p:nvPr/>
        </p:nvSpPr>
        <p:spPr>
          <a:xfrm>
            <a:off x="4181475" y="2105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39" name="矩形 738"/>
          <p:cNvSpPr>
            <a:spLocks noGrp="1"/>
          </p:cNvSpPr>
          <p:nvPr/>
        </p:nvSpPr>
        <p:spPr>
          <a:xfrm>
            <a:off x="4371975" y="19907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运算符：&gt;、&lt;、&gt;=、&lt;=、==、!=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Operators: &gt;, &lt;, &gt;=, &lt;=, ==, !=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0" name="圆角矩形 739"/>
          <p:cNvSpPr>
            <a:spLocks noGrp="1"/>
          </p:cNvSpPr>
          <p:nvPr/>
        </p:nvSpPr>
        <p:spPr>
          <a:xfrm>
            <a:off x="4181475" y="2667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41" name="矩形 740"/>
          <p:cNvSpPr>
            <a:spLocks noGrp="1"/>
          </p:cNvSpPr>
          <p:nvPr/>
        </p:nvSpPr>
        <p:spPr>
          <a:xfrm>
            <a:off x="4371975" y="25527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二目运算符，用来比较两个值的关系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Binary operator, used to compare the relationship between two values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2" name="圆角矩形 741"/>
          <p:cNvSpPr>
            <a:spLocks noGrp="1"/>
          </p:cNvSpPr>
          <p:nvPr/>
        </p:nvSpPr>
        <p:spPr>
          <a:xfrm>
            <a:off x="4181475" y="3228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43" name="矩形 742"/>
          <p:cNvSpPr>
            <a:spLocks noGrp="1"/>
          </p:cNvSpPr>
          <p:nvPr/>
        </p:nvSpPr>
        <p:spPr>
          <a:xfrm>
            <a:off x="4371975" y="31146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运算结果是 boolean 型：关系成立为 true，否则 false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operation result is of boolean type: the relationship is true, otherwise false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4" name="圆角矩形 743"/>
          <p:cNvSpPr>
            <a:spLocks noGrp="1"/>
          </p:cNvSpPr>
          <p:nvPr/>
        </p:nvSpPr>
        <p:spPr>
          <a:xfrm>
            <a:off x="4181475" y="3790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45" name="矩形 744"/>
          <p:cNvSpPr>
            <a:spLocks noGrp="1"/>
          </p:cNvSpPr>
          <p:nvPr/>
        </p:nvSpPr>
        <p:spPr>
          <a:xfrm>
            <a:off x="4371975" y="3676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操作数是基本数据类型时，比较数据内容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the operand is a basic data type, compare the data content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6" name="圆角矩形 745"/>
          <p:cNvSpPr>
            <a:spLocks noGrp="1"/>
          </p:cNvSpPr>
          <p:nvPr/>
        </p:nvSpPr>
        <p:spPr>
          <a:xfrm>
            <a:off x="4181475" y="4352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47" name="矩形 746"/>
          <p:cNvSpPr>
            <a:spLocks noGrp="1"/>
          </p:cNvSpPr>
          <p:nvPr/>
        </p:nvSpPr>
        <p:spPr>
          <a:xfrm>
            <a:off x="4371975" y="4238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60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操作数是引用类型时，比较对象的引用值（是否同一对象）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the operand is a reference type, compare the reference value of the object (whether it is the same object)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8" name="圆角矩形 747"/>
          <p:cNvSpPr>
            <a:spLocks noGrp="1"/>
          </p:cNvSpPr>
          <p:nvPr/>
        </p:nvSpPr>
        <p:spPr>
          <a:xfrm>
            <a:off x="4181475" y="4800600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749" name="矩形 748"/>
          <p:cNvSpPr>
            <a:spLocks noGrp="1"/>
          </p:cNvSpPr>
          <p:nvPr/>
        </p:nvSpPr>
        <p:spPr>
          <a:xfrm>
            <a:off x="4371975" y="4933950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5125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详见表 3.1 关系运算符（见下页）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Table 3.1 Relational Operators for details (see next page)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0" name="矩形 74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 3.1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3.1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关系运算符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Relational operators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l="27" r="27"/>
          <a:stretch>
            <a:fillRect/>
          </a:stretch>
        </p:blipFill>
        <p:spPr>
          <a:xfrm>
            <a:off x="4343400" y="2295525"/>
            <a:ext cx="7239000" cy="2905125"/>
          </a:xfrm>
          <a:prstGeom prst="roundRect">
            <a:avLst>
              <a:gd name="adj" fmla="val 2623"/>
            </a:avLst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§3.1.5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512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逻辑运算符与逻辑表达式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Logical operators and logical expressions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181475" y="165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371975" y="15430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运算符：&amp;&amp;、||、!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Operators: &amp;&amp;, ||, !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181475" y="2219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71975" y="21050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&amp;&amp;、|| 为二目，实现逻辑与 / 逻辑或；! 为单目，实现逻辑非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&amp;&amp;, || are binary, realizing logical AND / logical OR; ! is single-order, realizing logical negation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181475" y="2781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71975" y="26670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操作元必须是 boolean 型，可用来连接关系表达式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operand must be of type boolean and can be used to connect relational expressions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181475" y="3343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371975" y="3228975"/>
            <a:ext cx="7362825" cy="781050"/>
          </a:xfrm>
          <a:prstGeom prst="rect">
            <a:avLst/>
          </a:prstGeom>
        </p:spPr>
        <p:txBody>
          <a:bodyPr wrap="square" lIns="0" tIns="0" rIns="0" bIns="0">
            <a:normAutofit fontScale="6263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&amp;&amp;、|| 是短路运算符：op1=false 时 &amp;&amp; 不再计算 op2；op1=true 时 || 不再计算 op2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&amp;&amp; and || are short-circuit operators: when op1=false, &amp;&amp; no longer calculates op2; when op1=true, || no longer calculates op2.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181475" y="4181475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352925" y="42957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op1 &amp;&amp; op2    //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短路与：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op1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为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false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时不计算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op2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352925" y="46482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op1 || op2    //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短路或：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op1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为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true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时不计算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op2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4181475" y="5248275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371975" y="5381625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5125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逻辑运算规则详见表 3.2（下页）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Table 3.2 for details of logical operation rules (next page)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 3.2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3.2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194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用逻辑运算符进行逻辑运算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Perform logical operations using logical operators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"/>
          <a:srcRect l="47" r="47"/>
          <a:stretch>
            <a:fillRect/>
          </a:stretch>
        </p:blipFill>
        <p:spPr>
          <a:xfrm>
            <a:off x="4343400" y="2695575"/>
            <a:ext cx="7239000" cy="2114550"/>
          </a:xfrm>
          <a:prstGeom prst="roundRect">
            <a:avLst>
              <a:gd name="adj" fmla="val 3604"/>
            </a:avLst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矩形 5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短路例题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Short circuit example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031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短路运算符演示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Short circuit operator demonstration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 y 的值：因为 || 短路，y=20 没有被执行。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 the value of y: y=20 is not executed because || is short-circuited.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4181475" y="2695575"/>
            <a:ext cx="7553325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352925" y="2809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x = 10, y = 10;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352925" y="31623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 ((x=0)==0) || ((y=20)==20) 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352925" y="35147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System.out.println("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现在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x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的值是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:" + x);   // x = 0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352925" y="38671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System.out.println("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现在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y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的值是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:" + y);   // y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仍为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10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（短路）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352925" y="42195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矩形 6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§3.1.6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222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赋值运算符与赋值表达式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Assignment operators and assignment expressions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4181475" y="1933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371975" y="18192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赋值运算符：=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Assignment operator: 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4181475" y="249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4371975" y="23812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二目运算符，左操作元必须是变量，不能是常量或表达式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Binary operator, the left operand must be a variable, not a constant or an expression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4181475" y="3057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371975" y="29432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优先级较低（14 级），结合方向从右到左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Lower priority (level 14), binding direction from right to left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4181475" y="3619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4371975" y="35052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赋值表达式的值就是 = 左面变量的值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value of the assignment expression is the value of the variable on the left of 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4181475" y="4181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371975" y="40671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不要将赋值 = 与等号逻辑 == 混淆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Do not confuse assignment = with equal sign logic ==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4181475" y="4629150"/>
            <a:ext cx="7553325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4352925" y="47434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= 20;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4352925" y="5095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 = true;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" name="矩形 11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§3.1.8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instanceof 运算符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instanceof operator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457200" y="2638425"/>
            <a:ext cx="3381375" cy="1171575"/>
          </a:xfrm>
          <a:prstGeom prst="rect">
            <a:avLst/>
          </a:prstGeom>
        </p:spPr>
        <p:txBody>
          <a:bodyPr wrap="square" lIns="0" tIns="0" rIns="0" bIns="0">
            <a:normAutofit fontScale="4653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二目运算符，左操作元是对象，右操作元是类。当左对象是右类或子类创建的对象时，结果为 true，否则 false。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Binary operator, the left operand is an object and the right operand is a class. The result is true when the left object is an object created by the right class or subclass, false otherwise.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4181475" y="2505075"/>
            <a:ext cx="7553325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4352925" y="26193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String s = new String("abc");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4352925" y="29718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(s instanceof String)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4" name="矩形 123"/>
          <p:cNvSpPr>
            <a:spLocks noGrp="1"/>
          </p:cNvSpPr>
          <p:nvPr/>
        </p:nvSpPr>
        <p:spPr>
          <a:xfrm>
            <a:off x="4352925" y="33242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System.out.println("s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是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String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对象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4352925" y="3676650"/>
            <a:ext cx="7210425" cy="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None/>
            </a:pPr>
          </a:p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4352925" y="37147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 b = new Test();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4352925" y="40671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(b instanceof Test)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4352925" y="44196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System.out.println("b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是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Test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对象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");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" name="矩形 13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§3.1.9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运算符综述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 overview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4181475" y="2752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4371975" y="26384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11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表达式是用运算符连接起来、符合 Java 规则的式子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expressions are expressions that are connected using operators and conform to Java rules.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9718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运算符的优先级决定表达式中运算执行的先后顺序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precedence of operators determines the order in which operations in an expression are performed.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圆角矩形 140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89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建议多用括号 () 明确运算次序，避免阅读歧义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recommended to use parentheses () to clarify the order of operations and avoid reading ambiguities.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圆角矩形 142"/>
          <p:cNvSpPr>
            <a:spLocks noGrp="1"/>
          </p:cNvSpPr>
          <p:nvPr/>
        </p:nvSpPr>
        <p:spPr>
          <a:xfrm>
            <a:off x="4181475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4371975" y="43243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运算符的结合性决定具有相同级别运算符的先后顺序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associativity of operators determines the order of operators with the same level.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" name="矩形 14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48" name="矩形 14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矩形 14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§3.2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语句概述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Statement overview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52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里的语句可分为以下六类。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Statements in Java can be divided into the following six categories.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4181475" y="2190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55" name="矩形 154"/>
          <p:cNvSpPr>
            <a:spLocks noGrp="1"/>
          </p:cNvSpPr>
          <p:nvPr/>
        </p:nvSpPr>
        <p:spPr>
          <a:xfrm>
            <a:off x="4371975" y="2076450"/>
            <a:ext cx="73628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方法调用语句：如</a:t>
            </a: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System.out.println("Hello");</a:t>
            </a:r>
            <a:endParaRPr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圆角矩形 155"/>
          <p:cNvSpPr>
            <a:spLocks noGrp="1"/>
          </p:cNvSpPr>
          <p:nvPr/>
        </p:nvSpPr>
        <p:spPr>
          <a:xfrm>
            <a:off x="4181475" y="2752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57" name="矩形 156"/>
          <p:cNvSpPr>
            <a:spLocks noGrp="1"/>
          </p:cNvSpPr>
          <p:nvPr/>
        </p:nvSpPr>
        <p:spPr>
          <a:xfrm>
            <a:off x="4371975" y="26384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表达式语句：表达式末尾加分号，如 x = 23;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Expression statement: Add a semicolon at the end of the expression, such as x = 23;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复合语句：用 { } 把若干语句括起来构成复合语句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Compound statement: Use { } to enclose several statements to form a compound statement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圆角矩形 159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空语句：一个分号也是一条语句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Empty statement: a semicolon is also a statement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圆角矩形 161"/>
          <p:cNvSpPr>
            <a:spLocks noGrp="1"/>
          </p:cNvSpPr>
          <p:nvPr/>
        </p:nvSpPr>
        <p:spPr>
          <a:xfrm>
            <a:off x="4181475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3" name="矩形 162"/>
          <p:cNvSpPr>
            <a:spLocks noGrp="1"/>
          </p:cNvSpPr>
          <p:nvPr/>
        </p:nvSpPr>
        <p:spPr>
          <a:xfrm>
            <a:off x="4371975" y="43243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528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控制语句：条件分支语句、开关语句、循环语句（本章重点）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 statements: conditional branch statements, switch statements, loop statements (the focus of this chapter)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圆角矩形 163"/>
          <p:cNvSpPr>
            <a:spLocks noGrp="1"/>
          </p:cNvSpPr>
          <p:nvPr/>
        </p:nvSpPr>
        <p:spPr>
          <a:xfrm>
            <a:off x="4181475" y="5000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65" name="矩形 164"/>
          <p:cNvSpPr>
            <a:spLocks noGrp="1"/>
          </p:cNvSpPr>
          <p:nvPr/>
        </p:nvSpPr>
        <p:spPr>
          <a:xfrm>
            <a:off x="4371975" y="48863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009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语句和 import 语句：与类、对象有关，将在第 4 章讲解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statement and import statement: related to classes and objects, will be explained in Chapter 4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矩形 16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" name="矩形 17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78" name="矩形 17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79" name="矩形 178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矩形 17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§3.3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矩形 180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331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条件分支语句（三种形式）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conditional branch statement (three forms)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矩形 181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457200" y="31908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343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按语法格式细分为三种形式，均要求条件表达式为 boolean 型。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subdivided into three forms according to the syntax format, all of which require the conditional expression to be of boolean type.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圆角矩形 183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语句：单条件、单分支——满足条件才执行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statement: single condition, single branch - executed only when the condition is met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圆角矩形 185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语句：单条件、双分支——二选一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statement: single condition, double branch - choose one of the two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圆角矩形 187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89" name="矩形 188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if-...-else 语句：多条件、多分支——依次判断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if-...-else statement: multiple conditions, multiple branches - judge in sequence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" name="矩形 19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§3.3.1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343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单条件分支语句，根据一个条件控制程序执行流程（见图 3.2）。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single conditional branch statement controls the program execution flow based on a condition (see Figure 3.2).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圆角矩形 198"/>
          <p:cNvSpPr>
            <a:spLocks noGrp="1"/>
          </p:cNvSpPr>
          <p:nvPr/>
        </p:nvSpPr>
        <p:spPr>
          <a:xfrm>
            <a:off x="4181475" y="2686050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00" name="矩形 199"/>
          <p:cNvSpPr>
            <a:spLocks noGrp="1"/>
          </p:cNvSpPr>
          <p:nvPr/>
        </p:nvSpPr>
        <p:spPr>
          <a:xfrm>
            <a:off x="4352925" y="28003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1" name="矩形 200"/>
          <p:cNvSpPr>
            <a:spLocks noGrp="1"/>
          </p:cNvSpPr>
          <p:nvPr/>
        </p:nvSpPr>
        <p:spPr>
          <a:xfrm>
            <a:off x="4352925" y="31527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2" name="矩形 201"/>
          <p:cNvSpPr>
            <a:spLocks noGrp="1"/>
          </p:cNvSpPr>
          <p:nvPr/>
        </p:nvSpPr>
        <p:spPr>
          <a:xfrm>
            <a:off x="4352925" y="35052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3" name="圆角矩形 202"/>
          <p:cNvSpPr>
            <a:spLocks noGrp="1"/>
          </p:cNvSpPr>
          <p:nvPr/>
        </p:nvSpPr>
        <p:spPr>
          <a:xfrm>
            <a:off x="4181475" y="4105275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204" name="矩形 203"/>
          <p:cNvSpPr>
            <a:spLocks noGrp="1"/>
          </p:cNvSpPr>
          <p:nvPr/>
        </p:nvSpPr>
        <p:spPr>
          <a:xfrm>
            <a:off x="4371975" y="4238625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5125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表达式的值必须是 boolean 型；不能用 0 代表 false，1 代表 true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value of the expression must be of type boolean; 0 cannot be used to represent false or 1 to represent true.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矩形 20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" name="矩形 20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08" name="矩形 20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矩形 20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63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单条件、单分支语句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single condition, single branch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矩形 211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222" name="图片 221"/>
          <p:cNvPicPr>
            <a:picLocks noChangeAspect="1"/>
          </p:cNvPicPr>
          <p:nvPr/>
        </p:nvPicPr>
        <p:blipFill>
          <a:blip r:embed="rId1"/>
          <a:srcRect t="48" b="48"/>
          <a:stretch>
            <a:fillRect/>
          </a:stretch>
        </p:blipFill>
        <p:spPr>
          <a:xfrm>
            <a:off x="5667375" y="1657350"/>
            <a:ext cx="4591050" cy="4191000"/>
          </a:xfrm>
          <a:prstGeom prst="roundRect">
            <a:avLst>
              <a:gd name="adj" fmla="val 1818"/>
            </a:avLst>
          </a:prstGeom>
        </p:spPr>
      </p:pic>
      <p:sp>
        <p:nvSpPr>
          <p:cNvPr id="214" name="矩形 21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" name="矩形 21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17" name="矩形 21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9" name="矩形 218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457200" y="1562100"/>
            <a:ext cx="3381375" cy="1647825"/>
          </a:xfrm>
          <a:prstGeom prst="rect">
            <a:avLst/>
          </a:prstGeom>
        </p:spPr>
        <p:txBody>
          <a:bodyPr wrap="square" lIns="0" tIns="0" rIns="0" bIns="0">
            <a:normAutofit fontScale="381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if 语句将三个数从小到大排序（上）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if statement to sort three numbers from small to large (Part 1)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457200" y="343852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457200" y="3695700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988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if 块依次确保 a ≤ b、a ≤ c、b ≤ c。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three if blocks in turn ensure that a ≤ b, a ≤ c, b ≤ c.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3" name="图片 232"/>
          <p:cNvPicPr>
            <a:picLocks noChangeAspect="1"/>
          </p:cNvPicPr>
          <p:nvPr/>
        </p:nvPicPr>
        <p:blipFill>
          <a:blip r:embed="rId1"/>
          <a:srcRect l="5" r="5"/>
          <a:stretch>
            <a:fillRect/>
          </a:stretch>
        </p:blipFill>
        <p:spPr>
          <a:xfrm>
            <a:off x="4495800" y="1600200"/>
            <a:ext cx="6886575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24" name="矩形 22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" name="矩形 22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28" name="矩形 22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457200" y="1562100"/>
            <a:ext cx="3381375" cy="1647825"/>
          </a:xfrm>
          <a:prstGeom prst="rect">
            <a:avLst/>
          </a:prstGeom>
        </p:spPr>
        <p:txBody>
          <a:bodyPr wrap="square" lIns="0" tIns="0" rIns="0" bIns="0">
            <a:normAutofit fontScale="381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if 语句将三个数从小到大排序（下）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the if statement to sort three numbers from small to large (Part 2)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矩形 230"/>
          <p:cNvSpPr>
            <a:spLocks noGrp="1"/>
          </p:cNvSpPr>
          <p:nvPr/>
        </p:nvSpPr>
        <p:spPr>
          <a:xfrm>
            <a:off x="457200" y="343852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32" name="矩形 231"/>
          <p:cNvSpPr>
            <a:spLocks noGrp="1"/>
          </p:cNvSpPr>
          <p:nvPr/>
        </p:nvSpPr>
        <p:spPr>
          <a:xfrm>
            <a:off x="457200" y="3695700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782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接上页（行号连续）。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Continued from previous page (line numbers are consecutive).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3" name="图片 242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4238625" y="1600200"/>
            <a:ext cx="741045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34" name="矩形 23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" name="矩形 2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37" name="矩形 23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矩形 23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§3.3.2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矩形 23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590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双条件分支语句，根据一个条件选择两个分支之一（见图 3.3）。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biconditional branch statement selects one of two branches based on a condition (see Figure 3.3).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3" name="圆角矩形 242"/>
          <p:cNvSpPr>
            <a:spLocks noGrp="1"/>
          </p:cNvSpPr>
          <p:nvPr/>
        </p:nvSpPr>
        <p:spPr>
          <a:xfrm>
            <a:off x="4181475" y="2524125"/>
            <a:ext cx="7553325" cy="230505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4352925" y="26384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5" name="矩形 244"/>
          <p:cNvSpPr>
            <a:spLocks noGrp="1"/>
          </p:cNvSpPr>
          <p:nvPr/>
        </p:nvSpPr>
        <p:spPr>
          <a:xfrm>
            <a:off x="4352925" y="29908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6" name="矩形 245"/>
          <p:cNvSpPr>
            <a:spLocks noGrp="1"/>
          </p:cNvSpPr>
          <p:nvPr/>
        </p:nvSpPr>
        <p:spPr>
          <a:xfrm>
            <a:off x="4352925" y="33432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7" name="矩形 246"/>
          <p:cNvSpPr>
            <a:spLocks noGrp="1"/>
          </p:cNvSpPr>
          <p:nvPr/>
        </p:nvSpPr>
        <p:spPr>
          <a:xfrm>
            <a:off x="4352925" y="36957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8" name="矩形 247"/>
          <p:cNvSpPr>
            <a:spLocks noGrp="1"/>
          </p:cNvSpPr>
          <p:nvPr/>
        </p:nvSpPr>
        <p:spPr>
          <a:xfrm>
            <a:off x="4352925" y="404812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9" name="矩形 248"/>
          <p:cNvSpPr>
            <a:spLocks noGrp="1"/>
          </p:cNvSpPr>
          <p:nvPr/>
        </p:nvSpPr>
        <p:spPr>
          <a:xfrm>
            <a:off x="4352925" y="44005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" name="矩形 25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53" name="矩形 25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54" name="矩形 25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矩形 25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矩形 255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435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单条件、双分支语句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single condition, double branch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矩形 256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5753100" y="1657350"/>
            <a:ext cx="4410075" cy="4191000"/>
          </a:xfrm>
          <a:prstGeom prst="roundRect">
            <a:avLst>
              <a:gd name="adj" fmla="val 1818"/>
            </a:avLst>
          </a:prstGeom>
        </p:spPr>
      </p:pic>
      <p:sp>
        <p:nvSpPr>
          <p:cNvPr id="259" name="矩形 25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1" name="矩形 26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62" name="矩形 26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63" name="矩形 26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矩形 263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5" name="矩形 264"/>
          <p:cNvSpPr>
            <a:spLocks noGrp="1"/>
          </p:cNvSpPr>
          <p:nvPr/>
        </p:nvSpPr>
        <p:spPr>
          <a:xfrm>
            <a:off x="457200" y="15621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4680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if-else 输出成绩评价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if-else to output performance evaluation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矩形 265"/>
          <p:cNvSpPr>
            <a:spLocks noGrp="1"/>
          </p:cNvSpPr>
          <p:nvPr/>
        </p:nvSpPr>
        <p:spPr>
          <a:xfrm>
            <a:off x="457200" y="28956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67" name="矩形 266"/>
          <p:cNvSpPr>
            <a:spLocks noGrp="1"/>
          </p:cNvSpPr>
          <p:nvPr/>
        </p:nvSpPr>
        <p:spPr>
          <a:xfrm>
            <a:off x="457200" y="31527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 if-else：根据数学/英语分数输出对应评价。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Two if-else: output corresponding evaluation based on math/English scores.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8" name="图片 277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5562600" y="1600200"/>
            <a:ext cx="476250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269" name="矩形 26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" name="矩形 27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72" name="矩形 27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73" name="矩形 27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矩形 27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运行效果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result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5" name="矩形 27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例子3 运行效果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3 Operation effect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矩形 27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77" name="矩形 276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 math=65、english=85，输出两条 if-else 的判定结果。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math=65, english=85, and output two if-else judgment results.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1"/>
          <a:srcRect l="44" r="44"/>
          <a:stretch>
            <a:fillRect/>
          </a:stretch>
        </p:blipFill>
        <p:spPr>
          <a:xfrm>
            <a:off x="5743575" y="2609850"/>
            <a:ext cx="4438650" cy="2286000"/>
          </a:xfrm>
          <a:prstGeom prst="roundRect">
            <a:avLst>
              <a:gd name="adj" fmla="val 3333"/>
            </a:avLst>
          </a:prstGeom>
        </p:spPr>
      </p:pic>
      <p:sp>
        <p:nvSpPr>
          <p:cNvPr id="279" name="矩形 27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1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282" name="矩形 281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283" name="矩形 282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矩形 283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§3.3.3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矩形 284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if-else 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if-else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矩形 285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287" name="矩形 286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89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多条件分支语句，按顺序判断多个条件（见图 3.5）。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multi-condition branch statement evaluates multiple conditions in sequence (see Figure 3.5).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圆角矩形 287"/>
          <p:cNvSpPr>
            <a:spLocks noGrp="1"/>
          </p:cNvSpPr>
          <p:nvPr/>
        </p:nvSpPr>
        <p:spPr>
          <a:xfrm>
            <a:off x="4181475" y="1819275"/>
            <a:ext cx="7553325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289" name="矩形 288"/>
          <p:cNvSpPr>
            <a:spLocks noGrp="1"/>
          </p:cNvSpPr>
          <p:nvPr/>
        </p:nvSpPr>
        <p:spPr>
          <a:xfrm>
            <a:off x="4352925" y="19335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0" name="矩形 289"/>
          <p:cNvSpPr>
            <a:spLocks noGrp="1"/>
          </p:cNvSpPr>
          <p:nvPr/>
        </p:nvSpPr>
        <p:spPr>
          <a:xfrm>
            <a:off x="4352925" y="22860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1" name="矩形 290"/>
          <p:cNvSpPr>
            <a:spLocks noGrp="1"/>
          </p:cNvSpPr>
          <p:nvPr/>
        </p:nvSpPr>
        <p:spPr>
          <a:xfrm>
            <a:off x="4352925" y="26384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2" name="矩形 291"/>
          <p:cNvSpPr>
            <a:spLocks noGrp="1"/>
          </p:cNvSpPr>
          <p:nvPr/>
        </p:nvSpPr>
        <p:spPr>
          <a:xfrm>
            <a:off x="4352925" y="29908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if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3" name="矩形 292"/>
          <p:cNvSpPr>
            <a:spLocks noGrp="1"/>
          </p:cNvSpPr>
          <p:nvPr/>
        </p:nvSpPr>
        <p:spPr>
          <a:xfrm>
            <a:off x="4352925" y="33432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4" name="矩形 293"/>
          <p:cNvSpPr>
            <a:spLocks noGrp="1"/>
          </p:cNvSpPr>
          <p:nvPr/>
        </p:nvSpPr>
        <p:spPr>
          <a:xfrm>
            <a:off x="4352925" y="36957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5" name="矩形 294"/>
          <p:cNvSpPr>
            <a:spLocks noGrp="1"/>
          </p:cNvSpPr>
          <p:nvPr/>
        </p:nvSpPr>
        <p:spPr>
          <a:xfrm>
            <a:off x="4352925" y="40481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…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6" name="矩形 295"/>
          <p:cNvSpPr>
            <a:spLocks noGrp="1"/>
          </p:cNvSpPr>
          <p:nvPr/>
        </p:nvSpPr>
        <p:spPr>
          <a:xfrm>
            <a:off x="4352925" y="44005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else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7" name="矩形 296"/>
          <p:cNvSpPr>
            <a:spLocks noGrp="1"/>
          </p:cNvSpPr>
          <p:nvPr/>
        </p:nvSpPr>
        <p:spPr>
          <a:xfrm>
            <a:off x="4352925" y="47529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8" name="矩形 297"/>
          <p:cNvSpPr>
            <a:spLocks noGrp="1"/>
          </p:cNvSpPr>
          <p:nvPr/>
        </p:nvSpPr>
        <p:spPr>
          <a:xfrm>
            <a:off x="4352925" y="51054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9" name="矩形 298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9" name="矩形 3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30" name="矩形 32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31" name="矩形 33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2" name="矩形 33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3.5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3.5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3" name="矩形 332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80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if-else 多条件、多分支语句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if-else if-else multi-condition, multi-branch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4" name="矩形 333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344" name="图片 343"/>
          <p:cNvPicPr>
            <a:picLocks noChangeAspect="1"/>
          </p:cNvPicPr>
          <p:nvPr/>
        </p:nvPicPr>
        <p:blipFill>
          <a:blip r:embed="rId1"/>
          <a:srcRect t="56" b="56"/>
          <a:stretch>
            <a:fillRect/>
          </a:stretch>
        </p:blipFill>
        <p:spPr>
          <a:xfrm>
            <a:off x="4343400" y="1685925"/>
            <a:ext cx="7239000" cy="4124325"/>
          </a:xfrm>
          <a:prstGeom prst="roundRect">
            <a:avLst>
              <a:gd name="adj" fmla="val 1848"/>
            </a:avLst>
          </a:prstGeom>
        </p:spPr>
      </p:pic>
      <p:sp>
        <p:nvSpPr>
          <p:cNvPr id="336" name="矩形 33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" name="矩形 33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39" name="矩形 33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40" name="矩形 339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矩形 34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§3.4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矩形 34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开关语句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switch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3" name="矩形 34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4" name="矩形 343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320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单条件多分支开关语句，其中 break 语句可选。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Single conditional multi-branch switch statement, in which the break statement is optional.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5" name="圆角矩形 344"/>
          <p:cNvSpPr>
            <a:spLocks noGrp="1"/>
          </p:cNvSpPr>
          <p:nvPr/>
        </p:nvSpPr>
        <p:spPr>
          <a:xfrm>
            <a:off x="4181475" y="2752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6" name="矩形 345"/>
          <p:cNvSpPr>
            <a:spLocks noGrp="1"/>
          </p:cNvSpPr>
          <p:nvPr/>
        </p:nvSpPr>
        <p:spPr>
          <a:xfrm>
            <a:off x="4371975" y="26384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表达式的值可以是 byte、short、int、char、String 或 enum（但不可以是 long）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value of the expression can be byte, short, int, char, String, or enum (but not long)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7" name="圆角矩形 346"/>
          <p:cNvSpPr>
            <a:spLocks noGrp="1"/>
          </p:cNvSpPr>
          <p:nvPr/>
        </p:nvSpPr>
        <p:spPr>
          <a:xfrm>
            <a:off x="4181475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48" name="矩形 347"/>
          <p:cNvSpPr>
            <a:spLocks noGrp="1"/>
          </p:cNvSpPr>
          <p:nvPr/>
        </p:nvSpPr>
        <p:spPr>
          <a:xfrm>
            <a:off x="4371975" y="3200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 常量必须与 switch 表达式类型相同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 constant must be of the same type as the switch expression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9" name="圆角矩形 348"/>
          <p:cNvSpPr>
            <a:spLocks noGrp="1"/>
          </p:cNvSpPr>
          <p:nvPr/>
        </p:nvSpPr>
        <p:spPr>
          <a:xfrm>
            <a:off x="4181475" y="3876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50" name="矩形 349"/>
          <p:cNvSpPr>
            <a:spLocks noGrp="1"/>
          </p:cNvSpPr>
          <p:nvPr/>
        </p:nvSpPr>
        <p:spPr>
          <a:xfrm>
            <a:off x="4371975" y="3762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根据需要设置 break，否则会从匹配的 case 一直贯穿到最后（fall-through）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break as needed, otherwise it will run from the matching case to the end (fall-through)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1" name="圆角矩形 350"/>
          <p:cNvSpPr>
            <a:spLocks noGrp="1"/>
          </p:cNvSpPr>
          <p:nvPr/>
        </p:nvSpPr>
        <p:spPr>
          <a:xfrm>
            <a:off x="4181475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52" name="矩形 351"/>
          <p:cNvSpPr>
            <a:spLocks noGrp="1"/>
          </p:cNvSpPr>
          <p:nvPr/>
        </p:nvSpPr>
        <p:spPr>
          <a:xfrm>
            <a:off x="4371975" y="43243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default 语句可放在任意位置；不匹配任何 case 时执行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default statement can be placed anywhere; it is executed when no case matches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3" name="矩形 352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5" name="矩形 35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56" name="矩形 355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57" name="矩形 356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" name="矩形 357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§3.4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9" name="矩形 358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格式定义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switch format definition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矩形 359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61" name="矩形 360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762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单条件多分支的开关语句，其中 break 语句是可选的。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Single conditional multi-branch switch statement, in which the break statement is optional.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2" name="圆角矩形 361"/>
          <p:cNvSpPr>
            <a:spLocks noGrp="1"/>
          </p:cNvSpPr>
          <p:nvPr/>
        </p:nvSpPr>
        <p:spPr>
          <a:xfrm>
            <a:off x="4181475" y="1295400"/>
            <a:ext cx="7553325" cy="5124450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363" name="矩形 362"/>
          <p:cNvSpPr>
            <a:spLocks noGrp="1"/>
          </p:cNvSpPr>
          <p:nvPr/>
        </p:nvSpPr>
        <p:spPr>
          <a:xfrm>
            <a:off x="4352925" y="14097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switch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4" name="矩形 363"/>
          <p:cNvSpPr>
            <a:spLocks noGrp="1"/>
          </p:cNvSpPr>
          <p:nvPr/>
        </p:nvSpPr>
        <p:spPr>
          <a:xfrm>
            <a:off x="4352925" y="176212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case 常量值1: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case constant value 1: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5" name="矩形 364"/>
          <p:cNvSpPr>
            <a:spLocks noGrp="1"/>
          </p:cNvSpPr>
          <p:nvPr/>
        </p:nvSpPr>
        <p:spPr>
          <a:xfrm>
            <a:off x="4352925" y="21145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若干个语句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statements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6" name="矩形 365"/>
          <p:cNvSpPr>
            <a:spLocks noGrp="1"/>
          </p:cNvSpPr>
          <p:nvPr/>
        </p:nvSpPr>
        <p:spPr>
          <a:xfrm>
            <a:off x="4352925" y="24669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break;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7" name="矩形 366"/>
          <p:cNvSpPr>
            <a:spLocks noGrp="1"/>
          </p:cNvSpPr>
          <p:nvPr/>
        </p:nvSpPr>
        <p:spPr>
          <a:xfrm>
            <a:off x="4352925" y="28194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case 常量值2: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case constant value 2: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8" name="矩形 367"/>
          <p:cNvSpPr>
            <a:spLocks noGrp="1"/>
          </p:cNvSpPr>
          <p:nvPr/>
        </p:nvSpPr>
        <p:spPr>
          <a:xfrm>
            <a:off x="4352925" y="317182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若干个语句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statements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9" name="矩形 368"/>
          <p:cNvSpPr>
            <a:spLocks noGrp="1"/>
          </p:cNvSpPr>
          <p:nvPr/>
        </p:nvSpPr>
        <p:spPr>
          <a:xfrm>
            <a:off x="4352925" y="35242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break;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0" name="矩形 369"/>
          <p:cNvSpPr>
            <a:spLocks noGrp="1"/>
          </p:cNvSpPr>
          <p:nvPr/>
        </p:nvSpPr>
        <p:spPr>
          <a:xfrm>
            <a:off x="4352925" y="38766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...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1" name="矩形 370"/>
          <p:cNvSpPr>
            <a:spLocks noGrp="1"/>
          </p:cNvSpPr>
          <p:nvPr/>
        </p:nvSpPr>
        <p:spPr>
          <a:xfrm>
            <a:off x="4352925" y="42291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case 常量值n: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case constant value n: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2" name="矩形 371"/>
          <p:cNvSpPr>
            <a:spLocks noGrp="1"/>
          </p:cNvSpPr>
          <p:nvPr/>
        </p:nvSpPr>
        <p:spPr>
          <a:xfrm>
            <a:off x="4352925" y="458152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若干个语句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statements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3" name="矩形 372"/>
          <p:cNvSpPr>
            <a:spLocks noGrp="1"/>
          </p:cNvSpPr>
          <p:nvPr/>
        </p:nvSpPr>
        <p:spPr>
          <a:xfrm>
            <a:off x="4352925" y="49339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break;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4352925" y="52863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default: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4352925" y="563880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6" name="矩形 375"/>
          <p:cNvSpPr>
            <a:spLocks noGrp="1"/>
          </p:cNvSpPr>
          <p:nvPr/>
        </p:nvSpPr>
        <p:spPr>
          <a:xfrm>
            <a:off x="4352925" y="59912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7" name="矩形 376"/>
          <p:cNvSpPr>
            <a:spLocks noGrp="1"/>
          </p:cNvSpPr>
          <p:nvPr/>
        </p:nvSpPr>
        <p:spPr>
          <a:xfrm>
            <a:off x="11258550" y="6610350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9" name="矩形 37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80" name="矩形 37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81" name="矩形 38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2" name="矩形 381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3" name="矩形 382"/>
          <p:cNvSpPr>
            <a:spLocks noGrp="1"/>
          </p:cNvSpPr>
          <p:nvPr/>
        </p:nvSpPr>
        <p:spPr>
          <a:xfrm>
            <a:off x="457200" y="15621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561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switch 判断输入是否中奖（上）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switch to determine whether the input is winning (Part 1)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矩形 383"/>
          <p:cNvSpPr>
            <a:spLocks noGrp="1"/>
          </p:cNvSpPr>
          <p:nvPr/>
        </p:nvSpPr>
        <p:spPr>
          <a:xfrm>
            <a:off x="457200" y="28956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85" name="矩形 384"/>
          <p:cNvSpPr>
            <a:spLocks noGrp="1"/>
          </p:cNvSpPr>
          <p:nvPr/>
        </p:nvSpPr>
        <p:spPr>
          <a:xfrm>
            <a:off x="457200" y="31527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用户从键盘输入一个正整数，程序判断奖项。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user inputs a positive integer from the keyboard, and the program determines the award.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6" name="图片 395"/>
          <p:cNvPicPr>
            <a:picLocks noChangeAspect="1"/>
          </p:cNvPicPr>
          <p:nvPr/>
        </p:nvPicPr>
        <p:blipFill>
          <a:blip r:embed="rId1"/>
          <a:srcRect t="32" b="32"/>
          <a:stretch>
            <a:fillRect/>
          </a:stretch>
        </p:blipFill>
        <p:spPr>
          <a:xfrm>
            <a:off x="4457700" y="1600200"/>
            <a:ext cx="697230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87" name="矩形 38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" name="矩形 38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390" name="矩形 38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391" name="矩形 39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2" name="矩形 391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457200" y="15621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561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switch 判断输入是否中奖（下）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switch to determine whether the input is winning (Part 2)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4" name="矩形 393"/>
          <p:cNvSpPr>
            <a:spLocks noGrp="1"/>
          </p:cNvSpPr>
          <p:nvPr/>
        </p:nvSpPr>
        <p:spPr>
          <a:xfrm>
            <a:off x="457200" y="28956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395" name="矩形 394"/>
          <p:cNvSpPr>
            <a:spLocks noGrp="1"/>
          </p:cNvSpPr>
          <p:nvPr/>
        </p:nvSpPr>
        <p:spPr>
          <a:xfrm>
            <a:off x="457200" y="315277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782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接上页（行号连续）。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Continued from previous page (line numbers are consecutive).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6" name="图片 405"/>
          <p:cNvPicPr>
            <a:picLocks noChangeAspect="1"/>
          </p:cNvPicPr>
          <p:nvPr/>
        </p:nvPicPr>
        <p:blipFill>
          <a:blip r:embed="rId1"/>
          <a:srcRect l="38" r="38"/>
          <a:stretch>
            <a:fillRect/>
          </a:stretch>
        </p:blipFill>
        <p:spPr>
          <a:xfrm>
            <a:off x="4143375" y="1695450"/>
            <a:ext cx="7591425" cy="3924300"/>
          </a:xfrm>
          <a:prstGeom prst="roundRect">
            <a:avLst>
              <a:gd name="adj" fmla="val 2913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397" name="矩形 39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" name="矩形 39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00" name="矩形 39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01" name="矩形 40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矩形 40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运行效果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result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矩形 40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例子4 运行效果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4 Operation effect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矩形 40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05" name="矩形 404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343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9、131、209、875 等测试中奖号码，观察 switch 各分支输出。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the test winning numbers such as 9, 131, 209, 875, etc., and observe the output of each branch of the switch.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6" name="图片 415"/>
          <p:cNvPicPr>
            <a:picLocks noChangeAspect="1"/>
          </p:cNvPicPr>
          <p:nvPr/>
        </p:nvPicPr>
        <p:blipFill>
          <a:blip r:embed="rId1"/>
          <a:srcRect l="47" r="47"/>
          <a:stretch>
            <a:fillRect/>
          </a:stretch>
        </p:blipFill>
        <p:spPr>
          <a:xfrm>
            <a:off x="5781675" y="2609850"/>
            <a:ext cx="4362450" cy="2286000"/>
          </a:xfrm>
          <a:prstGeom prst="roundRect">
            <a:avLst>
              <a:gd name="adj" fmla="val 3333"/>
            </a:avLst>
          </a:prstGeom>
        </p:spPr>
      </p:pic>
      <p:sp>
        <p:nvSpPr>
          <p:cNvPr id="407" name="矩形 40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" name="矩形 40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10" name="矩形 40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11" name="矩形 41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矩形 41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§3.5.1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矩形 41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循环语句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矩形 41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15" name="矩形 414"/>
          <p:cNvSpPr>
            <a:spLocks noGrp="1"/>
          </p:cNvSpPr>
          <p:nvPr/>
        </p:nvSpPr>
        <p:spPr>
          <a:xfrm>
            <a:off x="457200" y="2638425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46842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语法格式与执行规则（见图 3.6）。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Syntax format and execution rules (see Figure 3.6).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6" name="圆角矩形 415"/>
          <p:cNvSpPr>
            <a:spLocks noGrp="1"/>
          </p:cNvSpPr>
          <p:nvPr/>
        </p:nvSpPr>
        <p:spPr>
          <a:xfrm>
            <a:off x="4181475" y="2038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17" name="矩形 416"/>
          <p:cNvSpPr>
            <a:spLocks noGrp="1"/>
          </p:cNvSpPr>
          <p:nvPr/>
        </p:nvSpPr>
        <p:spPr>
          <a:xfrm>
            <a:off x="4371975" y="19240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计算表达式 1：完成必要的初始化工作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Calculate expression 1: Complete necessary initialization work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圆角矩形 417"/>
          <p:cNvSpPr>
            <a:spLocks noGrp="1"/>
          </p:cNvSpPr>
          <p:nvPr/>
        </p:nvSpPr>
        <p:spPr>
          <a:xfrm>
            <a:off x="4181475" y="2600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19" name="矩形 418"/>
          <p:cNvSpPr>
            <a:spLocks noGrp="1"/>
          </p:cNvSpPr>
          <p:nvPr/>
        </p:nvSpPr>
        <p:spPr>
          <a:xfrm>
            <a:off x="4371975" y="24860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判断表达式 2：true 则执行 3，false 则执行 4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Judgment expression 2: if true, execute 3, if false, execute 4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圆角矩形 419"/>
          <p:cNvSpPr>
            <a:spLocks noGrp="1"/>
          </p:cNvSpPr>
          <p:nvPr/>
        </p:nvSpPr>
        <p:spPr>
          <a:xfrm>
            <a:off x="4181475" y="3162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21" name="矩形 420"/>
          <p:cNvSpPr>
            <a:spLocks noGrp="1"/>
          </p:cNvSpPr>
          <p:nvPr/>
        </p:nvSpPr>
        <p:spPr>
          <a:xfrm>
            <a:off x="4371975" y="30480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282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执行循环体，然后计算表达式 3（改变循环条件），回到 2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Execute the loop body, then evaluate expression 3 (change the loop condition), and return to 2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圆角矩形 421"/>
          <p:cNvSpPr>
            <a:spLocks noGrp="1"/>
          </p:cNvSpPr>
          <p:nvPr/>
        </p:nvSpPr>
        <p:spPr>
          <a:xfrm>
            <a:off x="4181475" y="3724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23" name="矩形 422"/>
          <p:cNvSpPr>
            <a:spLocks noGrp="1"/>
          </p:cNvSpPr>
          <p:nvPr/>
        </p:nvSpPr>
        <p:spPr>
          <a:xfrm>
            <a:off x="4371975" y="36099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结束 for 语句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End the for statement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圆角矩形 423"/>
          <p:cNvSpPr>
            <a:spLocks noGrp="1"/>
          </p:cNvSpPr>
          <p:nvPr/>
        </p:nvSpPr>
        <p:spPr>
          <a:xfrm>
            <a:off x="4181475" y="4171950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425" name="矩形 424"/>
          <p:cNvSpPr>
            <a:spLocks noGrp="1"/>
          </p:cNvSpPr>
          <p:nvPr/>
        </p:nvSpPr>
        <p:spPr>
          <a:xfrm>
            <a:off x="4352925" y="42862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1;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2;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6" name="矩形 425"/>
          <p:cNvSpPr>
            <a:spLocks noGrp="1"/>
          </p:cNvSpPr>
          <p:nvPr/>
        </p:nvSpPr>
        <p:spPr>
          <a:xfrm>
            <a:off x="4352925" y="46386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7" name="矩形 426"/>
          <p:cNvSpPr>
            <a:spLocks noGrp="1"/>
          </p:cNvSpPr>
          <p:nvPr/>
        </p:nvSpPr>
        <p:spPr>
          <a:xfrm>
            <a:off x="4352925" y="49911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8" name="矩形 42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" name="矩形 42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31" name="矩形 430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32" name="矩形 431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3" name="矩形 432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3.6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3.6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矩形 433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循环语句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矩形 434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445" name="图片 444"/>
          <p:cNvPicPr>
            <a:picLocks noChangeAspect="1"/>
          </p:cNvPicPr>
          <p:nvPr/>
        </p:nvPicPr>
        <p:blipFill>
          <a:blip r:embed="rId1"/>
          <a:srcRect l="47" r="47"/>
          <a:stretch>
            <a:fillRect/>
          </a:stretch>
        </p:blipFill>
        <p:spPr>
          <a:xfrm>
            <a:off x="6638925" y="1657350"/>
            <a:ext cx="2647950" cy="4191000"/>
          </a:xfrm>
          <a:prstGeom prst="roundRect">
            <a:avLst>
              <a:gd name="adj" fmla="val 2878"/>
            </a:avLst>
          </a:prstGeom>
        </p:spPr>
      </p:pic>
      <p:sp>
        <p:nvSpPr>
          <p:cNvPr id="437" name="矩形 43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9" name="矩形 4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40" name="矩形 43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41" name="矩形 44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矩形 441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例子5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5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3" name="矩形 442"/>
          <p:cNvSpPr>
            <a:spLocks noGrp="1"/>
          </p:cNvSpPr>
          <p:nvPr/>
        </p:nvSpPr>
        <p:spPr>
          <a:xfrm>
            <a:off x="457200" y="1562100"/>
            <a:ext cx="3552825" cy="1647825"/>
          </a:xfrm>
          <a:prstGeom prst="rect">
            <a:avLst/>
          </a:prstGeom>
        </p:spPr>
        <p:txBody>
          <a:bodyPr wrap="square" lIns="0" tIns="0" rIns="0" bIns="0">
            <a:normAutofit fontScale="4581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8+88+888+8888... 前 12 项和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Calculate the sum of the first 12 terms of 8+88+888+8888...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矩形 443"/>
          <p:cNvSpPr>
            <a:spLocks noGrp="1"/>
          </p:cNvSpPr>
          <p:nvPr/>
        </p:nvSpPr>
        <p:spPr>
          <a:xfrm>
            <a:off x="457200" y="343852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45" name="矩形 444"/>
          <p:cNvSpPr>
            <a:spLocks noGrp="1"/>
          </p:cNvSpPr>
          <p:nvPr/>
        </p:nvSpPr>
        <p:spPr>
          <a:xfrm>
            <a:off x="457200" y="3695700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每一项 item 自身乘 10 加 a（8）得到下一项。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Each item is multiplied by 10 and a(8) is added to get the next item.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6" name="图片 455"/>
          <p:cNvPicPr>
            <a:picLocks noChangeAspect="1"/>
          </p:cNvPicPr>
          <p:nvPr/>
        </p:nvPicPr>
        <p:blipFill>
          <a:blip r:embed="rId1"/>
          <a:srcRect t="9" b="9"/>
          <a:stretch>
            <a:fillRect/>
          </a:stretch>
        </p:blipFill>
        <p:spPr>
          <a:xfrm>
            <a:off x="4619625" y="1600200"/>
            <a:ext cx="6638925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447" name="矩形 44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" name="矩形 44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50" name="矩形 44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51" name="矩形 45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矩形 45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§3.5.2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矩形 45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循环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4" name="矩形 45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5" name="矩形 454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48631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先判断后执行，循环体可能一次都不执行（见图 3.7）。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Judgment first and then execution, the loop body may not be executed at all (see Figure 3.7).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6" name="圆角矩形 455"/>
          <p:cNvSpPr>
            <a:spLocks noGrp="1"/>
          </p:cNvSpPr>
          <p:nvPr/>
        </p:nvSpPr>
        <p:spPr>
          <a:xfrm>
            <a:off x="4181475" y="2324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7" name="矩形 456"/>
          <p:cNvSpPr>
            <a:spLocks noGrp="1"/>
          </p:cNvSpPr>
          <p:nvPr/>
        </p:nvSpPr>
        <p:spPr>
          <a:xfrm>
            <a:off x="4371975" y="22098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计算表达式的值：true 则执行 2，false 则执行 3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Calculate the value of the expression: if true, execute 2; if false, execute 3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8" name="圆角矩形 457"/>
          <p:cNvSpPr>
            <a:spLocks noGrp="1"/>
          </p:cNvSpPr>
          <p:nvPr/>
        </p:nvSpPr>
        <p:spPr>
          <a:xfrm>
            <a:off x="4181475" y="2886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59" name="矩形 458"/>
          <p:cNvSpPr>
            <a:spLocks noGrp="1"/>
          </p:cNvSpPr>
          <p:nvPr/>
        </p:nvSpPr>
        <p:spPr>
          <a:xfrm>
            <a:off x="4371975" y="27717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执行循环体，回到 1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Execute the loop body and return to 1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0" name="圆角矩形 459"/>
          <p:cNvSpPr>
            <a:spLocks noGrp="1"/>
          </p:cNvSpPr>
          <p:nvPr/>
        </p:nvSpPr>
        <p:spPr>
          <a:xfrm>
            <a:off x="4181475" y="3448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461" name="矩形 460"/>
          <p:cNvSpPr>
            <a:spLocks noGrp="1"/>
          </p:cNvSpPr>
          <p:nvPr/>
        </p:nvSpPr>
        <p:spPr>
          <a:xfrm>
            <a:off x="4371975" y="3333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结束 while 语句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End the while statement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2" name="圆角矩形 461"/>
          <p:cNvSpPr>
            <a:spLocks noGrp="1"/>
          </p:cNvSpPr>
          <p:nvPr/>
        </p:nvSpPr>
        <p:spPr>
          <a:xfrm>
            <a:off x="4181475" y="389572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463" name="矩形 462"/>
          <p:cNvSpPr>
            <a:spLocks noGrp="1"/>
          </p:cNvSpPr>
          <p:nvPr/>
        </p:nvSpPr>
        <p:spPr>
          <a:xfrm>
            <a:off x="4352925" y="40100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while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4" name="矩形 463"/>
          <p:cNvSpPr>
            <a:spLocks noGrp="1"/>
          </p:cNvSpPr>
          <p:nvPr/>
        </p:nvSpPr>
        <p:spPr>
          <a:xfrm>
            <a:off x="4352925" y="43624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5" name="矩形 464"/>
          <p:cNvSpPr>
            <a:spLocks noGrp="1"/>
          </p:cNvSpPr>
          <p:nvPr/>
        </p:nvSpPr>
        <p:spPr>
          <a:xfrm>
            <a:off x="4352925" y="4714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6" name="矩形 46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9" name="矩形 48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90" name="矩形 48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491" name="矩形 49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2" name="矩形 49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3" name="矩形 49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循环语句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4" name="矩形 49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504" name="图片 503"/>
          <p:cNvPicPr>
            <a:picLocks noChangeAspect="1"/>
          </p:cNvPicPr>
          <p:nvPr/>
        </p:nvPicPr>
        <p:blipFill>
          <a:blip r:embed="rId1"/>
          <a:srcRect l="10" r="10"/>
          <a:stretch>
            <a:fillRect/>
          </a:stretch>
        </p:blipFill>
        <p:spPr>
          <a:xfrm>
            <a:off x="6724650" y="1657350"/>
            <a:ext cx="2476500" cy="4191000"/>
          </a:xfrm>
          <a:prstGeom prst="roundRect">
            <a:avLst>
              <a:gd name="adj" fmla="val 3077"/>
            </a:avLst>
          </a:prstGeom>
        </p:spPr>
      </p:pic>
      <p:sp>
        <p:nvSpPr>
          <p:cNvPr id="496" name="矩形 495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8" name="矩形 49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499" name="矩形 498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00" name="矩形 499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1" name="矩形 500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§3.5.3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2" name="矩形 501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do-while 循环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do-while loop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3" name="矩形 502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04" name="矩形 503"/>
          <p:cNvSpPr>
            <a:spLocks noGrp="1"/>
          </p:cNvSpPr>
          <p:nvPr/>
        </p:nvSpPr>
        <p:spPr>
          <a:xfrm>
            <a:off x="457200" y="263842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03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先执行后判断，循环体至少执行一次（见图 3.8）。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Execute first and then judge. The loop body is executed at least once (see Figure 3.8).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5" name="圆角矩形 504"/>
          <p:cNvSpPr>
            <a:spLocks noGrp="1"/>
          </p:cNvSpPr>
          <p:nvPr/>
        </p:nvSpPr>
        <p:spPr>
          <a:xfrm>
            <a:off x="4181475" y="2324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06" name="矩形 505"/>
          <p:cNvSpPr>
            <a:spLocks noGrp="1"/>
          </p:cNvSpPr>
          <p:nvPr/>
        </p:nvSpPr>
        <p:spPr>
          <a:xfrm>
            <a:off x="4371975" y="22098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执行循环体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Execute the loop body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7" name="圆角矩形 506"/>
          <p:cNvSpPr>
            <a:spLocks noGrp="1"/>
          </p:cNvSpPr>
          <p:nvPr/>
        </p:nvSpPr>
        <p:spPr>
          <a:xfrm>
            <a:off x="4181475" y="2886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08" name="矩形 507"/>
          <p:cNvSpPr>
            <a:spLocks noGrp="1"/>
          </p:cNvSpPr>
          <p:nvPr/>
        </p:nvSpPr>
        <p:spPr>
          <a:xfrm>
            <a:off x="4371975" y="27717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计算表达式的值：true 则回到 1，false 则执行 3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Calculate the value of the expression: if true, return to 1; if false, execute 3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9" name="圆角矩形 508"/>
          <p:cNvSpPr>
            <a:spLocks noGrp="1"/>
          </p:cNvSpPr>
          <p:nvPr/>
        </p:nvSpPr>
        <p:spPr>
          <a:xfrm>
            <a:off x="4181475" y="3448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10" name="矩形 509"/>
          <p:cNvSpPr>
            <a:spLocks noGrp="1"/>
          </p:cNvSpPr>
          <p:nvPr/>
        </p:nvSpPr>
        <p:spPr>
          <a:xfrm>
            <a:off x="4371975" y="33337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结束 do-while 语句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End the do-while statement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1" name="圆角矩形 510"/>
          <p:cNvSpPr>
            <a:spLocks noGrp="1"/>
          </p:cNvSpPr>
          <p:nvPr/>
        </p:nvSpPr>
        <p:spPr>
          <a:xfrm>
            <a:off x="4181475" y="3895725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512" name="矩形 511"/>
          <p:cNvSpPr>
            <a:spLocks noGrp="1"/>
          </p:cNvSpPr>
          <p:nvPr/>
        </p:nvSpPr>
        <p:spPr>
          <a:xfrm>
            <a:off x="4352925" y="401002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13" name="矩形 512"/>
          <p:cNvSpPr>
            <a:spLocks noGrp="1"/>
          </p:cNvSpPr>
          <p:nvPr/>
        </p:nvSpPr>
        <p:spPr>
          <a:xfrm>
            <a:off x="4352925" y="4362450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若干语句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several sentences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14" name="矩形 513"/>
          <p:cNvSpPr>
            <a:spLocks noGrp="1"/>
          </p:cNvSpPr>
          <p:nvPr/>
        </p:nvSpPr>
        <p:spPr>
          <a:xfrm>
            <a:off x="4352925" y="4714875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 while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表达式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);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15" name="矩形 514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" name="矩形 5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18" name="矩形 517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19" name="矩形 518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0" name="矩形 519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3.8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3.8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1" name="矩形 520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do-while 循环语句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do-while loop statement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2" name="矩形 521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pic>
        <p:nvPicPr>
          <p:cNvPr id="532" name="图片 531"/>
          <p:cNvPicPr>
            <a:picLocks noChangeAspect="1"/>
          </p:cNvPicPr>
          <p:nvPr/>
        </p:nvPicPr>
        <p:blipFill>
          <a:blip r:embed="rId1"/>
          <a:srcRect t="16" b="16"/>
          <a:stretch>
            <a:fillRect/>
          </a:stretch>
        </p:blipFill>
        <p:spPr>
          <a:xfrm>
            <a:off x="6610350" y="1657350"/>
            <a:ext cx="2705100" cy="4191000"/>
          </a:xfrm>
          <a:prstGeom prst="roundRect">
            <a:avLst>
              <a:gd name="adj" fmla="val 2817"/>
            </a:avLst>
          </a:prstGeom>
        </p:spPr>
      </p:pic>
      <p:sp>
        <p:nvSpPr>
          <p:cNvPr id="524" name="矩形 52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6" name="矩形 52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27" name="矩形 52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28" name="矩形 52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9" name="矩形 528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例子6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6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0" name="矩形 529"/>
          <p:cNvSpPr>
            <a:spLocks noGrp="1"/>
          </p:cNvSpPr>
          <p:nvPr/>
        </p:nvSpPr>
        <p:spPr>
          <a:xfrm>
            <a:off x="457200" y="1562100"/>
            <a:ext cx="3381375" cy="1647825"/>
          </a:xfrm>
          <a:prstGeom prst="rect">
            <a:avLst/>
          </a:prstGeom>
        </p:spPr>
        <p:txBody>
          <a:bodyPr wrap="square" lIns="0" tIns="0" rIns="0" bIns="0">
            <a:normAutofit fontScale="4341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while 计算 1+1/2!+1/3!+... 前 20 项和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while to calculate the sum of the first 20 terms of 1+1/2!+1/3!+...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1" name="矩形 530"/>
          <p:cNvSpPr>
            <a:spLocks noGrp="1"/>
          </p:cNvSpPr>
          <p:nvPr/>
        </p:nvSpPr>
        <p:spPr>
          <a:xfrm>
            <a:off x="457200" y="343852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32" name="矩形 531"/>
          <p:cNvSpPr>
            <a:spLocks noGrp="1"/>
          </p:cNvSpPr>
          <p:nvPr/>
        </p:nvSpPr>
        <p:spPr>
          <a:xfrm>
            <a:off x="457200" y="3695700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 item 乘以 1.0/i 得到下一项的阶倒数。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Each round item is multiplied by 1.0/i to get the reciprocal of the order of the next item.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3" name="图片 542"/>
          <p:cNvPicPr>
            <a:picLocks noChangeAspect="1"/>
          </p:cNvPicPr>
          <p:nvPr/>
        </p:nvPicPr>
        <p:blipFill>
          <a:blip r:embed="rId1"/>
          <a:srcRect t="38" b="38"/>
          <a:stretch>
            <a:fillRect/>
          </a:stretch>
        </p:blipFill>
        <p:spPr>
          <a:xfrm>
            <a:off x="5057775" y="1600200"/>
            <a:ext cx="577215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34" name="矩形 53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6" name="矩形 53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37" name="矩形 53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38" name="矩形 53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9" name="矩形 53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§3.6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0" name="矩形 539"/>
          <p:cNvSpPr>
            <a:spLocks noGrp="1"/>
          </p:cNvSpPr>
          <p:nvPr/>
        </p:nvSpPr>
        <p:spPr>
          <a:xfrm>
            <a:off x="457200" y="16002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5056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和 continue 语句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and continue statements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1" name="矩形 540"/>
          <p:cNvSpPr>
            <a:spLocks noGrp="1"/>
          </p:cNvSpPr>
          <p:nvPr/>
        </p:nvSpPr>
        <p:spPr>
          <a:xfrm>
            <a:off x="457200" y="29337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42" name="圆角矩形 541"/>
          <p:cNvSpPr>
            <a:spLocks noGrp="1"/>
          </p:cNvSpPr>
          <p:nvPr/>
        </p:nvSpPr>
        <p:spPr>
          <a:xfrm>
            <a:off x="4181475" y="2552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43" name="矩形 542"/>
          <p:cNvSpPr>
            <a:spLocks noGrp="1"/>
          </p:cNvSpPr>
          <p:nvPr/>
        </p:nvSpPr>
        <p:spPr>
          <a:xfrm>
            <a:off x="4371975" y="24384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由关键字 break 或 continue 加分号构成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consists of the keyword break or continue followed by a semicolon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4" name="圆角矩形 543"/>
          <p:cNvSpPr>
            <a:spLocks noGrp="1"/>
          </p:cNvSpPr>
          <p:nvPr/>
        </p:nvSpPr>
        <p:spPr>
          <a:xfrm>
            <a:off x="4181475" y="3114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45" name="矩形 544"/>
          <p:cNvSpPr>
            <a:spLocks noGrp="1"/>
          </p:cNvSpPr>
          <p:nvPr/>
        </p:nvSpPr>
        <p:spPr>
          <a:xfrm>
            <a:off x="4371975" y="30003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在循环体中可使用 break 和 continue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 can use break and continue in the loop body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6" name="圆角矩形 545"/>
          <p:cNvSpPr>
            <a:spLocks noGrp="1"/>
          </p:cNvSpPr>
          <p:nvPr/>
        </p:nvSpPr>
        <p:spPr>
          <a:xfrm>
            <a:off x="4181475" y="3676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47" name="矩形 546"/>
          <p:cNvSpPr>
            <a:spLocks noGrp="1"/>
          </p:cNvSpPr>
          <p:nvPr/>
        </p:nvSpPr>
        <p:spPr>
          <a:xfrm>
            <a:off x="4371975" y="35623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break：整个循环语句结束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Execute break: the entire loop statement ends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圆角矩形 547"/>
          <p:cNvSpPr>
            <a:spLocks noGrp="1"/>
          </p:cNvSpPr>
          <p:nvPr/>
        </p:nvSpPr>
        <p:spPr>
          <a:xfrm>
            <a:off x="4181475" y="4238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49" name="矩形 548"/>
          <p:cNvSpPr>
            <a:spLocks noGrp="1"/>
          </p:cNvSpPr>
          <p:nvPr/>
        </p:nvSpPr>
        <p:spPr>
          <a:xfrm>
            <a:off x="4371975" y="4124325"/>
            <a:ext cx="7362825" cy="781050"/>
          </a:xfrm>
          <a:prstGeom prst="rect">
            <a:avLst/>
          </a:prstGeom>
        </p:spPr>
        <p:txBody>
          <a:bodyPr wrap="square" lIns="0" tIns="0" rIns="0" bIns="0">
            <a:normAutofit fontScale="6143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continue：本次循环结束（continue 之后的循环体语句不再执行），转入下一次循环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Execute continue: This loop ends (the loop body statement after continue will no longer be executed) and transfers to the next loop.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0" name="矩形 54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" name="矩形 55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53" name="矩形 55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54" name="矩形 55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5" name="矩形 554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6" name="矩形 555"/>
          <p:cNvSpPr>
            <a:spLocks noGrp="1"/>
          </p:cNvSpPr>
          <p:nvPr/>
        </p:nvSpPr>
        <p:spPr>
          <a:xfrm>
            <a:off x="457200" y="1562100"/>
            <a:ext cx="3381375" cy="2200275"/>
          </a:xfrm>
          <a:prstGeom prst="rect">
            <a:avLst/>
          </a:prstGeom>
        </p:spPr>
        <p:txBody>
          <a:bodyPr wrap="square" lIns="0" tIns="0" rIns="0" bIns="0">
            <a:normAutofit fontScale="436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continue/break 计算 1+3+5... 与 50 以内素数（上）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continue/break to calculate 1+3+5... and prime numbers within 50 (Part 1)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7" name="矩形 556"/>
          <p:cNvSpPr>
            <a:spLocks noGrp="1"/>
          </p:cNvSpPr>
          <p:nvPr/>
        </p:nvSpPr>
        <p:spPr>
          <a:xfrm>
            <a:off x="457200" y="399097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58" name="矩形 557"/>
          <p:cNvSpPr>
            <a:spLocks noGrp="1"/>
          </p:cNvSpPr>
          <p:nvPr/>
        </p:nvSpPr>
        <p:spPr>
          <a:xfrm>
            <a:off x="457200" y="4248150"/>
            <a:ext cx="3381375" cy="1171575"/>
          </a:xfrm>
          <a:prstGeom prst="rect">
            <a:avLst/>
          </a:prstGeom>
        </p:spPr>
        <p:txBody>
          <a:bodyPr wrap="square" lIns="0" tIns="0" rIns="0" bIns="0">
            <a:normAutofit fontScale="4653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 for 演示 continue：跳过偶数累加奇数和；第二个 for 演示 break：判断 50 以内素数。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first for demonstrates continue: skips even numbers and accumulates the sum of odd numbers; the second for demonstrates break: determines prime numbers within 50.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9" name="图片 568"/>
          <p:cNvPicPr>
            <a:picLocks noChangeAspect="1"/>
          </p:cNvPicPr>
          <p:nvPr/>
        </p:nvPicPr>
        <p:blipFill>
          <a:blip r:embed="rId1"/>
          <a:srcRect l="5" r="5"/>
          <a:stretch>
            <a:fillRect/>
          </a:stretch>
        </p:blipFill>
        <p:spPr>
          <a:xfrm>
            <a:off x="4495800" y="1600200"/>
            <a:ext cx="6886575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60" name="矩形 55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2" name="矩形 56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63" name="矩形 56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64" name="矩形 56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5" name="矩形 564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7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6" name="矩形 565"/>
          <p:cNvSpPr>
            <a:spLocks noGrp="1"/>
          </p:cNvSpPr>
          <p:nvPr/>
        </p:nvSpPr>
        <p:spPr>
          <a:xfrm>
            <a:off x="457200" y="1562100"/>
            <a:ext cx="3381375" cy="2200275"/>
          </a:xfrm>
          <a:prstGeom prst="rect">
            <a:avLst/>
          </a:prstGeom>
        </p:spPr>
        <p:txBody>
          <a:bodyPr wrap="square" lIns="0" tIns="0" rIns="0" bIns="0">
            <a:normAutofit fontScale="436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continue/break 计算 1+3+5... 与 50 以内素数（下）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continue/break to calculate 1+3+5... and prime numbers within 50 (Part 2)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7" name="矩形 566"/>
          <p:cNvSpPr>
            <a:spLocks noGrp="1"/>
          </p:cNvSpPr>
          <p:nvPr/>
        </p:nvSpPr>
        <p:spPr>
          <a:xfrm>
            <a:off x="457200" y="399097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68" name="矩形 567"/>
          <p:cNvSpPr>
            <a:spLocks noGrp="1"/>
          </p:cNvSpPr>
          <p:nvPr/>
        </p:nvSpPr>
        <p:spPr>
          <a:xfrm>
            <a:off x="457200" y="4248150"/>
            <a:ext cx="3381375" cy="390525"/>
          </a:xfrm>
          <a:prstGeom prst="rect">
            <a:avLst/>
          </a:prstGeom>
        </p:spPr>
        <p:txBody>
          <a:bodyPr wrap="none" lIns="0" tIns="0" rIns="0" bIns="0">
            <a:normAutofit fontScale="37826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接上页（行号连续）。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Continued from previous page (line numbers are consecutive).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9" name="图片 578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4238625" y="1600200"/>
            <a:ext cx="741045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570" name="矩形 569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2" name="矩形 57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73" name="矩形 572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74" name="矩形 573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5" name="矩形 574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3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§3.7</a:t>
            </a:r>
            <a:endParaRPr sz="1200" b="1" spc="3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6" name="矩形 575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语句与数组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statement and array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7" name="矩形 576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78" name="矩形 577"/>
          <p:cNvSpPr>
            <a:spLocks noGrp="1"/>
          </p:cNvSpPr>
          <p:nvPr/>
        </p:nvSpPr>
        <p:spPr>
          <a:xfrm>
            <a:off x="457200" y="2638425"/>
            <a:ext cx="3381375" cy="1171575"/>
          </a:xfrm>
          <a:prstGeom prst="rect">
            <a:avLst/>
          </a:prstGeom>
        </p:spPr>
        <p:txBody>
          <a:bodyPr wrap="square" lIns="0" tIns="0" rIns="0" bIns="0">
            <a:normAutofit fontScale="4653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JDK 5 起对 for 语句的功能给予扩充、增强，以便更好地遍历数组。这种形式类似 "for each"。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Starting from JDK 5, the functions of the for statement have been expanded and enhanced to better traverse arrays. This form is similar to "for each".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9" name="圆角矩形 578"/>
          <p:cNvSpPr>
            <a:spLocks noGrp="1"/>
          </p:cNvSpPr>
          <p:nvPr/>
        </p:nvSpPr>
        <p:spPr>
          <a:xfrm>
            <a:off x="4181475" y="19526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80" name="矩形 579"/>
          <p:cNvSpPr>
            <a:spLocks noGrp="1"/>
          </p:cNvSpPr>
          <p:nvPr/>
        </p:nvSpPr>
        <p:spPr>
          <a:xfrm>
            <a:off x="4371975" y="18383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4542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循环变量依次取数组的每一个元素的值，自动遍历完整个数组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loop variable takes the value of each element of the array in turn and automatically traverses the entire array.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1" name="圆角矩形 580"/>
          <p:cNvSpPr>
            <a:spLocks noGrp="1"/>
          </p:cNvSpPr>
          <p:nvPr/>
        </p:nvSpPr>
        <p:spPr>
          <a:xfrm>
            <a:off x="4181475" y="2514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82" name="矩形 581"/>
          <p:cNvSpPr>
            <a:spLocks noGrp="1"/>
          </p:cNvSpPr>
          <p:nvPr/>
        </p:nvSpPr>
        <p:spPr>
          <a:xfrm>
            <a:off x="4371975" y="2400300"/>
            <a:ext cx="73628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  <a:buNone/>
            </a:pP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比传统</a:t>
            </a: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for(;;) </a:t>
            </a: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更简洁：无需下标、无需</a:t>
            </a:r>
            <a:r>
              <a:rPr sz="15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length</a:t>
            </a:r>
            <a:endParaRPr sz="15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3" name="圆角矩形 582"/>
          <p:cNvSpPr>
            <a:spLocks noGrp="1"/>
          </p:cNvSpPr>
          <p:nvPr/>
        </p:nvSpPr>
        <p:spPr>
          <a:xfrm>
            <a:off x="4181475" y="3076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84" name="矩形 583"/>
          <p:cNvSpPr>
            <a:spLocks noGrp="1"/>
          </p:cNvSpPr>
          <p:nvPr/>
        </p:nvSpPr>
        <p:spPr>
          <a:xfrm>
            <a:off x="4371975" y="296227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只读遍历：无法通过循环变量修改数组元素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Read-only traversal: array elements cannot be modified through loop variables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5" name="圆角矩形 584"/>
          <p:cNvSpPr>
            <a:spLocks noGrp="1"/>
          </p:cNvSpPr>
          <p:nvPr/>
        </p:nvSpPr>
        <p:spPr>
          <a:xfrm>
            <a:off x="4181475" y="3524250"/>
            <a:ext cx="7553325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6350">
            <a:solidFill>
              <a:srgbClr val="D6DCE5"/>
            </a:solidFill>
            <a:prstDash val="solid"/>
          </a:ln>
          <a:effectLst>
            <a:outerShdw blurRad="57150" dist="19050" dir="5400000">
              <a:srgbClr val="0F1C2E">
                <a:alpha val="5000"/>
              </a:srgbClr>
            </a:outerShdw>
          </a:effectLst>
        </p:spPr>
        <p:txBody>
          <a:bodyPr/>
          <a:lstStyle/>
          <a:p/>
        </p:txBody>
      </p:sp>
      <p:sp>
        <p:nvSpPr>
          <p:cNvPr id="586" name="矩形 585"/>
          <p:cNvSpPr>
            <a:spLocks noGrp="1"/>
          </p:cNvSpPr>
          <p:nvPr/>
        </p:nvSpPr>
        <p:spPr>
          <a:xfrm>
            <a:off x="4352925" y="363855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(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声明循环变量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: 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数组的名字</a:t>
            </a: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 {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87" name="矩形 586"/>
          <p:cNvSpPr>
            <a:spLocks noGrp="1"/>
          </p:cNvSpPr>
          <p:nvPr/>
        </p:nvSpPr>
        <p:spPr>
          <a:xfrm>
            <a:off x="4352925" y="3990975"/>
            <a:ext cx="7210425" cy="314325"/>
          </a:xfrm>
          <a:prstGeom prst="rect">
            <a:avLst/>
          </a:prstGeom>
        </p:spPr>
        <p:txBody>
          <a:bodyPr wrap="none" lIns="0" tIns="0" rIns="0" bIns="0">
            <a:normAutofit fontScale="48644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// 循环变量依次取数组的每一个元素的值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2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//The loop variable takes the value of each element of the array in turn</a:t>
            </a:r>
            <a:endParaRPr sz="212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88" name="矩形 587"/>
          <p:cNvSpPr>
            <a:spLocks noGrp="1"/>
          </p:cNvSpPr>
          <p:nvPr/>
        </p:nvSpPr>
        <p:spPr>
          <a:xfrm>
            <a:off x="4352925" y="4343400"/>
            <a:ext cx="72104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  <a:buNone/>
            </a:pPr>
            <a:r>
              <a:rPr sz="1350">
                <a:solidFill>
                  <a:srgbClr val="1E3A5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350">
              <a:solidFill>
                <a:srgbClr val="1E3A5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89" name="圆角矩形 588"/>
          <p:cNvSpPr>
            <a:spLocks noGrp="1"/>
          </p:cNvSpPr>
          <p:nvPr/>
        </p:nvSpPr>
        <p:spPr>
          <a:xfrm>
            <a:off x="4181475" y="4943475"/>
            <a:ext cx="7553325" cy="561975"/>
          </a:xfrm>
          <a:prstGeom prst="roundRect">
            <a:avLst>
              <a:gd name="adj" fmla="val 16949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590" name="矩形 589"/>
          <p:cNvSpPr>
            <a:spLocks noGrp="1"/>
          </p:cNvSpPr>
          <p:nvPr/>
        </p:nvSpPr>
        <p:spPr>
          <a:xfrm>
            <a:off x="4371975" y="5076825"/>
            <a:ext cx="7172325" cy="295275"/>
          </a:xfrm>
          <a:prstGeom prst="rect">
            <a:avLst/>
          </a:prstGeom>
        </p:spPr>
        <p:txBody>
          <a:bodyPr wrap="none" lIns="0" tIns="0" rIns="0" bIns="0">
            <a:normAutofit fontScale="5125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声明的循环变量类型必须和数组的类型相同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type of the declared loop variable must be the same as the type of the array</a:t>
            </a:r>
            <a:endParaRPr sz="189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1" name="矩形 59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" name="矩形 59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594" name="矩形 59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595" name="矩形 594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6" name="矩形 595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例子8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8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7" name="矩形 596"/>
          <p:cNvSpPr>
            <a:spLocks noGrp="1"/>
          </p:cNvSpPr>
          <p:nvPr/>
        </p:nvSpPr>
        <p:spPr>
          <a:xfrm>
            <a:off x="457200" y="1562100"/>
            <a:ext cx="3381375" cy="1104900"/>
          </a:xfrm>
          <a:prstGeom prst="rect">
            <a:avLst/>
          </a:prstGeom>
        </p:spPr>
        <p:txBody>
          <a:bodyPr wrap="squar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用传统 for 与 for-each 遍历数组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Traverse arrays using traditional for and for-each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8" name="矩形 597"/>
          <p:cNvSpPr>
            <a:spLocks noGrp="1"/>
          </p:cNvSpPr>
          <p:nvPr/>
        </p:nvSpPr>
        <p:spPr>
          <a:xfrm>
            <a:off x="457200" y="289560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599" name="矩形 598"/>
          <p:cNvSpPr>
            <a:spLocks noGrp="1"/>
          </p:cNvSpPr>
          <p:nvPr/>
        </p:nvSpPr>
        <p:spPr>
          <a:xfrm>
            <a:off x="457200" y="3152775"/>
            <a:ext cx="3381375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  <a:buNone/>
            </a:pP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同一数组分别用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for(;;) 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for(:) </a:t>
            </a:r>
            <a:r>
              <a:rPr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两种方式遍历。</a:t>
            </a:r>
            <a:endParaRPr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1"/>
          <a:srcRect l="19" r="19"/>
          <a:stretch>
            <a:fillRect/>
          </a:stretch>
        </p:blipFill>
        <p:spPr>
          <a:xfrm>
            <a:off x="4324350" y="1600200"/>
            <a:ext cx="7229475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01" name="矩形 60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3" name="矩形 60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04" name="矩形 603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05" name="矩形 604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6" name="矩形 605"/>
          <p:cNvSpPr>
            <a:spLocks noGrp="1"/>
          </p:cNvSpPr>
          <p:nvPr/>
        </p:nvSpPr>
        <p:spPr>
          <a:xfrm>
            <a:off x="457200" y="12573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例子9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9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7" name="矩形 606"/>
          <p:cNvSpPr>
            <a:spLocks noGrp="1"/>
          </p:cNvSpPr>
          <p:nvPr/>
        </p:nvSpPr>
        <p:spPr>
          <a:xfrm>
            <a:off x="457200" y="1562100"/>
            <a:ext cx="3381375" cy="1647825"/>
          </a:xfrm>
          <a:prstGeom prst="rect">
            <a:avLst/>
          </a:prstGeom>
        </p:spPr>
        <p:txBody>
          <a:bodyPr wrap="square" lIns="0" tIns="0" rIns="0" bIns="0">
            <a:normAutofit fontScale="3818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Scanner 累加键盘输入的若干数并求平均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Scanner to accumulate several numbers entered on the keyboard and average them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8" name="矩形 607"/>
          <p:cNvSpPr>
            <a:spLocks noGrp="1"/>
          </p:cNvSpPr>
          <p:nvPr/>
        </p:nvSpPr>
        <p:spPr>
          <a:xfrm>
            <a:off x="457200" y="3438525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09" name="矩形 608"/>
          <p:cNvSpPr>
            <a:spLocks noGrp="1"/>
          </p:cNvSpPr>
          <p:nvPr/>
        </p:nvSpPr>
        <p:spPr>
          <a:xfrm>
            <a:off x="457200" y="3695700"/>
            <a:ext cx="3381375" cy="1562100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循环调用 hasNextDouble() 等待、nextDouble() 获取输入，遇到非数字字符串结束；最后用 printf 输出和与平均值。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Call hasNextDouble() in a loop to wait, nextDouble() to get input, and end when encountering a non-numeric string; finally use printf to output the sum and average.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0" name="图片 619"/>
          <p:cNvPicPr>
            <a:picLocks noChangeAspect="1"/>
          </p:cNvPicPr>
          <p:nvPr/>
        </p:nvPicPr>
        <p:blipFill>
          <a:blip r:embed="rId1"/>
          <a:srcRect t="31" b="31"/>
          <a:stretch>
            <a:fillRect/>
          </a:stretch>
        </p:blipFill>
        <p:spPr>
          <a:xfrm>
            <a:off x="4838700" y="1600200"/>
            <a:ext cx="6210300" cy="4114800"/>
          </a:xfrm>
          <a:prstGeom prst="roundRect">
            <a:avLst>
              <a:gd name="adj" fmla="val 2778"/>
            </a:avLst>
          </a:prstGeom>
          <a:effectLst>
            <a:outerShdw blurRad="152400" dist="38100" dir="5400000">
              <a:srgbClr val="0F1C2E">
                <a:alpha val="8000"/>
              </a:srgbClr>
            </a:outerShdw>
          </a:effectLst>
        </p:spPr>
      </p:pic>
      <p:sp>
        <p:nvSpPr>
          <p:cNvPr id="611" name="矩形 610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9" name="矩形 62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30" name="矩形 62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31" name="矩形 63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2" name="矩形 63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运行效果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result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3" name="矩形 63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例子9 运行效果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 9 Operation effect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4" name="矩形 63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35" name="矩形 634"/>
          <p:cNvSpPr>
            <a:spLocks noGrp="1"/>
          </p:cNvSpPr>
          <p:nvPr/>
        </p:nvSpPr>
        <p:spPr>
          <a:xfrm>
            <a:off x="457200" y="2638425"/>
            <a:ext cx="3381375" cy="1171575"/>
          </a:xfrm>
          <a:prstGeom prst="rect">
            <a:avLst/>
          </a:prstGeom>
        </p:spPr>
        <p:txBody>
          <a:bodyPr wrap="squar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依次输入 98、129.77、865.88，最后输入非数字 end 结束，输出和与平均值。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98, 129.77, 865.88 in sequence, and finally enter a non-number end to end, and output the sum and average.</a:t>
            </a:r>
            <a:endParaRPr sz="23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6" name="图片 645"/>
          <p:cNvPicPr>
            <a:picLocks noChangeAspect="1"/>
          </p:cNvPicPr>
          <p:nvPr/>
        </p:nvPicPr>
        <p:blipFill>
          <a:blip r:embed="rId1"/>
          <a:srcRect l="29" r="29"/>
          <a:stretch>
            <a:fillRect/>
          </a:stretch>
        </p:blipFill>
        <p:spPr>
          <a:xfrm>
            <a:off x="5524500" y="2609850"/>
            <a:ext cx="4867275" cy="2286000"/>
          </a:xfrm>
          <a:prstGeom prst="roundRect">
            <a:avLst>
              <a:gd name="adj" fmla="val 3333"/>
            </a:avLst>
          </a:prstGeom>
        </p:spPr>
      </p:pic>
      <p:sp>
        <p:nvSpPr>
          <p:cNvPr id="637" name="矩形 636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9" name="矩形 6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40" name="矩形 639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41" name="矩形 640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2" name="矩形 641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3" name="矩形 642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本章要点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points of this chapter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4" name="矩形 643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45" name="圆角矩形 644"/>
          <p:cNvSpPr>
            <a:spLocks noGrp="1"/>
          </p:cNvSpPr>
          <p:nvPr/>
        </p:nvSpPr>
        <p:spPr>
          <a:xfrm>
            <a:off x="4181475" y="2847975"/>
            <a:ext cx="2428875" cy="1647825"/>
          </a:xfrm>
          <a:prstGeom prst="roundRect">
            <a:avLst>
              <a:gd name="adj" fmla="val 5780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646" name="矩形 645"/>
          <p:cNvSpPr>
            <a:spLocks noGrp="1"/>
          </p:cNvSpPr>
          <p:nvPr/>
        </p:nvSpPr>
        <p:spPr>
          <a:xfrm>
            <a:off x="4371975" y="3000375"/>
            <a:ext cx="20478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7" name="矩形 646"/>
          <p:cNvSpPr>
            <a:spLocks noGrp="1"/>
          </p:cNvSpPr>
          <p:nvPr/>
        </p:nvSpPr>
        <p:spPr>
          <a:xfrm>
            <a:off x="4371975" y="3238500"/>
            <a:ext cx="2047875" cy="552450"/>
          </a:xfrm>
          <a:prstGeom prst="rect">
            <a:avLst/>
          </a:prstGeom>
        </p:spPr>
        <p:txBody>
          <a:bodyPr wrap="square" lIns="0" tIns="0" rIns="0" bIns="0">
            <a:normAutofit fontScale="4262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提供了丰富的运算符，学会各种运算符的使用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provides a wealth of operators, learn how to use them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8" name="圆角矩形 647"/>
          <p:cNvSpPr>
            <a:spLocks noGrp="1"/>
          </p:cNvSpPr>
          <p:nvPr/>
        </p:nvSpPr>
        <p:spPr>
          <a:xfrm>
            <a:off x="6743700" y="2847975"/>
            <a:ext cx="2428875" cy="1647825"/>
          </a:xfrm>
          <a:prstGeom prst="roundRect">
            <a:avLst>
              <a:gd name="adj" fmla="val 5780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649" name="矩形 648"/>
          <p:cNvSpPr>
            <a:spLocks noGrp="1"/>
          </p:cNvSpPr>
          <p:nvPr/>
        </p:nvSpPr>
        <p:spPr>
          <a:xfrm>
            <a:off x="6934200" y="3000375"/>
            <a:ext cx="20478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0" name="矩形 649"/>
          <p:cNvSpPr>
            <a:spLocks noGrp="1"/>
          </p:cNvSpPr>
          <p:nvPr/>
        </p:nvSpPr>
        <p:spPr>
          <a:xfrm>
            <a:off x="6934200" y="3238500"/>
            <a:ext cx="2047875" cy="1104900"/>
          </a:xfrm>
          <a:prstGeom prst="rect">
            <a:avLst/>
          </a:prstGeom>
        </p:spPr>
        <p:txBody>
          <a:bodyPr wrap="square" lIns="0" tIns="0" rIns="0" bIns="0">
            <a:normAutofit fontScale="50645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控制语句分为条件控制语句（if / switch）和循环控制语句（for / while / do-while）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control statements are divided into conditional control statements (if / switch) and loop control statements (for / while / do-while)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1" name="圆角矩形 650"/>
          <p:cNvSpPr>
            <a:spLocks noGrp="1"/>
          </p:cNvSpPr>
          <p:nvPr/>
        </p:nvSpPr>
        <p:spPr>
          <a:xfrm>
            <a:off x="9305925" y="2847975"/>
            <a:ext cx="2428875" cy="1647825"/>
          </a:xfrm>
          <a:prstGeom prst="roundRect">
            <a:avLst>
              <a:gd name="adj" fmla="val 5780"/>
            </a:avLst>
          </a:prstGeom>
          <a:solidFill>
            <a:srgbClr val="F0F5FC"/>
          </a:solidFill>
        </p:spPr>
        <p:txBody>
          <a:bodyPr/>
          <a:lstStyle/>
          <a:p/>
        </p:txBody>
      </p:sp>
      <p:sp>
        <p:nvSpPr>
          <p:cNvPr id="652" name="矩形 651"/>
          <p:cNvSpPr>
            <a:spLocks noGrp="1"/>
          </p:cNvSpPr>
          <p:nvPr/>
        </p:nvSpPr>
        <p:spPr>
          <a:xfrm>
            <a:off x="9496425" y="3000375"/>
            <a:ext cx="20478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3" name="矩形 652"/>
          <p:cNvSpPr>
            <a:spLocks noGrp="1"/>
          </p:cNvSpPr>
          <p:nvPr/>
        </p:nvSpPr>
        <p:spPr>
          <a:xfrm>
            <a:off x="9496425" y="3238500"/>
            <a:ext cx="2047875" cy="828675"/>
          </a:xfrm>
          <a:prstGeom prst="rect">
            <a:avLst/>
          </a:prstGeom>
        </p:spPr>
        <p:txBody>
          <a:bodyPr wrap="square" lIns="0" tIns="0" rIns="0" bIns="0">
            <a:normAutofit fontScale="5434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5 提供了 for-each 形式的增强 for 循环，便于遍历数组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5 provides an enhanced for loop in the form of for-each to facilitate array traversal</a:t>
            </a:r>
            <a:endParaRPr sz="189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4" name="矩形 653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" name="矩形 65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57" name="矩形 65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58" name="矩形 65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9" name="矩形 65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Homework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0" name="矩形 65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After-class exercises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" name="矩形 66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2" name="圆角矩形 661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3" name="矩形 662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按时完成老师布置的作业。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the homework assigned by the teacher on time.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圆角矩形 663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5" name="矩形 664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7683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教材提供了题库练习系统（见前言二维码），可在线刷题自测。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textbook provides a question bank practice system (see the QR code in the preface), and you can write questions online for self-test.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6" name="圆角矩形 665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7" name="矩形 666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3433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建议动手实现本章 9 个例子并观察运行结果，加深对控制语句的理解。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recommended to implement the 9 examples in this chapter and observe the running results to deepen your understanding of control statements.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8" name="矩形 66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" name="矩形 65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57" name="矩形 65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58" name="矩形 65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9" name="矩形 65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1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1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0" name="矩形 65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四则运算计算器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Arithmetic calculator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" name="矩形 66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2" name="圆角矩形 661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3" name="矩形 662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读入两个整数，输出 +、-、*、/ 和 % 的结果。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two integers and print the results of +, -, *, /, and %.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圆角矩形 663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5" name="矩形 664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除数为 0 时，不执行除法和取余，输出提示信息。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the divisor is 0, skip division and remainder and print a message.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6" name="圆角矩形 665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7" name="矩形 666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文件名：ArithmeticCalculatorPractice.java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File: ArithmeticCalculatorPractice.java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8" name="矩形 66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" name="矩形 65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57" name="矩形 65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58" name="矩形 65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9" name="矩形 65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2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0" name="矩形 65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成绩等级判断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 classifier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" name="矩形 66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2" name="圆角矩形 661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3" name="矩形 662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 0—100 的成绩，用 if-else if 输出 A、B、C、D 或 F。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a score from 0 to 100 and print A, B, C, D, or F with if-else if.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圆角矩形 663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5" name="矩形 664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成绩超出范围时输出“输入无效”，不能进入正常分支。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 “invalid input” when the score is outside the valid range.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6" name="圆角矩形 665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7" name="矩形 666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文件名：GradeClassifierPractice.java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File: GradeClassifierPractice.java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8" name="矩形 66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" name="矩形 65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57" name="矩形 65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58" name="矩形 65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9" name="矩形 65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3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0" name="矩形 65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循环求和与阶乘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 sum and factorial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" name="矩形 66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2" name="圆角矩形 661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3" name="矩形 662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读入正整数 n，用 for 计算 1+2+…+n。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a positive integer n and use for to calculate 1+2+…+n.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圆角矩形 663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5" name="矩形 664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再用 while 计算 n!；n 不合法时输出提示。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Then use while to calculate n!; print a message for invalid n.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6" name="圆角矩形 665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7" name="矩形 666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文件名：LoopMathPractice.java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File: LoopMathPractice.java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8" name="矩形 66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" name="矩形 65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lstStyle/>
          <a:p/>
        </p:txBody>
      </p:sp>
      <p:sp>
        <p:nvSpPr>
          <p:cNvPr id="657" name="矩形 656"/>
          <p:cNvSpPr>
            <a:spLocks noGrp="1"/>
          </p:cNvSpPr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58" name="矩形 657"/>
          <p:cNvSpPr>
            <a:spLocks noGrp="1"/>
          </p:cNvSpPr>
          <p:nvPr/>
        </p:nvSpPr>
        <p:spPr>
          <a:xfrm>
            <a:off x="838200" y="714375"/>
            <a:ext cx="2219325" cy="161925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</a:t>
            </a:r>
            <a:endParaRPr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9" name="矩形 658"/>
          <p:cNvSpPr>
            <a:spLocks noGrp="1"/>
          </p:cNvSpPr>
          <p:nvPr/>
        </p:nvSpPr>
        <p:spPr>
          <a:xfrm>
            <a:off x="457200" y="1295400"/>
            <a:ext cx="3381375" cy="190500"/>
          </a:xfrm>
          <a:prstGeom prst="rect">
            <a:avLst/>
          </a:prstGeom>
        </p:spPr>
        <p:txBody>
          <a:bodyPr wrap="none" lIns="0" tIns="0" rIns="0" bIns="0">
            <a:normAutofit fontScale="33069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编程题 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9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 Task 4</a:t>
            </a:r>
            <a:endParaRPr sz="189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0" name="矩形 659"/>
          <p:cNvSpPr>
            <a:spLocks noGrp="1"/>
          </p:cNvSpPr>
          <p:nvPr/>
        </p:nvSpPr>
        <p:spPr>
          <a:xfrm>
            <a:off x="457200" y="1600200"/>
            <a:ext cx="3381375" cy="552450"/>
          </a:xfrm>
          <a:prstGeom prst="rect">
            <a:avLst/>
          </a:prstGeom>
        </p:spPr>
        <p:txBody>
          <a:bodyPr wrap="none" lIns="0" tIns="0" rIns="0" bIns="0">
            <a:normAutofit fontScale="3840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输入若干数求平均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2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Average multiple inputs</a:t>
            </a:r>
            <a:endParaRPr sz="472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" name="矩形 660"/>
          <p:cNvSpPr>
            <a:spLocks noGrp="1"/>
          </p:cNvSpPr>
          <p:nvPr/>
        </p:nvSpPr>
        <p:spPr>
          <a:xfrm>
            <a:off x="457200" y="2381250"/>
            <a:ext cx="571500" cy="28575"/>
          </a:xfrm>
          <a:prstGeom prst="rect">
            <a:avLst/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2" name="圆角矩形 661"/>
          <p:cNvSpPr>
            <a:spLocks noGrp="1"/>
          </p:cNvSpPr>
          <p:nvPr/>
        </p:nvSpPr>
        <p:spPr>
          <a:xfrm>
            <a:off x="4181475" y="3028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3" name="矩形 662"/>
          <p:cNvSpPr>
            <a:spLocks noGrp="1"/>
          </p:cNvSpPr>
          <p:nvPr/>
        </p:nvSpPr>
        <p:spPr>
          <a:xfrm>
            <a:off x="4371975" y="291465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循环读取 double，遇到非数字字符串结束。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doubles in a loop and stop when a non-number token is entered.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圆角矩形 663"/>
          <p:cNvSpPr>
            <a:spLocks noGrp="1"/>
          </p:cNvSpPr>
          <p:nvPr/>
        </p:nvSpPr>
        <p:spPr>
          <a:xfrm>
            <a:off x="4181475" y="3590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5" name="矩形 664"/>
          <p:cNvSpPr>
            <a:spLocks noGrp="1"/>
          </p:cNvSpPr>
          <p:nvPr/>
        </p:nvSpPr>
        <p:spPr>
          <a:xfrm>
            <a:off x="4371975" y="3476625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输出数量、总和和平均值；没有数字时避免除零。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Print count, sum, and average; avoid division by zero when no number is entered.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6" name="圆角矩形 665"/>
          <p:cNvSpPr>
            <a:spLocks noGrp="1"/>
          </p:cNvSpPr>
          <p:nvPr/>
        </p:nvSpPr>
        <p:spPr>
          <a:xfrm>
            <a:off x="4181475" y="4152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</p:spPr>
        <p:txBody>
          <a:bodyPr/>
          <a:lstStyle/>
          <a:p/>
        </p:txBody>
      </p:sp>
      <p:sp>
        <p:nvSpPr>
          <p:cNvPr id="667" name="矩形 666"/>
          <p:cNvSpPr>
            <a:spLocks noGrp="1"/>
          </p:cNvSpPr>
          <p:nvPr/>
        </p:nvSpPr>
        <p:spPr>
          <a:xfrm>
            <a:off x="4371975" y="4038600"/>
            <a:ext cx="7362825" cy="390525"/>
          </a:xfrm>
          <a:prstGeom prst="rect">
            <a:avLst/>
          </a:prstGeom>
        </p:spPr>
        <p:txBody>
          <a:bodyPr wrap="none" lIns="0" tIns="0" rIns="0" bIns="0">
            <a:normAutofit fontScale="54290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文件名：ScannerAveragePractice.java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6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File: ScannerAveragePractice.java</a:t>
            </a:r>
            <a:endParaRPr sz="236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8" name="矩形 667"/>
          <p:cNvSpPr>
            <a:spLocks noGrp="1"/>
          </p:cNvSpPr>
          <p:nvPr/>
        </p:nvSpPr>
        <p:spPr>
          <a:xfrm>
            <a:off x="11258550" y="62388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0" name="矩形 66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71" name="矩形 670"/>
          <p:cNvSpPr>
            <a:spLocks noGrp="1"/>
          </p:cNvSpPr>
          <p:nvPr/>
        </p:nvSpPr>
        <p:spPr>
          <a:xfrm>
            <a:off x="571500" y="571500"/>
            <a:ext cx="11049000" cy="57150"/>
          </a:xfrm>
          <a:prstGeom prst="rect">
            <a:avLst/>
          </a:prstGeom>
          <a:solidFill>
            <a:srgbClr val="0E3F8C"/>
          </a:solidFill>
        </p:spPr>
        <p:txBody>
          <a:bodyPr/>
          <a:lstStyle/>
          <a:p/>
        </p:txBody>
      </p:sp>
      <p:sp>
        <p:nvSpPr>
          <p:cNvPr id="672" name="矩形 671"/>
          <p:cNvSpPr>
            <a:spLocks noGrp="1"/>
          </p:cNvSpPr>
          <p:nvPr/>
        </p:nvSpPr>
        <p:spPr>
          <a:xfrm>
            <a:off x="3848100" y="2457450"/>
            <a:ext cx="4495800" cy="914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6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 !</a:t>
            </a:r>
            <a:endParaRPr sz="6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3" name="矩形 672"/>
          <p:cNvSpPr>
            <a:spLocks noGrp="1"/>
          </p:cNvSpPr>
          <p:nvPr/>
        </p:nvSpPr>
        <p:spPr>
          <a:xfrm>
            <a:off x="3619500" y="3600450"/>
            <a:ext cx="4953000" cy="323850"/>
          </a:xfrm>
          <a:prstGeom prst="rect">
            <a:avLst/>
          </a:prstGeom>
        </p:spPr>
        <p:txBody>
          <a:bodyPr wrap="none" lIns="0" tIns="0" rIns="0" bIns="0">
            <a:normAutofit fontScale="32197"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章 · 运算符、表达式和语句 到此结束</a:t>
            </a:r>
            <a:endParaRPr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Operators, Expressions, and Statements That Ends</a:t>
            </a:r>
            <a:endParaRPr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4" name="矩形 673"/>
          <p:cNvSpPr>
            <a:spLocks noGrp="1"/>
          </p:cNvSpPr>
          <p:nvPr/>
        </p:nvSpPr>
        <p:spPr>
          <a:xfrm>
            <a:off x="5619750" y="4267200"/>
            <a:ext cx="952500" cy="38100"/>
          </a:xfrm>
          <a:prstGeom prst="rect">
            <a:avLst/>
          </a:prstGeom>
          <a:solidFill>
            <a:srgbClr val="D9534F"/>
          </a:solidFill>
        </p:spPr>
        <p:txBody>
          <a:bodyPr/>
          <a:lstStyle/>
          <a:p/>
        </p:txBody>
      </p:sp>
      <p:sp>
        <p:nvSpPr>
          <p:cNvPr id="675" name="矩形 674"/>
          <p:cNvSpPr>
            <a:spLocks noGrp="1"/>
          </p:cNvSpPr>
          <p:nvPr/>
        </p:nvSpPr>
        <p:spPr>
          <a:xfrm>
            <a:off x="11144250" y="6124575"/>
            <a:ext cx="476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 / 57</a:t>
            </a:r>
            <a:endParaRPr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21288</Words>
  <Application>WPS 演示</Application>
  <PresentationFormat>Converted Presentation</PresentationFormat>
  <Paragraphs>1084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何嘉豪</cp:lastModifiedBy>
  <cp:revision>1</cp:revision>
  <dcterms:created xsi:type="dcterms:W3CDTF">2026-09-01T14:56:13Z</dcterms:created>
  <dcterms:modified xsi:type="dcterms:W3CDTF">2026-09-01T14:56:13Z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599A1064E1D945F684C22336C9528471_12</vt:lpwstr>
  </property>
</Properties>
</file>