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b1614961e64d0c" /><Relationship Type="http://schemas.openxmlformats.org/officeDocument/2006/relationships/extended-properties" Target="/docProps/app.xml" Id="R14896af5b5804b7b" /><Relationship Type="http://schemas.openxmlformats.org/officeDocument/2006/relationships/officeDocument" Target="/ppt/presentation.xml" Id="R8c07e023e4604a4f" /></Relationships>
</file>

<file path=ppt/presentation.xml><?xml version="1.0" encoding="utf-8"?>
<p:presentation xmlns:p="http://schemas.openxmlformats.org/presentationml/2006/main">
  <p:sldMasterIdLst>
    <p:sldMasterId xmlns:r="http://schemas.openxmlformats.org/officeDocument/2006/relationships" id="2147483648" r:id="R435f770de5c841d5"/>
  </p:sldMasterIdLst>
  <p:notesMasterIdLst>
    <p:notesMasterId xmlns:r="http://schemas.openxmlformats.org/officeDocument/2006/relationships" r:id="R8db5a7edd1044fe7"/>
  </p:notesMasterIdLst>
  <p:sldIdLst>
    <p:sldId xmlns:r="http://schemas.openxmlformats.org/officeDocument/2006/relationships" id="256" r:id="R539c3ae7ee66407f"/>
    <p:sldId xmlns:r="http://schemas.openxmlformats.org/officeDocument/2006/relationships" id="257" r:id="R63dd482d4277499e"/>
    <p:sldId xmlns:r="http://schemas.openxmlformats.org/officeDocument/2006/relationships" id="258" r:id="R88343b098e734718"/>
    <p:sldId xmlns:r="http://schemas.openxmlformats.org/officeDocument/2006/relationships" id="259" r:id="R858617c9bd304393"/>
    <p:sldId xmlns:r="http://schemas.openxmlformats.org/officeDocument/2006/relationships" id="260" r:id="R7b235f03d6254fc4"/>
    <p:sldId xmlns:r="http://schemas.openxmlformats.org/officeDocument/2006/relationships" id="261" r:id="R76609f098d0a4dd0"/>
    <p:sldId xmlns:r="http://schemas.openxmlformats.org/officeDocument/2006/relationships" id="262" r:id="R3da79af14e9c41ec"/>
    <p:sldId xmlns:r="http://schemas.openxmlformats.org/officeDocument/2006/relationships" id="263" r:id="Ra358e783bd584e64"/>
    <p:sldId xmlns:r="http://schemas.openxmlformats.org/officeDocument/2006/relationships" id="264" r:id="Rd073e1f1e8dc4afa"/>
    <p:sldId xmlns:r="http://schemas.openxmlformats.org/officeDocument/2006/relationships" id="265" r:id="R1a095483a12b4a2f"/>
    <p:sldId xmlns:r="http://schemas.openxmlformats.org/officeDocument/2006/relationships" id="266" r:id="R3a6d281cf561435b"/>
    <p:sldId xmlns:r="http://schemas.openxmlformats.org/officeDocument/2006/relationships" id="267" r:id="R45217dd948404fd7"/>
    <p:sldId xmlns:r="http://schemas.openxmlformats.org/officeDocument/2006/relationships" id="268" r:id="Rf973a94a7d914fe4"/>
    <p:sldId xmlns:r="http://schemas.openxmlformats.org/officeDocument/2006/relationships" id="269" r:id="Rc532571a2a094a0d"/>
    <p:sldId xmlns:r="http://schemas.openxmlformats.org/officeDocument/2006/relationships" id="270" r:id="Rbfad45cb7b2c4c9f"/>
    <p:sldId xmlns:r="http://schemas.openxmlformats.org/officeDocument/2006/relationships" id="271" r:id="R6eaba0997c5c48d2"/>
    <p:sldId xmlns:r="http://schemas.openxmlformats.org/officeDocument/2006/relationships" id="272" r:id="Re95cd30f78b949b4"/>
    <p:sldId xmlns:r="http://schemas.openxmlformats.org/officeDocument/2006/relationships" id="273" r:id="Rfb3d88f6b5484935"/>
    <p:sldId xmlns:r="http://schemas.openxmlformats.org/officeDocument/2006/relationships" id="274" r:id="R146b9f6ca0164126"/>
    <p:sldId xmlns:r="http://schemas.openxmlformats.org/officeDocument/2006/relationships" id="275" r:id="R7da01eddf446426f"/>
    <p:sldId xmlns:r="http://schemas.openxmlformats.org/officeDocument/2006/relationships" id="276" r:id="R2cd9935e83564e00"/>
    <p:sldId xmlns:r="http://schemas.openxmlformats.org/officeDocument/2006/relationships" id="277" r:id="Rf17b3ea66a78404e"/>
    <p:sldId xmlns:r="http://schemas.openxmlformats.org/officeDocument/2006/relationships" id="278" r:id="Raa5a255648fc4143"/>
    <p:sldId xmlns:r="http://schemas.openxmlformats.org/officeDocument/2006/relationships" id="279" r:id="R18cf1d6279664ddb"/>
    <p:sldId xmlns:r="http://schemas.openxmlformats.org/officeDocument/2006/relationships" id="280" r:id="Rfcf4a7b95afd4cbc"/>
    <p:sldId xmlns:r="http://schemas.openxmlformats.org/officeDocument/2006/relationships" id="281" r:id="Ra837c9c79b1a4bdf"/>
    <p:sldId xmlns:r="http://schemas.openxmlformats.org/officeDocument/2006/relationships" id="282" r:id="Rd5c26b4ee100487b"/>
    <p:sldId xmlns:r="http://schemas.openxmlformats.org/officeDocument/2006/relationships" id="283" r:id="R414eb1e300674f92"/>
    <p:sldId xmlns:r="http://schemas.openxmlformats.org/officeDocument/2006/relationships" id="284" r:id="Re79e82b423664409"/>
    <p:sldId xmlns:r="http://schemas.openxmlformats.org/officeDocument/2006/relationships" id="285" r:id="R572a8f04046f4f3f"/>
    <p:sldId xmlns:r="http://schemas.openxmlformats.org/officeDocument/2006/relationships" id="286" r:id="Rba475c5c65f64218"/>
    <p:sldId xmlns:r="http://schemas.openxmlformats.org/officeDocument/2006/relationships" id="287" r:id="R55e2e56df78640c1"/>
    <p:sldId xmlns:r="http://schemas.openxmlformats.org/officeDocument/2006/relationships" id="288" r:id="Ree74a81606164be9"/>
    <p:sldId xmlns:r="http://schemas.openxmlformats.org/officeDocument/2006/relationships" id="289" r:id="R9136aa38ae8f4a15"/>
    <p:sldId xmlns:r="http://schemas.openxmlformats.org/officeDocument/2006/relationships" id="290" r:id="R2dbc968edf874a99"/>
    <p:sldId xmlns:r="http://schemas.openxmlformats.org/officeDocument/2006/relationships" id="291" r:id="R8cb880ae6baf4923"/>
    <p:sldId xmlns:r="http://schemas.openxmlformats.org/officeDocument/2006/relationships" id="292" r:id="R64dc37d393154acd"/>
    <p:sldId xmlns:r="http://schemas.openxmlformats.org/officeDocument/2006/relationships" id="293" r:id="Ree1d540f93074ff1"/>
    <p:sldId xmlns:r="http://schemas.openxmlformats.org/officeDocument/2006/relationships" id="294" r:id="R2d14780beb81421d"/>
    <p:sldId xmlns:r="http://schemas.openxmlformats.org/officeDocument/2006/relationships" id="295" r:id="Rd8a48873d57e4241"/>
    <p:sldId xmlns:r="http://schemas.openxmlformats.org/officeDocument/2006/relationships" id="296" r:id="Raf64c14e53ed4f1c"/>
    <p:sldId xmlns:r="http://schemas.openxmlformats.org/officeDocument/2006/relationships" id="297" r:id="Rcfdd40cfc1644825"/>
    <p:sldId xmlns:r="http://schemas.openxmlformats.org/officeDocument/2006/relationships" id="298" r:id="R65875a45e7dd4fa7"/>
    <p:sldId xmlns:r="http://schemas.openxmlformats.org/officeDocument/2006/relationships" id="299" r:id="Re98dcef29c8142dc"/>
    <p:sldId xmlns:r="http://schemas.openxmlformats.org/officeDocument/2006/relationships" id="300" r:id="Rddfff6e3cc2f4d0e"/>
    <p:sldId xmlns:r="http://schemas.openxmlformats.org/officeDocument/2006/relationships" id="301" r:id="R50a5453cc8ba4e83"/>
    <p:sldId xmlns:r="http://schemas.openxmlformats.org/officeDocument/2006/relationships" id="302" r:id="Re0ade250cf8f4a1a"/>
    <p:sldId xmlns:r="http://schemas.openxmlformats.org/officeDocument/2006/relationships" id="303" r:id="R74061d69ebe24bb6"/>
    <p:sldId xmlns:r="http://schemas.openxmlformats.org/officeDocument/2006/relationships" id="304" r:id="R4d81ffa7ed904022"/>
    <p:sldId xmlns:r="http://schemas.openxmlformats.org/officeDocument/2006/relationships" id="305" r:id="R88857ea7e7834f33"/>
    <p:sldId xmlns:r="http://schemas.openxmlformats.org/officeDocument/2006/relationships" id="306" r:id="R917c3339a89a4fd0"/>
    <p:sldId xmlns:r="http://schemas.openxmlformats.org/officeDocument/2006/relationships" id="307" r:id="Rdc84644fab5d4a41"/>
    <p:sldId xmlns:r="http://schemas.openxmlformats.org/officeDocument/2006/relationships" id="308" r:id="Rea361e750f1947a6"/>
    <p:sldId xmlns:r="http://schemas.openxmlformats.org/officeDocument/2006/relationships" id="309" r:id="R5655fcfc6c0d4c40"/>
    <p:sldId xmlns:r="http://schemas.openxmlformats.org/officeDocument/2006/relationships" id="310" r:id="R2a2c130ff8164286"/>
    <p:sldId xmlns:r="http://schemas.openxmlformats.org/officeDocument/2006/relationships" id="311" r:id="R0dda639f71fc4f58"/>
    <p:sldId xmlns:r="http://schemas.openxmlformats.org/officeDocument/2006/relationships" id="312" r:id="Re5dd88f0f1934901"/>
    <p:sldId xmlns:r="http://schemas.openxmlformats.org/officeDocument/2006/relationships" id="313" r:id="R62c98b5cc540494c"/>
    <p:sldId xmlns:r="http://schemas.openxmlformats.org/officeDocument/2006/relationships" id="314" r:id="R5d0b2d78a76446ad"/>
    <p:sldId xmlns:r="http://schemas.openxmlformats.org/officeDocument/2006/relationships" id="315" r:id="R4852d78002464fde"/>
    <p:sldId xmlns:r="http://schemas.openxmlformats.org/officeDocument/2006/relationships" id="316" r:id="R82bc20bfc055435d"/>
    <p:sldId xmlns:r="http://schemas.openxmlformats.org/officeDocument/2006/relationships" id="317" r:id="Rc884e295b60d40d6"/>
    <p:sldId xmlns:r="http://schemas.openxmlformats.org/officeDocument/2006/relationships" id="318" r:id="R9c40bb5bb1e9457b"/>
    <p:sldId xmlns:r="http://schemas.openxmlformats.org/officeDocument/2006/relationships" id="319" r:id="R11c7815a2d63400b"/>
    <p:sldId xmlns:r="http://schemas.openxmlformats.org/officeDocument/2006/relationships" id="320" r:id="R7fce48221d3248c8"/>
    <p:sldId xmlns:r="http://schemas.openxmlformats.org/officeDocument/2006/relationships" id="321" r:id="Rc31fbae44ee84cdf"/>
    <p:sldId xmlns:r="http://schemas.openxmlformats.org/officeDocument/2006/relationships" id="322" r:id="Rb079ab9f3d554374"/>
    <p:sldId xmlns:r="http://schemas.openxmlformats.org/officeDocument/2006/relationships" id="323" r:id="Rc9dcd38f17a04d16"/>
    <p:sldId xmlns:r="http://schemas.openxmlformats.org/officeDocument/2006/relationships" id="324" r:id="R68ba770ae5044c88"/>
    <p:sldId xmlns:r="http://schemas.openxmlformats.org/officeDocument/2006/relationships" id="325" r:id="Rd7b74bd86067456c"/>
    <p:sldId xmlns:r="http://schemas.openxmlformats.org/officeDocument/2006/relationships" id="326" r:id="R7d46a32b17c74591"/>
    <p:sldId xmlns:r="http://schemas.openxmlformats.org/officeDocument/2006/relationships" id="327" r:id="R1015536344704065"/>
    <p:sldId xmlns:r="http://schemas.openxmlformats.org/officeDocument/2006/relationships" id="328" r:id="Ra8e82ad7d786463a"/>
    <p:sldId xmlns:r="http://schemas.openxmlformats.org/officeDocument/2006/relationships" id="329" r:id="R48c9d668fb5643a9"/>
    <p:sldId xmlns:r="http://schemas.openxmlformats.org/officeDocument/2006/relationships" id="330" r:id="Rf3cf1c870f174fbd"/>
    <p:sldId xmlns:r="http://schemas.openxmlformats.org/officeDocument/2006/relationships" id="331" r:id="R08864e15ffc2434f"/>
    <p:sldId xmlns:r="http://schemas.openxmlformats.org/officeDocument/2006/relationships" id="332" r:id="R72d5405439a344a0"/>
    <p:sldId xmlns:r="http://schemas.openxmlformats.org/officeDocument/2006/relationships" id="333" r:id="Rf4f0efe38cf345dd"/>
    <p:sldId xmlns:r="http://schemas.openxmlformats.org/officeDocument/2006/relationships" id="334" r:id="Re62b36d60e004d5c"/>
    <p:sldId xmlns:r="http://schemas.openxmlformats.org/officeDocument/2006/relationships" id="335" r:id="Rb471c31ce16141da"/>
    <p:sldId xmlns:r="http://schemas.openxmlformats.org/officeDocument/2006/relationships" id="336" r:id="R7faa108b2adf493e"/>
    <p:sldId xmlns:r="http://schemas.openxmlformats.org/officeDocument/2006/relationships" id="337" r:id="Ref37a1890f65438b"/>
    <p:sldId xmlns:r="http://schemas.openxmlformats.org/officeDocument/2006/relationships" id="338" r:id="Rc42337b77f9f4a5f"/>
    <p:sldId xmlns:r="http://schemas.openxmlformats.org/officeDocument/2006/relationships" id="339" r:id="Rc6d902c621714a09"/>
    <p:sldId xmlns:r="http://schemas.openxmlformats.org/officeDocument/2006/relationships" id="340" r:id="R97b157ca06694bd9"/>
    <p:sldId xmlns:r="http://schemas.openxmlformats.org/officeDocument/2006/relationships" id="341" r:id="R73fd369aca4e4fdf"/>
    <p:sldId xmlns:r="http://schemas.openxmlformats.org/officeDocument/2006/relationships" id="342" r:id="R239140e5d5734e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0302c5b38894aec" /><Relationship Type="http://schemas.openxmlformats.org/officeDocument/2006/relationships/slideMaster" Target="/ppt/slideMasters/slideMaster1.xml" Id="R435f770de5c841d5" /><Relationship Type="http://schemas.openxmlformats.org/officeDocument/2006/relationships/notesMaster" Target="/ppt/notesMasters/notesMaster1.xml" Id="R8db5a7edd1044fe7" /><Relationship Type="http://schemas.openxmlformats.org/officeDocument/2006/relationships/presProps" Target="/ppt/presProps.xml" Id="R04bd46efa1a349f4" /><Relationship Type="http://schemas.openxmlformats.org/officeDocument/2006/relationships/viewProps" Target="/ppt/viewProps.xml" Id="Rcd4961c27a1a4088" /><Relationship Type="http://schemas.openxmlformats.org/officeDocument/2006/relationships/tableStyles" Target="/ppt/tableStyles.xml" Id="R63fa4e26b6a74731" /><Relationship Type="http://schemas.openxmlformats.org/officeDocument/2006/relationships/slide" Target="/ppt/slides/slide1.xml" Id="R539c3ae7ee66407f" /><Relationship Type="http://schemas.openxmlformats.org/officeDocument/2006/relationships/slide" Target="/ppt/slides/slide2.xml" Id="R63dd482d4277499e" /><Relationship Type="http://schemas.openxmlformats.org/officeDocument/2006/relationships/slide" Target="/ppt/slides/slide3.xml" Id="R88343b098e734718" /><Relationship Type="http://schemas.openxmlformats.org/officeDocument/2006/relationships/slide" Target="/ppt/slides/slide4.xml" Id="R858617c9bd304393" /><Relationship Type="http://schemas.openxmlformats.org/officeDocument/2006/relationships/slide" Target="/ppt/slides/slide5.xml" Id="R7b235f03d6254fc4" /><Relationship Type="http://schemas.openxmlformats.org/officeDocument/2006/relationships/slide" Target="/ppt/slides/slide6.xml" Id="R76609f098d0a4dd0" /><Relationship Type="http://schemas.openxmlformats.org/officeDocument/2006/relationships/slide" Target="/ppt/slides/slide7.xml" Id="R3da79af14e9c41ec" /><Relationship Type="http://schemas.openxmlformats.org/officeDocument/2006/relationships/slide" Target="/ppt/slides/slide8.xml" Id="Ra358e783bd584e64" /><Relationship Type="http://schemas.openxmlformats.org/officeDocument/2006/relationships/slide" Target="/ppt/slides/slide9.xml" Id="Rd073e1f1e8dc4afa" /><Relationship Type="http://schemas.openxmlformats.org/officeDocument/2006/relationships/slide" Target="/ppt/slides/slide10.xml" Id="R1a095483a12b4a2f" /><Relationship Type="http://schemas.openxmlformats.org/officeDocument/2006/relationships/slide" Target="/ppt/slides/slide11.xml" Id="R3a6d281cf561435b" /><Relationship Type="http://schemas.openxmlformats.org/officeDocument/2006/relationships/slide" Target="/ppt/slides/slide12.xml" Id="R45217dd948404fd7" /><Relationship Type="http://schemas.openxmlformats.org/officeDocument/2006/relationships/slide" Target="/ppt/slides/slide13.xml" Id="Rf973a94a7d914fe4" /><Relationship Type="http://schemas.openxmlformats.org/officeDocument/2006/relationships/slide" Target="/ppt/slides/slide14.xml" Id="Rc532571a2a094a0d" /><Relationship Type="http://schemas.openxmlformats.org/officeDocument/2006/relationships/slide" Target="/ppt/slides/slide15.xml" Id="Rbfad45cb7b2c4c9f" /><Relationship Type="http://schemas.openxmlformats.org/officeDocument/2006/relationships/slide" Target="/ppt/slides/slide16.xml" Id="R6eaba0997c5c48d2" /><Relationship Type="http://schemas.openxmlformats.org/officeDocument/2006/relationships/slide" Target="/ppt/slides/slide17.xml" Id="Re95cd30f78b949b4" /><Relationship Type="http://schemas.openxmlformats.org/officeDocument/2006/relationships/slide" Target="/ppt/slides/slide18.xml" Id="Rfb3d88f6b5484935" /><Relationship Type="http://schemas.openxmlformats.org/officeDocument/2006/relationships/slide" Target="/ppt/slides/slide19.xml" Id="R146b9f6ca0164126" /><Relationship Type="http://schemas.openxmlformats.org/officeDocument/2006/relationships/slide" Target="/ppt/slides/slide20.xml" Id="R7da01eddf446426f" /><Relationship Type="http://schemas.openxmlformats.org/officeDocument/2006/relationships/slide" Target="/ppt/slides/slide21.xml" Id="R2cd9935e83564e00" /><Relationship Type="http://schemas.openxmlformats.org/officeDocument/2006/relationships/slide" Target="/ppt/slides/slide22.xml" Id="Rf17b3ea66a78404e" /><Relationship Type="http://schemas.openxmlformats.org/officeDocument/2006/relationships/slide" Target="/ppt/slides/slide23.xml" Id="Raa5a255648fc4143" /><Relationship Type="http://schemas.openxmlformats.org/officeDocument/2006/relationships/slide" Target="/ppt/slides/slide24.xml" Id="R18cf1d6279664ddb" /><Relationship Type="http://schemas.openxmlformats.org/officeDocument/2006/relationships/slide" Target="/ppt/slides/slide25.xml" Id="Rfcf4a7b95afd4cbc" /><Relationship Type="http://schemas.openxmlformats.org/officeDocument/2006/relationships/slide" Target="/ppt/slides/slide26.xml" Id="Ra837c9c79b1a4bdf" /><Relationship Type="http://schemas.openxmlformats.org/officeDocument/2006/relationships/slide" Target="/ppt/slides/slide27.xml" Id="Rd5c26b4ee100487b" /><Relationship Type="http://schemas.openxmlformats.org/officeDocument/2006/relationships/slide" Target="/ppt/slides/slide28.xml" Id="R414eb1e300674f92" /><Relationship Type="http://schemas.openxmlformats.org/officeDocument/2006/relationships/slide" Target="/ppt/slides/slide29.xml" Id="Re79e82b423664409" /><Relationship Type="http://schemas.openxmlformats.org/officeDocument/2006/relationships/slide" Target="/ppt/slides/slide30.xml" Id="R572a8f04046f4f3f" /><Relationship Type="http://schemas.openxmlformats.org/officeDocument/2006/relationships/slide" Target="/ppt/slides/slide31.xml" Id="Rba475c5c65f64218" /><Relationship Type="http://schemas.openxmlformats.org/officeDocument/2006/relationships/slide" Target="/ppt/slides/slide32.xml" Id="R55e2e56df78640c1" /><Relationship Type="http://schemas.openxmlformats.org/officeDocument/2006/relationships/slide" Target="/ppt/slides/slide33.xml" Id="Ree74a81606164be9" /><Relationship Type="http://schemas.openxmlformats.org/officeDocument/2006/relationships/slide" Target="/ppt/slides/slide34.xml" Id="R9136aa38ae8f4a15" /><Relationship Type="http://schemas.openxmlformats.org/officeDocument/2006/relationships/slide" Target="/ppt/slides/slide35.xml" Id="R2dbc968edf874a99" /><Relationship Type="http://schemas.openxmlformats.org/officeDocument/2006/relationships/slide" Target="/ppt/slides/slide36.xml" Id="R8cb880ae6baf4923" /><Relationship Type="http://schemas.openxmlformats.org/officeDocument/2006/relationships/slide" Target="/ppt/slides/slide37.xml" Id="R64dc37d393154acd" /><Relationship Type="http://schemas.openxmlformats.org/officeDocument/2006/relationships/slide" Target="/ppt/slides/slide38.xml" Id="Ree1d540f93074ff1" /><Relationship Type="http://schemas.openxmlformats.org/officeDocument/2006/relationships/slide" Target="/ppt/slides/slide39.xml" Id="R2d14780beb81421d" /><Relationship Type="http://schemas.openxmlformats.org/officeDocument/2006/relationships/slide" Target="/ppt/slides/slide40.xml" Id="Rd8a48873d57e4241" /><Relationship Type="http://schemas.openxmlformats.org/officeDocument/2006/relationships/slide" Target="/ppt/slides/slide41.xml" Id="Raf64c14e53ed4f1c" /><Relationship Type="http://schemas.openxmlformats.org/officeDocument/2006/relationships/slide" Target="/ppt/slides/slide42.xml" Id="Rcfdd40cfc1644825" /><Relationship Type="http://schemas.openxmlformats.org/officeDocument/2006/relationships/slide" Target="/ppt/slides/slide43.xml" Id="R65875a45e7dd4fa7" /><Relationship Type="http://schemas.openxmlformats.org/officeDocument/2006/relationships/slide" Target="/ppt/slides/slide44.xml" Id="Re98dcef29c8142dc" /><Relationship Type="http://schemas.openxmlformats.org/officeDocument/2006/relationships/slide" Target="/ppt/slides/slide45.xml" Id="Rddfff6e3cc2f4d0e" /><Relationship Type="http://schemas.openxmlformats.org/officeDocument/2006/relationships/slide" Target="/ppt/slides/slide46.xml" Id="R50a5453cc8ba4e83" /><Relationship Type="http://schemas.openxmlformats.org/officeDocument/2006/relationships/slide" Target="/ppt/slides/slide47.xml" Id="Re0ade250cf8f4a1a" /><Relationship Type="http://schemas.openxmlformats.org/officeDocument/2006/relationships/slide" Target="/ppt/slides/slide48.xml" Id="R74061d69ebe24bb6" /><Relationship Type="http://schemas.openxmlformats.org/officeDocument/2006/relationships/slide" Target="/ppt/slides/slide49.xml" Id="R4d81ffa7ed904022" /><Relationship Type="http://schemas.openxmlformats.org/officeDocument/2006/relationships/slide" Target="/ppt/slides/slide50.xml" Id="R88857ea7e7834f33" /><Relationship Type="http://schemas.openxmlformats.org/officeDocument/2006/relationships/slide" Target="/ppt/slides/slide51.xml" Id="R917c3339a89a4fd0" /><Relationship Type="http://schemas.openxmlformats.org/officeDocument/2006/relationships/slide" Target="/ppt/slides/slide52.xml" Id="Rdc84644fab5d4a41" /><Relationship Type="http://schemas.openxmlformats.org/officeDocument/2006/relationships/slide" Target="/ppt/slides/slide53.xml" Id="Rea361e750f1947a6" /><Relationship Type="http://schemas.openxmlformats.org/officeDocument/2006/relationships/slide" Target="/ppt/slides/slide54.xml" Id="R5655fcfc6c0d4c40" /><Relationship Type="http://schemas.openxmlformats.org/officeDocument/2006/relationships/slide" Target="/ppt/slides/slide55.xml" Id="R2a2c130ff8164286" /><Relationship Type="http://schemas.openxmlformats.org/officeDocument/2006/relationships/slide" Target="/ppt/slides/slide56.xml" Id="R0dda639f71fc4f58" /><Relationship Type="http://schemas.openxmlformats.org/officeDocument/2006/relationships/slide" Target="/ppt/slides/slide57.xml" Id="Re5dd88f0f1934901" /><Relationship Type="http://schemas.openxmlformats.org/officeDocument/2006/relationships/slide" Target="/ppt/slides/slide58.xml" Id="R62c98b5cc540494c" /><Relationship Type="http://schemas.openxmlformats.org/officeDocument/2006/relationships/slide" Target="/ppt/slides/slide59.xml" Id="R5d0b2d78a76446ad" /><Relationship Type="http://schemas.openxmlformats.org/officeDocument/2006/relationships/slide" Target="/ppt/slides/slide60.xml" Id="R4852d78002464fde" /><Relationship Type="http://schemas.openxmlformats.org/officeDocument/2006/relationships/slide" Target="/ppt/slides/slide61.xml" Id="R82bc20bfc055435d" /><Relationship Type="http://schemas.openxmlformats.org/officeDocument/2006/relationships/slide" Target="/ppt/slides/slide62.xml" Id="Rc884e295b60d40d6" /><Relationship Type="http://schemas.openxmlformats.org/officeDocument/2006/relationships/slide" Target="/ppt/slides/slide63.xml" Id="R9c40bb5bb1e9457b" /><Relationship Type="http://schemas.openxmlformats.org/officeDocument/2006/relationships/slide" Target="/ppt/slides/slide64.xml" Id="R11c7815a2d63400b" /><Relationship Type="http://schemas.openxmlformats.org/officeDocument/2006/relationships/slide" Target="/ppt/slides/slide65.xml" Id="R7fce48221d3248c8" /><Relationship Type="http://schemas.openxmlformats.org/officeDocument/2006/relationships/slide" Target="/ppt/slides/slide66.xml" Id="Rc31fbae44ee84cdf" /><Relationship Type="http://schemas.openxmlformats.org/officeDocument/2006/relationships/slide" Target="/ppt/slides/slide67.xml" Id="Rb079ab9f3d554374" /><Relationship Type="http://schemas.openxmlformats.org/officeDocument/2006/relationships/slide" Target="/ppt/slides/slide68.xml" Id="Rc9dcd38f17a04d16" /><Relationship Type="http://schemas.openxmlformats.org/officeDocument/2006/relationships/slide" Target="/ppt/slides/slide69.xml" Id="R68ba770ae5044c88" /><Relationship Type="http://schemas.openxmlformats.org/officeDocument/2006/relationships/slide" Target="/ppt/slides/slide70.xml" Id="Rd7b74bd86067456c" /><Relationship Type="http://schemas.openxmlformats.org/officeDocument/2006/relationships/slide" Target="/ppt/slides/slide71.xml" Id="R7d46a32b17c74591" /><Relationship Type="http://schemas.openxmlformats.org/officeDocument/2006/relationships/slide" Target="/ppt/slides/slide72.xml" Id="R1015536344704065" /><Relationship Type="http://schemas.openxmlformats.org/officeDocument/2006/relationships/slide" Target="/ppt/slides/slide73.xml" Id="Ra8e82ad7d786463a" /><Relationship Type="http://schemas.openxmlformats.org/officeDocument/2006/relationships/slide" Target="/ppt/slides/slide74.xml" Id="R48c9d668fb5643a9" /><Relationship Type="http://schemas.openxmlformats.org/officeDocument/2006/relationships/slide" Target="/ppt/slides/slide75.xml" Id="Rf3cf1c870f174fbd" /><Relationship Type="http://schemas.openxmlformats.org/officeDocument/2006/relationships/slide" Target="/ppt/slides/slide76.xml" Id="R08864e15ffc2434f" /><Relationship Type="http://schemas.openxmlformats.org/officeDocument/2006/relationships/slide" Target="/ppt/slides/slide77.xml" Id="R72d5405439a344a0" /><Relationship Type="http://schemas.openxmlformats.org/officeDocument/2006/relationships/slide" Target="/ppt/slides/slide78.xml" Id="Rf4f0efe38cf345dd" /><Relationship Type="http://schemas.openxmlformats.org/officeDocument/2006/relationships/slide" Target="/ppt/slides/slide79.xml" Id="Re62b36d60e004d5c" /><Relationship Type="http://schemas.openxmlformats.org/officeDocument/2006/relationships/slide" Target="/ppt/slides/slide80.xml" Id="Rb471c31ce16141da" /><Relationship Type="http://schemas.openxmlformats.org/officeDocument/2006/relationships/slide" Target="/ppt/slides/slide81.xml" Id="R7faa108b2adf493e" /><Relationship Type="http://schemas.openxmlformats.org/officeDocument/2006/relationships/slide" Target="/ppt/slides/slide82.xml" Id="Ref37a1890f65438b" /><Relationship Type="http://schemas.openxmlformats.org/officeDocument/2006/relationships/slide" Target="/ppt/slides/slide83.xml" Id="Rc42337b77f9f4a5f" /><Relationship Type="http://schemas.openxmlformats.org/officeDocument/2006/relationships/slide" Target="/ppt/slides/slide84.xml" Id="Rc6d902c621714a09" /><Relationship Type="http://schemas.openxmlformats.org/officeDocument/2006/relationships/slide" Target="/ppt/slides/slide85.xml" Id="R97b157ca06694bd9" /><Relationship Type="http://schemas.openxmlformats.org/officeDocument/2006/relationships/slide" Target="/ppt/slides/slide86.xml" Id="R73fd369aca4e4fdf" /><Relationship Type="http://schemas.openxmlformats.org/officeDocument/2006/relationships/slide" Target="/ppt/slides/slide87.xml" Id="R239140e5d5734e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8056236d204d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6ec0210a9149a7" /><Relationship Type="http://schemas.openxmlformats.org/officeDocument/2006/relationships/notesMaster" Target="/ppt/notesMasters/notesMaster1.xml" Id="Re95a6aef46024b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9f4469b4044085" /><Relationship Type="http://schemas.openxmlformats.org/officeDocument/2006/relationships/notesMaster" Target="/ppt/notesMasters/notesMaster1.xml" Id="R37a29034eef049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ca9251d3ec4aec" /><Relationship Type="http://schemas.openxmlformats.org/officeDocument/2006/relationships/notesMaster" Target="/ppt/notesMasters/notesMaster1.xml" Id="Rb360fefd916c41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bb526317144fec" /><Relationship Type="http://schemas.openxmlformats.org/officeDocument/2006/relationships/notesMaster" Target="/ppt/notesMasters/notesMaster1.xml" Id="Racb2f0f6c5cd40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164680ff4144e8" /><Relationship Type="http://schemas.openxmlformats.org/officeDocument/2006/relationships/notesMaster" Target="/ppt/notesMasters/notesMaster1.xml" Id="R394995651bd346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992bbf10384e8d" /><Relationship Type="http://schemas.openxmlformats.org/officeDocument/2006/relationships/notesMaster" Target="/ppt/notesMasters/notesMaster1.xml" Id="R36bcb22e1edc4f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db093f25f34dfb" /><Relationship Type="http://schemas.openxmlformats.org/officeDocument/2006/relationships/notesMaster" Target="/ppt/notesMasters/notesMaster1.xml" Id="Ref0e89d985c146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9778ed68c54c09" /><Relationship Type="http://schemas.openxmlformats.org/officeDocument/2006/relationships/notesMaster" Target="/ppt/notesMasters/notesMaster1.xml" Id="Rdb469e9db30f42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82020e6c534fd9" /><Relationship Type="http://schemas.openxmlformats.org/officeDocument/2006/relationships/notesMaster" Target="/ppt/notesMasters/notesMaster1.xml" Id="Rb237a645744140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964dcff2b7420f" /><Relationship Type="http://schemas.openxmlformats.org/officeDocument/2006/relationships/notesMaster" Target="/ppt/notesMasters/notesMaster1.xml" Id="R2fac3de970b744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b77eebbaa94a39" /><Relationship Type="http://schemas.openxmlformats.org/officeDocument/2006/relationships/notesMaster" Target="/ppt/notesMasters/notesMaster1.xml" Id="R4297e0a296a343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d9fabecc344681" /><Relationship Type="http://schemas.openxmlformats.org/officeDocument/2006/relationships/notesMaster" Target="/ppt/notesMasters/notesMaster1.xml" Id="R08f5be976a3d4e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199bc99bfe049e4" /><Relationship Type="http://schemas.openxmlformats.org/officeDocument/2006/relationships/notesMaster" Target="/ppt/notesMasters/notesMaster1.xml" Id="Radad942bb16248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f3474c369446bf" /><Relationship Type="http://schemas.openxmlformats.org/officeDocument/2006/relationships/notesMaster" Target="/ppt/notesMasters/notesMaster1.xml" Id="R6f851d69feb444e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aeeed4f416a4e61" /><Relationship Type="http://schemas.openxmlformats.org/officeDocument/2006/relationships/notesMaster" Target="/ppt/notesMasters/notesMaster1.xml" Id="R4d5aa07f74424c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5c9fd0b9dc4762" /><Relationship Type="http://schemas.openxmlformats.org/officeDocument/2006/relationships/notesMaster" Target="/ppt/notesMasters/notesMaster1.xml" Id="R089c25f1bffb42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c7898971a847ae" /><Relationship Type="http://schemas.openxmlformats.org/officeDocument/2006/relationships/notesMaster" Target="/ppt/notesMasters/notesMaster1.xml" Id="R8f052aa0125243d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f4da85e779d4bd3" /><Relationship Type="http://schemas.openxmlformats.org/officeDocument/2006/relationships/notesMaster" Target="/ppt/notesMasters/notesMaster1.xml" Id="Rd7cca16e528c46f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4558d79d85a4a2e" /><Relationship Type="http://schemas.openxmlformats.org/officeDocument/2006/relationships/notesMaster" Target="/ppt/notesMasters/notesMaster1.xml" Id="Rf7d5e87e5625451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251ddabbb874f3b" /><Relationship Type="http://schemas.openxmlformats.org/officeDocument/2006/relationships/notesMaster" Target="/ppt/notesMasters/notesMaster1.xml" Id="R4be8c9b5e759470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2e01062bece4202" /><Relationship Type="http://schemas.openxmlformats.org/officeDocument/2006/relationships/notesMaster" Target="/ppt/notesMasters/notesMaster1.xml" Id="R798b6219f31640f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1c20fb1b2394542" /><Relationship Type="http://schemas.openxmlformats.org/officeDocument/2006/relationships/notesMaster" Target="/ppt/notesMasters/notesMaster1.xml" Id="R59d258a61ea74bd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9b1d4775d2a4e9f" /><Relationship Type="http://schemas.openxmlformats.org/officeDocument/2006/relationships/notesMaster" Target="/ppt/notesMasters/notesMaster1.xml" Id="Rc154232112944fd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b6e82dbc5a3404b" /><Relationship Type="http://schemas.openxmlformats.org/officeDocument/2006/relationships/notesMaster" Target="/ppt/notesMasters/notesMaster1.xml" Id="R32aa377358cb480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23ae54f4bae44a1" /><Relationship Type="http://schemas.openxmlformats.org/officeDocument/2006/relationships/notesMaster" Target="/ppt/notesMasters/notesMaster1.xml" Id="Re09878017a3f427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b63f2a4018a4461" /><Relationship Type="http://schemas.openxmlformats.org/officeDocument/2006/relationships/notesMaster" Target="/ppt/notesMasters/notesMaster1.xml" Id="R15b8c2090d634a2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e918b07af0843e3" /><Relationship Type="http://schemas.openxmlformats.org/officeDocument/2006/relationships/notesMaster" Target="/ppt/notesMasters/notesMaster1.xml" Id="R8775ecba2451488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e61c2c055584c4b" /><Relationship Type="http://schemas.openxmlformats.org/officeDocument/2006/relationships/notesMaster" Target="/ppt/notesMasters/notesMaster1.xml" Id="R33d5340a7623481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4ce8f1e199546b9" /><Relationship Type="http://schemas.openxmlformats.org/officeDocument/2006/relationships/notesMaster" Target="/ppt/notesMasters/notesMaster1.xml" Id="Rde289010364f4aa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1b810e6b7484e7c" /><Relationship Type="http://schemas.openxmlformats.org/officeDocument/2006/relationships/notesMaster" Target="/ppt/notesMasters/notesMaster1.xml" Id="Rc0026c514b674f9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58ee5de1b09463b" /><Relationship Type="http://schemas.openxmlformats.org/officeDocument/2006/relationships/notesMaster" Target="/ppt/notesMasters/notesMaster1.xml" Id="R52da2b354f5645f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0a3b1f479654f1c" /><Relationship Type="http://schemas.openxmlformats.org/officeDocument/2006/relationships/notesMaster" Target="/ppt/notesMasters/notesMaster1.xml" Id="Rde971712286f427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0fd77769c474bba" /><Relationship Type="http://schemas.openxmlformats.org/officeDocument/2006/relationships/notesMaster" Target="/ppt/notesMasters/notesMaster1.xml" Id="Rc6219dddb88142d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59ef94346c044e7" /><Relationship Type="http://schemas.openxmlformats.org/officeDocument/2006/relationships/notesMaster" Target="/ppt/notesMasters/notesMaster1.xml" Id="Rc1ad32e658114ff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fcbc517998f437f" /><Relationship Type="http://schemas.openxmlformats.org/officeDocument/2006/relationships/notesMaster" Target="/ppt/notesMasters/notesMaster1.xml" Id="R412c68eb77614b0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d42af44b7f14567" /><Relationship Type="http://schemas.openxmlformats.org/officeDocument/2006/relationships/notesMaster" Target="/ppt/notesMasters/notesMaster1.xml" Id="Rc391020d92994dd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3f41d1af82c4f98" /><Relationship Type="http://schemas.openxmlformats.org/officeDocument/2006/relationships/notesMaster" Target="/ppt/notesMasters/notesMaster1.xml" Id="R6df42f6fa12c4e4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f22b2dc54764c3b" /><Relationship Type="http://schemas.openxmlformats.org/officeDocument/2006/relationships/notesMaster" Target="/ppt/notesMasters/notesMaster1.xml" Id="R948c4056015b46b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db9729b8fb64048" /><Relationship Type="http://schemas.openxmlformats.org/officeDocument/2006/relationships/notesMaster" Target="/ppt/notesMasters/notesMaster1.xml" Id="R86e7c82ec2c2489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7daf6b4d841449c" /><Relationship Type="http://schemas.openxmlformats.org/officeDocument/2006/relationships/notesMaster" Target="/ppt/notesMasters/notesMaster1.xml" Id="R9b9ff838da8b4a6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6c26fb80a44415e" /><Relationship Type="http://schemas.openxmlformats.org/officeDocument/2006/relationships/notesMaster" Target="/ppt/notesMasters/notesMaster1.xml" Id="R6b3795f8207b487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c6ba109a7954f3a" /><Relationship Type="http://schemas.openxmlformats.org/officeDocument/2006/relationships/notesMaster" Target="/ppt/notesMasters/notesMaster1.xml" Id="Rd9f519027ed74dc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ad593c7c33c4d16" /><Relationship Type="http://schemas.openxmlformats.org/officeDocument/2006/relationships/notesMaster" Target="/ppt/notesMasters/notesMaster1.xml" Id="Rf2b164c61dca46e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c9aa70e16874308" /><Relationship Type="http://schemas.openxmlformats.org/officeDocument/2006/relationships/notesMaster" Target="/ppt/notesMasters/notesMaster1.xml" Id="R252e0fc31fdb4c5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4c7008907214bc6" /><Relationship Type="http://schemas.openxmlformats.org/officeDocument/2006/relationships/notesMaster" Target="/ppt/notesMasters/notesMaster1.xml" Id="R22e1da1e42d94b8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fce96f9c4284c15" /><Relationship Type="http://schemas.openxmlformats.org/officeDocument/2006/relationships/notesMaster" Target="/ppt/notesMasters/notesMaster1.xml" Id="Rba497c28287549f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0ac77e7508c4eba" /><Relationship Type="http://schemas.openxmlformats.org/officeDocument/2006/relationships/notesMaster" Target="/ppt/notesMasters/notesMaster1.xml" Id="Rd4791e0e3da547b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cd0c4d2918f4fb3" /><Relationship Type="http://schemas.openxmlformats.org/officeDocument/2006/relationships/notesMaster" Target="/ppt/notesMasters/notesMaster1.xml" Id="Rcac5a42fe2c14a0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dfe598d73de4f24" /><Relationship Type="http://schemas.openxmlformats.org/officeDocument/2006/relationships/notesMaster" Target="/ppt/notesMasters/notesMaster1.xml" Id="Ra67b9308a7f7465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3046a3e519e4cba" /><Relationship Type="http://schemas.openxmlformats.org/officeDocument/2006/relationships/notesMaster" Target="/ppt/notesMasters/notesMaster1.xml" Id="Rbd0bac1179d04db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ffba0ae2247470c" /><Relationship Type="http://schemas.openxmlformats.org/officeDocument/2006/relationships/notesMaster" Target="/ppt/notesMasters/notesMaster1.xml" Id="R42cf3533346c48b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f51dcb55af34011" /><Relationship Type="http://schemas.openxmlformats.org/officeDocument/2006/relationships/notesMaster" Target="/ppt/notesMasters/notesMaster1.xml" Id="R963a0ebae94643d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f770535686d4b02" /><Relationship Type="http://schemas.openxmlformats.org/officeDocument/2006/relationships/notesMaster" Target="/ppt/notesMasters/notesMaster1.xml" Id="R51c04eb51b38456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6c893a24bfb49ef" /><Relationship Type="http://schemas.openxmlformats.org/officeDocument/2006/relationships/notesMaster" Target="/ppt/notesMasters/notesMaster1.xml" Id="R30d8b410dda645b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aaefedaa8a348b1" /><Relationship Type="http://schemas.openxmlformats.org/officeDocument/2006/relationships/notesMaster" Target="/ppt/notesMasters/notesMaster1.xml" Id="R60d927943fab4e3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acbd6e374e046b5" /><Relationship Type="http://schemas.openxmlformats.org/officeDocument/2006/relationships/notesMaster" Target="/ppt/notesMasters/notesMaster1.xml" Id="R2301ff7442c2479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9f1235d9b2f4c36" /><Relationship Type="http://schemas.openxmlformats.org/officeDocument/2006/relationships/notesMaster" Target="/ppt/notesMasters/notesMaster1.xml" Id="R70cc73237a044ef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5b682b6fde04d60" /><Relationship Type="http://schemas.openxmlformats.org/officeDocument/2006/relationships/notesMaster" Target="/ppt/notesMasters/notesMaster1.xml" Id="R2bc63626acb847c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0d29c6510894933" /><Relationship Type="http://schemas.openxmlformats.org/officeDocument/2006/relationships/notesMaster" Target="/ppt/notesMasters/notesMaster1.xml" Id="Rb271c23d84454e4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b192f1c676f496d" /><Relationship Type="http://schemas.openxmlformats.org/officeDocument/2006/relationships/notesMaster" Target="/ppt/notesMasters/notesMaster1.xml" Id="Rb5e00235d451401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17b4ad15c5e4a0b" /><Relationship Type="http://schemas.openxmlformats.org/officeDocument/2006/relationships/notesMaster" Target="/ppt/notesMasters/notesMaster1.xml" Id="Rad637b1659ac4ca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45a2ce5980c45e8" /><Relationship Type="http://schemas.openxmlformats.org/officeDocument/2006/relationships/notesMaster" Target="/ppt/notesMasters/notesMaster1.xml" Id="R6e34a1f5452d4db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b5117fef1f04918" /><Relationship Type="http://schemas.openxmlformats.org/officeDocument/2006/relationships/notesMaster" Target="/ppt/notesMasters/notesMaster1.xml" Id="R93f0cf79dcc44c9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b1abf0bf4524f3e" /><Relationship Type="http://schemas.openxmlformats.org/officeDocument/2006/relationships/notesMaster" Target="/ppt/notesMasters/notesMaster1.xml" Id="R3416ac6369e94ea7"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ac27b82c6494c4a" /><Relationship Type="http://schemas.openxmlformats.org/officeDocument/2006/relationships/notesMaster" Target="/ppt/notesMasters/notesMaster1.xml" Id="Rff5ab660863a44b3"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044d59780af440ee" /><Relationship Type="http://schemas.openxmlformats.org/officeDocument/2006/relationships/notesMaster" Target="/ppt/notesMasters/notesMaster1.xml" Id="Rbb1ca21b80754d6d"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40d2173bb7f64f92" /><Relationship Type="http://schemas.openxmlformats.org/officeDocument/2006/relationships/notesMaster" Target="/ppt/notesMasters/notesMaster1.xml" Id="R143c2eafd501404b"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76f527edbeaf4e62" /><Relationship Type="http://schemas.openxmlformats.org/officeDocument/2006/relationships/notesMaster" Target="/ppt/notesMasters/notesMaster1.xml" Id="R4cc96397d7df4b12"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80631818817439b" /><Relationship Type="http://schemas.openxmlformats.org/officeDocument/2006/relationships/notesMaster" Target="/ppt/notesMasters/notesMaster1.xml" Id="R775de7e20d694315"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3a8e87b8956b4111" /><Relationship Type="http://schemas.openxmlformats.org/officeDocument/2006/relationships/notesMaster" Target="/ppt/notesMasters/notesMaster1.xml" Id="R3f66870d63524597"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f9c6b9eb92248f7" /><Relationship Type="http://schemas.openxmlformats.org/officeDocument/2006/relationships/notesMaster" Target="/ppt/notesMasters/notesMaster1.xml" Id="Ra6d35ba6d5dd4def"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d5ffd211eaed4d7a" /><Relationship Type="http://schemas.openxmlformats.org/officeDocument/2006/relationships/notesMaster" Target="/ppt/notesMasters/notesMaster1.xml" Id="R0fbabc9aacdd4803"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c96a64d96486490a" /><Relationship Type="http://schemas.openxmlformats.org/officeDocument/2006/relationships/notesMaster" Target="/ppt/notesMasters/notesMaster1.xml" Id="Ra112a00785e649f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560f2cb083a74f9f" /><Relationship Type="http://schemas.openxmlformats.org/officeDocument/2006/relationships/notesMaster" Target="/ppt/notesMasters/notesMaster1.xml" Id="Ra2a35adaceb547f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dcb9e457e5d4435a" /><Relationship Type="http://schemas.openxmlformats.org/officeDocument/2006/relationships/notesMaster" Target="/ppt/notesMasters/notesMaster1.xml" Id="Rfe0f3f9821b14b8d"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1491b9a3a61c4f9f" /><Relationship Type="http://schemas.openxmlformats.org/officeDocument/2006/relationships/notesMaster" Target="/ppt/notesMasters/notesMaster1.xml" Id="R7b150c0b48a848b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122d422c1ced4186" /><Relationship Type="http://schemas.openxmlformats.org/officeDocument/2006/relationships/notesMaster" Target="/ppt/notesMasters/notesMaster1.xml" Id="R7a8b5332b70e42f0"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adc50b4e6ec447f3" /><Relationship Type="http://schemas.openxmlformats.org/officeDocument/2006/relationships/notesMaster" Target="/ppt/notesMasters/notesMaster1.xml" Id="Rd386d3de52574f5c"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21fc78c4d5fe44a9" /><Relationship Type="http://schemas.openxmlformats.org/officeDocument/2006/relationships/notesMaster" Target="/ppt/notesMasters/notesMaster1.xml" Id="R6df66468e19b408a"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45fb24b7bd8f4451" /><Relationship Type="http://schemas.openxmlformats.org/officeDocument/2006/relationships/notesMaster" Target="/ppt/notesMasters/notesMaster1.xml" Id="R32d2a39340764088"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fa022b67dd284c41" /><Relationship Type="http://schemas.openxmlformats.org/officeDocument/2006/relationships/notesMaster" Target="/ppt/notesMasters/notesMaster1.xml" Id="R54d2a206494142ca"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0057b1b3619a466a" /><Relationship Type="http://schemas.openxmlformats.org/officeDocument/2006/relationships/notesMaster" Target="/ppt/notesMasters/notesMaster1.xml" Id="R902a839fc3a04f3f"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def45f5b5d1843ac" /><Relationship Type="http://schemas.openxmlformats.org/officeDocument/2006/relationships/notesMaster" Target="/ppt/notesMasters/notesMaster1.xml" Id="R8291d0cfc8134d0f"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9477f0a3b460446a" /><Relationship Type="http://schemas.openxmlformats.org/officeDocument/2006/relationships/notesMaster" Target="/ppt/notesMasters/notesMaster1.xml" Id="R833c5ace3bd04bac"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4d320e151b5d4c04" /><Relationship Type="http://schemas.openxmlformats.org/officeDocument/2006/relationships/notesMaster" Target="/ppt/notesMasters/notesMaster1.xml" Id="Re5af69fd2a134b6c"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a17b6169c4f442d2" /><Relationship Type="http://schemas.openxmlformats.org/officeDocument/2006/relationships/notesMaster" Target="/ppt/notesMasters/notesMaster1.xml" Id="R0792f6e7a5944c7b"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ecd3ca9f8aa44c8b" /><Relationship Type="http://schemas.openxmlformats.org/officeDocument/2006/relationships/notesMaster" Target="/ppt/notesMasters/notesMaster1.xml" Id="R6b03143b6f9a4c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 Classroom Demo]
课堂运行：课堂示例代码/第5章/InheritanceDemo.java
创建父类 Person 和子类 Student，观察子类继承成员并增加自己的成员。
[Sources]
Source concepts: user-provided chapter deck. Demo code: original instructional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 Classroom Demo]
课堂运行：课堂示例代码/第5章/OverrideDemo.java
分别用父类和子类对象调用 showInfo()，观察重写后的动态行为。
[Sources]
Source concepts: user-provided chapter deck. Demo code: original instructional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 Classroom Demo]
课堂运行：课堂示例代码/第5章/SuperDemo.java
通过 super 调用父类构造方法和被重写方法，观察初始化顺序。
[Sources]
Source concepts: user-provided chapter deck. Demo code: original instructional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 Classroom Demo]
课堂运行：课堂示例代码/第5章/PolymorphismDemo.java
把不同子类对象放入父类数组，循环调用同一个 speak() 方法。
[Sources]
Source concepts: user-provided chapter deck. Demo code: original instructional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 Classroom Demo]
课堂运行：课堂示例代码/第5章/AbstractClassDemo.java
定义抽象 Shape 与两个具体子类，比较统一接口下的面积计算。
[Sources]
Source concepts: user-provided chapter deck. Demo code: original instructional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[编程题参考答案 / Reference Solution]</a:t>
            </a:r>
          </a:p>
          <a:p xmlns:a="http://schemas.openxmlformats.org/drawingml/2006/main">
            <a:r>
              <a:t>class PersonAnswer {</a:t>
            </a:r>
          </a:p>
          <a:p xmlns:a="http://schemas.openxmlformats.org/drawingml/2006/main">
            <a:r>
              <a:t>    protected String name;</a:t>
            </a:r>
          </a:p>
          <a:p xmlns:a="http://schemas.openxmlformats.org/drawingml/2006/main">
            <a:r>
              <a:t>    protected int age;</a:t>
            </a:r>
          </a:p>
          <a:p xmlns:a="http://schemas.openxmlformats.org/drawingml/2006/main">
            <a:r>
              <a:t>    PersonAnswer(String name, int age) { this.name = name; this.age = age; }</a:t>
            </a:r>
          </a:p>
          <a:p xmlns:a="http://schemas.openxmlformats.org/drawingml/2006/main">
            <a:r>
              <a:t>}</a:t>
            </a:r>
          </a:p>
          <a:p xmlns:a="http://schemas.openxmlformats.org/drawingml/2006/main">
            <a:r>
              <a:t>class StudentAnswer extends PersonAnswer {</a:t>
            </a:r>
          </a:p>
          <a:p xmlns:a="http://schemas.openxmlformats.org/drawingml/2006/main">
            <a:r>
              <a:t>    private String studentId;</a:t>
            </a:r>
          </a:p>
          <a:p xmlns:a="http://schemas.openxmlformats.org/drawingml/2006/main">
            <a:r>
              <a:t>    StudentAnswer(String name, int age, String studentId) { super(name, age); this.studentId = studentId; }</a:t>
            </a:r>
          </a:p>
          <a:p xmlns:a="http://schemas.openxmlformats.org/drawingml/2006/main">
            <a:r>
              <a:t>    void showInfo() { System.out.println(name + ", " + age + ", " + studentId); }</a:t>
            </a:r>
          </a:p>
          <a:p xmlns:a="http://schemas.openxmlformats.org/drawingml/2006/main">
            <a:r>
              <a:t>}</a:t>
            </a:r>
          </a:p>
          <a:p xmlns:a="http://schemas.openxmlformats.org/drawingml/2006/main">
            <a:r>
              <a:t>public class PersonStudentInheritancePracticeAnswer {</a:t>
            </a:r>
          </a:p>
          <a:p xmlns:a="http://schemas.openxmlformats.org/drawingml/2006/main">
            <a:r>
              <a:t>    public static void main(String[] args) { new StudentAnswer("Li Ming", 19, "S1001").showInfo();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Original instructional exercise and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[编程题参考答案 / Reference Solution]</a:t>
            </a:r>
          </a:p>
          <a:p xmlns:a="http://schemas.openxmlformats.org/drawingml/2006/main">
            <a:r>
              <a:t>class EmployeeAnswer {</a:t>
            </a:r>
          </a:p>
          <a:p xmlns:a="http://schemas.openxmlformats.org/drawingml/2006/main">
            <a:r>
              <a:t>    protected double basePay;</a:t>
            </a:r>
          </a:p>
          <a:p xmlns:a="http://schemas.openxmlformats.org/drawingml/2006/main">
            <a:r>
              <a:t>    EmployeeAnswer(double basePay) { this.basePay = basePay; }</a:t>
            </a:r>
          </a:p>
          <a:p xmlns:a="http://schemas.openxmlformats.org/drawingml/2006/main">
            <a:r>
              <a:t>    double salary() { return basePay; }</a:t>
            </a:r>
          </a:p>
          <a:p xmlns:a="http://schemas.openxmlformats.org/drawingml/2006/main">
            <a:r>
              <a:t>}</a:t>
            </a:r>
          </a:p>
          <a:p xmlns:a="http://schemas.openxmlformats.org/drawingml/2006/main">
            <a:r>
              <a:t>class ManagerAnswer extends EmployeeAnswer {</a:t>
            </a:r>
          </a:p>
          <a:p xmlns:a="http://schemas.openxmlformats.org/drawingml/2006/main">
            <a:r>
              <a:t>    private double bonus;</a:t>
            </a:r>
          </a:p>
          <a:p xmlns:a="http://schemas.openxmlformats.org/drawingml/2006/main">
            <a:r>
              <a:t>    ManagerAnswer(double basePay, double bonus) { super(basePay); this.bonus = bonus; }</a:t>
            </a:r>
          </a:p>
          <a:p xmlns:a="http://schemas.openxmlformats.org/drawingml/2006/main">
            <a:r>
              <a:t>    @Override double salary() { return super.salary() + bonus; }</a:t>
            </a:r>
          </a:p>
          <a:p xmlns:a="http://schemas.openxmlformats.org/drawingml/2006/main">
            <a:r>
              <a:t>}</a:t>
            </a:r>
          </a:p>
          <a:p xmlns:a="http://schemas.openxmlformats.org/drawingml/2006/main">
            <a:r>
              <a:t>public class OverrideSalaryPracticeAnswer {</a:t>
            </a:r>
          </a:p>
          <a:p xmlns:a="http://schemas.openxmlformats.org/drawingml/2006/main">
            <a:r>
              <a:t>    public static void main(String[] args) {</a:t>
            </a:r>
          </a:p>
          <a:p xmlns:a="http://schemas.openxmlformats.org/drawingml/2006/main">
            <a:r>
              <a:t>        System.out.println(new EmployeeAnswer(6000).salary());</a:t>
            </a:r>
          </a:p>
          <a:p xmlns:a="http://schemas.openxmlformats.org/drawingml/2006/main">
            <a:r>
              <a:t>        System.out.println(new ManagerAnswer(6000, 2000).salary());</a:t>
            </a:r>
          </a:p>
          <a:p xmlns:a="http://schemas.openxmlformats.org/drawingml/2006/main">
            <a:r>
              <a:t>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Original instructional exercise and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[编程题参考答案 / Reference Solution]</a:t>
            </a:r>
          </a:p>
          <a:p xmlns:a="http://schemas.openxmlformats.org/drawingml/2006/main">
            <a:r>
              <a:t>class AnimalAnswer { void speak() { System.out.println("Animal sound"); } }</a:t>
            </a:r>
          </a:p>
          <a:p xmlns:a="http://schemas.openxmlformats.org/drawingml/2006/main">
            <a:r>
              <a:t>class DogAnswer extends AnimalAnswer { @Override void speak() { System.out.println("Woof"); } }</a:t>
            </a:r>
          </a:p>
          <a:p xmlns:a="http://schemas.openxmlformats.org/drawingml/2006/main">
            <a:r>
              <a:t>class CatAnswer extends AnimalAnswer { @Override void speak() { System.out.println("Meow"); } }</a:t>
            </a:r>
          </a:p>
          <a:p xmlns:a="http://schemas.openxmlformats.org/drawingml/2006/main">
            <a:r>
              <a:t>public class PolymorphicAnimalPracticeAnswer {</a:t>
            </a:r>
          </a:p>
          <a:p xmlns:a="http://schemas.openxmlformats.org/drawingml/2006/main">
            <a:r>
              <a:t>    public static void main(String[] args) {</a:t>
            </a:r>
          </a:p>
          <a:p xmlns:a="http://schemas.openxmlformats.org/drawingml/2006/main">
            <a:r>
              <a:t>        AnimalAnswer[] animals = { new DogAnswer(), new CatAnswer() };</a:t>
            </a:r>
          </a:p>
          <a:p xmlns:a="http://schemas.openxmlformats.org/drawingml/2006/main">
            <a:r>
              <a:t>        for (AnimalAnswer animal : animals) animal.speak();</a:t>
            </a:r>
          </a:p>
          <a:p xmlns:a="http://schemas.openxmlformats.org/drawingml/2006/main">
            <a:r>
              <a:t>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Original instructional exercise and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[编程题参考答案 / Reference Solution]</a:t>
            </a:r>
          </a:p>
          <a:p xmlns:a="http://schemas.openxmlformats.org/drawingml/2006/main">
            <a:r>
              <a:t>abstract class ShapeAnswer { abstract double area(); }</a:t>
            </a:r>
          </a:p>
          <a:p xmlns:a="http://schemas.openxmlformats.org/drawingml/2006/main">
            <a:r>
              <a:t>class CircleAnswer extends ShapeAnswer {</a:t>
            </a:r>
          </a:p>
          <a:p xmlns:a="http://schemas.openxmlformats.org/drawingml/2006/main">
            <a:r>
              <a:t>    private double radius;</a:t>
            </a:r>
          </a:p>
          <a:p xmlns:a="http://schemas.openxmlformats.org/drawingml/2006/main">
            <a:r>
              <a:t>    CircleAnswer(double radius) { this.radius = radius; }</a:t>
            </a:r>
          </a:p>
          <a:p xmlns:a="http://schemas.openxmlformats.org/drawingml/2006/main">
            <a:r>
              <a:t>    @Override double area() { return Math.PI * radius * radius; }</a:t>
            </a:r>
          </a:p>
          <a:p xmlns:a="http://schemas.openxmlformats.org/drawingml/2006/main">
            <a:r>
              <a:t>}</a:t>
            </a:r>
          </a:p>
          <a:p xmlns:a="http://schemas.openxmlformats.org/drawingml/2006/main">
            <a:r>
              <a:t>class RectangleAnswer extends ShapeAnswer {</a:t>
            </a:r>
          </a:p>
          <a:p xmlns:a="http://schemas.openxmlformats.org/drawingml/2006/main">
            <a:r>
              <a:t>    private double width, height;</a:t>
            </a:r>
          </a:p>
          <a:p xmlns:a="http://schemas.openxmlformats.org/drawingml/2006/main">
            <a:r>
              <a:t>    RectangleAnswer(double width, double height) { this.width = width; this.height = height; }</a:t>
            </a:r>
          </a:p>
          <a:p xmlns:a="http://schemas.openxmlformats.org/drawingml/2006/main">
            <a:r>
              <a:t>    @Override double area() { return width * height; }</a:t>
            </a:r>
          </a:p>
          <a:p xmlns:a="http://schemas.openxmlformats.org/drawingml/2006/main">
            <a:r>
              <a:t>}</a:t>
            </a:r>
          </a:p>
          <a:p xmlns:a="http://schemas.openxmlformats.org/drawingml/2006/main">
            <a:r>
              <a:t>public class AbstractShapePracticeAnswer {</a:t>
            </a:r>
          </a:p>
          <a:p xmlns:a="http://schemas.openxmlformats.org/drawingml/2006/main">
            <a:r>
              <a:t>    public static void main(String[] args) {</a:t>
            </a:r>
          </a:p>
          <a:p xmlns:a="http://schemas.openxmlformats.org/drawingml/2006/main">
            <a:r>
              <a:t>        ShapeAnswer[] shapes = { new CircleAnswer(2), new RectangleAnswer(3, 4) };</a:t>
            </a:r>
          </a:p>
          <a:p xmlns:a="http://schemas.openxmlformats.org/drawingml/2006/main">
            <a:r>
              <a:t>        for (ShapeAnswer shape : shapes) System.out.println(shape.area());</a:t>
            </a:r>
          </a:p>
          <a:p xmlns:a="http://schemas.openxmlformats.org/drawingml/2006/main">
            <a:r>
              <a:t>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Original instructional exercise and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befba5815e4ed3" /></Relationships>
</file>

<file path=ppt/slideLayouts/slideLayout1.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bb62ec908e476f" /><Relationship Type="http://schemas.openxmlformats.org/officeDocument/2006/relationships/slideLayout" Target="/ppt/slideLayouts/slideLayout1.xml" Id="Rcbce344c3165447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ce344c31654470"/>
  </p:sldLayoutIdLst>
  <p:hf sldNum="0" hdr="0" ftr="0" dt="0"/>
  <p:txStyles>
    <p:titleStyle>
      <a:lvl1pPr xmlns:a="http://schemas.openxmlformats.org/drawingml/2006/main" algn="ctr" defTabSz="914400">
        <a:spcBef>
          <a:spcPct val="1"/>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22df4e9ebe4ab3" /><Relationship Type="http://schemas.openxmlformats.org/officeDocument/2006/relationships/notesSlide" Target="/ppt/notesSlides/notesSlide1.xml" Id="Rc4863049d0cc46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a09a9d7b0141f3" /><Relationship Type="http://schemas.openxmlformats.org/officeDocument/2006/relationships/notesSlide" Target="/ppt/notesSlides/notesSlide2.xml" Id="R8377005b42684a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5eb5a912014470" /><Relationship Type="http://schemas.openxmlformats.org/officeDocument/2006/relationships/notesSlide" Target="/ppt/notesSlides/notesSlide3.xml" Id="R200c0034b86145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dc399c6dea4c4f" /><Relationship Type="http://schemas.openxmlformats.org/officeDocument/2006/relationships/notesSlide" Target="/ppt/notesSlides/notesSlide4.xml" Id="Rec66d5d875884b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6fcc25b9a764806" /><Relationship Type="http://schemas.openxmlformats.org/officeDocument/2006/relationships/notesSlide" Target="/ppt/notesSlides/notesSlide5.xml" Id="R2a1aaef892d340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1078305fd6450b" /><Relationship Type="http://schemas.openxmlformats.org/officeDocument/2006/relationships/image" Target="/ppt/media/image.png" Id="R5369e7dae65e453b" /><Relationship Type="http://schemas.openxmlformats.org/officeDocument/2006/relationships/image" Target="/ppt/media/image2.png" Id="R93b4c3536c2149b2" /><Relationship Type="http://schemas.openxmlformats.org/officeDocument/2006/relationships/notesSlide" Target="/ppt/notesSlides/notesSlide6.xml" Id="R6c858d08412944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418a56ab994bf6" /><Relationship Type="http://schemas.openxmlformats.org/officeDocument/2006/relationships/notesSlide" Target="/ppt/notesSlides/notesSlide7.xml" Id="Re480d889e1224e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f17060b408414c" /><Relationship Type="http://schemas.openxmlformats.org/officeDocument/2006/relationships/notesSlide" Target="/ppt/notesSlides/notesSlide8.xml" Id="R543d045e3b8741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69a46c74184a5b" /><Relationship Type="http://schemas.openxmlformats.org/officeDocument/2006/relationships/notesSlide" Target="/ppt/notesSlides/notesSlide9.xml" Id="Reddc28b8482643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63c339a3cf4c96" /><Relationship Type="http://schemas.openxmlformats.org/officeDocument/2006/relationships/image" Target="/ppt/media/image3.png" Id="R84b19339e266425b" /><Relationship Type="http://schemas.openxmlformats.org/officeDocument/2006/relationships/notesSlide" Target="/ppt/notesSlides/notesSlide10.xml" Id="R0e2a1bf87e8b45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85b69d6f8f14846" /><Relationship Type="http://schemas.openxmlformats.org/officeDocument/2006/relationships/image" Target="/ppt/media/image4.png" Id="R6198c2dc078247f0" /><Relationship Type="http://schemas.openxmlformats.org/officeDocument/2006/relationships/notesSlide" Target="/ppt/notesSlides/notesSlide11.xml" Id="R8ec85b75631c4e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bed28b8aef649bc" /><Relationship Type="http://schemas.openxmlformats.org/officeDocument/2006/relationships/image" Target="/ppt/media/image5.png" Id="Rde29f740f36c49c9" /><Relationship Type="http://schemas.openxmlformats.org/officeDocument/2006/relationships/notesSlide" Target="/ppt/notesSlides/notesSlide12.xml" Id="Rcddafc496e6a48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7b07dcf16f24c08" /><Relationship Type="http://schemas.openxmlformats.org/officeDocument/2006/relationships/image" Target="/ppt/media/image6.png" Id="R0736e9144010475a" /><Relationship Type="http://schemas.openxmlformats.org/officeDocument/2006/relationships/notesSlide" Target="/ppt/notesSlides/notesSlide13.xml" Id="R0f9c62f842b242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37d38f595c741ac" /><Relationship Type="http://schemas.openxmlformats.org/officeDocument/2006/relationships/image" Target="/ppt/media/image7.png" Id="Rc8b390842f054938" /><Relationship Type="http://schemas.openxmlformats.org/officeDocument/2006/relationships/notesSlide" Target="/ppt/notesSlides/notesSlide14.xml" Id="R386a5a5e74894db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a36d788c9ca4e3d" /><Relationship Type="http://schemas.openxmlformats.org/officeDocument/2006/relationships/image" Target="/ppt/media/image8.png" Id="R5e8573f8aaca44d4" /><Relationship Type="http://schemas.openxmlformats.org/officeDocument/2006/relationships/notesSlide" Target="/ppt/notesSlides/notesSlide15.xml" Id="Rd5b9e8b8424545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394c3be18b44f1a" /><Relationship Type="http://schemas.openxmlformats.org/officeDocument/2006/relationships/image" Target="/ppt/media/image9.png" Id="Rd0406d45897947a8" /><Relationship Type="http://schemas.openxmlformats.org/officeDocument/2006/relationships/image" Target="/ppt/media/image10.png" Id="R0075683624854721" /><Relationship Type="http://schemas.openxmlformats.org/officeDocument/2006/relationships/notesSlide" Target="/ppt/notesSlides/notesSlide16.xml" Id="R38924a61e6c246a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5fc65b0fcba4d4c" /><Relationship Type="http://schemas.openxmlformats.org/officeDocument/2006/relationships/image" Target="/ppt/media/image11.png" Id="R75a8b5377bf94393" /><Relationship Type="http://schemas.openxmlformats.org/officeDocument/2006/relationships/notesSlide" Target="/ppt/notesSlides/notesSlide17.xml" Id="R541f9140373143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605120f847e4df7" /><Relationship Type="http://schemas.openxmlformats.org/officeDocument/2006/relationships/image" Target="/ppt/media/image12.png" Id="Rd0ec09b0422545f5" /><Relationship Type="http://schemas.openxmlformats.org/officeDocument/2006/relationships/notesSlide" Target="/ppt/notesSlides/notesSlide18.xml" Id="R62c1b2fef62c4a2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d3f3ffd0ad64944" /><Relationship Type="http://schemas.openxmlformats.org/officeDocument/2006/relationships/image" Target="/ppt/media/image13.png" Id="R32082321b54c44f3" /><Relationship Type="http://schemas.openxmlformats.org/officeDocument/2006/relationships/notesSlide" Target="/ppt/notesSlides/notesSlide19.xml" Id="Re902dcf81c1e4d2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a15d3e16b6c4bbe" /><Relationship Type="http://schemas.openxmlformats.org/officeDocument/2006/relationships/image" Target="/ppt/media/image14.png" Id="Rc06678e85f8346c4" /><Relationship Type="http://schemas.openxmlformats.org/officeDocument/2006/relationships/notesSlide" Target="/ppt/notesSlides/notesSlide20.xml" Id="Re418cc735c8b44e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f78f0d92a00480e" /><Relationship Type="http://schemas.openxmlformats.org/officeDocument/2006/relationships/image" Target="/ppt/media/image15.png" Id="Rf667ca1d3790478d" /><Relationship Type="http://schemas.openxmlformats.org/officeDocument/2006/relationships/notesSlide" Target="/ppt/notesSlides/notesSlide21.xml" Id="Rdf171d7ea25e4a7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5fead61f77141ca" /><Relationship Type="http://schemas.openxmlformats.org/officeDocument/2006/relationships/image" Target="/ppt/media/image13.png" Id="Rc6fb425b2e5740ac" /><Relationship Type="http://schemas.openxmlformats.org/officeDocument/2006/relationships/notesSlide" Target="/ppt/notesSlides/notesSlide22.xml" Id="R800c910f15c148b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5702e3d69f042f6" /><Relationship Type="http://schemas.openxmlformats.org/officeDocument/2006/relationships/notesSlide" Target="/ppt/notesSlides/notesSlide23.xml" Id="Rcc9475e7f73c406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68c3fce67ea4836" /><Relationship Type="http://schemas.openxmlformats.org/officeDocument/2006/relationships/notesSlide" Target="/ppt/notesSlides/notesSlide24.xml" Id="R9e68cb091ccc43b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f8c5675cdf94fa5" /><Relationship Type="http://schemas.openxmlformats.org/officeDocument/2006/relationships/notesSlide" Target="/ppt/notesSlides/notesSlide25.xml" Id="R8f5e474b38454c7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2e8026f28e148ab" /><Relationship Type="http://schemas.openxmlformats.org/officeDocument/2006/relationships/image" Target="/ppt/media/image16.png" Id="R69af265d725840ce" /><Relationship Type="http://schemas.openxmlformats.org/officeDocument/2006/relationships/notesSlide" Target="/ppt/notesSlides/notesSlide26.xml" Id="R75c5e194ebdb41d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c4631e054cc4d39" /><Relationship Type="http://schemas.openxmlformats.org/officeDocument/2006/relationships/image" Target="/ppt/media/image17.png" Id="R211e7b4562ef4105" /><Relationship Type="http://schemas.openxmlformats.org/officeDocument/2006/relationships/notesSlide" Target="/ppt/notesSlides/notesSlide27.xml" Id="Rb94702fce6c74a0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10078f8e5144272" /><Relationship Type="http://schemas.openxmlformats.org/officeDocument/2006/relationships/image" Target="/ppt/media/image18.png" Id="R271c58d901224a9b" /><Relationship Type="http://schemas.openxmlformats.org/officeDocument/2006/relationships/notesSlide" Target="/ppt/notesSlides/notesSlide28.xml" Id="Ra9ef50499ba3444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7cb96dfb3d04f69" /><Relationship Type="http://schemas.openxmlformats.org/officeDocument/2006/relationships/image" Target="/ppt/media/image19.png" Id="Rbf435d2dd8cb4d29" /><Relationship Type="http://schemas.openxmlformats.org/officeDocument/2006/relationships/notesSlide" Target="/ppt/notesSlides/notesSlide29.xml" Id="R1c9ccec601344db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896f2916f294d40" /><Relationship Type="http://schemas.openxmlformats.org/officeDocument/2006/relationships/notesSlide" Target="/ppt/notesSlides/notesSlide30.xml" Id="Rb0c5f202a8ea4f6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2690c0c5cf54fec" /><Relationship Type="http://schemas.openxmlformats.org/officeDocument/2006/relationships/notesSlide" Target="/ppt/notesSlides/notesSlide31.xml" Id="Ra37e10bfedfc4f0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bc344babe94403b" /><Relationship Type="http://schemas.openxmlformats.org/officeDocument/2006/relationships/image" Target="/ppt/media/image20.png" Id="R8ef5e1463bd64f4d" /><Relationship Type="http://schemas.openxmlformats.org/officeDocument/2006/relationships/notesSlide" Target="/ppt/notesSlides/notesSlide32.xml" Id="R6dd768cc438e46f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11c45b807514dff" /><Relationship Type="http://schemas.openxmlformats.org/officeDocument/2006/relationships/image" Target="/ppt/media/image21.png" Id="Rbde165a11ea846bb" /><Relationship Type="http://schemas.openxmlformats.org/officeDocument/2006/relationships/notesSlide" Target="/ppt/notesSlides/notesSlide33.xml" Id="R557fb640a8b64dc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f2677a8a3924a29" /><Relationship Type="http://schemas.openxmlformats.org/officeDocument/2006/relationships/image" Target="/ppt/media/image22.png" Id="Rf5687b593eb14f89" /><Relationship Type="http://schemas.openxmlformats.org/officeDocument/2006/relationships/notesSlide" Target="/ppt/notesSlides/notesSlide34.xml" Id="R28d11114a303444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1d3f5e9c07c4dfe" /><Relationship Type="http://schemas.openxmlformats.org/officeDocument/2006/relationships/image" Target="/ppt/media/image23.png" Id="R1f953525cfbd4545" /><Relationship Type="http://schemas.openxmlformats.org/officeDocument/2006/relationships/notesSlide" Target="/ppt/notesSlides/notesSlide35.xml" Id="Rdf40078b490b447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a364e4ec61b4f2e" /><Relationship Type="http://schemas.openxmlformats.org/officeDocument/2006/relationships/image" Target="/ppt/media/image24.png" Id="Rc97dd6535fe4443b" /><Relationship Type="http://schemas.openxmlformats.org/officeDocument/2006/relationships/notesSlide" Target="/ppt/notesSlides/notesSlide36.xml" Id="R164656c878a14bb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d9ad714e7c94c4e" /><Relationship Type="http://schemas.openxmlformats.org/officeDocument/2006/relationships/image" Target="/ppt/media/image25.png" Id="R5ed7ad0a6e4844cc" /><Relationship Type="http://schemas.openxmlformats.org/officeDocument/2006/relationships/notesSlide" Target="/ppt/notesSlides/notesSlide37.xml" Id="Rc96a20d47f5b453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e1c1a8751d24cad" /><Relationship Type="http://schemas.openxmlformats.org/officeDocument/2006/relationships/image" Target="/ppt/media/image26.png" Id="R785a780346c942d7" /><Relationship Type="http://schemas.openxmlformats.org/officeDocument/2006/relationships/notesSlide" Target="/ppt/notesSlides/notesSlide38.xml" Id="R5ab3bca0bb304f4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a0d2c5ad0614c45" /><Relationship Type="http://schemas.openxmlformats.org/officeDocument/2006/relationships/notesSlide" Target="/ppt/notesSlides/notesSlide39.xml" Id="Reec39fe5e1214e1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0c125c49adc457a" /><Relationship Type="http://schemas.openxmlformats.org/officeDocument/2006/relationships/image" Target="/ppt/media/image27.png" Id="Rae59fad5988a4ba8" /><Relationship Type="http://schemas.openxmlformats.org/officeDocument/2006/relationships/notesSlide" Target="/ppt/notesSlides/notesSlide40.xml" Id="Rc232f692f4b0406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59c555dbae74c3b" /><Relationship Type="http://schemas.openxmlformats.org/officeDocument/2006/relationships/image" Target="/ppt/media/image28.png" Id="R4029e4678edf4234" /><Relationship Type="http://schemas.openxmlformats.org/officeDocument/2006/relationships/notesSlide" Target="/ppt/notesSlides/notesSlide41.xml" Id="R249057a420de4b5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e798ca0416541e3" /><Relationship Type="http://schemas.openxmlformats.org/officeDocument/2006/relationships/image" Target="/ppt/media/image29.png" Id="R9ce872b18be1405b" /><Relationship Type="http://schemas.openxmlformats.org/officeDocument/2006/relationships/notesSlide" Target="/ppt/notesSlides/notesSlide42.xml" Id="R45261f18c82f446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13cbb9332b4438f" /><Relationship Type="http://schemas.openxmlformats.org/officeDocument/2006/relationships/notesSlide" Target="/ppt/notesSlides/notesSlide43.xml" Id="Rb49d93ecb6484d2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eab10167c4445b1" /><Relationship Type="http://schemas.openxmlformats.org/officeDocument/2006/relationships/image" Target="/ppt/media/image30.png" Id="R29ee3771da6a435f" /><Relationship Type="http://schemas.openxmlformats.org/officeDocument/2006/relationships/notesSlide" Target="/ppt/notesSlides/notesSlide44.xml" Id="R9b5c0fc8e454475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2b1af5ee6e5409b" /><Relationship Type="http://schemas.openxmlformats.org/officeDocument/2006/relationships/image" Target="/ppt/media/image31.png" Id="R923693b6f3e64944" /><Relationship Type="http://schemas.openxmlformats.org/officeDocument/2006/relationships/notesSlide" Target="/ppt/notesSlides/notesSlide45.xml" Id="Rded13dd20c8f46a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805baef0adf4c3c" /><Relationship Type="http://schemas.openxmlformats.org/officeDocument/2006/relationships/image" Target="/ppt/media/image32.png" Id="Rd28f94eaac914c64" /><Relationship Type="http://schemas.openxmlformats.org/officeDocument/2006/relationships/notesSlide" Target="/ppt/notesSlides/notesSlide46.xml" Id="Rb4ff1aa7b3f64df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29aa52b7a76c4fa6" /><Relationship Type="http://schemas.openxmlformats.org/officeDocument/2006/relationships/notesSlide" Target="/ppt/notesSlides/notesSlide47.xml" Id="Rb49da68664a94a6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a71360d08524718" /><Relationship Type="http://schemas.openxmlformats.org/officeDocument/2006/relationships/notesSlide" Target="/ppt/notesSlides/notesSlide48.xml" Id="R06c9dc9e61a74fa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41c37f67ecd464d" /><Relationship Type="http://schemas.openxmlformats.org/officeDocument/2006/relationships/image" Target="/ppt/media/image33.png" Id="Rad4ea9936e7a49f7" /><Relationship Type="http://schemas.openxmlformats.org/officeDocument/2006/relationships/notesSlide" Target="/ppt/notesSlides/notesSlide49.xml" Id="R6954d9cdf367406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8c898efba6c847f8" /><Relationship Type="http://schemas.openxmlformats.org/officeDocument/2006/relationships/notesSlide" Target="/ppt/notesSlides/notesSlide50.xml" Id="Rccc9f2aa30a44f3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7f3dbdaf66e40c4" /><Relationship Type="http://schemas.openxmlformats.org/officeDocument/2006/relationships/notesSlide" Target="/ppt/notesSlides/notesSlide51.xml" Id="R5827b286396947f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91587f45d364eb3" /><Relationship Type="http://schemas.openxmlformats.org/officeDocument/2006/relationships/image" Target="/ppt/media/image34.png" Id="R0c8d42539dda4f1c" /><Relationship Type="http://schemas.openxmlformats.org/officeDocument/2006/relationships/notesSlide" Target="/ppt/notesSlides/notesSlide52.xml" Id="R5e10b6456a87463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82ea635ceaa4471" /><Relationship Type="http://schemas.openxmlformats.org/officeDocument/2006/relationships/image" Target="/ppt/media/image35.png" Id="Ra0794f65cd3a42f1" /><Relationship Type="http://schemas.openxmlformats.org/officeDocument/2006/relationships/notesSlide" Target="/ppt/notesSlides/notesSlide53.xml" Id="R203d0824e6ac4b9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aa15cd5af384cc3" /><Relationship Type="http://schemas.openxmlformats.org/officeDocument/2006/relationships/image" Target="/ppt/media/image36.png" Id="Rc6f0a038e96c493b" /><Relationship Type="http://schemas.openxmlformats.org/officeDocument/2006/relationships/notesSlide" Target="/ppt/notesSlides/notesSlide54.xml" Id="R94629da5b20d42ae"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189970f759c4e33" /><Relationship Type="http://schemas.openxmlformats.org/officeDocument/2006/relationships/notesSlide" Target="/ppt/notesSlides/notesSlide55.xml" Id="Raa1d51ff12d042f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cc06ffeb2447495b" /><Relationship Type="http://schemas.openxmlformats.org/officeDocument/2006/relationships/image" Target="/ppt/media/image37.png" Id="Rc63173c057984f6e" /><Relationship Type="http://schemas.openxmlformats.org/officeDocument/2006/relationships/notesSlide" Target="/ppt/notesSlides/notesSlide56.xml" Id="R36d559116b8d441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b3950663f6414f8a" /><Relationship Type="http://schemas.openxmlformats.org/officeDocument/2006/relationships/image" Target="/ppt/media/image38.png" Id="R56e59bbd81054708" /><Relationship Type="http://schemas.openxmlformats.org/officeDocument/2006/relationships/notesSlide" Target="/ppt/notesSlides/notesSlide57.xml" Id="Rfd72bdfa83b6439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ed829f49c034749" /><Relationship Type="http://schemas.openxmlformats.org/officeDocument/2006/relationships/image" Target="/ppt/media/image39.png" Id="R6ce0e391a3ea42c7" /><Relationship Type="http://schemas.openxmlformats.org/officeDocument/2006/relationships/notesSlide" Target="/ppt/notesSlides/notesSlide58.xml" Id="R7871441a32974ee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2fda0a3a270b4866" /><Relationship Type="http://schemas.openxmlformats.org/officeDocument/2006/relationships/notesSlide" Target="/ppt/notesSlides/notesSlide59.xml" Id="R6024886466ef4f5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a7f979c912c34a74" /><Relationship Type="http://schemas.openxmlformats.org/officeDocument/2006/relationships/notesSlide" Target="/ppt/notesSlides/notesSlide60.xml" Id="Rb6ac6446bf3b46a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780ac07760b24091" /><Relationship Type="http://schemas.openxmlformats.org/officeDocument/2006/relationships/image" Target="/ppt/media/image40.png" Id="Raf2d1d8132b34751" /><Relationship Type="http://schemas.openxmlformats.org/officeDocument/2006/relationships/notesSlide" Target="/ppt/notesSlides/notesSlide61.xml" Id="R7bea8fb828224579"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615587cf98047ff" /><Relationship Type="http://schemas.openxmlformats.org/officeDocument/2006/relationships/image" Target="/ppt/media/image41.png" Id="R65edca1d4d9241bc" /><Relationship Type="http://schemas.openxmlformats.org/officeDocument/2006/relationships/notesSlide" Target="/ppt/notesSlides/notesSlide62.xml" Id="R1695f84102324a0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61049690b5bd4452" /><Relationship Type="http://schemas.openxmlformats.org/officeDocument/2006/relationships/image" Target="/ppt/media/image42.png" Id="R8a89a3fafa174861" /><Relationship Type="http://schemas.openxmlformats.org/officeDocument/2006/relationships/notesSlide" Target="/ppt/notesSlides/notesSlide63.xml" Id="R7ba7892e27984ce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b66aafb5273a4fcd" /><Relationship Type="http://schemas.openxmlformats.org/officeDocument/2006/relationships/image" Target="/ppt/media/image43.png" Id="R0898a4d8e2d14597" /><Relationship Type="http://schemas.openxmlformats.org/officeDocument/2006/relationships/notesSlide" Target="/ppt/notesSlides/notesSlide64.xml" Id="R935b4143db8a462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7400e14fcfd84d13" /><Relationship Type="http://schemas.openxmlformats.org/officeDocument/2006/relationships/notesSlide" Target="/ppt/notesSlides/notesSlide65.xml" Id="Ra803a00d67264d7b"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874658fe3f174a30" /><Relationship Type="http://schemas.openxmlformats.org/officeDocument/2006/relationships/image" Target="/ppt/media/image44.png" Id="Re8a1dd8cfd6741d1" /><Relationship Type="http://schemas.openxmlformats.org/officeDocument/2006/relationships/notesSlide" Target="/ppt/notesSlides/notesSlide66.xml" Id="Rebb548dd085d4c25"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67310cf37f474de7" /><Relationship Type="http://schemas.openxmlformats.org/officeDocument/2006/relationships/image" Target="/ppt/media/image45.png" Id="R953778e409574ff7" /><Relationship Type="http://schemas.openxmlformats.org/officeDocument/2006/relationships/notesSlide" Target="/ppt/notesSlides/notesSlide67.xml" Id="R92a60539c9be48aa"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66b96b840677463d" /><Relationship Type="http://schemas.openxmlformats.org/officeDocument/2006/relationships/image" Target="/ppt/media/image46.png" Id="Rb41521aa7a9342d9" /><Relationship Type="http://schemas.openxmlformats.org/officeDocument/2006/relationships/notesSlide" Target="/ppt/notesSlides/notesSlide68.xml" Id="Rcaac66df244642d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c84e4d8d098a4eb5" /><Relationship Type="http://schemas.openxmlformats.org/officeDocument/2006/relationships/image" Target="/ppt/media/image47.png" Id="Rdf549d05fb4d4f37" /><Relationship Type="http://schemas.openxmlformats.org/officeDocument/2006/relationships/notesSlide" Target="/ppt/notesSlides/notesSlide69.xml" Id="R1909df222b644cdd"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29c6bb6fea8e49b7" /><Relationship Type="http://schemas.openxmlformats.org/officeDocument/2006/relationships/image" Target="/ppt/media/image48.png" Id="Rf5b9426880b84312" /><Relationship Type="http://schemas.openxmlformats.org/officeDocument/2006/relationships/notesSlide" Target="/ppt/notesSlides/notesSlide70.xml" Id="R0de8077f3f274635"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fd978cef9e7d4eab" /><Relationship Type="http://schemas.openxmlformats.org/officeDocument/2006/relationships/notesSlide" Target="/ppt/notesSlides/notesSlide71.xml" Id="R8d780dcdeedf46f2"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27a1e7435faa424f" /><Relationship Type="http://schemas.openxmlformats.org/officeDocument/2006/relationships/image" Target="/ppt/media/image49.png" Id="R9fa7de4822e04ece" /><Relationship Type="http://schemas.openxmlformats.org/officeDocument/2006/relationships/notesSlide" Target="/ppt/notesSlides/notesSlide72.xml" Id="Rc31dbaf739a44c80"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e23fed09b7b743bf" /><Relationship Type="http://schemas.openxmlformats.org/officeDocument/2006/relationships/notesSlide" Target="/ppt/notesSlides/notesSlide73.xml" Id="Rd76f1e4652264bb3"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14a16659fadd4676" /><Relationship Type="http://schemas.openxmlformats.org/officeDocument/2006/relationships/image" Target="/ppt/media/image50.png" Id="Ra65d1e3193494885" /><Relationship Type="http://schemas.openxmlformats.org/officeDocument/2006/relationships/notesSlide" Target="/ppt/notesSlides/notesSlide74.xml" Id="Rdcf0d9f173294350"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790fa4ca79e44721" /><Relationship Type="http://schemas.openxmlformats.org/officeDocument/2006/relationships/image" Target="/ppt/media/image51.png" Id="R5af15e38aff34de7" /><Relationship Type="http://schemas.openxmlformats.org/officeDocument/2006/relationships/notesSlide" Target="/ppt/notesSlides/notesSlide75.xml" Id="R5f0e5e75cb444dd4"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1ee4c767aa984498" /><Relationship Type="http://schemas.openxmlformats.org/officeDocument/2006/relationships/image" Target="/ppt/media/image52.png" Id="Rbd93c6e21eee444d" /><Relationship Type="http://schemas.openxmlformats.org/officeDocument/2006/relationships/notesSlide" Target="/ppt/notesSlides/notesSlide76.xml" Id="Rabcf088b91f5499a"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98e68020059b4c8f" /><Relationship Type="http://schemas.openxmlformats.org/officeDocument/2006/relationships/image" Target="/ppt/media/image53.png" Id="R72ac32272d744a67" /><Relationship Type="http://schemas.openxmlformats.org/officeDocument/2006/relationships/notesSlide" Target="/ppt/notesSlides/notesSlide77.xml" Id="Rfccd5fafd90f4c52"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fc86ff881df14e7d" /><Relationship Type="http://schemas.openxmlformats.org/officeDocument/2006/relationships/image" Target="/ppt/media/image54.png" Id="R24f497e53b304815" /><Relationship Type="http://schemas.openxmlformats.org/officeDocument/2006/relationships/notesSlide" Target="/ppt/notesSlides/notesSlide78.xml" Id="Rbe95eb1e1db1436d"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2e824fb8966e4c5a" /><Relationship Type="http://schemas.openxmlformats.org/officeDocument/2006/relationships/image" Target="/ppt/media/image55.png" Id="R86a03b995cc34645" /><Relationship Type="http://schemas.openxmlformats.org/officeDocument/2006/relationships/notesSlide" Target="/ppt/notesSlides/notesSlide79.xml" Id="Rb065e971ac5345fb"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149108ab2052498f" /><Relationship Type="http://schemas.openxmlformats.org/officeDocument/2006/relationships/image" Target="/ppt/media/image56.png" Id="R2ce389b433be44c7" /><Relationship Type="http://schemas.openxmlformats.org/officeDocument/2006/relationships/notesSlide" Target="/ppt/notesSlides/notesSlide80.xml" Id="Rebe076080c944562"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65ac6af5b66f48b1" /><Relationship Type="http://schemas.openxmlformats.org/officeDocument/2006/relationships/notesSlide" Target="/ppt/notesSlides/notesSlide81.xml" Id="Rbf0a63f6ee184b96"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9616502380844c62" /><Relationship Type="http://schemas.openxmlformats.org/officeDocument/2006/relationships/notesSlide" Target="/ppt/notesSlides/notesSlide82.xml" Id="R78ba18d297c94b23"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5c49711d86ef472d" /><Relationship Type="http://schemas.openxmlformats.org/officeDocument/2006/relationships/notesSlide" Target="/ppt/notesSlides/notesSlide83.xml" Id="R64f8a1cf6ada400a"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659fcf1b0a6d4be1" /><Relationship Type="http://schemas.openxmlformats.org/officeDocument/2006/relationships/notesSlide" Target="/ppt/notesSlides/notesSlide84.xml" Id="R126cc8ff6e0243c8"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54d1a4d4f3214087" /><Relationship Type="http://schemas.openxmlformats.org/officeDocument/2006/relationships/notesSlide" Target="/ppt/notesSlides/notesSlide85.xml" Id="R5381c2ba52f04f66"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4625895fb1c74513" /><Relationship Type="http://schemas.openxmlformats.org/officeDocument/2006/relationships/notesSlide" Target="/ppt/notesSlides/notesSlide86.xml" Id="R66dcdd510c7d499f"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0f9fe8f28bfd4bb0" /><Relationship Type="http://schemas.openxmlformats.org/officeDocument/2006/relationships/notesSlide" Target="/ppt/notesSlides/notesSlide87.xml" Id="R8d15c4dbf04a46b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E89D46C-49F5-4D0C-A3FD-50B398EAAFEC}"/>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5DECFDFC-F3B3-404D-ABE1-90D6F24560B1}"/>
              </a:ext>
            </a:extLst>
          </p:cNvPr>
          <p:cNvSpPr>
            <a:spLocks xmlns:a="http://schemas.openxmlformats.org/drawingml/2006/main" noGrp="1"/>
          </p:cNvSpPr>
          <p:nvPr/>
        </p:nvSpPr>
        <p:spPr>
          <a:xfrm xmlns:a="http://schemas.openxmlformats.org/drawingml/2006/main" rot="0" flipH="0" flipV="0">
            <a:off x="571500" y="571500"/>
            <a:ext cx="11049000" cy="5715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F08EF053-28CE-447E-9F8F-85D5918F0FFE}"/>
              </a:ext>
            </a:extLst>
          </p:cNvPr>
          <p:cNvSpPr>
            <a:spLocks xmlns:a="http://schemas.openxmlformats.org/drawingml/2006/main" noGrp="1"/>
          </p:cNvSpPr>
          <p:nvPr/>
        </p:nvSpPr>
        <p:spPr>
          <a:xfrm xmlns:a="http://schemas.openxmlformats.org/drawingml/2006/main" rot="0" flipH="0" flipV="0">
            <a:off x="3657600" y="1295400"/>
            <a:ext cx="4876800"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spc="450">
                <a:solidFill>
                  <a:srgbClr val="1E4FA8"/>
                </a:solidFill>
                <a:latin typeface="Microsoft YaHei"/>
                <a:ea typeface="Microsoft YaHei"/>
                <a:cs typeface="Microsoft YaHei"/>
              </a:rPr>
              <a:t>JAVA PROGRAMMING · CHAPTER 05</a:t>
            </a:r>
            <a:endParaRPr/>
          </a:p>
        </p:txBody>
      </p:sp>
      <p:sp>
        <p:nvSpPr>
          <p:cNvPr id="5" name="">
            <a:extLst xmlns:a="http://schemas.openxmlformats.org/drawingml/2006/main">
              <a:ext uri="{FF2B5EF4-FFF2-40B4-BE49-F238E27FC236}">
                <a16:creationId xmlns:a16="http://schemas.microsoft.com/office/drawing/2014/main" id="{2195038E-D91B-4915-9ACD-90B1B47A284E}"/>
              </a:ext>
            </a:extLst>
          </p:cNvPr>
          <p:cNvSpPr>
            <a:spLocks xmlns:a="http://schemas.openxmlformats.org/drawingml/2006/main" noGrp="1"/>
          </p:cNvSpPr>
          <p:nvPr/>
        </p:nvSpPr>
        <p:spPr>
          <a:xfrm xmlns:a="http://schemas.openxmlformats.org/drawingml/2006/main" rot="0" flipH="0" flipV="0">
            <a:off x="3752850" y="1676400"/>
            <a:ext cx="4686300" cy="1047750"/>
          </a:xfrm>
          <a:prstGeom xmlns:a="http://schemas.openxmlformats.org/drawingml/2006/main" prst="rect">
            <a:avLst/>
          </a:prstGeom>
        </p:spPr>
        <p:txBody>
          <a:bodyPr xmlns:a="http://schemas.openxmlformats.org/drawingml/2006/main" wrap="none" lIns="0" tIns="0" rIns="0" bIns="0">
            <a:normAutofit fontScale="38322"/>
          </a:bodyPr>
          <a:lstStyle xmlns:a="http://schemas.openxmlformats.org/drawingml/2006/main"/>
          <a:p xmlns:a="http://schemas.openxmlformats.org/drawingml/2006/main">
            <a:pPr marL="0">
              <a:lnSpc>
                <a:spcPct val="100000"/>
              </a:lnSpc>
              <a:spcBef>
                <a:spcPts val="0"/>
              </a:spcBef>
              <a:spcAft>
                <a:spcPts val="0"/>
              </a:spcAft>
              <a:buNone/>
            </a:pPr>
            <a:r>
              <a:rPr sz="8970" b="1">
                <a:solidFill>
                  <a:srgbClr val="0E3F8C"/>
                </a:solidFill>
                <a:latin typeface="Microsoft YaHei"/>
                <a:ea typeface="Microsoft YaHei"/>
                <a:cs typeface="Microsoft YaHei"/>
              </a:rPr>
              <a:t>Java 程序设计</a:t>
            </a:r>
          </a:p>
          <a:p xmlns:a="http://schemas.openxmlformats.org/drawingml/2006/main">
            <a:pPr marL="0">
              <a:lnSpc>
                <a:spcPct val="100000"/>
              </a:lnSpc>
              <a:spcBef>
                <a:spcPts val="0"/>
              </a:spcBef>
              <a:spcAft>
                <a:spcPts val="0"/>
              </a:spcAft>
              <a:buNone/>
            </a:pPr>
            <a:r>
              <a:rPr sz="8970" b="1">
                <a:solidFill>
                  <a:srgbClr val="0E3F8C"/>
                </a:solidFill>
                <a:latin typeface="Microsoft YaHei"/>
                <a:ea typeface="Microsoft YaHei"/>
                <a:cs typeface="Microsoft YaHei"/>
              </a:rPr>
              <a:t>Java Programming</a:t>
            </a:r>
          </a:p>
        </p:txBody>
      </p:sp>
      <p:sp>
        <p:nvSpPr>
          <p:cNvPr id="6" name="">
            <a:extLst xmlns:a="http://schemas.openxmlformats.org/drawingml/2006/main">
              <a:ext uri="{FF2B5EF4-FFF2-40B4-BE49-F238E27FC236}">
                <a16:creationId xmlns:a16="http://schemas.microsoft.com/office/drawing/2014/main" id="{1AECF9C4-2F47-4A70-A0A6-B02E31382D46}"/>
              </a:ext>
            </a:extLst>
          </p:cNvPr>
          <p:cNvSpPr>
            <a:spLocks xmlns:a="http://schemas.openxmlformats.org/drawingml/2006/main" noGrp="1"/>
          </p:cNvSpPr>
          <p:nvPr/>
        </p:nvSpPr>
        <p:spPr>
          <a:xfrm xmlns:a="http://schemas.openxmlformats.org/drawingml/2006/main" rot="0" flipH="0" flipV="0">
            <a:off x="4162425" y="2895600"/>
            <a:ext cx="3876675" cy="657225"/>
          </a:xfrm>
          <a:prstGeom xmlns:a="http://schemas.openxmlformats.org/drawingml/2006/main" prst="rect">
            <a:avLst/>
          </a:prstGeom>
        </p:spPr>
        <p:txBody>
          <a:bodyPr xmlns:a="http://schemas.openxmlformats.org/drawingml/2006/main" wrap="none" lIns="0" tIns="0" rIns="0" bIns="0">
            <a:normAutofit fontScale="30258"/>
          </a:bodyPr>
          <a:lstStyle xmlns:a="http://schemas.openxmlformats.org/drawingml/2006/main"/>
          <a:p xmlns:a="http://schemas.openxmlformats.org/drawingml/2006/main">
            <a:pPr marL="0">
              <a:lnSpc>
                <a:spcPct val="100000"/>
              </a:lnSpc>
              <a:spcBef>
                <a:spcPts val="0"/>
              </a:spcBef>
              <a:spcAft>
                <a:spcPts val="0"/>
              </a:spcAft>
              <a:buNone/>
            </a:pPr>
            <a:r>
              <a:rPr sz="5190" b="1">
                <a:solidFill>
                  <a:srgbClr val="1E4FA8"/>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5190" b="1">
                <a:solidFill>
                  <a:srgbClr val="1E4FA8"/>
                </a:solidFill>
                <a:latin typeface="Microsoft YaHei"/>
                <a:ea typeface="Microsoft YaHei"/>
                <a:cs typeface="Microsoft YaHei"/>
              </a:rPr>
              <a:t>Chapter 5 · Subclasses and Inheritance</a:t>
            </a:r>
          </a:p>
        </p:txBody>
      </p:sp>
      <p:sp>
        <p:nvSpPr>
          <p:cNvPr id="7" name="">
            <a:extLst xmlns:a="http://schemas.openxmlformats.org/drawingml/2006/main">
              <a:ext uri="{FF2B5EF4-FFF2-40B4-BE49-F238E27FC236}">
                <a16:creationId xmlns:a16="http://schemas.microsoft.com/office/drawing/2014/main" id="{DAB4B349-D7CD-4D2D-93EB-E1C74192CDCB}"/>
              </a:ext>
            </a:extLst>
          </p:cNvPr>
          <p:cNvSpPr>
            <a:spLocks xmlns:a="http://schemas.openxmlformats.org/drawingml/2006/main" noGrp="1"/>
          </p:cNvSpPr>
          <p:nvPr/>
        </p:nvSpPr>
        <p:spPr>
          <a:xfrm xmlns:a="http://schemas.openxmlformats.org/drawingml/2006/main" rot="0" flipH="0" flipV="0">
            <a:off x="5715000" y="3724275"/>
            <a:ext cx="762000" cy="38100"/>
          </a:xfrm>
          <a:prstGeom xmlns:a="http://schemas.openxmlformats.org/drawingml/2006/main" prst="rect">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F7BBB487-0A5E-4A5D-91E1-1D4CA8E8A46B}"/>
              </a:ext>
            </a:extLst>
          </p:cNvPr>
          <p:cNvSpPr>
            <a:spLocks xmlns:a="http://schemas.openxmlformats.org/drawingml/2006/main" noGrp="1"/>
          </p:cNvSpPr>
          <p:nvPr/>
        </p:nvSpPr>
        <p:spPr>
          <a:xfrm xmlns:a="http://schemas.openxmlformats.org/drawingml/2006/main" rot="0" flipH="0" flipV="0">
            <a:off x="2781300" y="5172075"/>
            <a:ext cx="6629400" cy="9525"/>
          </a:xfrm>
          <a:prstGeom xmlns:a="http://schemas.openxmlformats.org/drawingml/2006/main" prst="rect">
            <a:avLst/>
          </a:prstGeom>
          <a:solidFill xmlns:a="http://schemas.openxmlformats.org/drawingml/2006/main">
            <a:srgbClr val="D6DCE5"/>
          </a:solidFill>
        </p:spPr>
        <p:txBody>
          <a:bodyPr xmlns:a="http://schemas.openxmlformats.org/drawingml/2006/main"/>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E2590E0E-4584-411D-8367-80E00527CD6F}"/>
              </a:ext>
            </a:extLst>
          </p:cNvPr>
          <p:cNvSpPr>
            <a:spLocks xmlns:a="http://schemas.openxmlformats.org/drawingml/2006/main" noGrp="1"/>
          </p:cNvSpPr>
          <p:nvPr/>
        </p:nvSpPr>
        <p:spPr>
          <a:xfrm xmlns:a="http://schemas.openxmlformats.org/drawingml/2006/main" rot="0" flipH="0" flipV="0">
            <a:off x="4419600" y="5314950"/>
            <a:ext cx="3352800" cy="257175"/>
          </a:xfrm>
          <a:prstGeom xmlns:a="http://schemas.openxmlformats.org/drawingml/2006/main" prst="rect">
            <a:avLst/>
          </a:prstGeom>
        </p:spPr>
        <p:txBody>
          <a:bodyPr xmlns:a="http://schemas.openxmlformats.org/drawingml/2006/main" wrap="none" lIns="0" tIns="0" rIns="0" bIns="0">
            <a:normAutofit fontScale="32452"/>
          </a:bodyPr>
          <a:lstStyle xmlns:a="http://schemas.openxmlformats.org/drawingml/2006/main"/>
          <a:p xmlns:a="http://schemas.openxmlformats.org/drawingml/2006/main">
            <a:pPr marL="0">
              <a:lnSpc>
                <a:spcPct val="100000"/>
              </a:lnSpc>
              <a:spcBef>
                <a:spcPts val="0"/>
              </a:spcBef>
              <a:spcAft>
                <a:spcPts val="0"/>
              </a:spcAft>
              <a:buNone/>
            </a:pPr>
            <a:r>
              <a:rPr sz="2600" b="1">
                <a:solidFill>
                  <a:srgbClr val="1A2230"/>
                </a:solidFill>
                <a:latin typeface="Microsoft YaHei"/>
                <a:ea typeface="Microsoft YaHei"/>
                <a:cs typeface="Microsoft YaHei"/>
              </a:rPr>
              <a:t>中国石油大学（北京）克拉玛依校区</a:t>
            </a:r>
          </a:p>
          <a:p xmlns:a="http://schemas.openxmlformats.org/drawingml/2006/main">
            <a:pPr marL="0">
              <a:lnSpc>
                <a:spcPct val="100000"/>
              </a:lnSpc>
              <a:spcBef>
                <a:spcPts val="0"/>
              </a:spcBef>
              <a:spcAft>
                <a:spcPts val="0"/>
              </a:spcAft>
              <a:buNone/>
            </a:pPr>
            <a:r>
              <a:rPr sz="2600" b="1">
                <a:solidFill>
                  <a:srgbClr val="1A2230"/>
                </a:solidFill>
                <a:latin typeface="Microsoft YaHei"/>
                <a:ea typeface="Microsoft YaHei"/>
                <a:cs typeface="Microsoft YaHei"/>
              </a:rPr>
              <a:t>China University of Petroleum (Beijing) Karamay Campus</a:t>
            </a:r>
          </a:p>
        </p:txBody>
      </p:sp>
      <p:sp>
        <p:nvSpPr>
          <p:cNvPr id="10" name="">
            <a:extLst xmlns:a="http://schemas.openxmlformats.org/drawingml/2006/main">
              <a:ext uri="{FF2B5EF4-FFF2-40B4-BE49-F238E27FC236}">
                <a16:creationId xmlns:a16="http://schemas.microsoft.com/office/drawing/2014/main" id="{A70D2B10-1486-4FFF-BBB1-5BB77F277473}"/>
              </a:ext>
            </a:extLst>
          </p:cNvPr>
          <p:cNvSpPr>
            <a:spLocks xmlns:a="http://schemas.openxmlformats.org/drawingml/2006/main" noGrp="1"/>
          </p:cNvSpPr>
          <p:nvPr/>
        </p:nvSpPr>
        <p:spPr>
          <a:xfrm xmlns:a="http://schemas.openxmlformats.org/drawingml/2006/main" rot="0" flipH="0" flipV="0">
            <a:off x="5372100" y="5705475"/>
            <a:ext cx="1447800" cy="219075"/>
          </a:xfrm>
          <a:prstGeom xmlns:a="http://schemas.openxmlformats.org/drawingml/2006/main" prst="rect">
            <a:avLst/>
          </a:prstGeom>
        </p:spPr>
        <p:txBody>
          <a:bodyPr xmlns:a="http://schemas.openxmlformats.org/drawingml/2006/main" wrap="none" lIns="0" tIns="0" rIns="0" bIns="0">
            <a:normAutofit fontScale="32087"/>
          </a:bodyPr>
          <a:lstStyle xmlns:a="http://schemas.openxmlformats.org/drawingml/2006/main"/>
          <a:p xmlns:a="http://schemas.openxmlformats.org/drawingml/2006/main">
            <a:pPr marL="0">
              <a:lnSpc>
                <a:spcPct val="100000"/>
              </a:lnSpc>
              <a:spcBef>
                <a:spcPts val="0"/>
              </a:spcBef>
              <a:spcAft>
                <a:spcPts val="0"/>
              </a:spcAft>
              <a:buNone/>
            </a:pPr>
            <a:r>
              <a:rPr sz="2240">
                <a:solidFill>
                  <a:srgbClr val="4A5568"/>
                </a:solidFill>
                <a:latin typeface="Microsoft YaHei"/>
                <a:ea typeface="Microsoft YaHei"/>
                <a:cs typeface="Microsoft YaHei"/>
              </a:rPr>
              <a:t>授课教师：潘啸晨</a:t>
            </a:r>
          </a:p>
          <a:p xmlns:a="http://schemas.openxmlformats.org/drawingml/2006/main">
            <a:pPr marL="0">
              <a:lnSpc>
                <a:spcPct val="100000"/>
              </a:lnSpc>
              <a:spcBef>
                <a:spcPts val="0"/>
              </a:spcBef>
              <a:spcAft>
                <a:spcPts val="0"/>
              </a:spcAft>
              <a:buNone/>
            </a:pPr>
            <a:r>
              <a:rPr sz="2240">
                <a:solidFill>
                  <a:srgbClr val="4A5568"/>
                </a:solidFill>
                <a:latin typeface="Microsoft YaHei"/>
                <a:ea typeface="Microsoft YaHei"/>
                <a:cs typeface="Microsoft YaHei"/>
              </a:rPr>
              <a:t>Instructor: Pan Xiaochen</a:t>
            </a:r>
          </a:p>
        </p:txBody>
      </p:sp>
    </p:spTree>
    <p:extLst>
      <p:ext uri="{BB962C8B-B14F-4D97-AF65-F5344CB8AC3E}">
        <p14:creationId xmlns:p14="http://schemas.microsoft.com/office/powerpoint/2010/main" val="91171337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700FB6C3-9C5F-4F6E-AAC7-B4DECB01613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24" name="">
            <a:extLst xmlns:a="http://schemas.openxmlformats.org/drawingml/2006/main">
              <a:ext uri="{FF2B5EF4-FFF2-40B4-BE49-F238E27FC236}">
                <a16:creationId xmlns:a16="http://schemas.microsoft.com/office/drawing/2014/main" id="{8D9F0678-2AE3-4817-99DF-973770ECE692}"/>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25" name="">
            <a:extLst xmlns:a="http://schemas.openxmlformats.org/drawingml/2006/main">
              <a:ext uri="{FF2B5EF4-FFF2-40B4-BE49-F238E27FC236}">
                <a16:creationId xmlns:a16="http://schemas.microsoft.com/office/drawing/2014/main" id="{38EF4148-526A-4DED-A226-D31F618E1B33}"/>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26" name="">
            <a:extLst xmlns:a="http://schemas.openxmlformats.org/drawingml/2006/main">
              <a:ext uri="{FF2B5EF4-FFF2-40B4-BE49-F238E27FC236}">
                <a16:creationId xmlns:a16="http://schemas.microsoft.com/office/drawing/2014/main" id="{F69DB0B1-30A1-4390-8B4E-3A55EF04CAE8}"/>
              </a:ext>
            </a:extLst>
          </p:cNvPr>
          <p:cNvSpPr>
            <a:spLocks xmlns:a="http://schemas.openxmlformats.org/drawingml/2006/main" noGrp="1"/>
          </p:cNvSpPr>
          <p:nvPr/>
        </p:nvSpPr>
        <p:spPr>
          <a:xfrm xmlns:a="http://schemas.openxmlformats.org/drawingml/2006/main" rot="0" flipH="0" flipV="0">
            <a:off x="5391150" y="2133600"/>
            <a:ext cx="1419225" cy="13716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9000" b="1">
                <a:solidFill>
                  <a:srgbClr val="DCE4F2"/>
                </a:solidFill>
                <a:latin typeface="Microsoft YaHei"/>
                <a:ea typeface="Microsoft YaHei"/>
                <a:cs typeface="Microsoft YaHei"/>
              </a:rPr>
              <a:t>05</a:t>
            </a:r>
            <a:endParaRPr/>
          </a:p>
        </p:txBody>
      </p:sp>
      <p:sp>
        <p:nvSpPr>
          <p:cNvPr id="127" name="">
            <a:extLst xmlns:a="http://schemas.openxmlformats.org/drawingml/2006/main">
              <a:ext uri="{FF2B5EF4-FFF2-40B4-BE49-F238E27FC236}">
                <a16:creationId xmlns:a16="http://schemas.microsoft.com/office/drawing/2014/main" id="{65EE4677-8673-4A42-AE44-E37F82C9ADE7}"/>
              </a:ext>
            </a:extLst>
          </p:cNvPr>
          <p:cNvSpPr>
            <a:spLocks xmlns:a="http://schemas.openxmlformats.org/drawingml/2006/main" noGrp="1"/>
          </p:cNvSpPr>
          <p:nvPr/>
        </p:nvSpPr>
        <p:spPr>
          <a:xfrm xmlns:a="http://schemas.openxmlformats.org/drawingml/2006/main" rot="0" flipH="0" flipV="0">
            <a:off x="5753100" y="3695700"/>
            <a:ext cx="685800" cy="38100"/>
          </a:xfrm>
          <a:prstGeom xmlns:a="http://schemas.openxmlformats.org/drawingml/2006/main" prst="rect">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128" name="">
            <a:extLst xmlns:a="http://schemas.openxmlformats.org/drawingml/2006/main">
              <a:ext uri="{FF2B5EF4-FFF2-40B4-BE49-F238E27FC236}">
                <a16:creationId xmlns:a16="http://schemas.microsoft.com/office/drawing/2014/main" id="{CBB1A681-DE0C-4CC1-A914-3C8B52FD6DFA}"/>
              </a:ext>
            </a:extLst>
          </p:cNvPr>
          <p:cNvSpPr>
            <a:spLocks xmlns:a="http://schemas.openxmlformats.org/drawingml/2006/main" noGrp="1"/>
          </p:cNvSpPr>
          <p:nvPr/>
        </p:nvSpPr>
        <p:spPr>
          <a:xfrm xmlns:a="http://schemas.openxmlformats.org/drawingml/2006/main" rot="0" flipH="0" flipV="0">
            <a:off x="5048250" y="3924300"/>
            <a:ext cx="2095500" cy="504825"/>
          </a:xfrm>
          <a:prstGeom xmlns:a="http://schemas.openxmlformats.org/drawingml/2006/main" prst="rect">
            <a:avLst/>
          </a:prstGeom>
        </p:spPr>
        <p:txBody>
          <a:bodyPr xmlns:a="http://schemas.openxmlformats.org/drawingml/2006/main" wrap="none" lIns="0" tIns="0" rIns="0" bIns="0">
            <a:normAutofit fontScale="23540"/>
          </a:bodyPr>
          <a:lstStyle xmlns:a="http://schemas.openxmlformats.org/drawingml/2006/main"/>
          <a:p xmlns:a="http://schemas.openxmlformats.org/drawingml/2006/main">
            <a:pPr marL="0">
              <a:lnSpc>
                <a:spcPct val="100000"/>
              </a:lnSpc>
              <a:spcBef>
                <a:spcPts val="0"/>
              </a:spcBef>
              <a:spcAft>
                <a:spcPts val="0"/>
              </a:spcAft>
              <a:buNone/>
            </a:pPr>
            <a:r>
              <a:rPr sz="5190" b="1">
                <a:solidFill>
                  <a:srgbClr val="0E3F8C"/>
                </a:solidFill>
                <a:latin typeface="Microsoft YaHei"/>
                <a:ea typeface="Microsoft YaHei"/>
                <a:cs typeface="Microsoft YaHei"/>
              </a:rPr>
              <a:t>子类与继承</a:t>
            </a:r>
          </a:p>
          <a:p xmlns:a="http://schemas.openxmlformats.org/drawingml/2006/main">
            <a:pPr marL="0">
              <a:lnSpc>
                <a:spcPct val="100000"/>
              </a:lnSpc>
              <a:spcBef>
                <a:spcPts val="0"/>
              </a:spcBef>
              <a:spcAft>
                <a:spcPts val="0"/>
              </a:spcAft>
              <a:buNone/>
            </a:pPr>
            <a:r>
              <a:rPr sz="5190" b="1">
                <a:solidFill>
                  <a:srgbClr val="0E3F8C"/>
                </a:solidFill>
                <a:latin typeface="Microsoft YaHei"/>
                <a:ea typeface="Microsoft YaHei"/>
                <a:cs typeface="Microsoft YaHei"/>
              </a:rPr>
              <a:t>Subclasses and Inheritance</a:t>
            </a:r>
          </a:p>
        </p:txBody>
      </p:sp>
      <p:sp>
        <p:nvSpPr>
          <p:cNvPr id="129" name="">
            <a:extLst xmlns:a="http://schemas.openxmlformats.org/drawingml/2006/main">
              <a:ext uri="{FF2B5EF4-FFF2-40B4-BE49-F238E27FC236}">
                <a16:creationId xmlns:a16="http://schemas.microsoft.com/office/drawing/2014/main" id="{8F610737-075D-4932-92A6-3E26D61B221A}"/>
              </a:ext>
            </a:extLst>
          </p:cNvPr>
          <p:cNvSpPr>
            <a:spLocks xmlns:a="http://schemas.openxmlformats.org/drawingml/2006/main" noGrp="1"/>
          </p:cNvSpPr>
          <p:nvPr/>
        </p:nvSpPr>
        <p:spPr>
          <a:xfrm xmlns:a="http://schemas.openxmlformats.org/drawingml/2006/main" rot="0" flipH="0" flipV="0">
            <a:off x="952500" y="4695825"/>
            <a:ext cx="10287000" cy="209550"/>
          </a:xfrm>
          <a:prstGeom xmlns:a="http://schemas.openxmlformats.org/drawingml/2006/main" prst="rect">
            <a:avLst/>
          </a:prstGeom>
        </p:spPr>
        <p:txBody>
          <a:bodyPr xmlns:a="http://schemas.openxmlformats.org/drawingml/2006/main" wrap="none" lIns="0" tIns="0" rIns="0" bIns="0">
            <a:normAutofit fontScale="28873"/>
          </a:bodyPr>
          <a:lstStyle xmlns:a="http://schemas.openxmlformats.org/drawingml/2006/main"/>
          <a:p xmlns:a="http://schemas.openxmlformats.org/drawingml/2006/main">
            <a:pPr marL="0">
              <a:lnSpc>
                <a:spcPct val="100000"/>
              </a:lnSpc>
              <a:spcBef>
                <a:spcPts val="0"/>
              </a:spcBef>
              <a:spcAft>
                <a:spcPts val="0"/>
              </a:spcAft>
              <a:buNone/>
            </a:pPr>
            <a:r>
              <a:rPr sz="2120">
                <a:solidFill>
                  <a:srgbClr val="4A5568"/>
                </a:solidFill>
                <a:latin typeface="Microsoft YaHei"/>
                <a:ea typeface="Microsoft YaHei"/>
                <a:cs typeface="Microsoft YaHei"/>
              </a:rPr>
              <a:t>继承是面向对象编程的三大特性之一：子类复用父类的状态与行为，并通过重写、多态、抽象类与抽象方法构建易维护、易扩展的程序。</a:t>
            </a:r>
          </a:p>
          <a:p xmlns:a="http://schemas.openxmlformats.org/drawingml/2006/main">
            <a:pPr marL="0">
              <a:lnSpc>
                <a:spcPct val="100000"/>
              </a:lnSpc>
              <a:spcBef>
                <a:spcPts val="0"/>
              </a:spcBef>
              <a:spcAft>
                <a:spcPts val="0"/>
              </a:spcAft>
              <a:buNone/>
            </a:pPr>
            <a:r>
              <a:rPr sz="2120">
                <a:solidFill>
                  <a:srgbClr val="4A5568"/>
                </a:solidFill>
                <a:latin typeface="Microsoft YaHei"/>
                <a:ea typeface="Microsoft YaHei"/>
                <a:cs typeface="Microsoft YaHei"/>
              </a:rPr>
              <a:t>Inheritance is one of the three major characteristics of object-oriented programming: subclasses reuse the state and behavior of the parent class, and build programs that are easy to maintain and expand through rewriting, polymorphism, abstract classes, and abstract methods.</a:t>
            </a:r>
          </a:p>
        </p:txBody>
      </p:sp>
      <p:sp>
        <p:nvSpPr>
          <p:cNvPr id="130" name="">
            <a:extLst xmlns:a="http://schemas.openxmlformats.org/drawingml/2006/main">
              <a:ext uri="{FF2B5EF4-FFF2-40B4-BE49-F238E27FC236}">
                <a16:creationId xmlns:a16="http://schemas.microsoft.com/office/drawing/2014/main" id="{1E68634E-1069-4B1E-93A0-EF036AD859EB}"/>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 / 87</a:t>
            </a:r>
            <a:endParaRPr/>
          </a:p>
        </p:txBody>
      </p:sp>
    </p:spTree>
    <p:extLst>
      <p:ext uri="{BB962C8B-B14F-4D97-AF65-F5344CB8AC3E}">
        <p14:creationId xmlns:p14="http://schemas.microsoft.com/office/powerpoint/2010/main" val="61588695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53" name="">
            <a:extLst xmlns:a="http://schemas.openxmlformats.org/drawingml/2006/main">
              <a:ext uri="{FF2B5EF4-FFF2-40B4-BE49-F238E27FC236}">
                <a16:creationId xmlns:a16="http://schemas.microsoft.com/office/drawing/2014/main" id="{8F907401-1286-43B3-ACA2-7F9913E05470}"/>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54" name="">
            <a:extLst xmlns:a="http://schemas.openxmlformats.org/drawingml/2006/main">
              <a:ext uri="{FF2B5EF4-FFF2-40B4-BE49-F238E27FC236}">
                <a16:creationId xmlns:a16="http://schemas.microsoft.com/office/drawing/2014/main" id="{74559724-88F0-4275-A642-6FB776F2435D}"/>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55" name="">
            <a:extLst xmlns:a="http://schemas.openxmlformats.org/drawingml/2006/main">
              <a:ext uri="{FF2B5EF4-FFF2-40B4-BE49-F238E27FC236}">
                <a16:creationId xmlns:a16="http://schemas.microsoft.com/office/drawing/2014/main" id="{F423D586-E60C-49FD-8DCD-41F4C06D18C3}"/>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256" name="">
            <a:extLst xmlns:a="http://schemas.openxmlformats.org/drawingml/2006/main">
              <a:ext uri="{FF2B5EF4-FFF2-40B4-BE49-F238E27FC236}">
                <a16:creationId xmlns:a16="http://schemas.microsoft.com/office/drawing/2014/main" id="{77FAF300-57DB-487D-B4D0-AAA49C6C0EE5}"/>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导读</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Introduction</a:t>
            </a:r>
          </a:p>
        </p:txBody>
      </p:sp>
      <p:sp>
        <p:nvSpPr>
          <p:cNvPr id="257" name="">
            <a:extLst xmlns:a="http://schemas.openxmlformats.org/drawingml/2006/main">
              <a:ext uri="{FF2B5EF4-FFF2-40B4-BE49-F238E27FC236}">
                <a16:creationId xmlns:a16="http://schemas.microsoft.com/office/drawing/2014/main" id="{07A0916C-946A-40CA-AF12-A5D1488BCE10}"/>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本章导览</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Chapter overview</a:t>
            </a:r>
          </a:p>
        </p:txBody>
      </p:sp>
      <p:sp>
        <p:nvSpPr>
          <p:cNvPr id="258" name="">
            <a:extLst xmlns:a="http://schemas.openxmlformats.org/drawingml/2006/main">
              <a:ext uri="{FF2B5EF4-FFF2-40B4-BE49-F238E27FC236}">
                <a16:creationId xmlns:a16="http://schemas.microsoft.com/office/drawing/2014/main" id="{0EA59E5B-8569-4AF8-8B91-454B155F23DF}"/>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59" name="">
            <a:extLst xmlns:a="http://schemas.openxmlformats.org/drawingml/2006/main">
              <a:ext uri="{FF2B5EF4-FFF2-40B4-BE49-F238E27FC236}">
                <a16:creationId xmlns:a16="http://schemas.microsoft.com/office/drawing/2014/main" id="{15E15E2D-598C-4834-A251-4A2D5949F862}"/>
              </a:ext>
            </a:extLst>
          </p:cNvPr>
          <p:cNvSpPr>
            <a:spLocks xmlns:a="http://schemas.openxmlformats.org/drawingml/2006/main" noGrp="1"/>
          </p:cNvSpPr>
          <p:nvPr/>
        </p:nvSpPr>
        <p:spPr>
          <a:xfrm xmlns:a="http://schemas.openxmlformats.org/drawingml/2006/main" rot="0" flipH="0" flipV="0">
            <a:off x="457200" y="2638425"/>
            <a:ext cx="3381375" cy="1562100"/>
          </a:xfrm>
          <a:prstGeom xmlns:a="http://schemas.openxmlformats.org/drawingml/2006/main" prst="rect">
            <a:avLst/>
          </a:prstGeom>
        </p:spPr>
        <p:txBody>
          <a:bodyPr xmlns:a="http://schemas.openxmlformats.org/drawingml/2006/main" wrap="square" lIns="0" tIns="0" rIns="0" bIns="0">
            <a:normAutofit fontScale="48258"/>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继承是面向对象编程的三大特性之一：由已有的类创建新类，新类继承父类的状态和行为，并根据需要增加自己的新状态和行为。</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Inheritance is one of the three major characteristics of object-oriented programming: creating a new class from an existing class, the new class inherits the state and behavior of the parent class, and adds its own new state and behavior as needed.</a:t>
            </a:r>
          </a:p>
        </p:txBody>
      </p:sp>
      <p:sp>
        <p:nvSpPr>
          <p:cNvPr id="260" name="">
            <a:extLst xmlns:a="http://schemas.openxmlformats.org/drawingml/2006/main">
              <a:ext uri="{FF2B5EF4-FFF2-40B4-BE49-F238E27FC236}">
                <a16:creationId xmlns:a16="http://schemas.microsoft.com/office/drawing/2014/main" id="{6EF41165-C516-4FC3-8138-F4E4BA1ABC0E}"/>
              </a:ext>
            </a:extLst>
          </p:cNvPr>
          <p:cNvSpPr>
            <a:spLocks xmlns:a="http://schemas.openxmlformats.org/drawingml/2006/main" noGrp="1"/>
          </p:cNvSpPr>
          <p:nvPr/>
        </p:nvSpPr>
        <p:spPr>
          <a:xfrm xmlns:a="http://schemas.openxmlformats.org/drawingml/2006/main" rot="0" flipH="0" flipV="0">
            <a:off x="4238625" y="1695450"/>
            <a:ext cx="2428875" cy="3962400"/>
          </a:xfrm>
          <a:prstGeom xmlns:a="http://schemas.openxmlformats.org/drawingml/2006/main" prst="roundRect">
            <a:avLst>
              <a:gd name="adj" fmla="val 392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261" name="">
            <a:extLst xmlns:a="http://schemas.openxmlformats.org/drawingml/2006/main">
              <a:ext uri="{FF2B5EF4-FFF2-40B4-BE49-F238E27FC236}">
                <a16:creationId xmlns:a16="http://schemas.microsoft.com/office/drawing/2014/main" id="{B5F86D75-16E0-4A3C-950F-1CBCFF777488}"/>
              </a:ext>
            </a:extLst>
          </p:cNvPr>
          <p:cNvSpPr>
            <a:spLocks xmlns:a="http://schemas.openxmlformats.org/drawingml/2006/main" noGrp="1"/>
          </p:cNvSpPr>
          <p:nvPr/>
        </p:nvSpPr>
        <p:spPr>
          <a:xfrm xmlns:a="http://schemas.openxmlformats.org/drawingml/2006/main" rot="0" flipH="0" flipV="0">
            <a:off x="4238625" y="1695450"/>
            <a:ext cx="2428875" cy="3962400"/>
          </a:xfrm>
          <a:custGeom xmlns:a="http://schemas.openxmlformats.org/drawingml/2006/main">
            <a:pathLst>
              <a:path w="255" h="416">
                <a:moveTo>
                  <a:pt x="10" y="0"/>
                </a:moveTo>
                <a:cubicBezTo>
                  <a:pt x="8" y="0"/>
                  <a:pt x="6" y="2"/>
                  <a:pt x="6" y="4"/>
                </a:cubicBezTo>
                <a:lnTo>
                  <a:pt x="6" y="412"/>
                </a:lnTo>
                <a:cubicBezTo>
                  <a:pt x="6" y="414"/>
                  <a:pt x="8" y="416"/>
                  <a:pt x="10" y="416"/>
                </a:cubicBezTo>
                <a:cubicBezTo>
                  <a:pt x="4" y="416"/>
                  <a:pt x="0" y="411"/>
                  <a:pt x="0" y="406"/>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62" name="">
            <a:extLst xmlns:a="http://schemas.openxmlformats.org/drawingml/2006/main">
              <a:ext uri="{FF2B5EF4-FFF2-40B4-BE49-F238E27FC236}">
                <a16:creationId xmlns:a16="http://schemas.microsoft.com/office/drawing/2014/main" id="{A50F900B-D443-4FEB-A056-CEAD9D145675}"/>
              </a:ext>
            </a:extLst>
          </p:cNvPr>
          <p:cNvSpPr>
            <a:spLocks xmlns:a="http://schemas.openxmlformats.org/drawingml/2006/main" noGrp="1"/>
          </p:cNvSpPr>
          <p:nvPr/>
        </p:nvSpPr>
        <p:spPr>
          <a:xfrm xmlns:a="http://schemas.openxmlformats.org/drawingml/2006/main" rot="0" flipH="0" flipV="0">
            <a:off x="4429125" y="1847850"/>
            <a:ext cx="199072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主要内容</a:t>
            </a:r>
          </a:p>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Main content</a:t>
            </a:r>
          </a:p>
        </p:txBody>
      </p:sp>
      <p:sp>
        <p:nvSpPr>
          <p:cNvPr id="263" name="">
            <a:extLst xmlns:a="http://schemas.openxmlformats.org/drawingml/2006/main">
              <a:ext uri="{FF2B5EF4-FFF2-40B4-BE49-F238E27FC236}">
                <a16:creationId xmlns:a16="http://schemas.microsoft.com/office/drawing/2014/main" id="{4043E53C-CCC4-4BFE-9FB9-303473B5033C}"/>
              </a:ext>
            </a:extLst>
          </p:cNvPr>
          <p:cNvSpPr>
            <a:spLocks xmlns:a="http://schemas.openxmlformats.org/drawingml/2006/main" noGrp="1"/>
          </p:cNvSpPr>
          <p:nvPr/>
        </p:nvSpPr>
        <p:spPr>
          <a:xfrm xmlns:a="http://schemas.openxmlformats.org/drawingml/2006/main" rot="0" flipH="0" flipV="0">
            <a:off x="4429125" y="208597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子类与父类</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Subclasses and parent classes</a:t>
            </a:r>
          </a:p>
        </p:txBody>
      </p:sp>
      <p:sp>
        <p:nvSpPr>
          <p:cNvPr id="264" name="">
            <a:extLst xmlns:a="http://schemas.openxmlformats.org/drawingml/2006/main">
              <a:ext uri="{FF2B5EF4-FFF2-40B4-BE49-F238E27FC236}">
                <a16:creationId xmlns:a16="http://schemas.microsoft.com/office/drawing/2014/main" id="{F643E30C-BA63-4CD3-B594-B93C4075BB3C}"/>
              </a:ext>
            </a:extLst>
          </p:cNvPr>
          <p:cNvSpPr>
            <a:spLocks xmlns:a="http://schemas.openxmlformats.org/drawingml/2006/main" noGrp="1"/>
          </p:cNvSpPr>
          <p:nvPr/>
        </p:nvSpPr>
        <p:spPr>
          <a:xfrm xmlns:a="http://schemas.openxmlformats.org/drawingml/2006/main" rot="0" flipH="0" flipV="0">
            <a:off x="4429125" y="2400300"/>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子类的继承性</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Inheritance from subclasses</a:t>
            </a:r>
          </a:p>
        </p:txBody>
      </p:sp>
      <p:sp>
        <p:nvSpPr>
          <p:cNvPr id="265" name="">
            <a:extLst xmlns:a="http://schemas.openxmlformats.org/drawingml/2006/main">
              <a:ext uri="{FF2B5EF4-FFF2-40B4-BE49-F238E27FC236}">
                <a16:creationId xmlns:a16="http://schemas.microsoft.com/office/drawing/2014/main" id="{8536C725-A850-461C-9FC2-D9F1409CB88A}"/>
              </a:ext>
            </a:extLst>
          </p:cNvPr>
          <p:cNvSpPr>
            <a:spLocks xmlns:a="http://schemas.openxmlformats.org/drawingml/2006/main" noGrp="1"/>
          </p:cNvSpPr>
          <p:nvPr/>
        </p:nvSpPr>
        <p:spPr>
          <a:xfrm xmlns:a="http://schemas.openxmlformats.org/drawingml/2006/main" rot="0" flipH="0" flipV="0">
            <a:off x="4429125" y="271462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子类与对象</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Subclasses and Objects</a:t>
            </a:r>
          </a:p>
        </p:txBody>
      </p:sp>
      <p:sp>
        <p:nvSpPr>
          <p:cNvPr id="266" name="">
            <a:extLst xmlns:a="http://schemas.openxmlformats.org/drawingml/2006/main">
              <a:ext uri="{FF2B5EF4-FFF2-40B4-BE49-F238E27FC236}">
                <a16:creationId xmlns:a16="http://schemas.microsoft.com/office/drawing/2014/main" id="{4E199A84-7CD9-48C9-B01A-071551496072}"/>
              </a:ext>
            </a:extLst>
          </p:cNvPr>
          <p:cNvSpPr>
            <a:spLocks xmlns:a="http://schemas.openxmlformats.org/drawingml/2006/main" noGrp="1"/>
          </p:cNvSpPr>
          <p:nvPr/>
        </p:nvSpPr>
        <p:spPr>
          <a:xfrm xmlns:a="http://schemas.openxmlformats.org/drawingml/2006/main" rot="0" flipH="0" flipV="0">
            <a:off x="4429125" y="3028950"/>
            <a:ext cx="1990725" cy="276225"/>
          </a:xfrm>
          <a:prstGeom xmlns:a="http://schemas.openxmlformats.org/drawingml/2006/main" prst="rect">
            <a:avLst/>
          </a:prstGeom>
        </p:spPr>
        <p:txBody>
          <a:bodyPr xmlns:a="http://schemas.openxmlformats.org/drawingml/2006/main" wrap="none" lIns="0" tIns="0" rIns="0" bIns="0">
            <a:normAutofit fontScale="34677"/>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成员变量的隐藏和方法重写</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Hiding member variables and overriding methods</a:t>
            </a:r>
          </a:p>
        </p:txBody>
      </p:sp>
      <p:sp>
        <p:nvSpPr>
          <p:cNvPr id="267" name="">
            <a:extLst xmlns:a="http://schemas.openxmlformats.org/drawingml/2006/main">
              <a:ext uri="{FF2B5EF4-FFF2-40B4-BE49-F238E27FC236}">
                <a16:creationId xmlns:a16="http://schemas.microsoft.com/office/drawing/2014/main" id="{07AC0223-F176-42AE-A2C9-202A44998FBB}"/>
              </a:ext>
            </a:extLst>
          </p:cNvPr>
          <p:cNvSpPr>
            <a:spLocks xmlns:a="http://schemas.openxmlformats.org/drawingml/2006/main" noGrp="1"/>
          </p:cNvSpPr>
          <p:nvPr/>
        </p:nvSpPr>
        <p:spPr>
          <a:xfrm xmlns:a="http://schemas.openxmlformats.org/drawingml/2006/main" rot="0" flipH="0" flipV="0">
            <a:off x="4429125" y="334327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super 关键字</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super keyword</a:t>
            </a:r>
          </a:p>
        </p:txBody>
      </p:sp>
      <p:sp>
        <p:nvSpPr>
          <p:cNvPr id="268" name="">
            <a:extLst xmlns:a="http://schemas.openxmlformats.org/drawingml/2006/main">
              <a:ext uri="{FF2B5EF4-FFF2-40B4-BE49-F238E27FC236}">
                <a16:creationId xmlns:a16="http://schemas.microsoft.com/office/drawing/2014/main" id="{AFAB731A-4C53-4782-AA6C-99BB73807AC0}"/>
              </a:ext>
            </a:extLst>
          </p:cNvPr>
          <p:cNvSpPr>
            <a:spLocks xmlns:a="http://schemas.openxmlformats.org/drawingml/2006/main" noGrp="1"/>
          </p:cNvSpPr>
          <p:nvPr/>
        </p:nvSpPr>
        <p:spPr>
          <a:xfrm xmlns:a="http://schemas.openxmlformats.org/drawingml/2006/main" rot="0" flipH="0" flipV="0">
            <a:off x="4429125" y="3657600"/>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final 关键字</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final keyword</a:t>
            </a:r>
          </a:p>
        </p:txBody>
      </p:sp>
      <p:sp>
        <p:nvSpPr>
          <p:cNvPr id="269" name="">
            <a:extLst xmlns:a="http://schemas.openxmlformats.org/drawingml/2006/main">
              <a:ext uri="{FF2B5EF4-FFF2-40B4-BE49-F238E27FC236}">
                <a16:creationId xmlns:a16="http://schemas.microsoft.com/office/drawing/2014/main" id="{D8456DB9-A50F-44C4-8B07-341B842E5B0B}"/>
              </a:ext>
            </a:extLst>
          </p:cNvPr>
          <p:cNvSpPr>
            <a:spLocks xmlns:a="http://schemas.openxmlformats.org/drawingml/2006/main" noGrp="1"/>
          </p:cNvSpPr>
          <p:nvPr/>
        </p:nvSpPr>
        <p:spPr>
          <a:xfrm xmlns:a="http://schemas.openxmlformats.org/drawingml/2006/main" rot="0" flipH="0" flipV="0">
            <a:off x="4429125" y="397192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对象的上转型对象</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upcast object</a:t>
            </a:r>
          </a:p>
        </p:txBody>
      </p:sp>
      <p:sp>
        <p:nvSpPr>
          <p:cNvPr id="270" name="">
            <a:extLst xmlns:a="http://schemas.openxmlformats.org/drawingml/2006/main">
              <a:ext uri="{FF2B5EF4-FFF2-40B4-BE49-F238E27FC236}">
                <a16:creationId xmlns:a16="http://schemas.microsoft.com/office/drawing/2014/main" id="{A20573CB-5D52-49FA-A8FA-14FD8570CE13}"/>
              </a:ext>
            </a:extLst>
          </p:cNvPr>
          <p:cNvSpPr>
            <a:spLocks xmlns:a="http://schemas.openxmlformats.org/drawingml/2006/main" noGrp="1"/>
          </p:cNvSpPr>
          <p:nvPr/>
        </p:nvSpPr>
        <p:spPr>
          <a:xfrm xmlns:a="http://schemas.openxmlformats.org/drawingml/2006/main" rot="0" flipH="0" flipV="0">
            <a:off x="4429125" y="4286250"/>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继承与多态</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Inheritance and Polymorphism</a:t>
            </a:r>
          </a:p>
        </p:txBody>
      </p:sp>
      <p:sp>
        <p:nvSpPr>
          <p:cNvPr id="271" name="">
            <a:extLst xmlns:a="http://schemas.openxmlformats.org/drawingml/2006/main">
              <a:ext uri="{FF2B5EF4-FFF2-40B4-BE49-F238E27FC236}">
                <a16:creationId xmlns:a16="http://schemas.microsoft.com/office/drawing/2014/main" id="{482D7F13-717B-4DB1-A9D4-16B328F0437F}"/>
              </a:ext>
            </a:extLst>
          </p:cNvPr>
          <p:cNvSpPr>
            <a:spLocks xmlns:a="http://schemas.openxmlformats.org/drawingml/2006/main" noGrp="1"/>
          </p:cNvSpPr>
          <p:nvPr/>
        </p:nvSpPr>
        <p:spPr>
          <a:xfrm xmlns:a="http://schemas.openxmlformats.org/drawingml/2006/main" rot="0" flipH="0" flipV="0">
            <a:off x="4429125" y="4600575"/>
            <a:ext cx="1990725" cy="276225"/>
          </a:xfrm>
          <a:prstGeom xmlns:a="http://schemas.openxmlformats.org/drawingml/2006/main" prst="rect">
            <a:avLst/>
          </a:prstGeom>
        </p:spPr>
        <p:txBody>
          <a:bodyPr xmlns:a="http://schemas.openxmlformats.org/drawingml/2006/main" wrap="none" lIns="0" tIns="0" rIns="0" bIns="0">
            <a:normAutofit fontScale="45677"/>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abstract 类与 abstract 方法</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abstract classes and abstract methods</a:t>
            </a:r>
          </a:p>
        </p:txBody>
      </p:sp>
      <p:sp>
        <p:nvSpPr>
          <p:cNvPr id="272" name="">
            <a:extLst xmlns:a="http://schemas.openxmlformats.org/drawingml/2006/main">
              <a:ext uri="{FF2B5EF4-FFF2-40B4-BE49-F238E27FC236}">
                <a16:creationId xmlns:a16="http://schemas.microsoft.com/office/drawing/2014/main" id="{76AB44BD-3E55-4A1E-84C5-1086069AE7DB}"/>
              </a:ext>
            </a:extLst>
          </p:cNvPr>
          <p:cNvSpPr>
            <a:spLocks xmlns:a="http://schemas.openxmlformats.org/drawingml/2006/main" noGrp="1"/>
          </p:cNvSpPr>
          <p:nvPr/>
        </p:nvSpPr>
        <p:spPr>
          <a:xfrm xmlns:a="http://schemas.openxmlformats.org/drawingml/2006/main" rot="0" flipH="0" flipV="0">
            <a:off x="4429125" y="4914900"/>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面向抽象编程</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Programming towards abstraction</a:t>
            </a:r>
          </a:p>
        </p:txBody>
      </p:sp>
      <p:sp>
        <p:nvSpPr>
          <p:cNvPr id="273" name="">
            <a:extLst xmlns:a="http://schemas.openxmlformats.org/drawingml/2006/main">
              <a:ext uri="{FF2B5EF4-FFF2-40B4-BE49-F238E27FC236}">
                <a16:creationId xmlns:a16="http://schemas.microsoft.com/office/drawing/2014/main" id="{E3402FB5-55DC-457A-B6A4-12696FB4CE72}"/>
              </a:ext>
            </a:extLst>
          </p:cNvPr>
          <p:cNvSpPr>
            <a:spLocks xmlns:a="http://schemas.openxmlformats.org/drawingml/2006/main" noGrp="1"/>
          </p:cNvSpPr>
          <p:nvPr/>
        </p:nvSpPr>
        <p:spPr>
          <a:xfrm xmlns:a="http://schemas.openxmlformats.org/drawingml/2006/main" rot="0" flipH="0" flipV="0">
            <a:off x="4429125" y="522922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开-闭原则</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open-closed principle</a:t>
            </a:r>
          </a:p>
        </p:txBody>
      </p:sp>
      <p:sp>
        <p:nvSpPr>
          <p:cNvPr id="274" name="">
            <a:extLst xmlns:a="http://schemas.openxmlformats.org/drawingml/2006/main">
              <a:ext uri="{FF2B5EF4-FFF2-40B4-BE49-F238E27FC236}">
                <a16:creationId xmlns:a16="http://schemas.microsoft.com/office/drawing/2014/main" id="{3EE6F37E-A8CB-4090-A87E-806CA920706E}"/>
              </a:ext>
            </a:extLst>
          </p:cNvPr>
          <p:cNvSpPr>
            <a:spLocks xmlns:a="http://schemas.openxmlformats.org/drawingml/2006/main" noGrp="1"/>
          </p:cNvSpPr>
          <p:nvPr/>
        </p:nvSpPr>
        <p:spPr>
          <a:xfrm xmlns:a="http://schemas.openxmlformats.org/drawingml/2006/main" rot="0" flipH="0" flipV="0">
            <a:off x="6800850" y="1695450"/>
            <a:ext cx="2428875" cy="3962400"/>
          </a:xfrm>
          <a:prstGeom xmlns:a="http://schemas.openxmlformats.org/drawingml/2006/main" prst="roundRect">
            <a:avLst>
              <a:gd name="adj" fmla="val 392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275" name="">
            <a:extLst xmlns:a="http://schemas.openxmlformats.org/drawingml/2006/main">
              <a:ext uri="{FF2B5EF4-FFF2-40B4-BE49-F238E27FC236}">
                <a16:creationId xmlns:a16="http://schemas.microsoft.com/office/drawing/2014/main" id="{93E13566-5BD9-4E7E-8B2E-E173BF49E19C}"/>
              </a:ext>
            </a:extLst>
          </p:cNvPr>
          <p:cNvSpPr>
            <a:spLocks xmlns:a="http://schemas.openxmlformats.org/drawingml/2006/main" noGrp="1"/>
          </p:cNvSpPr>
          <p:nvPr/>
        </p:nvSpPr>
        <p:spPr>
          <a:xfrm xmlns:a="http://schemas.openxmlformats.org/drawingml/2006/main" rot="0" flipH="0" flipV="0">
            <a:off x="6800850" y="1695450"/>
            <a:ext cx="2428875" cy="3962400"/>
          </a:xfrm>
          <a:custGeom xmlns:a="http://schemas.openxmlformats.org/drawingml/2006/main">
            <a:pathLst>
              <a:path w="255" h="416">
                <a:moveTo>
                  <a:pt x="10" y="0"/>
                </a:moveTo>
                <a:cubicBezTo>
                  <a:pt x="8" y="0"/>
                  <a:pt x="6" y="2"/>
                  <a:pt x="6" y="4"/>
                </a:cubicBezTo>
                <a:lnTo>
                  <a:pt x="6" y="412"/>
                </a:lnTo>
                <a:cubicBezTo>
                  <a:pt x="6" y="414"/>
                  <a:pt x="8" y="416"/>
                  <a:pt x="10" y="416"/>
                </a:cubicBezTo>
                <a:cubicBezTo>
                  <a:pt x="4" y="416"/>
                  <a:pt x="0" y="411"/>
                  <a:pt x="0" y="406"/>
                </a:cubicBezTo>
                <a:lnTo>
                  <a:pt x="0" y="10"/>
                </a:lnTo>
                <a:cubicBezTo>
                  <a:pt x="0" y="5"/>
                  <a:pt x="4" y="0"/>
                  <a:pt x="10" y="0"/>
                </a:cubicBezTo>
                <a:close/>
              </a:path>
            </a:pathLst>
          </a:custGeom>
          <a:solidFill xmlns:a="http://schemas.openxmlformats.org/drawingml/2006/main">
            <a:srgbClr val="3D7BD9"/>
          </a:solidFill>
        </p:spPr>
        <p:txBody>
          <a:bodyPr xmlns:a="http://schemas.openxmlformats.org/drawingml/2006/main"/>
          <a:lstStyle xmlns:a="http://schemas.openxmlformats.org/drawingml/2006/main"/>
          <a:p xmlns:a="http://schemas.openxmlformats.org/drawingml/2006/main"/>
        </p:txBody>
      </p:sp>
      <p:sp>
        <p:nvSpPr>
          <p:cNvPr id="276" name="">
            <a:extLst xmlns:a="http://schemas.openxmlformats.org/drawingml/2006/main">
              <a:ext uri="{FF2B5EF4-FFF2-40B4-BE49-F238E27FC236}">
                <a16:creationId xmlns:a16="http://schemas.microsoft.com/office/drawing/2014/main" id="{5ACDD132-5519-4E82-9133-717A35B398C6}"/>
              </a:ext>
            </a:extLst>
          </p:cNvPr>
          <p:cNvSpPr>
            <a:spLocks xmlns:a="http://schemas.openxmlformats.org/drawingml/2006/main" noGrp="1"/>
          </p:cNvSpPr>
          <p:nvPr/>
        </p:nvSpPr>
        <p:spPr>
          <a:xfrm xmlns:a="http://schemas.openxmlformats.org/drawingml/2006/main" rot="0" flipH="0" flipV="0">
            <a:off x="6991350" y="1847850"/>
            <a:ext cx="199072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3D7BD9"/>
                </a:solidFill>
                <a:latin typeface="Microsoft YaHei"/>
                <a:ea typeface="Microsoft YaHei"/>
                <a:cs typeface="Microsoft YaHei"/>
              </a:rPr>
              <a:t>重点</a:t>
            </a:r>
          </a:p>
          <a:p xmlns:a="http://schemas.openxmlformats.org/drawingml/2006/main">
            <a:pPr marL="0">
              <a:lnSpc>
                <a:spcPct val="100000"/>
              </a:lnSpc>
              <a:spcBef>
                <a:spcPts val="0"/>
              </a:spcBef>
              <a:spcAft>
                <a:spcPts val="0"/>
              </a:spcAft>
              <a:buNone/>
            </a:pPr>
            <a:r>
              <a:rPr sz="2010" b="1">
                <a:solidFill>
                  <a:srgbClr val="3D7BD9"/>
                </a:solidFill>
                <a:latin typeface="Microsoft YaHei"/>
                <a:ea typeface="Microsoft YaHei"/>
                <a:cs typeface="Microsoft YaHei"/>
              </a:rPr>
              <a:t>focus</a:t>
            </a:r>
          </a:p>
        </p:txBody>
      </p:sp>
      <p:sp>
        <p:nvSpPr>
          <p:cNvPr id="277" name="">
            <a:extLst xmlns:a="http://schemas.openxmlformats.org/drawingml/2006/main">
              <a:ext uri="{FF2B5EF4-FFF2-40B4-BE49-F238E27FC236}">
                <a16:creationId xmlns:a16="http://schemas.microsoft.com/office/drawing/2014/main" id="{1D5B5845-8664-4E85-84E0-4F6A8D8EB034}"/>
              </a:ext>
            </a:extLst>
          </p:cNvPr>
          <p:cNvSpPr>
            <a:spLocks xmlns:a="http://schemas.openxmlformats.org/drawingml/2006/main" noGrp="1"/>
          </p:cNvSpPr>
          <p:nvPr/>
        </p:nvSpPr>
        <p:spPr>
          <a:xfrm xmlns:a="http://schemas.openxmlformats.org/drawingml/2006/main" rot="0" flipH="0" flipV="0">
            <a:off x="6991350" y="208597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类的继承性</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class inheritance</a:t>
            </a:r>
          </a:p>
        </p:txBody>
      </p:sp>
      <p:sp>
        <p:nvSpPr>
          <p:cNvPr id="278" name="">
            <a:extLst xmlns:a="http://schemas.openxmlformats.org/drawingml/2006/main">
              <a:ext uri="{FF2B5EF4-FFF2-40B4-BE49-F238E27FC236}">
                <a16:creationId xmlns:a16="http://schemas.microsoft.com/office/drawing/2014/main" id="{48029DC0-65FC-4DFA-B67E-452F97BDDAC1}"/>
              </a:ext>
            </a:extLst>
          </p:cNvPr>
          <p:cNvSpPr>
            <a:spLocks xmlns:a="http://schemas.openxmlformats.org/drawingml/2006/main" noGrp="1"/>
          </p:cNvSpPr>
          <p:nvPr/>
        </p:nvSpPr>
        <p:spPr>
          <a:xfrm xmlns:a="http://schemas.openxmlformats.org/drawingml/2006/main" rot="0" flipH="0" flipV="0">
            <a:off x="6991350" y="2400300"/>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上转型对象</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Upcast object</a:t>
            </a:r>
          </a:p>
        </p:txBody>
      </p:sp>
      <p:sp>
        <p:nvSpPr>
          <p:cNvPr id="279" name="">
            <a:extLst xmlns:a="http://schemas.openxmlformats.org/drawingml/2006/main">
              <a:ext uri="{FF2B5EF4-FFF2-40B4-BE49-F238E27FC236}">
                <a16:creationId xmlns:a16="http://schemas.microsoft.com/office/drawing/2014/main" id="{2EEA513B-BCA6-458C-9D9F-337BBC5BA262}"/>
              </a:ext>
            </a:extLst>
          </p:cNvPr>
          <p:cNvSpPr>
            <a:spLocks xmlns:a="http://schemas.openxmlformats.org/drawingml/2006/main" noGrp="1"/>
          </p:cNvSpPr>
          <p:nvPr/>
        </p:nvSpPr>
        <p:spPr>
          <a:xfrm xmlns:a="http://schemas.openxmlformats.org/drawingml/2006/main" rot="0" flipH="0" flipV="0">
            <a:off x="6991350" y="271462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多态技术</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polymorphic technology</a:t>
            </a:r>
          </a:p>
        </p:txBody>
      </p:sp>
      <p:sp>
        <p:nvSpPr>
          <p:cNvPr id="280" name="">
            <a:extLst xmlns:a="http://schemas.openxmlformats.org/drawingml/2006/main">
              <a:ext uri="{FF2B5EF4-FFF2-40B4-BE49-F238E27FC236}">
                <a16:creationId xmlns:a16="http://schemas.microsoft.com/office/drawing/2014/main" id="{20192A10-B163-48B9-975C-A472493622DD}"/>
              </a:ext>
            </a:extLst>
          </p:cNvPr>
          <p:cNvSpPr>
            <a:spLocks xmlns:a="http://schemas.openxmlformats.org/drawingml/2006/main" noGrp="1"/>
          </p:cNvSpPr>
          <p:nvPr/>
        </p:nvSpPr>
        <p:spPr>
          <a:xfrm xmlns:a="http://schemas.openxmlformats.org/drawingml/2006/main" rot="0" flipH="0" flipV="0">
            <a:off x="9363075" y="1695450"/>
            <a:ext cx="2428875" cy="3962400"/>
          </a:xfrm>
          <a:prstGeom xmlns:a="http://schemas.openxmlformats.org/drawingml/2006/main" prst="roundRect">
            <a:avLst>
              <a:gd name="adj" fmla="val 392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281" name="">
            <a:extLst xmlns:a="http://schemas.openxmlformats.org/drawingml/2006/main">
              <a:ext uri="{FF2B5EF4-FFF2-40B4-BE49-F238E27FC236}">
                <a16:creationId xmlns:a16="http://schemas.microsoft.com/office/drawing/2014/main" id="{591C59DA-2D0C-472E-8ECD-EE074308E22B}"/>
              </a:ext>
            </a:extLst>
          </p:cNvPr>
          <p:cNvSpPr>
            <a:spLocks xmlns:a="http://schemas.openxmlformats.org/drawingml/2006/main" noGrp="1"/>
          </p:cNvSpPr>
          <p:nvPr/>
        </p:nvSpPr>
        <p:spPr>
          <a:xfrm xmlns:a="http://schemas.openxmlformats.org/drawingml/2006/main" rot="0" flipH="0" flipV="0">
            <a:off x="9363075" y="1695450"/>
            <a:ext cx="2428875" cy="3962400"/>
          </a:xfrm>
          <a:custGeom xmlns:a="http://schemas.openxmlformats.org/drawingml/2006/main">
            <a:pathLst>
              <a:path w="255" h="416">
                <a:moveTo>
                  <a:pt x="10" y="0"/>
                </a:moveTo>
                <a:cubicBezTo>
                  <a:pt x="8" y="0"/>
                  <a:pt x="6" y="2"/>
                  <a:pt x="6" y="4"/>
                </a:cubicBezTo>
                <a:lnTo>
                  <a:pt x="6" y="412"/>
                </a:lnTo>
                <a:cubicBezTo>
                  <a:pt x="6" y="414"/>
                  <a:pt x="8" y="416"/>
                  <a:pt x="10" y="416"/>
                </a:cubicBezTo>
                <a:cubicBezTo>
                  <a:pt x="4" y="416"/>
                  <a:pt x="0" y="411"/>
                  <a:pt x="0" y="406"/>
                </a:cubicBezTo>
                <a:lnTo>
                  <a:pt x="0" y="10"/>
                </a:lnTo>
                <a:cubicBezTo>
                  <a:pt x="0" y="5"/>
                  <a:pt x="4" y="0"/>
                  <a:pt x="10"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282" name="">
            <a:extLst xmlns:a="http://schemas.openxmlformats.org/drawingml/2006/main">
              <a:ext uri="{FF2B5EF4-FFF2-40B4-BE49-F238E27FC236}">
                <a16:creationId xmlns:a16="http://schemas.microsoft.com/office/drawing/2014/main" id="{AEC1D88C-014E-472F-975C-D1D55BBCAFAC}"/>
              </a:ext>
            </a:extLst>
          </p:cNvPr>
          <p:cNvSpPr>
            <a:spLocks xmlns:a="http://schemas.openxmlformats.org/drawingml/2006/main" noGrp="1"/>
          </p:cNvSpPr>
          <p:nvPr/>
        </p:nvSpPr>
        <p:spPr>
          <a:xfrm xmlns:a="http://schemas.openxmlformats.org/drawingml/2006/main" rot="0" flipH="0" flipV="0">
            <a:off x="9553575" y="1847850"/>
            <a:ext cx="199072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难点</a:t>
            </a:r>
          </a:p>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difficulty</a:t>
            </a:r>
          </a:p>
        </p:txBody>
      </p:sp>
      <p:sp>
        <p:nvSpPr>
          <p:cNvPr id="283" name="">
            <a:extLst xmlns:a="http://schemas.openxmlformats.org/drawingml/2006/main">
              <a:ext uri="{FF2B5EF4-FFF2-40B4-BE49-F238E27FC236}">
                <a16:creationId xmlns:a16="http://schemas.microsoft.com/office/drawing/2014/main" id="{7FF36D77-B0F9-4652-8825-07E74D95DBFF}"/>
              </a:ext>
            </a:extLst>
          </p:cNvPr>
          <p:cNvSpPr>
            <a:spLocks xmlns:a="http://schemas.openxmlformats.org/drawingml/2006/main" noGrp="1"/>
          </p:cNvSpPr>
          <p:nvPr/>
        </p:nvSpPr>
        <p:spPr>
          <a:xfrm xmlns:a="http://schemas.openxmlformats.org/drawingml/2006/main" rot="0" flipH="0" flipV="0">
            <a:off x="9553575" y="208597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理解上转型对象</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Understand transformation objects</a:t>
            </a:r>
          </a:p>
        </p:txBody>
      </p:sp>
      <p:sp>
        <p:nvSpPr>
          <p:cNvPr id="284" name="">
            <a:extLst xmlns:a="http://schemas.openxmlformats.org/drawingml/2006/main">
              <a:ext uri="{FF2B5EF4-FFF2-40B4-BE49-F238E27FC236}">
                <a16:creationId xmlns:a16="http://schemas.microsoft.com/office/drawing/2014/main" id="{F7CFD765-CFCE-4389-805E-9E581FB19BBE}"/>
              </a:ext>
            </a:extLst>
          </p:cNvPr>
          <p:cNvSpPr>
            <a:spLocks xmlns:a="http://schemas.openxmlformats.org/drawingml/2006/main" noGrp="1"/>
          </p:cNvSpPr>
          <p:nvPr/>
        </p:nvSpPr>
        <p:spPr>
          <a:xfrm xmlns:a="http://schemas.openxmlformats.org/drawingml/2006/main" rot="0" flipH="0" flipV="0">
            <a:off x="9553575" y="2400300"/>
            <a:ext cx="1990725" cy="276225"/>
          </a:xfrm>
          <a:prstGeom xmlns:a="http://schemas.openxmlformats.org/drawingml/2006/main" prst="rect">
            <a:avLst/>
          </a:prstGeom>
        </p:spPr>
        <p:txBody>
          <a:bodyPr xmlns:a="http://schemas.openxmlformats.org/drawingml/2006/main" wrap="none" lIns="0" tIns="0" rIns="0" bIns="0">
            <a:normAutofit fontScale="32387"/>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多态技术的理解和运用</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Understanding and applying polymorphic technology</a:t>
            </a:r>
          </a:p>
        </p:txBody>
      </p:sp>
      <p:sp>
        <p:nvSpPr>
          <p:cNvPr id="285" name="">
            <a:extLst xmlns:a="http://schemas.openxmlformats.org/drawingml/2006/main">
              <a:ext uri="{FF2B5EF4-FFF2-40B4-BE49-F238E27FC236}">
                <a16:creationId xmlns:a16="http://schemas.microsoft.com/office/drawing/2014/main" id="{7F013D05-55E7-47C7-870A-34CEBBCB92FF}"/>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 / 87</a:t>
            </a:r>
            <a:endParaRPr/>
          </a:p>
        </p:txBody>
      </p:sp>
    </p:spTree>
    <p:extLst>
      <p:ext uri="{BB962C8B-B14F-4D97-AF65-F5344CB8AC3E}">
        <p14:creationId xmlns:p14="http://schemas.microsoft.com/office/powerpoint/2010/main" val="179911141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17" name="">
            <a:extLst xmlns:a="http://schemas.openxmlformats.org/drawingml/2006/main">
              <a:ext uri="{FF2B5EF4-FFF2-40B4-BE49-F238E27FC236}">
                <a16:creationId xmlns:a16="http://schemas.microsoft.com/office/drawing/2014/main" id="{9B97F0B4-1C67-4713-9AD0-809FBE9B7B3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18" name="">
            <a:extLst xmlns:a="http://schemas.openxmlformats.org/drawingml/2006/main">
              <a:ext uri="{FF2B5EF4-FFF2-40B4-BE49-F238E27FC236}">
                <a16:creationId xmlns:a16="http://schemas.microsoft.com/office/drawing/2014/main" id="{85EA41D7-A182-4910-B951-477F8C72F7E3}"/>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19" name="">
            <a:extLst xmlns:a="http://schemas.openxmlformats.org/drawingml/2006/main">
              <a:ext uri="{FF2B5EF4-FFF2-40B4-BE49-F238E27FC236}">
                <a16:creationId xmlns:a16="http://schemas.microsoft.com/office/drawing/2014/main" id="{F7AB525C-9BFB-4305-B790-4847A21AADD4}"/>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420" name="">
            <a:extLst xmlns:a="http://schemas.openxmlformats.org/drawingml/2006/main">
              <a:ext uri="{FF2B5EF4-FFF2-40B4-BE49-F238E27FC236}">
                <a16:creationId xmlns:a16="http://schemas.microsoft.com/office/drawing/2014/main" id="{6A78951D-403D-4E7B-BA89-1F6A8C7F0709}"/>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§5.1</a:t>
            </a:r>
            <a:endParaRPr/>
          </a:p>
        </p:txBody>
      </p:sp>
      <p:sp>
        <p:nvSpPr>
          <p:cNvPr id="421" name="">
            <a:extLst xmlns:a="http://schemas.openxmlformats.org/drawingml/2006/main">
              <a:ext uri="{FF2B5EF4-FFF2-40B4-BE49-F238E27FC236}">
                <a16:creationId xmlns:a16="http://schemas.microsoft.com/office/drawing/2014/main" id="{94E49A87-A09A-4A19-ACA2-21DD87F6AD9D}"/>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7812"/>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子类与父类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Subclasses and parent classes</a:t>
            </a:r>
          </a:p>
        </p:txBody>
      </p:sp>
      <p:sp>
        <p:nvSpPr>
          <p:cNvPr id="422" name="">
            <a:extLst xmlns:a="http://schemas.openxmlformats.org/drawingml/2006/main">
              <a:ext uri="{FF2B5EF4-FFF2-40B4-BE49-F238E27FC236}">
                <a16:creationId xmlns:a16="http://schemas.microsoft.com/office/drawing/2014/main" id="{F5C7AFE6-D0B5-4F9F-82E5-67027141DDDA}"/>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23" name="">
            <a:extLst xmlns:a="http://schemas.openxmlformats.org/drawingml/2006/main">
              <a:ext uri="{FF2B5EF4-FFF2-40B4-BE49-F238E27FC236}">
                <a16:creationId xmlns:a16="http://schemas.microsoft.com/office/drawing/2014/main" id="{35CB58DE-4874-4C62-978D-DF158E473A0A}"/>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5998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继承是一种由已有的类创建新类的机制。</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Inheritance is a mechanism for creating new classes from existing classes.</a:t>
            </a:r>
          </a:p>
        </p:txBody>
      </p:sp>
      <p:sp>
        <p:nvSpPr>
          <p:cNvPr id="424" name="">
            <a:extLst xmlns:a="http://schemas.openxmlformats.org/drawingml/2006/main">
              <a:ext uri="{FF2B5EF4-FFF2-40B4-BE49-F238E27FC236}">
                <a16:creationId xmlns:a16="http://schemas.microsoft.com/office/drawing/2014/main" id="{AD701737-473B-4322-976B-7E6442FB6FB8}"/>
              </a:ext>
            </a:extLst>
          </p:cNvPr>
          <p:cNvSpPr>
            <a:spLocks xmlns:a="http://schemas.openxmlformats.org/drawingml/2006/main" noGrp="1"/>
          </p:cNvSpPr>
          <p:nvPr/>
        </p:nvSpPr>
        <p:spPr>
          <a:xfrm xmlns:a="http://schemas.openxmlformats.org/drawingml/2006/main" rot="0" flipH="0" flipV="0">
            <a:off x="4181475" y="2552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25" name="">
            <a:extLst xmlns:a="http://schemas.openxmlformats.org/drawingml/2006/main">
              <a:ext uri="{FF2B5EF4-FFF2-40B4-BE49-F238E27FC236}">
                <a16:creationId xmlns:a16="http://schemas.microsoft.com/office/drawing/2014/main" id="{F7FF5964-13B0-41CE-9F07-0D91629A62FC}"/>
              </a:ext>
            </a:extLst>
          </p:cNvPr>
          <p:cNvSpPr>
            <a:spLocks xmlns:a="http://schemas.openxmlformats.org/drawingml/2006/main" noGrp="1"/>
          </p:cNvSpPr>
          <p:nvPr/>
        </p:nvSpPr>
        <p:spPr>
          <a:xfrm xmlns:a="http://schemas.openxmlformats.org/drawingml/2006/main" rot="0" flipH="0" flipV="0">
            <a:off x="4371975" y="2438400"/>
            <a:ext cx="736282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先创建共有属性的一般类，再根据该一般类创建具有特殊属性的新类，新类继承一般类的状态和行为，并增加自己的新状态和行为</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First create a general class with common attributes, and then create a new class with special attributes based on the general class. The new class inherits the status and behavior of the general class and adds its own new status and behavior.</a:t>
            </a:r>
          </a:p>
        </p:txBody>
      </p:sp>
      <p:sp>
        <p:nvSpPr>
          <p:cNvPr id="426" name="">
            <a:extLst xmlns:a="http://schemas.openxmlformats.org/drawingml/2006/main">
              <a:ext uri="{FF2B5EF4-FFF2-40B4-BE49-F238E27FC236}">
                <a16:creationId xmlns:a16="http://schemas.microsoft.com/office/drawing/2014/main" id="{2D642144-515E-4417-8BF4-ADBE52DF2EFC}"/>
              </a:ext>
            </a:extLst>
          </p:cNvPr>
          <p:cNvSpPr>
            <a:spLocks xmlns:a="http://schemas.openxmlformats.org/drawingml/2006/main" noGrp="1"/>
          </p:cNvSpPr>
          <p:nvPr/>
        </p:nvSpPr>
        <p:spPr>
          <a:xfrm xmlns:a="http://schemas.openxmlformats.org/drawingml/2006/main" rot="0" flipH="0" flipV="0">
            <a:off x="4181475" y="35052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27" name="">
            <a:extLst xmlns:a="http://schemas.openxmlformats.org/drawingml/2006/main">
              <a:ext uri="{FF2B5EF4-FFF2-40B4-BE49-F238E27FC236}">
                <a16:creationId xmlns:a16="http://schemas.microsoft.com/office/drawing/2014/main" id="{B770BDE0-70D0-4F96-87BD-EFE065A1C8FC}"/>
              </a:ext>
            </a:extLst>
          </p:cNvPr>
          <p:cNvSpPr>
            <a:spLocks xmlns:a="http://schemas.openxmlformats.org/drawingml/2006/main" noGrp="1"/>
          </p:cNvSpPr>
          <p:nvPr/>
        </p:nvSpPr>
        <p:spPr>
          <a:xfrm xmlns:a="http://schemas.openxmlformats.org/drawingml/2006/main" rot="0" flipH="0" flipV="0">
            <a:off x="4371975" y="3390900"/>
            <a:ext cx="7362825" cy="390525"/>
          </a:xfrm>
          <a:prstGeom xmlns:a="http://schemas.openxmlformats.org/drawingml/2006/main" prst="rect">
            <a:avLst/>
          </a:prstGeom>
        </p:spPr>
        <p:txBody>
          <a:bodyPr xmlns:a="http://schemas.openxmlformats.org/drawingml/2006/main" wrap="none" lIns="0" tIns="0" rIns="0" bIns="0">
            <a:normAutofit fontScale="45593"/>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由继承而得到的类称为子类，被继承的类称为父类（超类）</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class obtained by inheritance is called a subclass, and the inherited class is called a parent class (super class).</a:t>
            </a:r>
          </a:p>
        </p:txBody>
      </p:sp>
      <p:sp>
        <p:nvSpPr>
          <p:cNvPr id="428" name="">
            <a:extLst xmlns:a="http://schemas.openxmlformats.org/drawingml/2006/main">
              <a:ext uri="{FF2B5EF4-FFF2-40B4-BE49-F238E27FC236}">
                <a16:creationId xmlns:a16="http://schemas.microsoft.com/office/drawing/2014/main" id="{3CD8E425-F83F-4EF2-88DD-93AF0FDFE364}"/>
              </a:ext>
            </a:extLst>
          </p:cNvPr>
          <p:cNvSpPr>
            <a:spLocks xmlns:a="http://schemas.openxmlformats.org/drawingml/2006/main" noGrp="1"/>
          </p:cNvSpPr>
          <p:nvPr/>
        </p:nvSpPr>
        <p:spPr>
          <a:xfrm xmlns:a="http://schemas.openxmlformats.org/drawingml/2006/main" rot="0" flipH="0" flipV="0">
            <a:off x="4181475" y="40671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29" name="">
            <a:extLst xmlns:a="http://schemas.openxmlformats.org/drawingml/2006/main">
              <a:ext uri="{FF2B5EF4-FFF2-40B4-BE49-F238E27FC236}">
                <a16:creationId xmlns:a16="http://schemas.microsoft.com/office/drawing/2014/main" id="{AD1DDC52-8ADD-43D3-925B-3893C980C326}"/>
              </a:ext>
            </a:extLst>
          </p:cNvPr>
          <p:cNvSpPr>
            <a:spLocks xmlns:a="http://schemas.openxmlformats.org/drawingml/2006/main" noGrp="1"/>
          </p:cNvSpPr>
          <p:nvPr/>
        </p:nvSpPr>
        <p:spPr>
          <a:xfrm xmlns:a="http://schemas.openxmlformats.org/drawingml/2006/main" rot="0" flipH="0" flipV="0">
            <a:off x="4371975" y="3952875"/>
            <a:ext cx="7362825" cy="390525"/>
          </a:xfrm>
          <a:prstGeom xmlns:a="http://schemas.openxmlformats.org/drawingml/2006/main" prst="rect">
            <a:avLst/>
          </a:prstGeom>
        </p:spPr>
        <p:txBody>
          <a:bodyPr xmlns:a="http://schemas.openxmlformats.org/drawingml/2006/main" wrap="none" lIns="0" tIns="0" rIns="0" bIns="0">
            <a:normAutofit fontScale="331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子类与父类的关系是 “is-a” 关系：Animal 是 Dog 的父类，可以说 “狗是动物”</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relationship between the subclass and the parent class is an "is-a" relationship: Animal is the parent class of Dog. It can be said that "dog is an animal"</a:t>
            </a:r>
          </a:p>
        </p:txBody>
      </p:sp>
      <p:sp>
        <p:nvSpPr>
          <p:cNvPr id="430" name="">
            <a:extLst xmlns:a="http://schemas.openxmlformats.org/drawingml/2006/main">
              <a:ext uri="{FF2B5EF4-FFF2-40B4-BE49-F238E27FC236}">
                <a16:creationId xmlns:a16="http://schemas.microsoft.com/office/drawing/2014/main" id="{D698286B-8E68-48A4-BE48-55A03B6BB3A3}"/>
              </a:ext>
            </a:extLst>
          </p:cNvPr>
          <p:cNvSpPr>
            <a:spLocks xmlns:a="http://schemas.openxmlformats.org/drawingml/2006/main" noGrp="1"/>
          </p:cNvSpPr>
          <p:nvPr/>
        </p:nvSpPr>
        <p:spPr>
          <a:xfrm xmlns:a="http://schemas.openxmlformats.org/drawingml/2006/main" rot="0" flipH="0" flipV="0">
            <a:off x="4181475" y="46291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31" name="">
            <a:extLst xmlns:a="http://schemas.openxmlformats.org/drawingml/2006/main">
              <a:ext uri="{FF2B5EF4-FFF2-40B4-BE49-F238E27FC236}">
                <a16:creationId xmlns:a16="http://schemas.microsoft.com/office/drawing/2014/main" id="{D368A052-6BB3-45AD-BC36-CD90208D3480}"/>
              </a:ext>
            </a:extLst>
          </p:cNvPr>
          <p:cNvSpPr>
            <a:spLocks xmlns:a="http://schemas.openxmlformats.org/drawingml/2006/main" noGrp="1"/>
          </p:cNvSpPr>
          <p:nvPr/>
        </p:nvSpPr>
        <p:spPr>
          <a:xfrm xmlns:a="http://schemas.openxmlformats.org/drawingml/2006/main" rot="0" flipH="0" flipV="0">
            <a:off x="4371975" y="4514850"/>
            <a:ext cx="7362825" cy="390525"/>
          </a:xfrm>
          <a:prstGeom xmlns:a="http://schemas.openxmlformats.org/drawingml/2006/main" prst="rect">
            <a:avLst/>
          </a:prstGeom>
        </p:spPr>
        <p:txBody>
          <a:bodyPr xmlns:a="http://schemas.openxmlformats.org/drawingml/2006/main" wrap="none" lIns="0" tIns="0" rIns="0" bIns="0">
            <a:normAutofit fontScale="4684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Java 不支持多重继承：除了 Object 类，任何子类有且只有一个父类</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Java does not support multiple inheritance: except for the Object class, any subclass has only one parent class</a:t>
            </a:r>
          </a:p>
        </p:txBody>
      </p:sp>
      <p:sp>
        <p:nvSpPr>
          <p:cNvPr id="432" name="">
            <a:extLst xmlns:a="http://schemas.openxmlformats.org/drawingml/2006/main">
              <a:ext uri="{FF2B5EF4-FFF2-40B4-BE49-F238E27FC236}">
                <a16:creationId xmlns:a16="http://schemas.microsoft.com/office/drawing/2014/main" id="{7045F444-0363-4FDB-8048-30352300E71C}"/>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 / 87</a:t>
            </a:r>
            <a:endParaRPr/>
          </a:p>
        </p:txBody>
      </p:sp>
    </p:spTree>
    <p:extLst>
      <p:ext uri="{BB962C8B-B14F-4D97-AF65-F5344CB8AC3E}">
        <p14:creationId xmlns:p14="http://schemas.microsoft.com/office/powerpoint/2010/main" val="45070993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58" name="">
            <a:extLst xmlns:a="http://schemas.openxmlformats.org/drawingml/2006/main">
              <a:ext uri="{FF2B5EF4-FFF2-40B4-BE49-F238E27FC236}">
                <a16:creationId xmlns:a16="http://schemas.microsoft.com/office/drawing/2014/main" id="{110C1699-5DD9-4D88-889A-DFB9232C0CEC}"/>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59" name="">
            <a:extLst xmlns:a="http://schemas.openxmlformats.org/drawingml/2006/main">
              <a:ext uri="{FF2B5EF4-FFF2-40B4-BE49-F238E27FC236}">
                <a16:creationId xmlns:a16="http://schemas.microsoft.com/office/drawing/2014/main" id="{0A4C6524-D456-4170-9556-6A223FA429C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60" name="">
            <a:extLst xmlns:a="http://schemas.openxmlformats.org/drawingml/2006/main">
              <a:ext uri="{FF2B5EF4-FFF2-40B4-BE49-F238E27FC236}">
                <a16:creationId xmlns:a16="http://schemas.microsoft.com/office/drawing/2014/main" id="{133FA4FA-633B-4E27-B224-73DFF71A4677}"/>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561" name="">
            <a:extLst xmlns:a="http://schemas.openxmlformats.org/drawingml/2006/main">
              <a:ext uri="{FF2B5EF4-FFF2-40B4-BE49-F238E27FC236}">
                <a16:creationId xmlns:a16="http://schemas.microsoft.com/office/drawing/2014/main" id="{0782CBB1-CAA8-4158-AD50-F60773732B80}"/>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§5.1.1</a:t>
            </a:r>
            <a:endParaRPr/>
          </a:p>
        </p:txBody>
      </p:sp>
      <p:sp>
        <p:nvSpPr>
          <p:cNvPr id="562" name="">
            <a:extLst xmlns:a="http://schemas.openxmlformats.org/drawingml/2006/main">
              <a:ext uri="{FF2B5EF4-FFF2-40B4-BE49-F238E27FC236}">
                <a16:creationId xmlns:a16="http://schemas.microsoft.com/office/drawing/2014/main" id="{8A9AFA7F-384C-4B0D-90E3-131710885B61}"/>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声明子类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Declare subclass</a:t>
            </a:r>
          </a:p>
        </p:txBody>
      </p:sp>
      <p:sp>
        <p:nvSpPr>
          <p:cNvPr id="563" name="">
            <a:extLst xmlns:a="http://schemas.openxmlformats.org/drawingml/2006/main">
              <a:ext uri="{FF2B5EF4-FFF2-40B4-BE49-F238E27FC236}">
                <a16:creationId xmlns:a16="http://schemas.microsoft.com/office/drawing/2014/main" id="{8486D3AB-11AF-43A7-A257-D5881E4F8855}"/>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64" name="">
            <a:extLst xmlns:a="http://schemas.openxmlformats.org/drawingml/2006/main">
              <a:ext uri="{FF2B5EF4-FFF2-40B4-BE49-F238E27FC236}">
                <a16:creationId xmlns:a16="http://schemas.microsoft.com/office/drawing/2014/main" id="{33CC85A3-EC6A-40BC-A4FE-60EE5B779B72}"/>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5851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使用关键字 extends 来定义一个类的子类。</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Use the keyword extends to define subclasses of a class.</a:t>
            </a:r>
          </a:p>
        </p:txBody>
      </p:sp>
      <p:sp>
        <p:nvSpPr>
          <p:cNvPr id="565" name="">
            <a:extLst xmlns:a="http://schemas.openxmlformats.org/drawingml/2006/main">
              <a:ext uri="{FF2B5EF4-FFF2-40B4-BE49-F238E27FC236}">
                <a16:creationId xmlns:a16="http://schemas.microsoft.com/office/drawing/2014/main" id="{0B0529DB-EDE1-4A53-8A95-414236A50572}"/>
              </a:ext>
            </a:extLst>
          </p:cNvPr>
          <p:cNvSpPr>
            <a:spLocks xmlns:a="http://schemas.openxmlformats.org/drawingml/2006/main" noGrp="1"/>
          </p:cNvSpPr>
          <p:nvPr/>
        </p:nvSpPr>
        <p:spPr>
          <a:xfrm xmlns:a="http://schemas.openxmlformats.org/drawingml/2006/main" rot="0" flipH="0" flipV="0">
            <a:off x="4181475" y="2333625"/>
            <a:ext cx="755332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566" name="">
            <a:extLst xmlns:a="http://schemas.openxmlformats.org/drawingml/2006/main">
              <a:ext uri="{FF2B5EF4-FFF2-40B4-BE49-F238E27FC236}">
                <a16:creationId xmlns:a16="http://schemas.microsoft.com/office/drawing/2014/main" id="{41855D6A-1AFE-469A-A48C-940254700B09}"/>
              </a:ext>
            </a:extLst>
          </p:cNvPr>
          <p:cNvSpPr>
            <a:spLocks xmlns:a="http://schemas.openxmlformats.org/drawingml/2006/main" noGrp="1"/>
          </p:cNvSpPr>
          <p:nvPr/>
        </p:nvSpPr>
        <p:spPr>
          <a:xfrm xmlns:a="http://schemas.openxmlformats.org/drawingml/2006/main" rot="0" flipH="0" flipV="0">
            <a:off x="4352925" y="24479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class </a:t>
            </a:r>
            <a:r>
              <a:rPr sz="1350">
                <a:solidFill>
                  <a:srgbClr val="1E3A5F"/>
                </a:solidFill>
                <a:latin typeface="Consolas"/>
                <a:ea typeface="Consolas"/>
                <a:cs typeface="Consolas"/>
              </a:rPr>
              <a:t>子类名</a:t>
            </a:r>
            <a:r>
              <a:rPr sz="1350">
                <a:solidFill>
                  <a:srgbClr val="1E3A5F"/>
                </a:solidFill>
                <a:latin typeface="Consolas"/>
                <a:ea typeface="Consolas"/>
                <a:cs typeface="Consolas"/>
              </a:rPr>
              <a:t> extends </a:t>
            </a:r>
            <a:r>
              <a:rPr sz="1350">
                <a:solidFill>
                  <a:srgbClr val="1E3A5F"/>
                </a:solidFill>
                <a:latin typeface="Consolas"/>
                <a:ea typeface="Consolas"/>
                <a:cs typeface="Consolas"/>
              </a:rPr>
              <a:t>父类名</a:t>
            </a:r>
            <a:r>
              <a:rPr sz="1350">
                <a:solidFill>
                  <a:srgbClr val="1E3A5F"/>
                </a:solidFill>
                <a:latin typeface="Consolas"/>
                <a:ea typeface="Consolas"/>
                <a:cs typeface="Consolas"/>
              </a:rPr>
              <a:t> {</a:t>
            </a:r>
            <a:endParaRPr/>
          </a:p>
        </p:txBody>
      </p:sp>
      <p:sp>
        <p:nvSpPr>
          <p:cNvPr id="567" name="">
            <a:extLst xmlns:a="http://schemas.openxmlformats.org/drawingml/2006/main">
              <a:ext uri="{FF2B5EF4-FFF2-40B4-BE49-F238E27FC236}">
                <a16:creationId xmlns:a16="http://schemas.microsoft.com/office/drawing/2014/main" id="{08BBB29A-D80A-4410-83E7-2D22EA543E89}"/>
              </a:ext>
            </a:extLst>
          </p:cNvPr>
          <p:cNvSpPr>
            <a:spLocks xmlns:a="http://schemas.openxmlformats.org/drawingml/2006/main" noGrp="1"/>
          </p:cNvSpPr>
          <p:nvPr/>
        </p:nvSpPr>
        <p:spPr>
          <a:xfrm xmlns:a="http://schemas.openxmlformats.org/drawingml/2006/main" rot="0" flipH="0" flipV="0">
            <a:off x="4352925" y="280035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a:t>
            </a:r>
            <a:endParaRPr/>
          </a:p>
        </p:txBody>
      </p:sp>
      <p:sp>
        <p:nvSpPr>
          <p:cNvPr id="568" name="">
            <a:extLst xmlns:a="http://schemas.openxmlformats.org/drawingml/2006/main">
              <a:ext uri="{FF2B5EF4-FFF2-40B4-BE49-F238E27FC236}">
                <a16:creationId xmlns:a16="http://schemas.microsoft.com/office/drawing/2014/main" id="{77447F4D-04FF-4F6B-B9D9-4722F57460A7}"/>
              </a:ext>
            </a:extLst>
          </p:cNvPr>
          <p:cNvSpPr>
            <a:spLocks xmlns:a="http://schemas.openxmlformats.org/drawingml/2006/main" noGrp="1"/>
          </p:cNvSpPr>
          <p:nvPr/>
        </p:nvSpPr>
        <p:spPr>
          <a:xfrm xmlns:a="http://schemas.openxmlformats.org/drawingml/2006/main" rot="0" flipH="0" flipV="0">
            <a:off x="4352925" y="315277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a:t>
            </a:r>
            <a:endParaRPr/>
          </a:p>
        </p:txBody>
      </p:sp>
      <p:sp>
        <p:nvSpPr>
          <p:cNvPr id="569" name="">
            <a:extLst xmlns:a="http://schemas.openxmlformats.org/drawingml/2006/main">
              <a:ext uri="{FF2B5EF4-FFF2-40B4-BE49-F238E27FC236}">
                <a16:creationId xmlns:a16="http://schemas.microsoft.com/office/drawing/2014/main" id="{D9433DE5-FC23-4C3E-B918-7680BB157B60}"/>
              </a:ext>
            </a:extLst>
          </p:cNvPr>
          <p:cNvSpPr>
            <a:spLocks xmlns:a="http://schemas.openxmlformats.org/drawingml/2006/main" noGrp="1"/>
          </p:cNvSpPr>
          <p:nvPr/>
        </p:nvSpPr>
        <p:spPr>
          <a:xfrm xmlns:a="http://schemas.openxmlformats.org/drawingml/2006/main" rot="0" flipH="0" flipV="0">
            <a:off x="4352925" y="350520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class Student extends People {</a:t>
            </a:r>
            <a:endParaRPr/>
          </a:p>
        </p:txBody>
      </p:sp>
      <p:sp>
        <p:nvSpPr>
          <p:cNvPr id="570" name="">
            <a:extLst xmlns:a="http://schemas.openxmlformats.org/drawingml/2006/main">
              <a:ext uri="{FF2B5EF4-FFF2-40B4-BE49-F238E27FC236}">
                <a16:creationId xmlns:a16="http://schemas.microsoft.com/office/drawing/2014/main" id="{247771DC-D088-4CCF-96E1-88F93B299876}"/>
              </a:ext>
            </a:extLst>
          </p:cNvPr>
          <p:cNvSpPr>
            <a:spLocks xmlns:a="http://schemas.openxmlformats.org/drawingml/2006/main" noGrp="1"/>
          </p:cNvSpPr>
          <p:nvPr/>
        </p:nvSpPr>
        <p:spPr>
          <a:xfrm xmlns:a="http://schemas.openxmlformats.org/drawingml/2006/main" rot="0" flipH="0" flipV="0">
            <a:off x="4352925" y="38576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a:t>
            </a:r>
            <a:endParaRPr/>
          </a:p>
        </p:txBody>
      </p:sp>
      <p:sp>
        <p:nvSpPr>
          <p:cNvPr id="571" name="">
            <a:extLst xmlns:a="http://schemas.openxmlformats.org/drawingml/2006/main">
              <a:ext uri="{FF2B5EF4-FFF2-40B4-BE49-F238E27FC236}">
                <a16:creationId xmlns:a16="http://schemas.microsoft.com/office/drawing/2014/main" id="{8BED0612-D67D-4EA4-B1C4-95C02C8BFC57}"/>
              </a:ext>
            </a:extLst>
          </p:cNvPr>
          <p:cNvSpPr>
            <a:spLocks xmlns:a="http://schemas.openxmlformats.org/drawingml/2006/main" noGrp="1"/>
          </p:cNvSpPr>
          <p:nvPr/>
        </p:nvSpPr>
        <p:spPr>
          <a:xfrm xmlns:a="http://schemas.openxmlformats.org/drawingml/2006/main" rot="0" flipH="0" flipV="0">
            <a:off x="4181475" y="4457700"/>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572" name="">
            <a:extLst xmlns:a="http://schemas.openxmlformats.org/drawingml/2006/main">
              <a:ext uri="{FF2B5EF4-FFF2-40B4-BE49-F238E27FC236}">
                <a16:creationId xmlns:a16="http://schemas.microsoft.com/office/drawing/2014/main" id="{9D135A1F-4994-4336-8936-B3CF6E23B1BA}"/>
              </a:ext>
            </a:extLst>
          </p:cNvPr>
          <p:cNvSpPr>
            <a:spLocks xmlns:a="http://schemas.openxmlformats.org/drawingml/2006/main" noGrp="1"/>
          </p:cNvSpPr>
          <p:nvPr/>
        </p:nvSpPr>
        <p:spPr>
          <a:xfrm xmlns:a="http://schemas.openxmlformats.org/drawingml/2006/main" rot="0" flipH="0" flipV="0">
            <a:off x="4371975" y="4591050"/>
            <a:ext cx="7172325" cy="295275"/>
          </a:xfrm>
          <a:prstGeom xmlns:a="http://schemas.openxmlformats.org/drawingml/2006/main" prst="rect">
            <a:avLst/>
          </a:prstGeom>
        </p:spPr>
        <p:txBody>
          <a:bodyPr xmlns:a="http://schemas.openxmlformats.org/drawingml/2006/main" wrap="non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把 Student 类定义为 People 类的子类，People 类是 Student 类的父类。</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Define the Student class as a subclass of the People class, which is the parent class of the Student class.</a:t>
            </a:r>
          </a:p>
        </p:txBody>
      </p:sp>
      <p:sp>
        <p:nvSpPr>
          <p:cNvPr id="573" name="">
            <a:extLst xmlns:a="http://schemas.openxmlformats.org/drawingml/2006/main">
              <a:ext uri="{FF2B5EF4-FFF2-40B4-BE49-F238E27FC236}">
                <a16:creationId xmlns:a16="http://schemas.microsoft.com/office/drawing/2014/main" id="{45D2771C-8829-45AA-9787-E8A2E25BE6AB}"/>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 / 87</a:t>
            </a:r>
            <a:endParaRPr/>
          </a:p>
        </p:txBody>
      </p:sp>
    </p:spTree>
    <p:extLst>
      <p:ext uri="{BB962C8B-B14F-4D97-AF65-F5344CB8AC3E}">
        <p14:creationId xmlns:p14="http://schemas.microsoft.com/office/powerpoint/2010/main" val="19156464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16" name="">
            <a:extLst xmlns:a="http://schemas.openxmlformats.org/drawingml/2006/main">
              <a:ext uri="{FF2B5EF4-FFF2-40B4-BE49-F238E27FC236}">
                <a16:creationId xmlns:a16="http://schemas.microsoft.com/office/drawing/2014/main" id="{C04999A4-1C08-489B-85EF-781D38C149F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717" name="">
            <a:extLst xmlns:a="http://schemas.openxmlformats.org/drawingml/2006/main">
              <a:ext uri="{FF2B5EF4-FFF2-40B4-BE49-F238E27FC236}">
                <a16:creationId xmlns:a16="http://schemas.microsoft.com/office/drawing/2014/main" id="{176D4CD4-D984-45D7-8D45-2715390350B9}"/>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718" name="">
            <a:extLst xmlns:a="http://schemas.openxmlformats.org/drawingml/2006/main">
              <a:ext uri="{FF2B5EF4-FFF2-40B4-BE49-F238E27FC236}">
                <a16:creationId xmlns:a16="http://schemas.microsoft.com/office/drawing/2014/main" id="{21C1D6FA-9126-4EF3-AFF0-BE87B500C646}"/>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719" name="">
            <a:extLst xmlns:a="http://schemas.openxmlformats.org/drawingml/2006/main">
              <a:ext uri="{FF2B5EF4-FFF2-40B4-BE49-F238E27FC236}">
                <a16:creationId xmlns:a16="http://schemas.microsoft.com/office/drawing/2014/main" id="{DCE0EBE6-C064-4E9D-9311-4AB6B1B9056E}"/>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§5.1.2</a:t>
            </a:r>
            <a:endParaRPr/>
          </a:p>
        </p:txBody>
      </p:sp>
      <p:sp>
        <p:nvSpPr>
          <p:cNvPr id="720" name="">
            <a:extLst xmlns:a="http://schemas.openxmlformats.org/drawingml/2006/main">
              <a:ext uri="{FF2B5EF4-FFF2-40B4-BE49-F238E27FC236}">
                <a16:creationId xmlns:a16="http://schemas.microsoft.com/office/drawing/2014/main" id="{B0DBEF47-A182-4CA4-AB0A-49A3A93E4378}"/>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类的树形结构</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class tree structure</a:t>
            </a:r>
          </a:p>
        </p:txBody>
      </p:sp>
      <p:sp>
        <p:nvSpPr>
          <p:cNvPr id="721" name="">
            <a:extLst xmlns:a="http://schemas.openxmlformats.org/drawingml/2006/main">
              <a:ext uri="{FF2B5EF4-FFF2-40B4-BE49-F238E27FC236}">
                <a16:creationId xmlns:a16="http://schemas.microsoft.com/office/drawing/2014/main" id="{DF0D6E9C-5156-41D5-939F-BD27BDB59E44}"/>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22" name="">
            <a:extLst xmlns:a="http://schemas.openxmlformats.org/drawingml/2006/main">
              <a:ext uri="{FF2B5EF4-FFF2-40B4-BE49-F238E27FC236}">
                <a16:creationId xmlns:a16="http://schemas.microsoft.com/office/drawing/2014/main" id="{E24F9D09-F6E3-4199-BA8A-B4C5505EFC93}"/>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4653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Java 的类按继承关系形成树形结构，根节点是 Object 类（java.lang 包中的类），即 Object 是所有类的祖先类。</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Java classes form a tree structure based on inheritance relationships. The root node is the Object class (the class in the java.lang package), that is, Object is the ancestor class of all classes.</a:t>
            </a:r>
          </a:p>
        </p:txBody>
      </p:sp>
      <p:sp>
        <p:nvSpPr>
          <p:cNvPr id="723" name="">
            <a:extLst xmlns:a="http://schemas.openxmlformats.org/drawingml/2006/main">
              <a:ext uri="{FF2B5EF4-FFF2-40B4-BE49-F238E27FC236}">
                <a16:creationId xmlns:a16="http://schemas.microsoft.com/office/drawing/2014/main" id="{0D432C63-9898-4FF0-9AAC-05B867BFB09D}"/>
              </a:ext>
            </a:extLst>
          </p:cNvPr>
          <p:cNvSpPr>
            <a:spLocks xmlns:a="http://schemas.openxmlformats.org/drawingml/2006/main" noGrp="1"/>
          </p:cNvSpPr>
          <p:nvPr/>
        </p:nvSpPr>
        <p:spPr>
          <a:xfrm xmlns:a="http://schemas.openxmlformats.org/drawingml/2006/main" rot="0" flipH="0" flipV="0">
            <a:off x="4181475" y="20097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24" name="">
            <a:extLst xmlns:a="http://schemas.openxmlformats.org/drawingml/2006/main">
              <a:ext uri="{FF2B5EF4-FFF2-40B4-BE49-F238E27FC236}">
                <a16:creationId xmlns:a16="http://schemas.microsoft.com/office/drawing/2014/main" id="{D135643C-8748-4A2D-8093-20FF6E345E5D}"/>
              </a:ext>
            </a:extLst>
          </p:cNvPr>
          <p:cNvSpPr>
            <a:spLocks xmlns:a="http://schemas.openxmlformats.org/drawingml/2006/main" noGrp="1"/>
          </p:cNvSpPr>
          <p:nvPr/>
        </p:nvSpPr>
        <p:spPr>
          <a:xfrm xmlns:a="http://schemas.openxmlformats.org/drawingml/2006/main" rot="0" flipH="0" flipV="0">
            <a:off x="4371975" y="1895475"/>
            <a:ext cx="7362825" cy="390525"/>
          </a:xfrm>
          <a:prstGeom xmlns:a="http://schemas.openxmlformats.org/drawingml/2006/main" prst="rect">
            <a:avLst/>
          </a:prstGeom>
        </p:spPr>
        <p:txBody>
          <a:bodyPr xmlns:a="http://schemas.openxmlformats.org/drawingml/2006/main" wrap="none" lIns="0" tIns="0" rIns="0" bIns="0">
            <a:normAutofit fontScale="44725"/>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除了 Object 类，每个类都有且仅有一个父类；一个类可以有多个或零个子类</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Except for the Object class, every class has one and only one parent class; a class can have many or zero subclasses</a:t>
            </a:r>
          </a:p>
        </p:txBody>
      </p:sp>
      <p:sp>
        <p:nvSpPr>
          <p:cNvPr id="725" name="">
            <a:extLst xmlns:a="http://schemas.openxmlformats.org/drawingml/2006/main">
              <a:ext uri="{FF2B5EF4-FFF2-40B4-BE49-F238E27FC236}">
                <a16:creationId xmlns:a16="http://schemas.microsoft.com/office/drawing/2014/main" id="{4BAD849A-5E03-440A-9C22-35A596ADDF6D}"/>
              </a:ext>
            </a:extLst>
          </p:cNvPr>
          <p:cNvSpPr>
            <a:spLocks xmlns:a="http://schemas.openxmlformats.org/drawingml/2006/main" noGrp="1"/>
          </p:cNvSpPr>
          <p:nvPr/>
        </p:nvSpPr>
        <p:spPr>
          <a:xfrm xmlns:a="http://schemas.openxmlformats.org/drawingml/2006/main" rot="0" flipH="0" flipV="0">
            <a:off x="4181475" y="25717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26" name="">
            <a:extLst xmlns:a="http://schemas.openxmlformats.org/drawingml/2006/main">
              <a:ext uri="{FF2B5EF4-FFF2-40B4-BE49-F238E27FC236}">
                <a16:creationId xmlns:a16="http://schemas.microsoft.com/office/drawing/2014/main" id="{387B1F95-BBCA-4C67-916A-D0F260923B57}"/>
              </a:ext>
            </a:extLst>
          </p:cNvPr>
          <p:cNvSpPr>
            <a:spLocks xmlns:a="http://schemas.openxmlformats.org/drawingml/2006/main" noGrp="1"/>
          </p:cNvSpPr>
          <p:nvPr/>
        </p:nvSpPr>
        <p:spPr>
          <a:xfrm xmlns:a="http://schemas.openxmlformats.org/drawingml/2006/main" rot="0" flipH="0" flipV="0">
            <a:off x="4371975" y="2457450"/>
            <a:ext cx="7362825" cy="390525"/>
          </a:xfrm>
          <a:prstGeom xmlns:a="http://schemas.openxmlformats.org/drawingml/2006/main" prst="rect">
            <a:avLst/>
          </a:prstGeom>
        </p:spPr>
        <p:txBody>
          <a:bodyPr xmlns:a="http://schemas.openxmlformats.org/drawingml/2006/main" wrap="none" lIns="0" tIns="0" rIns="0" bIns="0">
            <a:normAutofit fontScale="48984"/>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声明中没有使用 extends 的类，被系统默认为是 Object 的子类</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Classes that do not use extends in the declaration are defaulted by the system to be subclasses of Object</a:t>
            </a:r>
          </a:p>
        </p:txBody>
      </p:sp>
      <p:pic>
        <p:nvPicPr>
          <p:cNvPr id="745" name=""/>
          <p:cNvPicPr>
            <a:picLocks xmlns:a="http://schemas.openxmlformats.org/drawingml/2006/main" noChangeAspect="1"/>
          </p:cNvPicPr>
          <p:nvPr/>
        </p:nvPicPr>
        <p:blipFill>
          <a:blip xmlns:r="http://schemas.openxmlformats.org/officeDocument/2006/relationships" xmlns:a="http://schemas.openxmlformats.org/drawingml/2006/main" r:embed="R5369e7dae65e453b"/>
          <a:srcRect xmlns:a="http://schemas.openxmlformats.org/drawingml/2006/main" l="78" t="0" r="78" b="0"/>
          <a:stretch xmlns:a="http://schemas.openxmlformats.org/drawingml/2006/main">
            <a:fillRect l="0" t="0" r="0" b="0"/>
          </a:stretch>
        </p:blipFill>
        <p:spPr>
          <a:xfrm xmlns:a="http://schemas.openxmlformats.org/drawingml/2006/main" rot="0" flipH="0" flipV="0">
            <a:off x="4857750" y="3171825"/>
            <a:ext cx="2943225" cy="1543050"/>
          </a:xfrm>
          <a:prstGeom xmlns:a="http://schemas.openxmlformats.org/drawingml/2006/main" prst="roundRect">
            <a:avLst>
              <a:gd name="adj" fmla="val 4938"/>
            </a:avLst>
          </a:prstGeom>
        </p:spPr>
      </p:pic>
      <p:pic>
        <p:nvPicPr>
          <p:cNvPr id="746" name=""/>
          <p:cNvPicPr>
            <a:picLocks xmlns:a="http://schemas.openxmlformats.org/drawingml/2006/main" noChangeAspect="1"/>
          </p:cNvPicPr>
          <p:nvPr/>
        </p:nvPicPr>
        <p:blipFill>
          <a:blip xmlns:r="http://schemas.openxmlformats.org/officeDocument/2006/relationships" xmlns:a="http://schemas.openxmlformats.org/drawingml/2006/main" r:embed="R93b4c3536c2149b2"/>
          <a:srcRect xmlns:a="http://schemas.openxmlformats.org/drawingml/2006/main" l="72" t="0" r="72" b="0"/>
          <a:stretch xmlns:a="http://schemas.openxmlformats.org/drawingml/2006/main">
            <a:fillRect l="0" t="0" r="0" b="0"/>
          </a:stretch>
        </p:blipFill>
        <p:spPr>
          <a:xfrm xmlns:a="http://schemas.openxmlformats.org/drawingml/2006/main" rot="0" flipH="0" flipV="0">
            <a:off x="7915275" y="3171825"/>
            <a:ext cx="3143250" cy="1543050"/>
          </a:xfrm>
          <a:prstGeom xmlns:a="http://schemas.openxmlformats.org/drawingml/2006/main" prst="roundRect">
            <a:avLst>
              <a:gd name="adj" fmla="val 4938"/>
            </a:avLst>
          </a:prstGeom>
        </p:spPr>
      </p:pic>
      <p:sp>
        <p:nvSpPr>
          <p:cNvPr id="729" name="">
            <a:extLst xmlns:a="http://schemas.openxmlformats.org/drawingml/2006/main">
              <a:ext uri="{FF2B5EF4-FFF2-40B4-BE49-F238E27FC236}">
                <a16:creationId xmlns:a16="http://schemas.microsoft.com/office/drawing/2014/main" id="{41ED81CE-4E7F-489D-B1D9-A32695CCE5ED}"/>
              </a:ext>
            </a:extLst>
          </p:cNvPr>
          <p:cNvSpPr>
            <a:spLocks xmlns:a="http://schemas.openxmlformats.org/drawingml/2006/main" noGrp="1"/>
          </p:cNvSpPr>
          <p:nvPr/>
        </p:nvSpPr>
        <p:spPr>
          <a:xfrm xmlns:a="http://schemas.openxmlformats.org/drawingml/2006/main" rot="0" flipH="0" flipV="0">
            <a:off x="4181475" y="4886325"/>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730" name="">
            <a:extLst xmlns:a="http://schemas.openxmlformats.org/drawingml/2006/main">
              <a:ext uri="{FF2B5EF4-FFF2-40B4-BE49-F238E27FC236}">
                <a16:creationId xmlns:a16="http://schemas.microsoft.com/office/drawing/2014/main" id="{4B7CCC00-4ED8-432F-9DE8-8BA58E84DF65}"/>
              </a:ext>
            </a:extLst>
          </p:cNvPr>
          <p:cNvSpPr>
            <a:spLocks xmlns:a="http://schemas.openxmlformats.org/drawingml/2006/main" noGrp="1"/>
          </p:cNvSpPr>
          <p:nvPr/>
        </p:nvSpPr>
        <p:spPr>
          <a:xfrm xmlns:a="http://schemas.openxmlformats.org/drawingml/2006/main" rot="0" flipH="0" flipV="0">
            <a:off x="4371975" y="5019675"/>
            <a:ext cx="7172325" cy="295275"/>
          </a:xfrm>
          <a:prstGeom xmlns:a="http://schemas.openxmlformats.org/drawingml/2006/main" prst="rect">
            <a:avLst/>
          </a:prstGeom>
        </p:spPr>
        <p:txBody>
          <a:bodyPr xmlns:a="http://schemas.openxmlformats.org/drawingml/2006/main" wrap="non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"class A" 与 "class A extends Object" 等同。</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"class A" is equivalent to "class A extends Object".</a:t>
            </a:r>
          </a:p>
        </p:txBody>
      </p:sp>
      <p:sp>
        <p:nvSpPr>
          <p:cNvPr id="731" name="">
            <a:extLst xmlns:a="http://schemas.openxmlformats.org/drawingml/2006/main">
              <a:ext uri="{FF2B5EF4-FFF2-40B4-BE49-F238E27FC236}">
                <a16:creationId xmlns:a16="http://schemas.microsoft.com/office/drawing/2014/main" id="{A4D30FA0-765D-4235-9439-508F6FDC2C6F}"/>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6 / 87</a:t>
            </a:r>
            <a:endParaRPr/>
          </a:p>
        </p:txBody>
      </p:sp>
    </p:spTree>
    <p:extLst>
      <p:ext uri="{BB962C8B-B14F-4D97-AF65-F5344CB8AC3E}">
        <p14:creationId xmlns:p14="http://schemas.microsoft.com/office/powerpoint/2010/main" val="16090285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51" name="">
            <a:extLst xmlns:a="http://schemas.openxmlformats.org/drawingml/2006/main">
              <a:ext uri="{FF2B5EF4-FFF2-40B4-BE49-F238E27FC236}">
                <a16:creationId xmlns:a16="http://schemas.microsoft.com/office/drawing/2014/main" id="{44D91E26-3896-459C-B96E-033A2772D92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852" name="">
            <a:extLst xmlns:a="http://schemas.openxmlformats.org/drawingml/2006/main">
              <a:ext uri="{FF2B5EF4-FFF2-40B4-BE49-F238E27FC236}">
                <a16:creationId xmlns:a16="http://schemas.microsoft.com/office/drawing/2014/main" id="{84561763-1D36-4650-B8E2-4B2DD57BB74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853" name="">
            <a:extLst xmlns:a="http://schemas.openxmlformats.org/drawingml/2006/main">
              <a:ext uri="{FF2B5EF4-FFF2-40B4-BE49-F238E27FC236}">
                <a16:creationId xmlns:a16="http://schemas.microsoft.com/office/drawing/2014/main" id="{E01368D8-FE6D-499A-B8FF-B42261A3B5C2}"/>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854" name="">
            <a:extLst xmlns:a="http://schemas.openxmlformats.org/drawingml/2006/main">
              <a:ext uri="{FF2B5EF4-FFF2-40B4-BE49-F238E27FC236}">
                <a16:creationId xmlns:a16="http://schemas.microsoft.com/office/drawing/2014/main" id="{85F0C899-B1E0-4878-9D2C-12A823B1AECB}"/>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§5.2</a:t>
            </a:r>
            <a:endParaRPr/>
          </a:p>
        </p:txBody>
      </p:sp>
      <p:sp>
        <p:nvSpPr>
          <p:cNvPr id="855" name="">
            <a:extLst xmlns:a="http://schemas.openxmlformats.org/drawingml/2006/main">
              <a:ext uri="{FF2B5EF4-FFF2-40B4-BE49-F238E27FC236}">
                <a16:creationId xmlns:a16="http://schemas.microsoft.com/office/drawing/2014/main" id="{5F26B5FE-8432-4338-9697-8C137EC7D52E}"/>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子类的继承性</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Inheritance from subclasses</a:t>
            </a:r>
          </a:p>
        </p:txBody>
      </p:sp>
      <p:sp>
        <p:nvSpPr>
          <p:cNvPr id="856" name="">
            <a:extLst xmlns:a="http://schemas.openxmlformats.org/drawingml/2006/main">
              <a:ext uri="{FF2B5EF4-FFF2-40B4-BE49-F238E27FC236}">
                <a16:creationId xmlns:a16="http://schemas.microsoft.com/office/drawing/2014/main" id="{8963AC99-16C4-4939-A884-DEE9DA58A83A}"/>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57" name="">
            <a:extLst xmlns:a="http://schemas.openxmlformats.org/drawingml/2006/main">
              <a:ext uri="{FF2B5EF4-FFF2-40B4-BE49-F238E27FC236}">
                <a16:creationId xmlns:a16="http://schemas.microsoft.com/office/drawing/2014/main" id="{85BA97EF-142F-4F2B-AAEE-D69144D886BE}"/>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4526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类有两种重要成员：成员变量和方法。子类的成员中一部分是子类自己声明定义的，另一部分是从父类继承的。</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Classes have two important members: member variables and methods. Some of the members of the subclass are declared and defined by the subclass itself, and some are inherited from the parent class.</a:t>
            </a:r>
          </a:p>
        </p:txBody>
      </p:sp>
      <p:sp>
        <p:nvSpPr>
          <p:cNvPr id="858" name="">
            <a:extLst xmlns:a="http://schemas.openxmlformats.org/drawingml/2006/main">
              <a:ext uri="{FF2B5EF4-FFF2-40B4-BE49-F238E27FC236}">
                <a16:creationId xmlns:a16="http://schemas.microsoft.com/office/drawing/2014/main" id="{FD7B9C4A-EA52-43DC-A0D5-3298A7135178}"/>
              </a:ext>
            </a:extLst>
          </p:cNvPr>
          <p:cNvSpPr>
            <a:spLocks xmlns:a="http://schemas.openxmlformats.org/drawingml/2006/main" noGrp="1"/>
          </p:cNvSpPr>
          <p:nvPr/>
        </p:nvSpPr>
        <p:spPr>
          <a:xfrm xmlns:a="http://schemas.openxmlformats.org/drawingml/2006/main" rot="0" flipH="0" flipV="0">
            <a:off x="4181475" y="29241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59" name="">
            <a:extLst xmlns:a="http://schemas.openxmlformats.org/drawingml/2006/main">
              <a:ext uri="{FF2B5EF4-FFF2-40B4-BE49-F238E27FC236}">
                <a16:creationId xmlns:a16="http://schemas.microsoft.com/office/drawing/2014/main" id="{01598A32-F98F-419B-A853-0406BA0D9022}"/>
              </a:ext>
            </a:extLst>
          </p:cNvPr>
          <p:cNvSpPr>
            <a:spLocks xmlns:a="http://schemas.openxmlformats.org/drawingml/2006/main" noGrp="1"/>
          </p:cNvSpPr>
          <p:nvPr/>
        </p:nvSpPr>
        <p:spPr>
          <a:xfrm xmlns:a="http://schemas.openxmlformats.org/drawingml/2006/main" rot="0" flipH="0" flipV="0">
            <a:off x="4371975" y="2809875"/>
            <a:ext cx="7362825" cy="781050"/>
          </a:xfrm>
          <a:prstGeom xmlns:a="http://schemas.openxmlformats.org/drawingml/2006/main" prst="rect">
            <a:avLst/>
          </a:prstGeom>
        </p:spPr>
        <p:txBody>
          <a:bodyPr xmlns:a="http://schemas.openxmlformats.org/drawingml/2006/main" wrap="square" lIns="0" tIns="0" rIns="0" bIns="0">
            <a:normAutofit fontScale="50255"/>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继承成员变量：把继承来的变量作为自己的成员变量，好像是在子类中直接声明一样，可被子类中自己定义的任何实例方法操作</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Inherited member variables: Use the inherited variables as your own member variables, as if they were declared directly in the subclass, and can be operated by any instance method defined in the subclass.</a:t>
            </a:r>
          </a:p>
        </p:txBody>
      </p:sp>
      <p:sp>
        <p:nvSpPr>
          <p:cNvPr id="860" name="">
            <a:extLst xmlns:a="http://schemas.openxmlformats.org/drawingml/2006/main">
              <a:ext uri="{FF2B5EF4-FFF2-40B4-BE49-F238E27FC236}">
                <a16:creationId xmlns:a16="http://schemas.microsoft.com/office/drawing/2014/main" id="{6919D62B-1EDD-41B5-B887-353CF1D44C0D}"/>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61" name="">
            <a:extLst xmlns:a="http://schemas.openxmlformats.org/drawingml/2006/main">
              <a:ext uri="{FF2B5EF4-FFF2-40B4-BE49-F238E27FC236}">
                <a16:creationId xmlns:a16="http://schemas.microsoft.com/office/drawing/2014/main" id="{B31DC0B0-FEA4-4E13-8A11-FD1A9880E5FE}"/>
              </a:ext>
            </a:extLst>
          </p:cNvPr>
          <p:cNvSpPr>
            <a:spLocks xmlns:a="http://schemas.openxmlformats.org/drawingml/2006/main" noGrp="1"/>
          </p:cNvSpPr>
          <p:nvPr/>
        </p:nvSpPr>
        <p:spPr>
          <a:xfrm xmlns:a="http://schemas.openxmlformats.org/drawingml/2006/main" rot="0" flipH="0" flipV="0">
            <a:off x="4371975" y="3762375"/>
            <a:ext cx="736282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继承方法：把继承来的方法作为子类中的一个方法，好像是在子类中直接定义了一样，可被子类中自己定义的任何实例方法调用</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Inherited method: Treat the inherited method as a method in the subclass, as if it were directly defined in the subclass, and can be called by any instance method defined in the subclass.</a:t>
            </a:r>
          </a:p>
        </p:txBody>
      </p:sp>
      <p:sp>
        <p:nvSpPr>
          <p:cNvPr id="862" name="">
            <a:extLst xmlns:a="http://schemas.openxmlformats.org/drawingml/2006/main">
              <a:ext uri="{FF2B5EF4-FFF2-40B4-BE49-F238E27FC236}">
                <a16:creationId xmlns:a16="http://schemas.microsoft.com/office/drawing/2014/main" id="{BDA50CD5-7870-42B0-A729-B6DEA5896B63}"/>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7 / 87</a:t>
            </a:r>
            <a:endParaRPr/>
          </a:p>
        </p:txBody>
      </p:sp>
    </p:spTree>
    <p:extLst>
      <p:ext uri="{BB962C8B-B14F-4D97-AF65-F5344CB8AC3E}">
        <p14:creationId xmlns:p14="http://schemas.microsoft.com/office/powerpoint/2010/main" val="99088857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91" name="">
            <a:extLst xmlns:a="http://schemas.openxmlformats.org/drawingml/2006/main">
              <a:ext uri="{FF2B5EF4-FFF2-40B4-BE49-F238E27FC236}">
                <a16:creationId xmlns:a16="http://schemas.microsoft.com/office/drawing/2014/main" id="{F9FDC83C-ADB3-4EA1-B312-86818C0D82AD}"/>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992" name="">
            <a:extLst xmlns:a="http://schemas.openxmlformats.org/drawingml/2006/main">
              <a:ext uri="{FF2B5EF4-FFF2-40B4-BE49-F238E27FC236}">
                <a16:creationId xmlns:a16="http://schemas.microsoft.com/office/drawing/2014/main" id="{13E151E5-1E37-49FA-90A1-C983BF2BFE3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993" name="">
            <a:extLst xmlns:a="http://schemas.openxmlformats.org/drawingml/2006/main">
              <a:ext uri="{FF2B5EF4-FFF2-40B4-BE49-F238E27FC236}">
                <a16:creationId xmlns:a16="http://schemas.microsoft.com/office/drawing/2014/main" id="{3810C1E8-19E8-40DE-8883-AEB29AC1C27A}"/>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994" name="">
            <a:extLst xmlns:a="http://schemas.openxmlformats.org/drawingml/2006/main">
              <a:ext uri="{FF2B5EF4-FFF2-40B4-BE49-F238E27FC236}">
                <a16:creationId xmlns:a16="http://schemas.microsoft.com/office/drawing/2014/main" id="{A1904592-BB0A-4561-A5F3-7E92284A106B}"/>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§5.2</a:t>
            </a:r>
            <a:endParaRPr/>
          </a:p>
        </p:txBody>
      </p:sp>
      <p:sp>
        <p:nvSpPr>
          <p:cNvPr id="995" name="">
            <a:extLst xmlns:a="http://schemas.openxmlformats.org/drawingml/2006/main">
              <a:ext uri="{FF2B5EF4-FFF2-40B4-BE49-F238E27FC236}">
                <a16:creationId xmlns:a16="http://schemas.microsoft.com/office/drawing/2014/main" id="{D43B0365-99D0-4EB4-95F3-B6E434629B00}"/>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43312"/>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继承性的类比：孩子继承父亲</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Inheritance analogy: child inherits from father</a:t>
            </a:r>
          </a:p>
        </p:txBody>
      </p:sp>
      <p:sp>
        <p:nvSpPr>
          <p:cNvPr id="996" name="">
            <a:extLst xmlns:a="http://schemas.openxmlformats.org/drawingml/2006/main">
              <a:ext uri="{FF2B5EF4-FFF2-40B4-BE49-F238E27FC236}">
                <a16:creationId xmlns:a16="http://schemas.microsoft.com/office/drawing/2014/main" id="{60F84923-1ED7-44DC-8599-57BE44F580E3}"/>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997" name="">
            <a:extLst xmlns:a="http://schemas.openxmlformats.org/drawingml/2006/main">
              <a:ext uri="{FF2B5EF4-FFF2-40B4-BE49-F238E27FC236}">
                <a16:creationId xmlns:a16="http://schemas.microsoft.com/office/drawing/2014/main" id="{F773B329-E145-4CE6-B87C-3A2F42DD2AA0}"/>
              </a:ext>
            </a:extLst>
          </p:cNvPr>
          <p:cNvSpPr>
            <a:spLocks xmlns:a="http://schemas.openxmlformats.org/drawingml/2006/main" noGrp="1"/>
          </p:cNvSpPr>
          <p:nvPr/>
        </p:nvSpPr>
        <p:spPr>
          <a:xfrm xmlns:a="http://schemas.openxmlformats.org/drawingml/2006/main" rot="0" flipH="0" flipV="0">
            <a:off x="457200" y="3190875"/>
            <a:ext cx="3381375" cy="781050"/>
          </a:xfrm>
          <a:prstGeom xmlns:a="http://schemas.openxmlformats.org/drawingml/2006/main" prst="rect">
            <a:avLst/>
          </a:prstGeom>
        </p:spPr>
        <p:txBody>
          <a:bodyPr xmlns:a="http://schemas.openxmlformats.org/drawingml/2006/main" wrap="square" lIns="0" tIns="0" rIns="0" bIns="0">
            <a:normAutofit fontScale="58028"/>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子类的继承性就好比孩子继承父亲的特征。</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Inheritance of subclasses is like a child inheriting the characteristics of its father.</a:t>
            </a:r>
          </a:p>
        </p:txBody>
      </p:sp>
      <p:sp>
        <p:nvSpPr>
          <p:cNvPr id="998" name="">
            <a:extLst xmlns:a="http://schemas.openxmlformats.org/drawingml/2006/main">
              <a:ext uri="{FF2B5EF4-FFF2-40B4-BE49-F238E27FC236}">
                <a16:creationId xmlns:a16="http://schemas.microsoft.com/office/drawing/2014/main" id="{969D6E74-7FC0-4FC0-A5D7-1648006DC02A}"/>
              </a:ext>
            </a:extLst>
          </p:cNvPr>
          <p:cNvSpPr>
            <a:spLocks xmlns:a="http://schemas.openxmlformats.org/drawingml/2006/main" noGrp="1"/>
          </p:cNvSpPr>
          <p:nvPr/>
        </p:nvSpPr>
        <p:spPr>
          <a:xfrm xmlns:a="http://schemas.openxmlformats.org/drawingml/2006/main" rot="0" flipH="0" flipV="0">
            <a:off x="4238625" y="2600325"/>
            <a:ext cx="3714750" cy="1409700"/>
          </a:xfrm>
          <a:prstGeom xmlns:a="http://schemas.openxmlformats.org/drawingml/2006/main" prst="roundRect">
            <a:avLst>
              <a:gd name="adj" fmla="val 6757"/>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999" name="">
            <a:extLst xmlns:a="http://schemas.openxmlformats.org/drawingml/2006/main">
              <a:ext uri="{FF2B5EF4-FFF2-40B4-BE49-F238E27FC236}">
                <a16:creationId xmlns:a16="http://schemas.microsoft.com/office/drawing/2014/main" id="{B7D20A86-928A-4211-A4CC-19CC221A6F4E}"/>
              </a:ext>
            </a:extLst>
          </p:cNvPr>
          <p:cNvSpPr>
            <a:spLocks xmlns:a="http://schemas.openxmlformats.org/drawingml/2006/main" noGrp="1"/>
          </p:cNvSpPr>
          <p:nvPr/>
        </p:nvSpPr>
        <p:spPr>
          <a:xfrm xmlns:a="http://schemas.openxmlformats.org/drawingml/2006/main" rot="0" flipH="0" flipV="0">
            <a:off x="4238625" y="2600325"/>
            <a:ext cx="3714750" cy="1409700"/>
          </a:xfrm>
          <a:custGeom xmlns:a="http://schemas.openxmlformats.org/drawingml/2006/main">
            <a:pathLst>
              <a:path w="390" h="148">
                <a:moveTo>
                  <a:pt x="10" y="0"/>
                </a:moveTo>
                <a:cubicBezTo>
                  <a:pt x="8" y="0"/>
                  <a:pt x="6" y="2"/>
                  <a:pt x="6" y="4"/>
                </a:cubicBezTo>
                <a:lnTo>
                  <a:pt x="6" y="144"/>
                </a:lnTo>
                <a:cubicBezTo>
                  <a:pt x="6" y="146"/>
                  <a:pt x="8" y="148"/>
                  <a:pt x="10" y="148"/>
                </a:cubicBezTo>
                <a:cubicBezTo>
                  <a:pt x="4" y="148"/>
                  <a:pt x="0" y="143"/>
                  <a:pt x="0" y="138"/>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00" name="">
            <a:extLst xmlns:a="http://schemas.openxmlformats.org/drawingml/2006/main">
              <a:ext uri="{FF2B5EF4-FFF2-40B4-BE49-F238E27FC236}">
                <a16:creationId xmlns:a16="http://schemas.microsoft.com/office/drawing/2014/main" id="{0CF54845-C02F-482A-A967-A32352219553}"/>
              </a:ext>
            </a:extLst>
          </p:cNvPr>
          <p:cNvSpPr>
            <a:spLocks xmlns:a="http://schemas.openxmlformats.org/drawingml/2006/main" noGrp="1"/>
          </p:cNvSpPr>
          <p:nvPr/>
        </p:nvSpPr>
        <p:spPr>
          <a:xfrm xmlns:a="http://schemas.openxmlformats.org/drawingml/2006/main" rot="0" flipH="0" flipV="0">
            <a:off x="4429125" y="2752725"/>
            <a:ext cx="3276600"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父类 “动物”</a:t>
            </a:r>
          </a:p>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Parent class "Animal"</a:t>
            </a:r>
          </a:p>
        </p:txBody>
      </p:sp>
      <p:sp>
        <p:nvSpPr>
          <p:cNvPr id="1001" name="">
            <a:extLst xmlns:a="http://schemas.openxmlformats.org/drawingml/2006/main">
              <a:ext uri="{FF2B5EF4-FFF2-40B4-BE49-F238E27FC236}">
                <a16:creationId xmlns:a16="http://schemas.microsoft.com/office/drawing/2014/main" id="{4D8A7044-4699-479E-8206-11530CBEFF7A}"/>
              </a:ext>
            </a:extLst>
          </p:cNvPr>
          <p:cNvSpPr>
            <a:spLocks xmlns:a="http://schemas.openxmlformats.org/drawingml/2006/main" noGrp="1"/>
          </p:cNvSpPr>
          <p:nvPr/>
        </p:nvSpPr>
        <p:spPr>
          <a:xfrm xmlns:a="http://schemas.openxmlformats.org/drawingml/2006/main" rot="0" flipH="0" flipV="0">
            <a:off x="4429125" y="2990850"/>
            <a:ext cx="3276600"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方法：呼吸、睡觉</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Method: breathing, sleeping</a:t>
            </a:r>
          </a:p>
        </p:txBody>
      </p:sp>
      <p:sp>
        <p:nvSpPr>
          <p:cNvPr id="1002" name="">
            <a:extLst xmlns:a="http://schemas.openxmlformats.org/drawingml/2006/main">
              <a:ext uri="{FF2B5EF4-FFF2-40B4-BE49-F238E27FC236}">
                <a16:creationId xmlns:a16="http://schemas.microsoft.com/office/drawing/2014/main" id="{5217E713-56B0-4643-89E2-0D339B1B809F}"/>
              </a:ext>
            </a:extLst>
          </p:cNvPr>
          <p:cNvSpPr>
            <a:spLocks xmlns:a="http://schemas.openxmlformats.org/drawingml/2006/main" noGrp="1"/>
          </p:cNvSpPr>
          <p:nvPr/>
        </p:nvSpPr>
        <p:spPr>
          <a:xfrm xmlns:a="http://schemas.openxmlformats.org/drawingml/2006/main" rot="0" flipH="0" flipV="0">
            <a:off x="4429125" y="3305175"/>
            <a:ext cx="3276600"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属性：五官、颜色</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Attributes: facial features, color</a:t>
            </a:r>
          </a:p>
        </p:txBody>
      </p:sp>
      <p:sp>
        <p:nvSpPr>
          <p:cNvPr id="1003" name="">
            <a:extLst xmlns:a="http://schemas.openxmlformats.org/drawingml/2006/main">
              <a:ext uri="{FF2B5EF4-FFF2-40B4-BE49-F238E27FC236}">
                <a16:creationId xmlns:a16="http://schemas.microsoft.com/office/drawing/2014/main" id="{EC6AD8A2-8150-4D3F-9F35-EC66165DA2E6}"/>
              </a:ext>
            </a:extLst>
          </p:cNvPr>
          <p:cNvSpPr>
            <a:spLocks xmlns:a="http://schemas.openxmlformats.org/drawingml/2006/main" noGrp="1"/>
          </p:cNvSpPr>
          <p:nvPr/>
        </p:nvSpPr>
        <p:spPr>
          <a:xfrm xmlns:a="http://schemas.openxmlformats.org/drawingml/2006/main" rot="0" flipH="0" flipV="0">
            <a:off x="8086725" y="2600325"/>
            <a:ext cx="3705225" cy="1409700"/>
          </a:xfrm>
          <a:prstGeom xmlns:a="http://schemas.openxmlformats.org/drawingml/2006/main" prst="roundRect">
            <a:avLst>
              <a:gd name="adj" fmla="val 6757"/>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4" name="">
            <a:extLst xmlns:a="http://schemas.openxmlformats.org/drawingml/2006/main">
              <a:ext uri="{FF2B5EF4-FFF2-40B4-BE49-F238E27FC236}">
                <a16:creationId xmlns:a16="http://schemas.microsoft.com/office/drawing/2014/main" id="{25A15A3A-B46C-4CE8-9B86-8BD0585A69D4}"/>
              </a:ext>
            </a:extLst>
          </p:cNvPr>
          <p:cNvSpPr>
            <a:spLocks xmlns:a="http://schemas.openxmlformats.org/drawingml/2006/main" noGrp="1"/>
          </p:cNvSpPr>
          <p:nvPr/>
        </p:nvSpPr>
        <p:spPr>
          <a:xfrm xmlns:a="http://schemas.openxmlformats.org/drawingml/2006/main" rot="0" flipH="0" flipV="0">
            <a:off x="8086725" y="2600325"/>
            <a:ext cx="3705225" cy="1409700"/>
          </a:xfrm>
          <a:custGeom xmlns:a="http://schemas.openxmlformats.org/drawingml/2006/main">
            <a:pathLst>
              <a:path w="389" h="148">
                <a:moveTo>
                  <a:pt x="10" y="0"/>
                </a:moveTo>
                <a:cubicBezTo>
                  <a:pt x="8" y="0"/>
                  <a:pt x="6" y="2"/>
                  <a:pt x="6" y="4"/>
                </a:cubicBezTo>
                <a:lnTo>
                  <a:pt x="6" y="144"/>
                </a:lnTo>
                <a:cubicBezTo>
                  <a:pt x="6" y="146"/>
                  <a:pt x="8" y="148"/>
                  <a:pt x="10" y="148"/>
                </a:cubicBezTo>
                <a:cubicBezTo>
                  <a:pt x="4" y="148"/>
                  <a:pt x="0" y="143"/>
                  <a:pt x="0" y="138"/>
                </a:cubicBezTo>
                <a:lnTo>
                  <a:pt x="0" y="10"/>
                </a:lnTo>
                <a:cubicBezTo>
                  <a:pt x="0" y="5"/>
                  <a:pt x="4" y="0"/>
                  <a:pt x="10" y="0"/>
                </a:cubicBezTo>
                <a:close/>
              </a:path>
            </a:pathLst>
          </a:custGeom>
          <a:solidFill xmlns:a="http://schemas.openxmlformats.org/drawingml/2006/main">
            <a:srgbClr val="3D7BD9"/>
          </a:solidFill>
        </p:spPr>
        <p:txBody>
          <a:bodyPr xmlns:a="http://schemas.openxmlformats.org/drawingml/2006/main"/>
          <a:lstStyle xmlns:a="http://schemas.openxmlformats.org/drawingml/2006/main"/>
          <a:p xmlns:a="http://schemas.openxmlformats.org/drawingml/2006/main"/>
        </p:txBody>
      </p:sp>
      <p:sp>
        <p:nvSpPr>
          <p:cNvPr id="1005" name="">
            <a:extLst xmlns:a="http://schemas.openxmlformats.org/drawingml/2006/main">
              <a:ext uri="{FF2B5EF4-FFF2-40B4-BE49-F238E27FC236}">
                <a16:creationId xmlns:a16="http://schemas.microsoft.com/office/drawing/2014/main" id="{AA9E8336-0A3E-4207-86F9-3C8E2B7E884C}"/>
              </a:ext>
            </a:extLst>
          </p:cNvPr>
          <p:cNvSpPr>
            <a:spLocks xmlns:a="http://schemas.openxmlformats.org/drawingml/2006/main" noGrp="1"/>
          </p:cNvSpPr>
          <p:nvPr/>
        </p:nvSpPr>
        <p:spPr>
          <a:xfrm xmlns:a="http://schemas.openxmlformats.org/drawingml/2006/main" rot="0" flipH="0" flipV="0">
            <a:off x="8277225" y="2752725"/>
            <a:ext cx="326707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3D7BD9"/>
                </a:solidFill>
                <a:latin typeface="Microsoft YaHei"/>
                <a:ea typeface="Microsoft YaHei"/>
                <a:cs typeface="Microsoft YaHei"/>
              </a:rPr>
              <a:t>子类 “狗”</a:t>
            </a:r>
          </a:p>
          <a:p xmlns:a="http://schemas.openxmlformats.org/drawingml/2006/main">
            <a:pPr marL="0">
              <a:lnSpc>
                <a:spcPct val="100000"/>
              </a:lnSpc>
              <a:spcBef>
                <a:spcPts val="0"/>
              </a:spcBef>
              <a:spcAft>
                <a:spcPts val="0"/>
              </a:spcAft>
              <a:buNone/>
            </a:pPr>
            <a:r>
              <a:rPr sz="2010" b="1">
                <a:solidFill>
                  <a:srgbClr val="3D7BD9"/>
                </a:solidFill>
                <a:latin typeface="Microsoft YaHei"/>
                <a:ea typeface="Microsoft YaHei"/>
                <a:cs typeface="Microsoft YaHei"/>
              </a:rPr>
              <a:t>Subcategory "dog"</a:t>
            </a:r>
          </a:p>
        </p:txBody>
      </p:sp>
      <p:sp>
        <p:nvSpPr>
          <p:cNvPr id="1006" name="">
            <a:extLst xmlns:a="http://schemas.openxmlformats.org/drawingml/2006/main">
              <a:ext uri="{FF2B5EF4-FFF2-40B4-BE49-F238E27FC236}">
                <a16:creationId xmlns:a16="http://schemas.microsoft.com/office/drawing/2014/main" id="{D56A5C97-218C-40AB-8489-9A853E44C6E6}"/>
              </a:ext>
            </a:extLst>
          </p:cNvPr>
          <p:cNvSpPr>
            <a:spLocks xmlns:a="http://schemas.openxmlformats.org/drawingml/2006/main" noGrp="1"/>
          </p:cNvSpPr>
          <p:nvPr/>
        </p:nvSpPr>
        <p:spPr>
          <a:xfrm xmlns:a="http://schemas.openxmlformats.org/drawingml/2006/main" rot="0" flipH="0" flipV="0">
            <a:off x="8277225" y="2990850"/>
            <a:ext cx="3267075" cy="552450"/>
          </a:xfrm>
          <a:prstGeom xmlns:a="http://schemas.openxmlformats.org/drawingml/2006/main" prst="rect">
            <a:avLst/>
          </a:prstGeom>
        </p:spPr>
        <p:txBody>
          <a:bodyPr xmlns:a="http://schemas.openxmlformats.org/drawingml/2006/main" wrap="square" lIns="0" tIns="0" rIns="0" bIns="0">
            <a:normAutofit fontScale="59177"/>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自动继承：呼吸、睡觉、五官、颜色，不用重新定义</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Automatic inheritance: breathing, sleeping, facial features, color, no need to redefine</a:t>
            </a:r>
          </a:p>
        </p:txBody>
      </p:sp>
      <p:sp>
        <p:nvSpPr>
          <p:cNvPr id="1007" name="">
            <a:extLst xmlns:a="http://schemas.openxmlformats.org/drawingml/2006/main">
              <a:ext uri="{FF2B5EF4-FFF2-40B4-BE49-F238E27FC236}">
                <a16:creationId xmlns:a16="http://schemas.microsoft.com/office/drawing/2014/main" id="{B107E8BC-7798-4664-AAD8-8CA7D6931509}"/>
              </a:ext>
            </a:extLst>
          </p:cNvPr>
          <p:cNvSpPr>
            <a:spLocks xmlns:a="http://schemas.openxmlformats.org/drawingml/2006/main" noGrp="1"/>
          </p:cNvSpPr>
          <p:nvPr/>
        </p:nvSpPr>
        <p:spPr>
          <a:xfrm xmlns:a="http://schemas.openxmlformats.org/drawingml/2006/main" rot="0" flipH="0" flipV="0">
            <a:off x="8277225" y="3581400"/>
            <a:ext cx="326707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按需新增：摇尾巴等独特方法</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Added as needed: Unique methods such as tail wagging</a:t>
            </a:r>
          </a:p>
        </p:txBody>
      </p:sp>
      <p:sp>
        <p:nvSpPr>
          <p:cNvPr id="1008" name="">
            <a:extLst xmlns:a="http://schemas.openxmlformats.org/drawingml/2006/main">
              <a:ext uri="{FF2B5EF4-FFF2-40B4-BE49-F238E27FC236}">
                <a16:creationId xmlns:a16="http://schemas.microsoft.com/office/drawing/2014/main" id="{5CBB2D21-BDCD-475B-A915-074DA63E3D99}"/>
              </a:ext>
            </a:extLst>
          </p:cNvPr>
          <p:cNvSpPr>
            <a:spLocks xmlns:a="http://schemas.openxmlformats.org/drawingml/2006/main" noGrp="1"/>
          </p:cNvSpPr>
          <p:nvPr/>
        </p:nvSpPr>
        <p:spPr>
          <a:xfrm xmlns:a="http://schemas.openxmlformats.org/drawingml/2006/main" rot="0" flipH="0" flipV="0">
            <a:off x="4181475" y="4181475"/>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1009" name="">
            <a:extLst xmlns:a="http://schemas.openxmlformats.org/drawingml/2006/main">
              <a:ext uri="{FF2B5EF4-FFF2-40B4-BE49-F238E27FC236}">
                <a16:creationId xmlns:a16="http://schemas.microsoft.com/office/drawing/2014/main" id="{E3AF8311-AE94-4198-B64E-E9387201E3ED}"/>
              </a:ext>
            </a:extLst>
          </p:cNvPr>
          <p:cNvSpPr>
            <a:spLocks xmlns:a="http://schemas.openxmlformats.org/drawingml/2006/main" noGrp="1"/>
          </p:cNvSpPr>
          <p:nvPr/>
        </p:nvSpPr>
        <p:spPr>
          <a:xfrm xmlns:a="http://schemas.openxmlformats.org/drawingml/2006/main" rot="0" flipH="0" flipV="0">
            <a:off x="4371975" y="4314825"/>
            <a:ext cx="7172325" cy="295275"/>
          </a:xfrm>
          <a:prstGeom xmlns:a="http://schemas.openxmlformats.org/drawingml/2006/main" prst="rect">
            <a:avLst/>
          </a:prstGeom>
        </p:spPr>
        <p:txBody>
          <a:bodyPr xmlns:a="http://schemas.openxmlformats.org/drawingml/2006/main" wrap="non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通过继承性建立的类继承结构，避免了子类一切从头做起。</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The class inheritance structure established through inheritance avoids the need for subclasses to start from scratch.</a:t>
            </a:r>
          </a:p>
        </p:txBody>
      </p:sp>
      <p:sp>
        <p:nvSpPr>
          <p:cNvPr id="1010" name="">
            <a:extLst xmlns:a="http://schemas.openxmlformats.org/drawingml/2006/main">
              <a:ext uri="{FF2B5EF4-FFF2-40B4-BE49-F238E27FC236}">
                <a16:creationId xmlns:a16="http://schemas.microsoft.com/office/drawing/2014/main" id="{CFB84C05-8F6C-4C36-9062-72B7FDFF5E5F}"/>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8 / 87</a:t>
            </a:r>
            <a:endParaRPr/>
          </a:p>
        </p:txBody>
      </p:sp>
    </p:spTree>
    <p:extLst>
      <p:ext uri="{BB962C8B-B14F-4D97-AF65-F5344CB8AC3E}">
        <p14:creationId xmlns:p14="http://schemas.microsoft.com/office/powerpoint/2010/main" val="190421798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063" name="">
            <a:extLst xmlns:a="http://schemas.openxmlformats.org/drawingml/2006/main">
              <a:ext uri="{FF2B5EF4-FFF2-40B4-BE49-F238E27FC236}">
                <a16:creationId xmlns:a16="http://schemas.microsoft.com/office/drawing/2014/main" id="{5F327450-9B6E-42B5-9022-FCE3D35F7FC5}"/>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064" name="">
            <a:extLst xmlns:a="http://schemas.openxmlformats.org/drawingml/2006/main">
              <a:ext uri="{FF2B5EF4-FFF2-40B4-BE49-F238E27FC236}">
                <a16:creationId xmlns:a16="http://schemas.microsoft.com/office/drawing/2014/main" id="{ED4584AB-C43A-40C9-AFCB-A0BA303F2E35}"/>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065" name="">
            <a:extLst xmlns:a="http://schemas.openxmlformats.org/drawingml/2006/main">
              <a:ext uri="{FF2B5EF4-FFF2-40B4-BE49-F238E27FC236}">
                <a16:creationId xmlns:a16="http://schemas.microsoft.com/office/drawing/2014/main" id="{21812793-FAA4-43E5-A4CB-471236269C19}"/>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066" name="">
            <a:extLst xmlns:a="http://schemas.openxmlformats.org/drawingml/2006/main">
              <a:ext uri="{FF2B5EF4-FFF2-40B4-BE49-F238E27FC236}">
                <a16:creationId xmlns:a16="http://schemas.microsoft.com/office/drawing/2014/main" id="{2F8B0B2D-3BDB-4ACA-ABD1-E7636F7CDDFE}"/>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§5.2.1</a:t>
            </a:r>
            <a:endParaRPr/>
          </a:p>
        </p:txBody>
      </p:sp>
      <p:sp>
        <p:nvSpPr>
          <p:cNvPr id="1067" name="">
            <a:extLst xmlns:a="http://schemas.openxmlformats.org/drawingml/2006/main">
              <a:ext uri="{FF2B5EF4-FFF2-40B4-BE49-F238E27FC236}">
                <a16:creationId xmlns:a16="http://schemas.microsoft.com/office/drawing/2014/main" id="{597D18C8-B302-47A7-BD26-E2DF48938C57}"/>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子类和父类在同一包中的继承性</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Inheritance between subclasses and parent classes in the same package</a:t>
            </a:r>
          </a:p>
        </p:txBody>
      </p:sp>
      <p:sp>
        <p:nvSpPr>
          <p:cNvPr id="1068" name="">
            <a:extLst xmlns:a="http://schemas.openxmlformats.org/drawingml/2006/main">
              <a:ext uri="{FF2B5EF4-FFF2-40B4-BE49-F238E27FC236}">
                <a16:creationId xmlns:a16="http://schemas.microsoft.com/office/drawing/2014/main" id="{B61F3D65-3BD5-4F7B-A134-11570D1B56F1}"/>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69" name="">
            <a:extLst xmlns:a="http://schemas.openxmlformats.org/drawingml/2006/main">
              <a:ext uri="{FF2B5EF4-FFF2-40B4-BE49-F238E27FC236}">
                <a16:creationId xmlns:a16="http://schemas.microsoft.com/office/drawing/2014/main" id="{8E06AE02-0394-433B-B38B-B9DFF74225AD}"/>
              </a:ext>
            </a:extLst>
          </p:cNvPr>
          <p:cNvSpPr>
            <a:spLocks xmlns:a="http://schemas.openxmlformats.org/drawingml/2006/main" noGrp="1"/>
          </p:cNvSpPr>
          <p:nvPr/>
        </p:nvSpPr>
        <p:spPr>
          <a:xfrm xmlns:a="http://schemas.openxmlformats.org/drawingml/2006/main" rot="0" flipH="0" flipV="0">
            <a:off x="457200" y="3190875"/>
            <a:ext cx="3381375" cy="390525"/>
          </a:xfrm>
          <a:prstGeom xmlns:a="http://schemas.openxmlformats.org/drawingml/2006/main" prst="rect">
            <a:avLst/>
          </a:prstGeom>
        </p:spPr>
        <p:txBody>
          <a:bodyPr xmlns:a="http://schemas.openxmlformats.org/drawingml/2006/main" wrap="none" lIns="0" tIns="0" rIns="0" bIns="0">
            <a:normAutofit fontScale="24431"/>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子类与父类同包时，继承的范围最广。</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When a subclass is in the same package as its parent class, the scope of inheritance is the widest.</a:t>
            </a:r>
          </a:p>
        </p:txBody>
      </p:sp>
      <p:sp>
        <p:nvSpPr>
          <p:cNvPr id="1070" name="">
            <a:extLst xmlns:a="http://schemas.openxmlformats.org/drawingml/2006/main">
              <a:ext uri="{FF2B5EF4-FFF2-40B4-BE49-F238E27FC236}">
                <a16:creationId xmlns:a16="http://schemas.microsoft.com/office/drawing/2014/main" id="{6ABA1D5F-9F32-4CFE-8C00-D934A613D886}"/>
              </a:ext>
            </a:extLst>
          </p:cNvPr>
          <p:cNvSpPr>
            <a:spLocks xmlns:a="http://schemas.openxmlformats.org/drawingml/2006/main" noGrp="1"/>
          </p:cNvSpPr>
          <p:nvPr/>
        </p:nvSpPr>
        <p:spPr>
          <a:xfrm xmlns:a="http://schemas.openxmlformats.org/drawingml/2006/main" rot="0" flipH="0" flipV="0">
            <a:off x="4181475" y="25146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71" name="">
            <a:extLst xmlns:a="http://schemas.openxmlformats.org/drawingml/2006/main">
              <a:ext uri="{FF2B5EF4-FFF2-40B4-BE49-F238E27FC236}">
                <a16:creationId xmlns:a16="http://schemas.microsoft.com/office/drawing/2014/main" id="{23F11B00-FC88-473D-AFD3-77224FAB80BB}"/>
              </a:ext>
            </a:extLst>
          </p:cNvPr>
          <p:cNvSpPr>
            <a:spLocks xmlns:a="http://schemas.openxmlformats.org/drawingml/2006/main" noGrp="1"/>
          </p:cNvSpPr>
          <p:nvPr/>
        </p:nvSpPr>
        <p:spPr>
          <a:xfrm xmlns:a="http://schemas.openxmlformats.org/drawingml/2006/main" rot="0" flipH="0" flipV="0">
            <a:off x="4371975" y="2400300"/>
            <a:ext cx="7362825" cy="390525"/>
          </a:xfrm>
          <a:prstGeom xmlns:a="http://schemas.openxmlformats.org/drawingml/2006/main" prst="rect">
            <a:avLst/>
          </a:prstGeom>
        </p:spPr>
        <p:txBody>
          <a:bodyPr xmlns:a="http://schemas.openxmlformats.org/drawingml/2006/main" wrap="none" lIns="0" tIns="0" rIns="0" bIns="0">
            <a:normAutofit fontScale="43803"/>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子类自然地继承其父类中不是 private 的成员变量作为自己的成员变量</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Subclasses naturally inherit member variables that are not private in their parent class as their own member variables.</a:t>
            </a:r>
          </a:p>
        </p:txBody>
      </p:sp>
      <p:sp>
        <p:nvSpPr>
          <p:cNvPr id="1072" name="">
            <a:extLst xmlns:a="http://schemas.openxmlformats.org/drawingml/2006/main">
              <a:ext uri="{FF2B5EF4-FFF2-40B4-BE49-F238E27FC236}">
                <a16:creationId xmlns:a16="http://schemas.microsoft.com/office/drawing/2014/main" id="{8D3B75BD-090C-4CE1-9DDD-4DD92DC425E1}"/>
              </a:ext>
            </a:extLst>
          </p:cNvPr>
          <p:cNvSpPr>
            <a:spLocks xmlns:a="http://schemas.openxmlformats.org/drawingml/2006/main" noGrp="1"/>
          </p:cNvSpPr>
          <p:nvPr/>
        </p:nvSpPr>
        <p:spPr>
          <a:xfrm xmlns:a="http://schemas.openxmlformats.org/drawingml/2006/main" rot="0" flipH="0" flipV="0">
            <a:off x="4181475" y="30765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73" name="">
            <a:extLst xmlns:a="http://schemas.openxmlformats.org/drawingml/2006/main">
              <a:ext uri="{FF2B5EF4-FFF2-40B4-BE49-F238E27FC236}">
                <a16:creationId xmlns:a16="http://schemas.microsoft.com/office/drawing/2014/main" id="{AA5C31BF-2AFC-439E-940C-D28CD2A09824}"/>
              </a:ext>
            </a:extLst>
          </p:cNvPr>
          <p:cNvSpPr>
            <a:spLocks xmlns:a="http://schemas.openxmlformats.org/drawingml/2006/main" noGrp="1"/>
          </p:cNvSpPr>
          <p:nvPr/>
        </p:nvSpPr>
        <p:spPr>
          <a:xfrm xmlns:a="http://schemas.openxmlformats.org/drawingml/2006/main" rot="0" flipH="0" flipV="0">
            <a:off x="4371975" y="29622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子类自然地继承父类中不是 private 的方法作为自己的方法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Subclasses naturally inherit non-private methods from the parent class as their own methods.</a:t>
            </a:r>
          </a:p>
        </p:txBody>
      </p:sp>
      <p:sp>
        <p:nvSpPr>
          <p:cNvPr id="1074" name="">
            <a:extLst xmlns:a="http://schemas.openxmlformats.org/drawingml/2006/main">
              <a:ext uri="{FF2B5EF4-FFF2-40B4-BE49-F238E27FC236}">
                <a16:creationId xmlns:a16="http://schemas.microsoft.com/office/drawing/2014/main" id="{15E1FF1A-67E6-40BB-83BB-FAC50FB66F7C}"/>
              </a:ext>
            </a:extLst>
          </p:cNvPr>
          <p:cNvSpPr>
            <a:spLocks xmlns:a="http://schemas.openxmlformats.org/drawingml/2006/main" noGrp="1"/>
          </p:cNvSpPr>
          <p:nvPr/>
        </p:nvSpPr>
        <p:spPr>
          <a:xfrm xmlns:a="http://schemas.openxmlformats.org/drawingml/2006/main" rot="0" flipH="0" flipV="0">
            <a:off x="4181475" y="36385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75" name="">
            <a:extLst xmlns:a="http://schemas.openxmlformats.org/drawingml/2006/main">
              <a:ext uri="{FF2B5EF4-FFF2-40B4-BE49-F238E27FC236}">
                <a16:creationId xmlns:a16="http://schemas.microsoft.com/office/drawing/2014/main" id="{A2583C7D-1990-408F-A974-1DA582714784}"/>
              </a:ext>
            </a:extLst>
          </p:cNvPr>
          <p:cNvSpPr>
            <a:spLocks xmlns:a="http://schemas.openxmlformats.org/drawingml/2006/main" noGrp="1"/>
          </p:cNvSpPr>
          <p:nvPr/>
        </p:nvSpPr>
        <p:spPr>
          <a:xfrm xmlns:a="http://schemas.openxmlformats.org/drawingml/2006/main" rot="0" flipH="0" flipV="0">
            <a:off x="4371975" y="352425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继承的成员变量或方法的访问权限保持不变</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Access permissions for inherited member variables or methods remain unchanged</a:t>
            </a:r>
          </a:p>
        </p:txBody>
      </p:sp>
      <p:sp>
        <p:nvSpPr>
          <p:cNvPr id="1076" name="">
            <a:extLst xmlns:a="http://schemas.openxmlformats.org/drawingml/2006/main">
              <a:ext uri="{FF2B5EF4-FFF2-40B4-BE49-F238E27FC236}">
                <a16:creationId xmlns:a16="http://schemas.microsoft.com/office/drawing/2014/main" id="{03F13A4E-B6B4-42E4-BCE7-EA09C9E1DB0D}"/>
              </a:ext>
            </a:extLst>
          </p:cNvPr>
          <p:cNvSpPr>
            <a:spLocks xmlns:a="http://schemas.openxmlformats.org/drawingml/2006/main" noGrp="1"/>
          </p:cNvSpPr>
          <p:nvPr/>
        </p:nvSpPr>
        <p:spPr>
          <a:xfrm xmlns:a="http://schemas.openxmlformats.org/drawingml/2006/main" rot="0" flipH="0" flipV="0">
            <a:off x="4181475" y="4086225"/>
            <a:ext cx="7553325" cy="857250"/>
          </a:xfrm>
          <a:prstGeom xmlns:a="http://schemas.openxmlformats.org/drawingml/2006/main" prst="roundRect">
            <a:avLst>
              <a:gd name="adj" fmla="val 11111"/>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1077" name="">
            <a:extLst xmlns:a="http://schemas.openxmlformats.org/drawingml/2006/main">
              <a:ext uri="{FF2B5EF4-FFF2-40B4-BE49-F238E27FC236}">
                <a16:creationId xmlns:a16="http://schemas.microsoft.com/office/drawing/2014/main" id="{F5692A6E-6292-41A9-96C8-CDCA7D72A13B}"/>
              </a:ext>
            </a:extLst>
          </p:cNvPr>
          <p:cNvSpPr>
            <a:spLocks xmlns:a="http://schemas.openxmlformats.org/drawingml/2006/main" noGrp="1"/>
          </p:cNvSpPr>
          <p:nvPr/>
        </p:nvSpPr>
        <p:spPr>
          <a:xfrm xmlns:a="http://schemas.openxmlformats.org/drawingml/2006/main" rot="0" flipH="0" flipV="0">
            <a:off x="4371975" y="4219575"/>
            <a:ext cx="7172325" cy="590550"/>
          </a:xfrm>
          <a:prstGeom xmlns:a="http://schemas.openxmlformats.org/drawingml/2006/main" prst="rect">
            <a:avLst/>
          </a:prstGeom>
        </p:spPr>
        <p:txBody>
          <a:bodyPr xmlns:a="http://schemas.openxmlformats.org/drawingml/2006/main" wrap="squar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例子1 中有 4 个类：People、Student、UniverStudent 和 Example5_1（均无包名），其中 UniverStudent 是 Student 的子类，Student 是 People 的子类。</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There are 4 classes in Example 1: People, Student, UniverStudent and Example5_1 (all without package names), where UniverStudent is a subclass of Student and Student is a subclass of People.</a:t>
            </a:r>
          </a:p>
        </p:txBody>
      </p:sp>
      <p:sp>
        <p:nvSpPr>
          <p:cNvPr id="1078" name="">
            <a:extLst xmlns:a="http://schemas.openxmlformats.org/drawingml/2006/main">
              <a:ext uri="{FF2B5EF4-FFF2-40B4-BE49-F238E27FC236}">
                <a16:creationId xmlns:a16="http://schemas.microsoft.com/office/drawing/2014/main" id="{E5F75D61-9491-4C18-A201-E9A11D861184}"/>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9 / 87</a:t>
            </a:r>
            <a:endParaRPr/>
          </a:p>
        </p:txBody>
      </p:sp>
    </p:spTree>
    <p:extLst>
      <p:ext uri="{BB962C8B-B14F-4D97-AF65-F5344CB8AC3E}">
        <p14:creationId xmlns:p14="http://schemas.microsoft.com/office/powerpoint/2010/main" val="19260403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76360E8-92B6-47EE-B15F-29034521447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9FAFA2DD-DF2E-4B8D-AD5B-F90CBCDC62D7}"/>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6B685720-4A28-43F6-8ADD-7D159C52B1E0}"/>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5" name="">
            <a:extLst xmlns:a="http://schemas.openxmlformats.org/drawingml/2006/main">
              <a:ext uri="{FF2B5EF4-FFF2-40B4-BE49-F238E27FC236}">
                <a16:creationId xmlns:a16="http://schemas.microsoft.com/office/drawing/2014/main" id="{396CF4F8-F825-4DC2-AB0F-81776C3A1073}"/>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a:t>
            </a:r>
          </a:p>
        </p:txBody>
      </p:sp>
      <p:sp>
        <p:nvSpPr>
          <p:cNvPr id="16" name="">
            <a:extLst xmlns:a="http://schemas.openxmlformats.org/drawingml/2006/main">
              <a:ext uri="{FF2B5EF4-FFF2-40B4-BE49-F238E27FC236}">
                <a16:creationId xmlns:a16="http://schemas.microsoft.com/office/drawing/2014/main" id="{8C760846-5E21-49A6-8FA9-CC1F56758563}"/>
              </a:ext>
            </a:extLst>
          </p:cNvPr>
          <p:cNvSpPr>
            <a:spLocks xmlns:a="http://schemas.openxmlformats.org/drawingml/2006/main" noGrp="1"/>
          </p:cNvSpPr>
          <p:nvPr/>
        </p:nvSpPr>
        <p:spPr>
          <a:xfrm xmlns:a="http://schemas.openxmlformats.org/drawingml/2006/main" rot="0" flipH="0" flipV="0">
            <a:off x="457200" y="15621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People 类（父类）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People class (parent class)</a:t>
            </a:r>
          </a:p>
        </p:txBody>
      </p:sp>
      <p:sp>
        <p:nvSpPr>
          <p:cNvPr id="17" name="">
            <a:extLst xmlns:a="http://schemas.openxmlformats.org/drawingml/2006/main">
              <a:ext uri="{FF2B5EF4-FFF2-40B4-BE49-F238E27FC236}">
                <a16:creationId xmlns:a16="http://schemas.microsoft.com/office/drawing/2014/main" id="{B9277C04-86C3-44A1-9366-6A8524FA6BF8}"/>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08EC0223-0268-4399-9C12-FAF9DE283647}"/>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声明 age、leg、hand 成员变量与 showPeopleMess() 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Declare the age, leg, hand member variables and showPeopleMess() method.</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4b19339e266425b"/>
          <a:srcRect xmlns:a="http://schemas.openxmlformats.org/drawingml/2006/main" l="50" t="0" r="50" b="0"/>
          <a:stretch xmlns:a="http://schemas.openxmlformats.org/drawingml/2006/main">
            <a:fillRect l="0" t="0" r="0" b="0"/>
          </a:stretch>
        </p:blipFill>
        <p:spPr>
          <a:xfrm xmlns:a="http://schemas.openxmlformats.org/drawingml/2006/main" rot="0" flipH="0" flipV="0">
            <a:off x="4143375" y="2476500"/>
            <a:ext cx="7591425" cy="2362200"/>
          </a:xfrm>
          <a:prstGeom xmlns:a="http://schemas.openxmlformats.org/drawingml/2006/main" prst="roundRect">
            <a:avLst>
              <a:gd name="adj" fmla="val 4839"/>
            </a:avLst>
          </a:prstGeom>
          <a:effectLst xmlns:a="http://schemas.openxmlformats.org/drawingml/2006/main">
            <a:outerShdw blurRad="152400" dist="38100" dir="5400000">
              <a:srgbClr val="0F1C2E">
                <a:alpha val="8000"/>
              </a:srgbClr>
            </a:outerShdw>
          </a:effectLst>
        </p:spPr>
      </p:pic>
      <p:sp>
        <p:nvSpPr>
          <p:cNvPr id="20" name="">
            <a:extLst xmlns:a="http://schemas.openxmlformats.org/drawingml/2006/main">
              <a:ext uri="{FF2B5EF4-FFF2-40B4-BE49-F238E27FC236}">
                <a16:creationId xmlns:a16="http://schemas.microsoft.com/office/drawing/2014/main" id="{0545E492-639E-4AF1-93AE-81F4CC180B8B}"/>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10 / 87</a:t>
            </a:r>
            <a:endParaRPr/>
          </a:p>
        </p:txBody>
      </p:sp>
    </p:spTree>
    <p:extLst>
      <p:ext uri="{BB962C8B-B14F-4D97-AF65-F5344CB8AC3E}">
        <p14:creationId xmlns:p14="http://schemas.microsoft.com/office/powerpoint/2010/main" val="157769786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4D14718-339B-482D-87DF-EED333BBA236}"/>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3" name="">
            <a:extLst xmlns:a="http://schemas.openxmlformats.org/drawingml/2006/main">
              <a:ext uri="{FF2B5EF4-FFF2-40B4-BE49-F238E27FC236}">
                <a16:creationId xmlns:a16="http://schemas.microsoft.com/office/drawing/2014/main" id="{57B9CC30-7584-4184-A6DE-9E6E63BD846C}"/>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4" name="">
            <a:extLst xmlns:a="http://schemas.openxmlformats.org/drawingml/2006/main">
              <a:ext uri="{FF2B5EF4-FFF2-40B4-BE49-F238E27FC236}">
                <a16:creationId xmlns:a16="http://schemas.microsoft.com/office/drawing/2014/main" id="{6E4FB1C4-8469-4419-96C1-F8D3F7E390F6}"/>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25" name="">
            <a:extLst xmlns:a="http://schemas.openxmlformats.org/drawingml/2006/main">
              <a:ext uri="{FF2B5EF4-FFF2-40B4-BE49-F238E27FC236}">
                <a16:creationId xmlns:a16="http://schemas.microsoft.com/office/drawing/2014/main" id="{0362F028-8692-48F6-9E7D-E3F7A16EABF7}"/>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a:t>
            </a:r>
          </a:p>
        </p:txBody>
      </p:sp>
      <p:sp>
        <p:nvSpPr>
          <p:cNvPr id="26" name="">
            <a:extLst xmlns:a="http://schemas.openxmlformats.org/drawingml/2006/main">
              <a:ext uri="{FF2B5EF4-FFF2-40B4-BE49-F238E27FC236}">
                <a16:creationId xmlns:a16="http://schemas.microsoft.com/office/drawing/2014/main" id="{3B0D008A-4104-48D9-955A-155893AE331F}"/>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Student 类（子类）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Student class (subclass)</a:t>
            </a:r>
          </a:p>
        </p:txBody>
      </p:sp>
      <p:sp>
        <p:nvSpPr>
          <p:cNvPr id="27" name="">
            <a:extLst xmlns:a="http://schemas.openxmlformats.org/drawingml/2006/main">
              <a:ext uri="{FF2B5EF4-FFF2-40B4-BE49-F238E27FC236}">
                <a16:creationId xmlns:a16="http://schemas.microsoft.com/office/drawing/2014/main" id="{E1922A59-D98A-4AEE-968A-2FCF19866CC5}"/>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DCBCE5D6-66DB-47D8-B785-E562A9D8DE59}"/>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Student 继承 People，新增 number 与 tellNumber()、add()。</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Student inherits People and adds number, tellNumber(), and add().</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198c2dc078247f0"/>
          <a:srcRect xmlns:a="http://schemas.openxmlformats.org/drawingml/2006/main" l="0" t="45" r="0" b="45"/>
          <a:stretch xmlns:a="http://schemas.openxmlformats.org/drawingml/2006/main">
            <a:fillRect l="0" t="0" r="0" b="0"/>
          </a:stretch>
        </p:blipFill>
        <p:spPr>
          <a:xfrm xmlns:a="http://schemas.openxmlformats.org/drawingml/2006/main" rot="0" flipH="0" flipV="0">
            <a:off x="4143375" y="1600200"/>
            <a:ext cx="7591425" cy="4105275"/>
          </a:xfrm>
          <a:prstGeom xmlns:a="http://schemas.openxmlformats.org/drawingml/2006/main" prst="roundRect">
            <a:avLst>
              <a:gd name="adj" fmla="val 2784"/>
            </a:avLst>
          </a:prstGeom>
          <a:effectLst xmlns:a="http://schemas.openxmlformats.org/drawingml/2006/main">
            <a:outerShdw blurRad="152400" dist="38100" dir="5400000">
              <a:srgbClr val="0F1C2E">
                <a:alpha val="8000"/>
              </a:srgbClr>
            </a:outerShdw>
          </a:effectLst>
        </p:spPr>
      </p:pic>
      <p:sp>
        <p:nvSpPr>
          <p:cNvPr id="30" name="">
            <a:extLst xmlns:a="http://schemas.openxmlformats.org/drawingml/2006/main">
              <a:ext uri="{FF2B5EF4-FFF2-40B4-BE49-F238E27FC236}">
                <a16:creationId xmlns:a16="http://schemas.microsoft.com/office/drawing/2014/main" id="{4245B760-9717-4771-A178-F1D5C60AFB44}"/>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11 / 87</a:t>
            </a:r>
            <a:endParaRPr/>
          </a:p>
        </p:txBody>
      </p:sp>
    </p:spTree>
    <p:extLst>
      <p:ext uri="{BB962C8B-B14F-4D97-AF65-F5344CB8AC3E}">
        <p14:creationId xmlns:p14="http://schemas.microsoft.com/office/powerpoint/2010/main" val="88095712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BE21041-45BE-4F1A-9F43-F9CF4D4E3814}"/>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A593EBB6-0F8F-4A6A-88BA-A6B95B05A6C9}"/>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4" name="">
            <a:extLst xmlns:a="http://schemas.openxmlformats.org/drawingml/2006/main">
              <a:ext uri="{FF2B5EF4-FFF2-40B4-BE49-F238E27FC236}">
                <a16:creationId xmlns:a16="http://schemas.microsoft.com/office/drawing/2014/main" id="{DCF48067-AC9F-4CAD-A0A0-4558F29DEAEF}"/>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35" name="">
            <a:extLst xmlns:a="http://schemas.openxmlformats.org/drawingml/2006/main">
              <a:ext uri="{FF2B5EF4-FFF2-40B4-BE49-F238E27FC236}">
                <a16:creationId xmlns:a16="http://schemas.microsoft.com/office/drawing/2014/main" id="{A7755B4E-CDC8-4C78-B2E2-AD9D5F0AF39C}"/>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a:t>
            </a:r>
          </a:p>
        </p:txBody>
      </p:sp>
      <p:sp>
        <p:nvSpPr>
          <p:cNvPr id="36" name="">
            <a:extLst xmlns:a="http://schemas.openxmlformats.org/drawingml/2006/main">
              <a:ext uri="{FF2B5EF4-FFF2-40B4-BE49-F238E27FC236}">
                <a16:creationId xmlns:a16="http://schemas.microsoft.com/office/drawing/2014/main" id="{BCDC0879-D387-4320-A4B3-858017A9F0B2}"/>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45072"/>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UniverStudent 类（孙类）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UniverStudent class (grandchild)</a:t>
            </a:r>
          </a:p>
        </p:txBody>
      </p:sp>
      <p:sp>
        <p:nvSpPr>
          <p:cNvPr id="37" name="">
            <a:extLst xmlns:a="http://schemas.openxmlformats.org/drawingml/2006/main">
              <a:ext uri="{FF2B5EF4-FFF2-40B4-BE49-F238E27FC236}">
                <a16:creationId xmlns:a16="http://schemas.microsoft.com/office/drawing/2014/main" id="{46EE475F-BC1D-475F-AC28-B69B5CBD072D}"/>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51B16AE7-BF21-4FFF-BDDA-65305380B7BC}"/>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547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UniverStudent 继承 Student，新增 multi()。</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UniverStudent inherits Student and adds multi().</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de29f740f36c49c9"/>
          <a:srcRect xmlns:a="http://schemas.openxmlformats.org/drawingml/2006/main" l="0" t="10" r="0" b="10"/>
          <a:stretch xmlns:a="http://schemas.openxmlformats.org/drawingml/2006/main">
            <a:fillRect l="0" t="0" r="0" b="0"/>
          </a:stretch>
        </p:blipFill>
        <p:spPr>
          <a:xfrm xmlns:a="http://schemas.openxmlformats.org/drawingml/2006/main" rot="0" flipH="0" flipV="0">
            <a:off x="4143375" y="2228850"/>
            <a:ext cx="7591425" cy="2857500"/>
          </a:xfrm>
          <a:prstGeom xmlns:a="http://schemas.openxmlformats.org/drawingml/2006/main" prst="roundRect">
            <a:avLst>
              <a:gd name="adj" fmla="val 4000"/>
            </a:avLst>
          </a:prstGeom>
          <a:effectLst xmlns:a="http://schemas.openxmlformats.org/drawingml/2006/main">
            <a:outerShdw blurRad="152400" dist="38100" dir="5400000">
              <a:srgbClr val="0F1C2E">
                <a:alpha val="8000"/>
              </a:srgbClr>
            </a:outerShdw>
          </a:effectLst>
        </p:spPr>
      </p:pic>
      <p:sp>
        <p:nvSpPr>
          <p:cNvPr id="40" name="">
            <a:extLst xmlns:a="http://schemas.openxmlformats.org/drawingml/2006/main">
              <a:ext uri="{FF2B5EF4-FFF2-40B4-BE49-F238E27FC236}">
                <a16:creationId xmlns:a16="http://schemas.microsoft.com/office/drawing/2014/main" id="{076FAD08-DDDC-450D-B62C-CCCBFA937407}"/>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12 / 87</a:t>
            </a:r>
            <a:endParaRPr/>
          </a:p>
        </p:txBody>
      </p:sp>
    </p:spTree>
    <p:extLst>
      <p:ext uri="{BB962C8B-B14F-4D97-AF65-F5344CB8AC3E}">
        <p14:creationId xmlns:p14="http://schemas.microsoft.com/office/powerpoint/2010/main" val="193590609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97D65ED7-5894-4339-BF93-13597CCF27D5}"/>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288936A6-E141-4AE4-AA65-A94D3BD0BBE3}"/>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4" name="">
            <a:extLst xmlns:a="http://schemas.openxmlformats.org/drawingml/2006/main">
              <a:ext uri="{FF2B5EF4-FFF2-40B4-BE49-F238E27FC236}">
                <a16:creationId xmlns:a16="http://schemas.microsoft.com/office/drawing/2014/main" id="{3616FED1-2D11-472F-8311-8C8161251123}"/>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45" name="">
            <a:extLst xmlns:a="http://schemas.openxmlformats.org/drawingml/2006/main">
              <a:ext uri="{FF2B5EF4-FFF2-40B4-BE49-F238E27FC236}">
                <a16:creationId xmlns:a16="http://schemas.microsoft.com/office/drawing/2014/main" id="{296F3FBB-5CA3-4CA7-BE37-B1BE8F90D675}"/>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a:t>
            </a:r>
          </a:p>
        </p:txBody>
      </p:sp>
      <p:sp>
        <p:nvSpPr>
          <p:cNvPr id="46" name="">
            <a:extLst xmlns:a="http://schemas.openxmlformats.org/drawingml/2006/main">
              <a:ext uri="{FF2B5EF4-FFF2-40B4-BE49-F238E27FC236}">
                <a16:creationId xmlns:a16="http://schemas.microsoft.com/office/drawing/2014/main" id="{83C0E5D6-F9BB-405F-8578-CBD9FE3D4E78}"/>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4726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Example5_1（主类，上）</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 (main class, upper)</a:t>
            </a:r>
          </a:p>
        </p:txBody>
      </p:sp>
      <p:sp>
        <p:nvSpPr>
          <p:cNvPr id="47" name="">
            <a:extLst xmlns:a="http://schemas.openxmlformats.org/drawingml/2006/main">
              <a:ext uri="{FF2B5EF4-FFF2-40B4-BE49-F238E27FC236}">
                <a16:creationId xmlns:a16="http://schemas.microsoft.com/office/drawing/2014/main" id="{F4ABAB44-CC9D-431E-AECA-2F54A1DE982B}"/>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8" name="">
            <a:extLst xmlns:a="http://schemas.openxmlformats.org/drawingml/2006/main">
              <a:ext uri="{FF2B5EF4-FFF2-40B4-BE49-F238E27FC236}">
                <a16:creationId xmlns:a16="http://schemas.microsoft.com/office/drawing/2014/main" id="{5936FE83-3617-4633-90FB-5F02074433E8}"/>
              </a:ext>
            </a:extLst>
          </p:cNvPr>
          <p:cNvSpPr>
            <a:spLocks xmlns:a="http://schemas.openxmlformats.org/drawingml/2006/main" noGrp="1"/>
          </p:cNvSpPr>
          <p:nvPr/>
        </p:nvSpPr>
        <p:spPr>
          <a:xfrm xmlns:a="http://schemas.openxmlformats.org/drawingml/2006/main" rot="0" flipH="0" flipV="0">
            <a:off x="457200" y="315277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创建 Student 与 UniverStudent 对象，访问继承的成员变量、调用继承的方法。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Create Student and UniverStudent objects, access inherited member variables, and call inherited methods.</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0736e9144010475a"/>
          <a:srcRect xmlns:a="http://schemas.openxmlformats.org/drawingml/2006/main" l="27" t="0" r="27" b="0"/>
          <a:stretch xmlns:a="http://schemas.openxmlformats.org/drawingml/2006/main">
            <a:fillRect l="0" t="0" r="0" b="0"/>
          </a:stretch>
        </p:blipFill>
        <p:spPr>
          <a:xfrm xmlns:a="http://schemas.openxmlformats.org/drawingml/2006/main" rot="0" flipH="0" flipV="0">
            <a:off x="4552950" y="1600200"/>
            <a:ext cx="6772275"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50" name="">
            <a:extLst xmlns:a="http://schemas.openxmlformats.org/drawingml/2006/main">
              <a:ext uri="{FF2B5EF4-FFF2-40B4-BE49-F238E27FC236}">
                <a16:creationId xmlns:a16="http://schemas.microsoft.com/office/drawing/2014/main" id="{A650A8A2-6F86-447C-BC8D-292397699B9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13 / 87</a:t>
            </a:r>
            <a:endParaRPr/>
          </a:p>
        </p:txBody>
      </p:sp>
    </p:spTree>
    <p:extLst>
      <p:ext uri="{BB962C8B-B14F-4D97-AF65-F5344CB8AC3E}">
        <p14:creationId xmlns:p14="http://schemas.microsoft.com/office/powerpoint/2010/main" val="85460400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852F5A70-F9EF-43B0-9BA5-6E94565685D4}"/>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3" name="">
            <a:extLst xmlns:a="http://schemas.openxmlformats.org/drawingml/2006/main">
              <a:ext uri="{FF2B5EF4-FFF2-40B4-BE49-F238E27FC236}">
                <a16:creationId xmlns:a16="http://schemas.microsoft.com/office/drawing/2014/main" id="{488CB849-C1F5-4337-A60B-99F2EEAA56D8}"/>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4" name="">
            <a:extLst xmlns:a="http://schemas.openxmlformats.org/drawingml/2006/main">
              <a:ext uri="{FF2B5EF4-FFF2-40B4-BE49-F238E27FC236}">
                <a16:creationId xmlns:a16="http://schemas.microsoft.com/office/drawing/2014/main" id="{4B97ECE6-8630-4E20-A207-5C7C6130BAEF}"/>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55" name="">
            <a:extLst xmlns:a="http://schemas.openxmlformats.org/drawingml/2006/main">
              <a:ext uri="{FF2B5EF4-FFF2-40B4-BE49-F238E27FC236}">
                <a16:creationId xmlns:a16="http://schemas.microsoft.com/office/drawing/2014/main" id="{FF90EB95-1BFB-4658-B6C9-E3C48159A955}"/>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a:t>
            </a:r>
          </a:p>
        </p:txBody>
      </p:sp>
      <p:sp>
        <p:nvSpPr>
          <p:cNvPr id="56" name="">
            <a:extLst xmlns:a="http://schemas.openxmlformats.org/drawingml/2006/main">
              <a:ext uri="{FF2B5EF4-FFF2-40B4-BE49-F238E27FC236}">
                <a16:creationId xmlns:a16="http://schemas.microsoft.com/office/drawing/2014/main" id="{1749327A-C146-4AFE-B791-BE349271C39E}"/>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4726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Example5_1（主类，下）</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 (main class, bottom)</a:t>
            </a:r>
          </a:p>
        </p:txBody>
      </p:sp>
      <p:sp>
        <p:nvSpPr>
          <p:cNvPr id="57" name="">
            <a:extLst xmlns:a="http://schemas.openxmlformats.org/drawingml/2006/main">
              <a:ext uri="{FF2B5EF4-FFF2-40B4-BE49-F238E27FC236}">
                <a16:creationId xmlns:a16="http://schemas.microsoft.com/office/drawing/2014/main" id="{8C96B820-99BF-4660-AC61-01FE58857480}"/>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8" name="">
            <a:extLst xmlns:a="http://schemas.openxmlformats.org/drawingml/2006/main">
              <a:ext uri="{FF2B5EF4-FFF2-40B4-BE49-F238E27FC236}">
                <a16:creationId xmlns:a16="http://schemas.microsoft.com/office/drawing/2014/main" id="{F8795FD3-7992-4613-8E24-8B754C0404A4}"/>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49219"/>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孙类对象 geng 同样可以访问两级继承的成员与方法。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grandchild object geng can also access the members and methods of two-level inheritance.</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c8b390842f054938"/>
          <a:srcRect xmlns:a="http://schemas.openxmlformats.org/drawingml/2006/main" l="27" t="0" r="27" b="0"/>
          <a:stretch xmlns:a="http://schemas.openxmlformats.org/drawingml/2006/main">
            <a:fillRect l="0" t="0" r="0" b="0"/>
          </a:stretch>
        </p:blipFill>
        <p:spPr>
          <a:xfrm xmlns:a="http://schemas.openxmlformats.org/drawingml/2006/main" rot="0" flipH="0" flipV="0">
            <a:off x="4552950" y="1600200"/>
            <a:ext cx="6772275"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60" name="">
            <a:extLst xmlns:a="http://schemas.openxmlformats.org/drawingml/2006/main">
              <a:ext uri="{FF2B5EF4-FFF2-40B4-BE49-F238E27FC236}">
                <a16:creationId xmlns:a16="http://schemas.microsoft.com/office/drawing/2014/main" id="{C5CFF17F-D9F8-420E-91F6-B6A4002EAC70}"/>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14 / 87</a:t>
            </a:r>
            <a:endParaRPr/>
          </a:p>
        </p:txBody>
      </p:sp>
    </p:spTree>
    <p:extLst>
      <p:ext uri="{BB962C8B-B14F-4D97-AF65-F5344CB8AC3E}">
        <p14:creationId xmlns:p14="http://schemas.microsoft.com/office/powerpoint/2010/main" val="140617347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E582BA69-CF59-4F75-8F83-849D1B6567C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3" name="">
            <a:extLst xmlns:a="http://schemas.openxmlformats.org/drawingml/2006/main">
              <a:ext uri="{FF2B5EF4-FFF2-40B4-BE49-F238E27FC236}">
                <a16:creationId xmlns:a16="http://schemas.microsoft.com/office/drawing/2014/main" id="{419C198F-7AA7-4282-BB51-0DC16D0211A0}"/>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4" name="">
            <a:extLst xmlns:a="http://schemas.openxmlformats.org/drawingml/2006/main">
              <a:ext uri="{FF2B5EF4-FFF2-40B4-BE49-F238E27FC236}">
                <a16:creationId xmlns:a16="http://schemas.microsoft.com/office/drawing/2014/main" id="{F49C7A9D-86B9-4555-9467-E87B2F89B7EE}"/>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65" name="">
            <a:extLst xmlns:a="http://schemas.openxmlformats.org/drawingml/2006/main">
              <a:ext uri="{FF2B5EF4-FFF2-40B4-BE49-F238E27FC236}">
                <a16:creationId xmlns:a16="http://schemas.microsoft.com/office/drawing/2014/main" id="{E4C0D885-010E-405F-9ED5-C087DF0A7079}"/>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 · Operational effect</a:t>
            </a:r>
          </a:p>
        </p:txBody>
      </p:sp>
      <p:sp>
        <p:nvSpPr>
          <p:cNvPr id="66" name="">
            <a:extLst xmlns:a="http://schemas.openxmlformats.org/drawingml/2006/main">
              <a:ext uri="{FF2B5EF4-FFF2-40B4-BE49-F238E27FC236}">
                <a16:creationId xmlns:a16="http://schemas.microsoft.com/office/drawing/2014/main" id="{6447FD6C-A1F0-48A7-BE43-C63CF6AC9682}"/>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运行效果（图5.1）</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Operation effect (Figure 5.1)</a:t>
            </a:r>
          </a:p>
        </p:txBody>
      </p:sp>
      <p:sp>
        <p:nvSpPr>
          <p:cNvPr id="67" name="">
            <a:extLst xmlns:a="http://schemas.openxmlformats.org/drawingml/2006/main">
              <a:ext uri="{FF2B5EF4-FFF2-40B4-BE49-F238E27FC236}">
                <a16:creationId xmlns:a16="http://schemas.microsoft.com/office/drawing/2014/main" id="{CC222A5A-7587-4B9F-8FBC-68ACCA7F78C4}"/>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8" name="">
            <a:extLst xmlns:a="http://schemas.openxmlformats.org/drawingml/2006/main">
              <a:ext uri="{FF2B5EF4-FFF2-40B4-BE49-F238E27FC236}">
                <a16:creationId xmlns:a16="http://schemas.microsoft.com/office/drawing/2014/main" id="{AE362256-096C-4C34-BF18-AA58EE799485}"/>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56121"/>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继承的两级传递：UniverStudent 对象可访问 People 的成员并调用继承的方法。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Two levels of inheritance: UniverStudent objects can access members of People and call inherited methods.</a:t>
            </a:r>
          </a:p>
        </p:txBody>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5e8573f8aaca44d4"/>
          <a:srcRect xmlns:a="http://schemas.openxmlformats.org/drawingml/2006/main" l="0" t="84" r="0" b="84"/>
          <a:stretch xmlns:a="http://schemas.openxmlformats.org/drawingml/2006/main">
            <a:fillRect l="0" t="0" r="0" b="0"/>
          </a:stretch>
        </p:blipFill>
        <p:spPr>
          <a:xfrm xmlns:a="http://schemas.openxmlformats.org/drawingml/2006/main" rot="0" flipH="0" flipV="0">
            <a:off x="4343400" y="3209925"/>
            <a:ext cx="7239000" cy="1076325"/>
          </a:xfrm>
          <a:prstGeom xmlns:a="http://schemas.openxmlformats.org/drawingml/2006/main" prst="roundRect">
            <a:avLst>
              <a:gd name="adj" fmla="val 7080"/>
            </a:avLst>
          </a:prstGeom>
        </p:spPr>
      </p:pic>
      <p:sp>
        <p:nvSpPr>
          <p:cNvPr id="70" name="">
            <a:extLst xmlns:a="http://schemas.openxmlformats.org/drawingml/2006/main">
              <a:ext uri="{FF2B5EF4-FFF2-40B4-BE49-F238E27FC236}">
                <a16:creationId xmlns:a16="http://schemas.microsoft.com/office/drawing/2014/main" id="{A9ED18CB-BE17-454D-81B4-17C091A77969}"/>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15 / 87</a:t>
            </a:r>
            <a:endParaRPr/>
          </a:p>
        </p:txBody>
      </p:sp>
    </p:spTree>
    <p:extLst>
      <p:ext uri="{BB962C8B-B14F-4D97-AF65-F5344CB8AC3E}">
        <p14:creationId xmlns:p14="http://schemas.microsoft.com/office/powerpoint/2010/main" val="194383850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888C2DCF-8C3F-4703-A5E2-86088AEA551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73" name="">
            <a:extLst xmlns:a="http://schemas.openxmlformats.org/drawingml/2006/main">
              <a:ext uri="{FF2B5EF4-FFF2-40B4-BE49-F238E27FC236}">
                <a16:creationId xmlns:a16="http://schemas.microsoft.com/office/drawing/2014/main" id="{893CA298-7377-41A9-A03D-B75BF1E2E25D}"/>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74" name="">
            <a:extLst xmlns:a="http://schemas.openxmlformats.org/drawingml/2006/main">
              <a:ext uri="{FF2B5EF4-FFF2-40B4-BE49-F238E27FC236}">
                <a16:creationId xmlns:a16="http://schemas.microsoft.com/office/drawing/2014/main" id="{3B1F4D63-5150-4A57-8D81-96428F971268}"/>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75" name="">
            <a:extLst xmlns:a="http://schemas.openxmlformats.org/drawingml/2006/main">
              <a:ext uri="{FF2B5EF4-FFF2-40B4-BE49-F238E27FC236}">
                <a16:creationId xmlns:a16="http://schemas.microsoft.com/office/drawing/2014/main" id="{150B196F-8FDA-45E6-964C-B29F6A814AE1}"/>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§5.2.2</a:t>
            </a:r>
            <a:endParaRPr/>
          </a:p>
        </p:txBody>
      </p:sp>
      <p:sp>
        <p:nvSpPr>
          <p:cNvPr id="76" name="">
            <a:extLst xmlns:a="http://schemas.openxmlformats.org/drawingml/2006/main">
              <a:ext uri="{FF2B5EF4-FFF2-40B4-BE49-F238E27FC236}">
                <a16:creationId xmlns:a16="http://schemas.microsoft.com/office/drawing/2014/main" id="{D21CC79C-032E-434A-8F4E-043410DC25AE}"/>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37726"/>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子类和父类不在同一包中的继承性</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Inheritance when subclass and parent class are not in the same package</a:t>
            </a:r>
          </a:p>
        </p:txBody>
      </p:sp>
      <p:sp>
        <p:nvSpPr>
          <p:cNvPr id="77" name="">
            <a:extLst xmlns:a="http://schemas.openxmlformats.org/drawingml/2006/main">
              <a:ext uri="{FF2B5EF4-FFF2-40B4-BE49-F238E27FC236}">
                <a16:creationId xmlns:a16="http://schemas.microsoft.com/office/drawing/2014/main" id="{2EABD6EC-42E0-4C8D-A8B5-0A8CB433B8CD}"/>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8" name="">
            <a:extLst xmlns:a="http://schemas.openxmlformats.org/drawingml/2006/main">
              <a:ext uri="{FF2B5EF4-FFF2-40B4-BE49-F238E27FC236}">
                <a16:creationId xmlns:a16="http://schemas.microsoft.com/office/drawing/2014/main" id="{6826756D-C460-4CE7-B8F4-E88B4A0C81E2}"/>
              </a:ext>
            </a:extLst>
          </p:cNvPr>
          <p:cNvSpPr>
            <a:spLocks xmlns:a="http://schemas.openxmlformats.org/drawingml/2006/main" noGrp="1"/>
          </p:cNvSpPr>
          <p:nvPr/>
        </p:nvSpPr>
        <p:spPr>
          <a:xfrm xmlns:a="http://schemas.openxmlformats.org/drawingml/2006/main" rot="0" flipH="0" flipV="0">
            <a:off x="457200" y="3190875"/>
            <a:ext cx="3381375" cy="1171575"/>
          </a:xfrm>
          <a:prstGeom xmlns:a="http://schemas.openxmlformats.org/drawingml/2006/main" prst="rect">
            <a:avLst/>
          </a:prstGeom>
        </p:spPr>
        <p:txBody>
          <a:bodyPr xmlns:a="http://schemas.openxmlformats.org/drawingml/2006/main" wrap="square" lIns="0" tIns="0" rIns="0" bIns="0">
            <a:normAutofit fontScale="49927"/>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子类只继承父类中 protected、public 的成员（本例 People 在包 a，Student 在包 b）。</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subclass only inherits the protected and public members of the parent class (in this example, People is in package a and Student is in package b).</a:t>
            </a:r>
          </a:p>
        </p:txBody>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d0406d45897947a8"/>
          <a:srcRect xmlns:a="http://schemas.openxmlformats.org/drawingml/2006/main" l="38" t="0" r="38" b="0"/>
          <a:stretch xmlns:a="http://schemas.openxmlformats.org/drawingml/2006/main">
            <a:fillRect l="0" t="0" r="0" b="0"/>
          </a:stretch>
        </p:blipFill>
        <p:spPr>
          <a:xfrm xmlns:a="http://schemas.openxmlformats.org/drawingml/2006/main" rot="0" flipH="0" flipV="0">
            <a:off x="5000625" y="1600200"/>
            <a:ext cx="5924550" cy="2095500"/>
          </a:xfrm>
          <a:prstGeom xmlns:a="http://schemas.openxmlformats.org/drawingml/2006/main" prst="roundRect">
            <a:avLst>
              <a:gd name="adj" fmla="val 3636"/>
            </a:avLst>
          </a:prstGeom>
        </p:spPr>
      </p:pic>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0075683624854721"/>
          <a:srcRect xmlns:a="http://schemas.openxmlformats.org/drawingml/2006/main" l="27" t="0" r="27" b="0"/>
          <a:stretch xmlns:a="http://schemas.openxmlformats.org/drawingml/2006/main">
            <a:fillRect l="0" t="0" r="0" b="0"/>
          </a:stretch>
        </p:blipFill>
        <p:spPr>
          <a:xfrm xmlns:a="http://schemas.openxmlformats.org/drawingml/2006/main" rot="0" flipH="0" flipV="0">
            <a:off x="5181600" y="3810000"/>
            <a:ext cx="5562600" cy="2095500"/>
          </a:xfrm>
          <a:prstGeom xmlns:a="http://schemas.openxmlformats.org/drawingml/2006/main" prst="roundRect">
            <a:avLst>
              <a:gd name="adj" fmla="val 3636"/>
            </a:avLst>
          </a:prstGeom>
        </p:spPr>
      </p:pic>
      <p:sp>
        <p:nvSpPr>
          <p:cNvPr id="81" name="">
            <a:extLst xmlns:a="http://schemas.openxmlformats.org/drawingml/2006/main">
              <a:ext uri="{FF2B5EF4-FFF2-40B4-BE49-F238E27FC236}">
                <a16:creationId xmlns:a16="http://schemas.microsoft.com/office/drawing/2014/main" id="{E143B63F-0980-49EC-A459-3ABA71207E2B}"/>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16 / 87</a:t>
            </a:r>
            <a:endParaRPr/>
          </a:p>
        </p:txBody>
      </p:sp>
    </p:spTree>
    <p:extLst>
      <p:ext uri="{BB962C8B-B14F-4D97-AF65-F5344CB8AC3E}">
        <p14:creationId xmlns:p14="http://schemas.microsoft.com/office/powerpoint/2010/main" val="21904620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83" name="">
            <a:extLst xmlns:a="http://schemas.openxmlformats.org/drawingml/2006/main">
              <a:ext uri="{FF2B5EF4-FFF2-40B4-BE49-F238E27FC236}">
                <a16:creationId xmlns:a16="http://schemas.microsoft.com/office/drawing/2014/main" id="{9FD8288C-1556-4AC6-9F16-9C4BA91F9E68}"/>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84" name="">
            <a:extLst xmlns:a="http://schemas.openxmlformats.org/drawingml/2006/main">
              <a:ext uri="{FF2B5EF4-FFF2-40B4-BE49-F238E27FC236}">
                <a16:creationId xmlns:a16="http://schemas.microsoft.com/office/drawing/2014/main" id="{1CD1FD7F-2B9F-4C03-B8BC-D11C5FE22B7F}"/>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85" name="">
            <a:extLst xmlns:a="http://schemas.openxmlformats.org/drawingml/2006/main">
              <a:ext uri="{FF2B5EF4-FFF2-40B4-BE49-F238E27FC236}">
                <a16:creationId xmlns:a16="http://schemas.microsoft.com/office/drawing/2014/main" id="{C2D25D60-CEE1-4EFB-92BF-1B1A622C7580}"/>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86" name="">
            <a:extLst xmlns:a="http://schemas.openxmlformats.org/drawingml/2006/main">
              <a:ext uri="{FF2B5EF4-FFF2-40B4-BE49-F238E27FC236}">
                <a16:creationId xmlns:a16="http://schemas.microsoft.com/office/drawing/2014/main" id="{F8B31DAF-6CBD-4097-8A43-E7CFAFB60D28}"/>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§5.2.3</a:t>
            </a:r>
            <a:endParaRPr/>
          </a:p>
        </p:txBody>
      </p:sp>
      <p:sp>
        <p:nvSpPr>
          <p:cNvPr id="87" name="">
            <a:extLst xmlns:a="http://schemas.openxmlformats.org/drawingml/2006/main">
              <a:ext uri="{FF2B5EF4-FFF2-40B4-BE49-F238E27FC236}">
                <a16:creationId xmlns:a16="http://schemas.microsoft.com/office/drawing/2014/main" id="{4A995A80-02C9-409A-9669-AA42BAAC3FD1}"/>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47352"/>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继承关系的 UML 图</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UML diagram of inheritance relationship</a:t>
            </a:r>
          </a:p>
        </p:txBody>
      </p:sp>
      <p:sp>
        <p:nvSpPr>
          <p:cNvPr id="88" name="">
            <a:extLst xmlns:a="http://schemas.openxmlformats.org/drawingml/2006/main">
              <a:ext uri="{FF2B5EF4-FFF2-40B4-BE49-F238E27FC236}">
                <a16:creationId xmlns:a16="http://schemas.microsoft.com/office/drawing/2014/main" id="{78C79FB0-76CD-446C-AC49-26974EF21B51}"/>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9" name="">
            <a:extLst xmlns:a="http://schemas.openxmlformats.org/drawingml/2006/main">
              <a:ext uri="{FF2B5EF4-FFF2-40B4-BE49-F238E27FC236}">
                <a16:creationId xmlns:a16="http://schemas.microsoft.com/office/drawing/2014/main" id="{50DCC0EE-5F42-4387-A9B6-8918F1640056}"/>
              </a:ext>
            </a:extLst>
          </p:cNvPr>
          <p:cNvSpPr>
            <a:spLocks xmlns:a="http://schemas.openxmlformats.org/drawingml/2006/main" noGrp="1"/>
          </p:cNvSpPr>
          <p:nvPr/>
        </p:nvSpPr>
        <p:spPr>
          <a:xfrm xmlns:a="http://schemas.openxmlformats.org/drawingml/2006/main" rot="0" flipH="0" flipV="0">
            <a:off x="457200" y="3190875"/>
            <a:ext cx="3381375" cy="1562100"/>
          </a:xfrm>
          <a:prstGeom xmlns:a="http://schemas.openxmlformats.org/drawingml/2006/main" prst="rect">
            <a:avLst/>
          </a:prstGeom>
        </p:spPr>
        <p:txBody>
          <a:bodyPr xmlns:a="http://schemas.openxmlformats.org/drawingml/2006/main" wrap="square" lIns="0" tIns="0" rIns="0" bIns="0">
            <a:normAutofit fontScale="48996"/>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UML 用实线表示继承关系（Generalization），实线起始端是子类，终点端是父类，终点用空心三角形表示。</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UML uses a solid line to represent the inheritance relationship (Generalization). The starting end of the solid line is the subclass, the end end is the parent class, and the end point is represented by an open triangle.</a:t>
            </a:r>
          </a:p>
        </p:txBody>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75a8b5377bf94393"/>
          <a:srcRect xmlns:a="http://schemas.openxmlformats.org/drawingml/2006/main" l="15" t="0" r="15" b="0"/>
          <a:stretch xmlns:a="http://schemas.openxmlformats.org/drawingml/2006/main">
            <a:fillRect l="0" t="0" r="0" b="0"/>
          </a:stretch>
        </p:blipFill>
        <p:spPr>
          <a:xfrm xmlns:a="http://schemas.openxmlformats.org/drawingml/2006/main" rot="0" flipH="0" flipV="0">
            <a:off x="6772275" y="1657350"/>
            <a:ext cx="2371725" cy="4191000"/>
          </a:xfrm>
          <a:prstGeom xmlns:a="http://schemas.openxmlformats.org/drawingml/2006/main" prst="roundRect">
            <a:avLst>
              <a:gd name="adj" fmla="val 3213"/>
            </a:avLst>
          </a:prstGeom>
        </p:spPr>
      </p:pic>
      <p:sp>
        <p:nvSpPr>
          <p:cNvPr id="91" name="">
            <a:extLst xmlns:a="http://schemas.openxmlformats.org/drawingml/2006/main">
              <a:ext uri="{FF2B5EF4-FFF2-40B4-BE49-F238E27FC236}">
                <a16:creationId xmlns:a16="http://schemas.microsoft.com/office/drawing/2014/main" id="{B1E5E420-1F05-4D09-BDF4-FEED298D1BD4}"/>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17 / 87</a:t>
            </a:r>
            <a:endParaRPr/>
          </a:p>
        </p:txBody>
      </p:sp>
    </p:spTree>
    <p:extLst>
      <p:ext uri="{BB962C8B-B14F-4D97-AF65-F5344CB8AC3E}">
        <p14:creationId xmlns:p14="http://schemas.microsoft.com/office/powerpoint/2010/main" val="183029519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93" name="">
            <a:extLst xmlns:a="http://schemas.openxmlformats.org/drawingml/2006/main">
              <a:ext uri="{FF2B5EF4-FFF2-40B4-BE49-F238E27FC236}">
                <a16:creationId xmlns:a16="http://schemas.microsoft.com/office/drawing/2014/main" id="{29A4AD58-5D3F-4994-BC23-9B92C001E8F5}"/>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94" name="">
            <a:extLst xmlns:a="http://schemas.openxmlformats.org/drawingml/2006/main">
              <a:ext uri="{FF2B5EF4-FFF2-40B4-BE49-F238E27FC236}">
                <a16:creationId xmlns:a16="http://schemas.microsoft.com/office/drawing/2014/main" id="{E36A1364-9005-40A9-95A0-39633007DA37}"/>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95" name="">
            <a:extLst xmlns:a="http://schemas.openxmlformats.org/drawingml/2006/main">
              <a:ext uri="{FF2B5EF4-FFF2-40B4-BE49-F238E27FC236}">
                <a16:creationId xmlns:a16="http://schemas.microsoft.com/office/drawing/2014/main" id="{BE0CFEFE-5316-426F-818B-0DF112D97C90}"/>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96" name="">
            <a:extLst xmlns:a="http://schemas.openxmlformats.org/drawingml/2006/main">
              <a:ext uri="{FF2B5EF4-FFF2-40B4-BE49-F238E27FC236}">
                <a16:creationId xmlns:a16="http://schemas.microsoft.com/office/drawing/2014/main" id="{BB4D98F2-D1E6-46DC-AB4C-B7ED1224AEC0}"/>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§5.3</a:t>
            </a:r>
            <a:endParaRPr/>
          </a:p>
        </p:txBody>
      </p:sp>
      <p:sp>
        <p:nvSpPr>
          <p:cNvPr id="97" name="">
            <a:extLst xmlns:a="http://schemas.openxmlformats.org/drawingml/2006/main">
              <a:ext uri="{FF2B5EF4-FFF2-40B4-BE49-F238E27FC236}">
                <a16:creationId xmlns:a16="http://schemas.microsoft.com/office/drawing/2014/main" id="{7D479489-4D4A-4B20-A61B-09D5B84DF7BB}"/>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子类与对象</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Subclasses and Objects</a:t>
            </a:r>
          </a:p>
        </p:txBody>
      </p:sp>
      <p:sp>
        <p:nvSpPr>
          <p:cNvPr id="98" name="">
            <a:extLst xmlns:a="http://schemas.openxmlformats.org/drawingml/2006/main">
              <a:ext uri="{FF2B5EF4-FFF2-40B4-BE49-F238E27FC236}">
                <a16:creationId xmlns:a16="http://schemas.microsoft.com/office/drawing/2014/main" id="{B46B0BB5-852F-4FF2-973A-E95394F4E4CA}"/>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99" name="">
            <a:extLst xmlns:a="http://schemas.openxmlformats.org/drawingml/2006/main">
              <a:ext uri="{FF2B5EF4-FFF2-40B4-BE49-F238E27FC236}">
                <a16:creationId xmlns:a16="http://schemas.microsoft.com/office/drawing/2014/main" id="{303F6965-63DD-45E6-BE5C-523FA5E29E56}"/>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子类继承父类的成员；子类创建的对象既包含继承来的成员，也包含子类新增的成员。</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Subclasses inherit the members of the parent class; objects created by the subclass contain both inherited members and members added by the subclass.</a:t>
            </a:r>
          </a:p>
        </p:txBody>
      </p:sp>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d0ec09b0422545f5"/>
          <a:srcRect xmlns:a="http://schemas.openxmlformats.org/drawingml/2006/main" l="19" t="0" r="19" b="0"/>
          <a:stretch xmlns:a="http://schemas.openxmlformats.org/drawingml/2006/main">
            <a:fillRect l="0" t="0" r="0" b="0"/>
          </a:stretch>
        </p:blipFill>
        <p:spPr>
          <a:xfrm xmlns:a="http://schemas.openxmlformats.org/drawingml/2006/main" rot="0" flipH="0" flipV="0">
            <a:off x="4914900" y="1781175"/>
            <a:ext cx="6096000" cy="3200400"/>
          </a:xfrm>
          <a:prstGeom xmlns:a="http://schemas.openxmlformats.org/drawingml/2006/main" prst="roundRect">
            <a:avLst>
              <a:gd name="adj" fmla="val 2381"/>
            </a:avLst>
          </a:prstGeom>
        </p:spPr>
      </p:pic>
      <p:sp>
        <p:nvSpPr>
          <p:cNvPr id="101" name="">
            <a:extLst xmlns:a="http://schemas.openxmlformats.org/drawingml/2006/main">
              <a:ext uri="{FF2B5EF4-FFF2-40B4-BE49-F238E27FC236}">
                <a16:creationId xmlns:a16="http://schemas.microsoft.com/office/drawing/2014/main" id="{B316E653-D8DE-466F-995B-EF142C79918A}"/>
              </a:ext>
            </a:extLst>
          </p:cNvPr>
          <p:cNvSpPr>
            <a:spLocks xmlns:a="http://schemas.openxmlformats.org/drawingml/2006/main" noGrp="1"/>
          </p:cNvSpPr>
          <p:nvPr/>
        </p:nvSpPr>
        <p:spPr>
          <a:xfrm xmlns:a="http://schemas.openxmlformats.org/drawingml/2006/main" rot="0" flipH="0" flipV="0">
            <a:off x="4181475" y="5153025"/>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102" name="">
            <a:extLst xmlns:a="http://schemas.openxmlformats.org/drawingml/2006/main">
              <a:ext uri="{FF2B5EF4-FFF2-40B4-BE49-F238E27FC236}">
                <a16:creationId xmlns:a16="http://schemas.microsoft.com/office/drawing/2014/main" id="{C46061D6-DCA5-4EC4-8C23-C3F7B11D04FB}"/>
              </a:ext>
            </a:extLst>
          </p:cNvPr>
          <p:cNvSpPr>
            <a:spLocks xmlns:a="http://schemas.openxmlformats.org/drawingml/2006/main" noGrp="1"/>
          </p:cNvSpPr>
          <p:nvPr/>
        </p:nvSpPr>
        <p:spPr>
          <a:xfrm xmlns:a="http://schemas.openxmlformats.org/drawingml/2006/main" rot="0" flipH="0" flipV="0">
            <a:off x="4371975" y="5286375"/>
            <a:ext cx="7172325" cy="295275"/>
          </a:xfrm>
          <a:prstGeom xmlns:a="http://schemas.openxmlformats.org/drawingml/2006/main" prst="rect">
            <a:avLst/>
          </a:prstGeom>
        </p:spPr>
        <p:txBody>
          <a:bodyPr xmlns:a="http://schemas.openxmlformats.org/drawingml/2006/main" wrap="non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父类 Father 在前，子类 Son 在后。</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The parent class Father comes first, and the subclass Son comes last.</a:t>
            </a:r>
          </a:p>
        </p:txBody>
      </p:sp>
      <p:sp>
        <p:nvSpPr>
          <p:cNvPr id="103" name="">
            <a:extLst xmlns:a="http://schemas.openxmlformats.org/drawingml/2006/main">
              <a:ext uri="{FF2B5EF4-FFF2-40B4-BE49-F238E27FC236}">
                <a16:creationId xmlns:a16="http://schemas.microsoft.com/office/drawing/2014/main" id="{E736834F-56C7-4C37-9BE2-60C78905DA5E}"/>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18 / 87</a:t>
            </a:r>
            <a:endParaRPr/>
          </a:p>
        </p:txBody>
      </p:sp>
    </p:spTree>
    <p:extLst>
      <p:ext uri="{BB962C8B-B14F-4D97-AF65-F5344CB8AC3E}">
        <p14:creationId xmlns:p14="http://schemas.microsoft.com/office/powerpoint/2010/main" val="199696516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05" name="">
            <a:extLst xmlns:a="http://schemas.openxmlformats.org/drawingml/2006/main">
              <a:ext uri="{FF2B5EF4-FFF2-40B4-BE49-F238E27FC236}">
                <a16:creationId xmlns:a16="http://schemas.microsoft.com/office/drawing/2014/main" id="{F29748D8-FE40-4DAC-816B-8E26080F1B04}"/>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06" name="">
            <a:extLst xmlns:a="http://schemas.openxmlformats.org/drawingml/2006/main">
              <a:ext uri="{FF2B5EF4-FFF2-40B4-BE49-F238E27FC236}">
                <a16:creationId xmlns:a16="http://schemas.microsoft.com/office/drawing/2014/main" id="{3328EBCC-95CF-46DE-B18F-876C1AE9FA07}"/>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07" name="">
            <a:extLst xmlns:a="http://schemas.openxmlformats.org/drawingml/2006/main">
              <a:ext uri="{FF2B5EF4-FFF2-40B4-BE49-F238E27FC236}">
                <a16:creationId xmlns:a16="http://schemas.microsoft.com/office/drawing/2014/main" id="{041940B9-A6F7-4A9B-B3DD-B0E1529BBBF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08" name="">
            <a:extLst xmlns:a="http://schemas.openxmlformats.org/drawingml/2006/main">
              <a:ext uri="{FF2B5EF4-FFF2-40B4-BE49-F238E27FC236}">
                <a16:creationId xmlns:a16="http://schemas.microsoft.com/office/drawing/2014/main" id="{46EB40F5-EF2C-47DC-861B-F6CC085B22C8}"/>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§5.3.1</a:t>
            </a:r>
            <a:endParaRPr/>
          </a:p>
        </p:txBody>
      </p:sp>
      <p:sp>
        <p:nvSpPr>
          <p:cNvPr id="109" name="">
            <a:extLst xmlns:a="http://schemas.openxmlformats.org/drawingml/2006/main">
              <a:ext uri="{FF2B5EF4-FFF2-40B4-BE49-F238E27FC236}">
                <a16:creationId xmlns:a16="http://schemas.microsoft.com/office/drawing/2014/main" id="{C76D4A11-4ED2-4149-BA41-A7129545DACB}"/>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6767"/>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子类对象的生成</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Generation of subclass objects</a:t>
            </a:r>
          </a:p>
        </p:txBody>
      </p:sp>
      <p:sp>
        <p:nvSpPr>
          <p:cNvPr id="110" name="">
            <a:extLst xmlns:a="http://schemas.openxmlformats.org/drawingml/2006/main">
              <a:ext uri="{FF2B5EF4-FFF2-40B4-BE49-F238E27FC236}">
                <a16:creationId xmlns:a16="http://schemas.microsoft.com/office/drawing/2014/main" id="{AF2061E1-DC25-44BA-8AC0-71FFD14CE9A0}"/>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11" name="">
            <a:extLst xmlns:a="http://schemas.openxmlformats.org/drawingml/2006/main">
              <a:ext uri="{FF2B5EF4-FFF2-40B4-BE49-F238E27FC236}">
                <a16:creationId xmlns:a16="http://schemas.microsoft.com/office/drawing/2014/main" id="{F1971413-D7F6-4A29-8523-00C5BCE85E45}"/>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526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创建子类对象时，父类的成员变量也会被分配内存空间。</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When creating a subclass object, the member variables of the parent class will also be allocated memory space.</a:t>
            </a:r>
          </a:p>
        </p:txBody>
      </p:sp>
      <p:sp>
        <p:nvSpPr>
          <p:cNvPr id="112" name="">
            <a:extLst xmlns:a="http://schemas.openxmlformats.org/drawingml/2006/main">
              <a:ext uri="{FF2B5EF4-FFF2-40B4-BE49-F238E27FC236}">
                <a16:creationId xmlns:a16="http://schemas.microsoft.com/office/drawing/2014/main" id="{12758E61-78DE-4E0E-A5A9-888575C72BB5}"/>
              </a:ext>
            </a:extLst>
          </p:cNvPr>
          <p:cNvSpPr>
            <a:spLocks xmlns:a="http://schemas.openxmlformats.org/drawingml/2006/main" noGrp="1"/>
          </p:cNvSpPr>
          <p:nvPr/>
        </p:nvSpPr>
        <p:spPr>
          <a:xfrm xmlns:a="http://schemas.openxmlformats.org/drawingml/2006/main" rot="0" flipH="0" flipV="0">
            <a:off x="4181475" y="15430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13" name="">
            <a:extLst xmlns:a="http://schemas.openxmlformats.org/drawingml/2006/main">
              <a:ext uri="{FF2B5EF4-FFF2-40B4-BE49-F238E27FC236}">
                <a16:creationId xmlns:a16="http://schemas.microsoft.com/office/drawing/2014/main" id="{A927B62F-01DB-4635-876F-2B844FE44824}"/>
              </a:ext>
            </a:extLst>
          </p:cNvPr>
          <p:cNvSpPr>
            <a:spLocks xmlns:a="http://schemas.openxmlformats.org/drawingml/2006/main" noGrp="1"/>
          </p:cNvSpPr>
          <p:nvPr/>
        </p:nvSpPr>
        <p:spPr>
          <a:xfrm xmlns:a="http://schemas.openxmlformats.org/drawingml/2006/main" rot="0" flipH="0" flipV="0">
            <a:off x="4371975" y="1428750"/>
            <a:ext cx="736282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子类创建对象时，子类的构造方法总是先调用父类的某个构造方法，完成父类部分的创建；再调用子类自己的构造方法，完成子类部分的创建</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When a subclass creates an object, the constructor of the subclass always first calls a constructor of the parent class to complete the creation of the parent class part; then calls the subclass's own constructor method to complete the creation of the subclass part.</a:t>
            </a:r>
          </a:p>
        </p:txBody>
      </p:sp>
      <p:sp>
        <p:nvSpPr>
          <p:cNvPr id="114" name="">
            <a:extLst xmlns:a="http://schemas.openxmlformats.org/drawingml/2006/main">
              <a:ext uri="{FF2B5EF4-FFF2-40B4-BE49-F238E27FC236}">
                <a16:creationId xmlns:a16="http://schemas.microsoft.com/office/drawing/2014/main" id="{66D0C74A-4B13-469B-9BB9-DF084C5B2A8C}"/>
              </a:ext>
            </a:extLst>
          </p:cNvPr>
          <p:cNvSpPr>
            <a:spLocks xmlns:a="http://schemas.openxmlformats.org/drawingml/2006/main" noGrp="1"/>
          </p:cNvSpPr>
          <p:nvPr/>
        </p:nvSpPr>
        <p:spPr>
          <a:xfrm xmlns:a="http://schemas.openxmlformats.org/drawingml/2006/main" rot="0" flipH="0" flipV="0">
            <a:off x="4181475" y="24955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15" name="">
            <a:extLst xmlns:a="http://schemas.openxmlformats.org/drawingml/2006/main">
              <a:ext uri="{FF2B5EF4-FFF2-40B4-BE49-F238E27FC236}">
                <a16:creationId xmlns:a16="http://schemas.microsoft.com/office/drawing/2014/main" id="{B56D65CF-270E-496E-87B6-43E64598BDAF}"/>
              </a:ext>
            </a:extLst>
          </p:cNvPr>
          <p:cNvSpPr>
            <a:spLocks xmlns:a="http://schemas.openxmlformats.org/drawingml/2006/main" noGrp="1"/>
          </p:cNvSpPr>
          <p:nvPr/>
        </p:nvSpPr>
        <p:spPr>
          <a:xfrm xmlns:a="http://schemas.openxmlformats.org/drawingml/2006/main" rot="0" flipH="0" flipV="0">
            <a:off x="4371975" y="2381250"/>
            <a:ext cx="7362825" cy="781050"/>
          </a:xfrm>
          <a:prstGeom xmlns:a="http://schemas.openxmlformats.org/drawingml/2006/main" prst="rect">
            <a:avLst/>
          </a:prstGeom>
        </p:spPr>
        <p:txBody>
          <a:bodyPr xmlns:a="http://schemas.openxmlformats.org/drawingml/2006/main" wrap="square" lIns="0" tIns="0" rIns="0" bIns="0">
            <a:normAutofit fontScale="55781"/>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若子类的构造方法没有明显地指明使用父类的哪个构造方法，子类就调用父类的不带参数的构造方法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If the constructor of the subclass does not explicitly indicate which constructor of the parent class to use, the subclass calls the constructor of the parent class without parameters.</a:t>
            </a:r>
          </a:p>
        </p:txBody>
      </p:sp>
      <p:sp>
        <p:nvSpPr>
          <p:cNvPr id="116" name="">
            <a:extLst xmlns:a="http://schemas.openxmlformats.org/drawingml/2006/main">
              <a:ext uri="{FF2B5EF4-FFF2-40B4-BE49-F238E27FC236}">
                <a16:creationId xmlns:a16="http://schemas.microsoft.com/office/drawing/2014/main" id="{49073187-50B6-463A-98D0-EDBB8A0F9842}"/>
              </a:ext>
            </a:extLst>
          </p:cNvPr>
          <p:cNvSpPr>
            <a:spLocks xmlns:a="http://schemas.openxmlformats.org/drawingml/2006/main" noGrp="1"/>
          </p:cNvSpPr>
          <p:nvPr/>
        </p:nvSpPr>
        <p:spPr>
          <a:xfrm xmlns:a="http://schemas.openxmlformats.org/drawingml/2006/main" rot="0" flipH="0" flipV="0">
            <a:off x="4181475" y="34480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17" name="">
            <a:extLst xmlns:a="http://schemas.openxmlformats.org/drawingml/2006/main">
              <a:ext uri="{FF2B5EF4-FFF2-40B4-BE49-F238E27FC236}">
                <a16:creationId xmlns:a16="http://schemas.microsoft.com/office/drawing/2014/main" id="{C5B3BF53-B5A9-441A-B238-D837ADF91D56}"/>
              </a:ext>
            </a:extLst>
          </p:cNvPr>
          <p:cNvSpPr>
            <a:spLocks xmlns:a="http://schemas.openxmlformats.org/drawingml/2006/main" noGrp="1"/>
          </p:cNvSpPr>
          <p:nvPr/>
        </p:nvSpPr>
        <p:spPr>
          <a:xfrm xmlns:a="http://schemas.openxmlformats.org/drawingml/2006/main" rot="0" flipH="0" flipV="0">
            <a:off x="4371975" y="3333750"/>
            <a:ext cx="7362825" cy="781050"/>
          </a:xfrm>
          <a:prstGeom xmlns:a="http://schemas.openxmlformats.org/drawingml/2006/main" prst="rect">
            <a:avLst/>
          </a:prstGeom>
        </p:spPr>
        <p:txBody>
          <a:bodyPr xmlns:a="http://schemas.openxmlformats.org/drawingml/2006/main" wrap="square" lIns="0" tIns="0" rIns="0" bIns="0">
            <a:normAutofit fontScale="4526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子类对象不仅子类声明的成员变量被分配内存，父类的所有成员变量也分配了内存，但子类只能操作继承的那部分成员变量</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For subclass objects, not only the member variables declared by the subclass are allocated memory, but also all member variables of the parent class are allocated memory. However, the subclass can only operate the inherited member variables.</a:t>
            </a:r>
          </a:p>
        </p:txBody>
      </p:sp>
      <p:sp>
        <p:nvSpPr>
          <p:cNvPr id="118" name="">
            <a:extLst xmlns:a="http://schemas.openxmlformats.org/drawingml/2006/main">
              <a:ext uri="{FF2B5EF4-FFF2-40B4-BE49-F238E27FC236}">
                <a16:creationId xmlns:a16="http://schemas.microsoft.com/office/drawing/2014/main" id="{B03FCED6-DDBE-4478-9321-1C2758168013}"/>
              </a:ext>
            </a:extLst>
          </p:cNvPr>
          <p:cNvSpPr>
            <a:spLocks xmlns:a="http://schemas.openxmlformats.org/drawingml/2006/main" noGrp="1"/>
          </p:cNvSpPr>
          <p:nvPr/>
        </p:nvSpPr>
        <p:spPr>
          <a:xfrm xmlns:a="http://schemas.openxmlformats.org/drawingml/2006/main" rot="0" flipH="0" flipV="0">
            <a:off x="4181475" y="44005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19" name="">
            <a:extLst xmlns:a="http://schemas.openxmlformats.org/drawingml/2006/main">
              <a:ext uri="{FF2B5EF4-FFF2-40B4-BE49-F238E27FC236}">
                <a16:creationId xmlns:a16="http://schemas.microsoft.com/office/drawing/2014/main" id="{86C815FF-C5DF-4C98-B638-FEAB8EBAD4D6}"/>
              </a:ext>
            </a:extLst>
          </p:cNvPr>
          <p:cNvSpPr>
            <a:spLocks xmlns:a="http://schemas.openxmlformats.org/drawingml/2006/main" noGrp="1"/>
          </p:cNvSpPr>
          <p:nvPr/>
        </p:nvSpPr>
        <p:spPr>
          <a:xfrm xmlns:a="http://schemas.openxmlformats.org/drawingml/2006/main" rot="0" flipH="0" flipV="0">
            <a:off x="4371975" y="4286250"/>
            <a:ext cx="7362825" cy="390525"/>
          </a:xfrm>
          <a:prstGeom xmlns:a="http://schemas.openxmlformats.org/drawingml/2006/main" prst="rect">
            <a:avLst/>
          </a:prstGeom>
        </p:spPr>
        <p:txBody>
          <a:bodyPr xmlns:a="http://schemas.openxmlformats.org/drawingml/2006/main" wrap="none" lIns="0" tIns="0" rIns="0" bIns="0">
            <a:normAutofit fontScale="46467"/>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子类可以通过继承的方法来操作子类未继承的变量和方法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Subclasses can use inherited methods to operate variables and methods that are not inherited by the subclass.</a:t>
            </a:r>
          </a:p>
        </p:txBody>
      </p:sp>
      <p:pic>
        <p:nvPicPr>
          <p:cNvPr id="138" name=""/>
          <p:cNvPicPr>
            <a:picLocks xmlns:a="http://schemas.openxmlformats.org/drawingml/2006/main" noChangeAspect="1"/>
          </p:cNvPicPr>
          <p:nvPr/>
        </p:nvPicPr>
        <p:blipFill>
          <a:blip xmlns:r="http://schemas.openxmlformats.org/officeDocument/2006/relationships" xmlns:a="http://schemas.openxmlformats.org/drawingml/2006/main" r:embed="R32082321b54c44f3"/>
          <a:srcRect xmlns:a="http://schemas.openxmlformats.org/drawingml/2006/main" l="0" t="11" r="0" b="11"/>
          <a:stretch xmlns:a="http://schemas.openxmlformats.org/drawingml/2006/main">
            <a:fillRect l="0" t="0" r="0" b="0"/>
          </a:stretch>
        </p:blipFill>
        <p:spPr>
          <a:xfrm xmlns:a="http://schemas.openxmlformats.org/drawingml/2006/main" rot="0" flipH="0" flipV="0">
            <a:off x="6410325" y="5000625"/>
            <a:ext cx="3095625" cy="914400"/>
          </a:xfrm>
          <a:prstGeom xmlns:a="http://schemas.openxmlformats.org/drawingml/2006/main" prst="roundRect">
            <a:avLst>
              <a:gd name="adj" fmla="val 8333"/>
            </a:avLst>
          </a:prstGeom>
        </p:spPr>
      </p:pic>
      <p:sp>
        <p:nvSpPr>
          <p:cNvPr id="121" name="">
            <a:extLst xmlns:a="http://schemas.openxmlformats.org/drawingml/2006/main">
              <a:ext uri="{FF2B5EF4-FFF2-40B4-BE49-F238E27FC236}">
                <a16:creationId xmlns:a16="http://schemas.microsoft.com/office/drawing/2014/main" id="{CC60A694-F18E-494E-B3C1-D611B2A8E568}"/>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19 / 87</a:t>
            </a:r>
            <a:endParaRPr/>
          </a:p>
        </p:txBody>
      </p:sp>
    </p:spTree>
    <p:extLst>
      <p:ext uri="{BB962C8B-B14F-4D97-AF65-F5344CB8AC3E}">
        <p14:creationId xmlns:p14="http://schemas.microsoft.com/office/powerpoint/2010/main" val="79339095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32" name="">
            <a:extLst xmlns:a="http://schemas.openxmlformats.org/drawingml/2006/main">
              <a:ext uri="{FF2B5EF4-FFF2-40B4-BE49-F238E27FC236}">
                <a16:creationId xmlns:a16="http://schemas.microsoft.com/office/drawing/2014/main" id="{07D424EB-1C74-4E2B-B6D6-AE7B0374552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33" name="">
            <a:extLst xmlns:a="http://schemas.openxmlformats.org/drawingml/2006/main">
              <a:ext uri="{FF2B5EF4-FFF2-40B4-BE49-F238E27FC236}">
                <a16:creationId xmlns:a16="http://schemas.microsoft.com/office/drawing/2014/main" id="{32666E31-9B3C-48E4-BAF7-605AF6A57004}"/>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34" name="">
            <a:extLst xmlns:a="http://schemas.openxmlformats.org/drawingml/2006/main">
              <a:ext uri="{FF2B5EF4-FFF2-40B4-BE49-F238E27FC236}">
                <a16:creationId xmlns:a16="http://schemas.microsoft.com/office/drawing/2014/main" id="{3FA489C2-1AE0-428E-8D1A-EEC1ED6E1B78}"/>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35" name="">
            <a:extLst xmlns:a="http://schemas.openxmlformats.org/drawingml/2006/main">
              <a:ext uri="{FF2B5EF4-FFF2-40B4-BE49-F238E27FC236}">
                <a16:creationId xmlns:a16="http://schemas.microsoft.com/office/drawing/2014/main" id="{23B0578D-30B9-4528-B9AD-CC7D2691A6C9}"/>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例子2</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2</a:t>
            </a:r>
          </a:p>
        </p:txBody>
      </p:sp>
      <p:sp>
        <p:nvSpPr>
          <p:cNvPr id="136" name="">
            <a:extLst xmlns:a="http://schemas.openxmlformats.org/drawingml/2006/main">
              <a:ext uri="{FF2B5EF4-FFF2-40B4-BE49-F238E27FC236}">
                <a16:creationId xmlns:a16="http://schemas.microsoft.com/office/drawing/2014/main" id="{DE2E1E36-F903-41FE-BA4A-FC1C1FD0A598}"/>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Example5_2（上）</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Example5_2 (top)</a:t>
            </a:r>
          </a:p>
        </p:txBody>
      </p:sp>
      <p:sp>
        <p:nvSpPr>
          <p:cNvPr id="137" name="">
            <a:extLst xmlns:a="http://schemas.openxmlformats.org/drawingml/2006/main">
              <a:ext uri="{FF2B5EF4-FFF2-40B4-BE49-F238E27FC236}">
                <a16:creationId xmlns:a16="http://schemas.microsoft.com/office/drawing/2014/main" id="{24909186-B020-43E6-856B-C383D34641D0}"/>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38" name="">
            <a:extLst xmlns:a="http://schemas.openxmlformats.org/drawingml/2006/main">
              <a:ext uri="{FF2B5EF4-FFF2-40B4-BE49-F238E27FC236}">
                <a16:creationId xmlns:a16="http://schemas.microsoft.com/office/drawing/2014/main" id="{823F0AD2-8527-412F-BF39-6405D8023D06}"/>
              </a:ext>
            </a:extLst>
          </p:cNvPr>
          <p:cNvSpPr>
            <a:spLocks xmlns:a="http://schemas.openxmlformats.org/drawingml/2006/main" noGrp="1"/>
          </p:cNvSpPr>
          <p:nvPr/>
        </p:nvSpPr>
        <p:spPr>
          <a:xfrm xmlns:a="http://schemas.openxmlformats.org/drawingml/2006/main" rot="0" flipH="0" flipV="0">
            <a:off x="457200" y="2600325"/>
            <a:ext cx="3381375" cy="1171575"/>
          </a:xfrm>
          <a:prstGeom xmlns:a="http://schemas.openxmlformats.org/drawingml/2006/main" prst="rect">
            <a:avLst/>
          </a:prstGeom>
        </p:spPr>
        <p:txBody>
          <a:bodyPr xmlns:a="http://schemas.openxmlformats.org/drawingml/2006/main" wrap="square" lIns="0" tIns="0" rIns="0" bIns="0">
            <a:normAutofit fontScale="62248"/>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ChinaPeople 继承 People，People 的 averHeight 是 private，子类未继承它。</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ChinaPeople inherits People. The averHeight of People is private and subclasses do not inherit it.</a:t>
            </a:r>
          </a:p>
        </p:txBody>
      </p:sp>
      <p:pic>
        <p:nvPicPr>
          <p:cNvPr id="149" name=""/>
          <p:cNvPicPr>
            <a:picLocks xmlns:a="http://schemas.openxmlformats.org/drawingml/2006/main" noChangeAspect="1"/>
          </p:cNvPicPr>
          <p:nvPr/>
        </p:nvPicPr>
        <p:blipFill>
          <a:blip xmlns:r="http://schemas.openxmlformats.org/officeDocument/2006/relationships" xmlns:a="http://schemas.openxmlformats.org/drawingml/2006/main" r:embed="Rc06678e85f8346c4"/>
          <a:srcRect xmlns:a="http://schemas.openxmlformats.org/drawingml/2006/main" l="13" t="0" r="13" b="0"/>
          <a:stretch xmlns:a="http://schemas.openxmlformats.org/drawingml/2006/main">
            <a:fillRect l="0" t="0" r="0" b="0"/>
          </a:stretch>
        </p:blipFill>
        <p:spPr>
          <a:xfrm xmlns:a="http://schemas.openxmlformats.org/drawingml/2006/main" rot="0" flipH="0" flipV="0">
            <a:off x="4143375" y="2238375"/>
            <a:ext cx="7591425" cy="2838450"/>
          </a:xfrm>
          <a:prstGeom xmlns:a="http://schemas.openxmlformats.org/drawingml/2006/main" prst="roundRect">
            <a:avLst>
              <a:gd name="adj" fmla="val 4027"/>
            </a:avLst>
          </a:prstGeom>
          <a:effectLst xmlns:a="http://schemas.openxmlformats.org/drawingml/2006/main">
            <a:outerShdw blurRad="152400" dist="38100" dir="5400000">
              <a:srgbClr val="0F1C2E">
                <a:alpha val="8000"/>
              </a:srgbClr>
            </a:outerShdw>
          </a:effectLst>
        </p:spPr>
      </p:pic>
      <p:sp>
        <p:nvSpPr>
          <p:cNvPr id="140" name="">
            <a:extLst xmlns:a="http://schemas.openxmlformats.org/drawingml/2006/main">
              <a:ext uri="{FF2B5EF4-FFF2-40B4-BE49-F238E27FC236}">
                <a16:creationId xmlns:a16="http://schemas.microsoft.com/office/drawing/2014/main" id="{EC377DAD-3175-4B6F-960F-E4CA0A0D4CC7}"/>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20 / 87</a:t>
            </a:r>
            <a:endParaRPr/>
          </a:p>
        </p:txBody>
      </p:sp>
    </p:spTree>
    <p:extLst>
      <p:ext uri="{BB962C8B-B14F-4D97-AF65-F5344CB8AC3E}">
        <p14:creationId xmlns:p14="http://schemas.microsoft.com/office/powerpoint/2010/main" val="25157086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42" name="">
            <a:extLst xmlns:a="http://schemas.openxmlformats.org/drawingml/2006/main">
              <a:ext uri="{FF2B5EF4-FFF2-40B4-BE49-F238E27FC236}">
                <a16:creationId xmlns:a16="http://schemas.microsoft.com/office/drawing/2014/main" id="{830B8D16-E694-4CB9-9397-0520A59B03DB}"/>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43" name="">
            <a:extLst xmlns:a="http://schemas.openxmlformats.org/drawingml/2006/main">
              <a:ext uri="{FF2B5EF4-FFF2-40B4-BE49-F238E27FC236}">
                <a16:creationId xmlns:a16="http://schemas.microsoft.com/office/drawing/2014/main" id="{71B95E06-385F-4625-B93E-D537153C6AD9}"/>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44" name="">
            <a:extLst xmlns:a="http://schemas.openxmlformats.org/drawingml/2006/main">
              <a:ext uri="{FF2B5EF4-FFF2-40B4-BE49-F238E27FC236}">
                <a16:creationId xmlns:a16="http://schemas.microsoft.com/office/drawing/2014/main" id="{669C5339-AAC9-4C70-AFE4-129B6FED3940}"/>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45" name="">
            <a:extLst xmlns:a="http://schemas.openxmlformats.org/drawingml/2006/main">
              <a:ext uri="{FF2B5EF4-FFF2-40B4-BE49-F238E27FC236}">
                <a16:creationId xmlns:a16="http://schemas.microsoft.com/office/drawing/2014/main" id="{BDFF0121-8CE3-4D03-A116-9BE266830B5A}"/>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例子2</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2</a:t>
            </a:r>
          </a:p>
        </p:txBody>
      </p:sp>
      <p:sp>
        <p:nvSpPr>
          <p:cNvPr id="146" name="">
            <a:extLst xmlns:a="http://schemas.openxmlformats.org/drawingml/2006/main">
              <a:ext uri="{FF2B5EF4-FFF2-40B4-BE49-F238E27FC236}">
                <a16:creationId xmlns:a16="http://schemas.microsoft.com/office/drawing/2014/main" id="{3B645B71-12A3-4417-A11C-E31590332845}"/>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Example5_2（下）</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Example5_2 (Part 2)</a:t>
            </a:r>
          </a:p>
        </p:txBody>
      </p:sp>
      <p:sp>
        <p:nvSpPr>
          <p:cNvPr id="147" name="">
            <a:extLst xmlns:a="http://schemas.openxmlformats.org/drawingml/2006/main">
              <a:ext uri="{FF2B5EF4-FFF2-40B4-BE49-F238E27FC236}">
                <a16:creationId xmlns:a16="http://schemas.microsoft.com/office/drawing/2014/main" id="{19A779EC-ED82-4B60-AEF8-8D50889E84C8}"/>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48" name="">
            <a:extLst xmlns:a="http://schemas.openxmlformats.org/drawingml/2006/main">
              <a:ext uri="{FF2B5EF4-FFF2-40B4-BE49-F238E27FC236}">
                <a16:creationId xmlns:a16="http://schemas.microsoft.com/office/drawing/2014/main" id="{51359C0E-734D-4B5F-97E2-5BFAF66583EA}"/>
              </a:ext>
            </a:extLst>
          </p:cNvPr>
          <p:cNvSpPr>
            <a:spLocks xmlns:a="http://schemas.openxmlformats.org/drawingml/2006/main" noGrp="1"/>
          </p:cNvSpPr>
          <p:nvPr/>
        </p:nvSpPr>
        <p:spPr>
          <a:xfrm xmlns:a="http://schemas.openxmlformats.org/drawingml/2006/main" rot="0" flipH="0" flipV="0">
            <a:off x="457200" y="260032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子类对象通过继承的方法 getAverHeight() 操作未继承却分配了内存的变量。</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Subclass objects use the inherited method getAverHeight() to operate variables that are not inherited but have allocated memory.</a:t>
            </a:r>
          </a:p>
        </p:txBody>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f667ca1d3790478d"/>
          <a:srcRect xmlns:a="http://schemas.openxmlformats.org/drawingml/2006/main" l="13" t="0" r="13" b="0"/>
          <a:stretch xmlns:a="http://schemas.openxmlformats.org/drawingml/2006/main">
            <a:fillRect l="0" t="0" r="0" b="0"/>
          </a:stretch>
        </p:blipFill>
        <p:spPr>
          <a:xfrm xmlns:a="http://schemas.openxmlformats.org/drawingml/2006/main" rot="0" flipH="0" flipV="0">
            <a:off x="4143375" y="2238375"/>
            <a:ext cx="7591425" cy="2838450"/>
          </a:xfrm>
          <a:prstGeom xmlns:a="http://schemas.openxmlformats.org/drawingml/2006/main" prst="roundRect">
            <a:avLst>
              <a:gd name="adj" fmla="val 4027"/>
            </a:avLst>
          </a:prstGeom>
          <a:effectLst xmlns:a="http://schemas.openxmlformats.org/drawingml/2006/main">
            <a:outerShdw blurRad="152400" dist="38100" dir="5400000">
              <a:srgbClr val="0F1C2E">
                <a:alpha val="8000"/>
              </a:srgbClr>
            </a:outerShdw>
          </a:effectLst>
        </p:spPr>
      </p:pic>
      <p:sp>
        <p:nvSpPr>
          <p:cNvPr id="150" name="">
            <a:extLst xmlns:a="http://schemas.openxmlformats.org/drawingml/2006/main">
              <a:ext uri="{FF2B5EF4-FFF2-40B4-BE49-F238E27FC236}">
                <a16:creationId xmlns:a16="http://schemas.microsoft.com/office/drawing/2014/main" id="{129A3285-C5F4-4561-8641-02CB6F2B51F8}"/>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21 / 87</a:t>
            </a:r>
            <a:endParaRPr/>
          </a:p>
        </p:txBody>
      </p:sp>
    </p:spTree>
    <p:extLst>
      <p:ext uri="{BB962C8B-B14F-4D97-AF65-F5344CB8AC3E}">
        <p14:creationId xmlns:p14="http://schemas.microsoft.com/office/powerpoint/2010/main" val="11549395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52" name="">
            <a:extLst xmlns:a="http://schemas.openxmlformats.org/drawingml/2006/main">
              <a:ext uri="{FF2B5EF4-FFF2-40B4-BE49-F238E27FC236}">
                <a16:creationId xmlns:a16="http://schemas.microsoft.com/office/drawing/2014/main" id="{EF5F83B0-7327-4D57-87B7-B0EBDF6E8661}"/>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53" name="">
            <a:extLst xmlns:a="http://schemas.openxmlformats.org/drawingml/2006/main">
              <a:ext uri="{FF2B5EF4-FFF2-40B4-BE49-F238E27FC236}">
                <a16:creationId xmlns:a16="http://schemas.microsoft.com/office/drawing/2014/main" id="{34915408-AB19-46FF-BDBF-D0C46495C5DF}"/>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54" name="">
            <a:extLst xmlns:a="http://schemas.openxmlformats.org/drawingml/2006/main">
              <a:ext uri="{FF2B5EF4-FFF2-40B4-BE49-F238E27FC236}">
                <a16:creationId xmlns:a16="http://schemas.microsoft.com/office/drawing/2014/main" id="{BD609448-646D-4C13-B0A8-AC6B0B1F59F2}"/>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55" name="">
            <a:extLst xmlns:a="http://schemas.openxmlformats.org/drawingml/2006/main">
              <a:ext uri="{FF2B5EF4-FFF2-40B4-BE49-F238E27FC236}">
                <a16:creationId xmlns:a16="http://schemas.microsoft.com/office/drawing/2014/main" id="{5BBBDE05-C8DA-4F73-999B-85E05D99AAD2}"/>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例子2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2 · Operational effect</a:t>
            </a:r>
          </a:p>
        </p:txBody>
      </p:sp>
      <p:sp>
        <p:nvSpPr>
          <p:cNvPr id="156" name="">
            <a:extLst xmlns:a="http://schemas.openxmlformats.org/drawingml/2006/main">
              <a:ext uri="{FF2B5EF4-FFF2-40B4-BE49-F238E27FC236}">
                <a16:creationId xmlns:a16="http://schemas.microsoft.com/office/drawing/2014/main" id="{97C243CF-FA4F-4344-AF5D-2FAD22B8060D}"/>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运行效果（图5.3）</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Operation effect (Figure 5.3)</a:t>
            </a:r>
          </a:p>
        </p:txBody>
      </p:sp>
      <p:sp>
        <p:nvSpPr>
          <p:cNvPr id="157" name="">
            <a:extLst xmlns:a="http://schemas.openxmlformats.org/drawingml/2006/main">
              <a:ext uri="{FF2B5EF4-FFF2-40B4-BE49-F238E27FC236}">
                <a16:creationId xmlns:a16="http://schemas.microsoft.com/office/drawing/2014/main" id="{1B6AA074-F570-499D-A40D-2E7FB8BF448D}"/>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58" name="">
            <a:extLst xmlns:a="http://schemas.openxmlformats.org/drawingml/2006/main">
              <a:ext uri="{FF2B5EF4-FFF2-40B4-BE49-F238E27FC236}">
                <a16:creationId xmlns:a16="http://schemas.microsoft.com/office/drawing/2014/main" id="{45385E48-BB87-4F86-8510-1C91AC0BCB2C}"/>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0495"/>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private 成员变量未被子类继承，但子类对象可通过继承的方法访问它。</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Private member variables are not inherited by subclasses, but subclass objects can access them through inherited methods.</a:t>
            </a:r>
          </a:p>
        </p:txBody>
      </p:sp>
      <p:pic>
        <p:nvPicPr>
          <p:cNvPr id="169" name=""/>
          <p:cNvPicPr>
            <a:picLocks xmlns:a="http://schemas.openxmlformats.org/drawingml/2006/main" noChangeAspect="1"/>
          </p:cNvPicPr>
          <p:nvPr/>
        </p:nvPicPr>
        <p:blipFill>
          <a:blip xmlns:r="http://schemas.openxmlformats.org/officeDocument/2006/relationships" xmlns:a="http://schemas.openxmlformats.org/drawingml/2006/main" r:embed="Rc6fb425b2e5740ac"/>
          <a:srcRect xmlns:a="http://schemas.openxmlformats.org/drawingml/2006/main" l="101" t="0" r="101" b="0"/>
          <a:stretch xmlns:a="http://schemas.openxmlformats.org/drawingml/2006/main">
            <a:fillRect l="0" t="0" r="0" b="0"/>
          </a:stretch>
        </p:blipFill>
        <p:spPr>
          <a:xfrm xmlns:a="http://schemas.openxmlformats.org/drawingml/2006/main" rot="0" flipH="0" flipV="0">
            <a:off x="4343400" y="2676525"/>
            <a:ext cx="7239000" cy="2143125"/>
          </a:xfrm>
          <a:prstGeom xmlns:a="http://schemas.openxmlformats.org/drawingml/2006/main" prst="roundRect">
            <a:avLst>
              <a:gd name="adj" fmla="val 3556"/>
            </a:avLst>
          </a:prstGeom>
        </p:spPr>
      </p:pic>
      <p:sp>
        <p:nvSpPr>
          <p:cNvPr id="160" name="">
            <a:extLst xmlns:a="http://schemas.openxmlformats.org/drawingml/2006/main">
              <a:ext uri="{FF2B5EF4-FFF2-40B4-BE49-F238E27FC236}">
                <a16:creationId xmlns:a16="http://schemas.microsoft.com/office/drawing/2014/main" id="{76221091-7D0C-4131-9BE7-5A62486CDF9C}"/>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22 / 87</a:t>
            </a:r>
            <a:endParaRPr/>
          </a:p>
        </p:txBody>
      </p:sp>
    </p:spTree>
    <p:extLst>
      <p:ext uri="{BB962C8B-B14F-4D97-AF65-F5344CB8AC3E}">
        <p14:creationId xmlns:p14="http://schemas.microsoft.com/office/powerpoint/2010/main" val="17420736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62" name="">
            <a:extLst xmlns:a="http://schemas.openxmlformats.org/drawingml/2006/main">
              <a:ext uri="{FF2B5EF4-FFF2-40B4-BE49-F238E27FC236}">
                <a16:creationId xmlns:a16="http://schemas.microsoft.com/office/drawing/2014/main" id="{321D2D90-CEDE-4649-BD3E-ACBE3EC1ABF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63" name="">
            <a:extLst xmlns:a="http://schemas.openxmlformats.org/drawingml/2006/main">
              <a:ext uri="{FF2B5EF4-FFF2-40B4-BE49-F238E27FC236}">
                <a16:creationId xmlns:a16="http://schemas.microsoft.com/office/drawing/2014/main" id="{F8255ED8-5D3C-4720-9354-8EC472238F5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64" name="">
            <a:extLst xmlns:a="http://schemas.openxmlformats.org/drawingml/2006/main">
              <a:ext uri="{FF2B5EF4-FFF2-40B4-BE49-F238E27FC236}">
                <a16:creationId xmlns:a16="http://schemas.microsoft.com/office/drawing/2014/main" id="{5FD818FF-7F66-49B4-B7BE-77BC7ED2CEA2}"/>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65" name="">
            <a:extLst xmlns:a="http://schemas.openxmlformats.org/drawingml/2006/main">
              <a:ext uri="{FF2B5EF4-FFF2-40B4-BE49-F238E27FC236}">
                <a16:creationId xmlns:a16="http://schemas.microsoft.com/office/drawing/2014/main" id="{3CCB8F90-A671-4478-AD4F-2854E3033969}"/>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§5.3.1</a:t>
            </a:r>
            <a:endParaRPr/>
          </a:p>
        </p:txBody>
      </p:sp>
      <p:sp>
        <p:nvSpPr>
          <p:cNvPr id="166" name="">
            <a:extLst xmlns:a="http://schemas.openxmlformats.org/drawingml/2006/main">
              <a:ext uri="{FF2B5EF4-FFF2-40B4-BE49-F238E27FC236}">
                <a16:creationId xmlns:a16="http://schemas.microsoft.com/office/drawing/2014/main" id="{48E2416F-FD4C-4708-BE7D-A352298567A5}"/>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49369"/>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子类对象的生成：结论</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Generation of subclass objects: conclusion</a:t>
            </a:r>
          </a:p>
        </p:txBody>
      </p:sp>
      <p:sp>
        <p:nvSpPr>
          <p:cNvPr id="167" name="">
            <a:extLst xmlns:a="http://schemas.openxmlformats.org/drawingml/2006/main">
              <a:ext uri="{FF2B5EF4-FFF2-40B4-BE49-F238E27FC236}">
                <a16:creationId xmlns:a16="http://schemas.microsoft.com/office/drawing/2014/main" id="{0BFEEC7C-1782-4BDF-9734-B699B1F89680}"/>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68" name="">
            <a:extLst xmlns:a="http://schemas.openxmlformats.org/drawingml/2006/main">
              <a:ext uri="{FF2B5EF4-FFF2-40B4-BE49-F238E27FC236}">
                <a16:creationId xmlns:a16="http://schemas.microsoft.com/office/drawing/2014/main" id="{B03B7D53-8863-4A6B-9AE4-26EFDF12F353}"/>
              </a:ext>
            </a:extLst>
          </p:cNvPr>
          <p:cNvSpPr>
            <a:spLocks xmlns:a="http://schemas.openxmlformats.org/drawingml/2006/main" noGrp="1"/>
          </p:cNvSpPr>
          <p:nvPr/>
        </p:nvSpPr>
        <p:spPr>
          <a:xfrm xmlns:a="http://schemas.openxmlformats.org/drawingml/2006/main" rot="0" flipH="0" flipV="0">
            <a:off x="457200" y="3190875"/>
            <a:ext cx="338137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构造方法与 super 的约定。</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Contract between constructor and super.</a:t>
            </a:r>
          </a:p>
        </p:txBody>
      </p:sp>
      <p:sp>
        <p:nvSpPr>
          <p:cNvPr id="169" name="">
            <a:extLst xmlns:a="http://schemas.openxmlformats.org/drawingml/2006/main">
              <a:ext uri="{FF2B5EF4-FFF2-40B4-BE49-F238E27FC236}">
                <a16:creationId xmlns:a16="http://schemas.microsoft.com/office/drawing/2014/main" id="{ED76327C-FC13-42E8-B4BF-E63B2C363E6A}"/>
              </a:ext>
            </a:extLst>
          </p:cNvPr>
          <p:cNvSpPr>
            <a:spLocks xmlns:a="http://schemas.openxmlformats.org/drawingml/2006/main" noGrp="1"/>
          </p:cNvSpPr>
          <p:nvPr/>
        </p:nvSpPr>
        <p:spPr>
          <a:xfrm xmlns:a="http://schemas.openxmlformats.org/drawingml/2006/main" rot="0" flipH="0" flipV="0">
            <a:off x="4238625" y="2828925"/>
            <a:ext cx="3714750" cy="1685925"/>
          </a:xfrm>
          <a:prstGeom xmlns:a="http://schemas.openxmlformats.org/drawingml/2006/main" prst="roundRect">
            <a:avLst>
              <a:gd name="adj" fmla="val 5650"/>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70" name="">
            <a:extLst xmlns:a="http://schemas.openxmlformats.org/drawingml/2006/main">
              <a:ext uri="{FF2B5EF4-FFF2-40B4-BE49-F238E27FC236}">
                <a16:creationId xmlns:a16="http://schemas.microsoft.com/office/drawing/2014/main" id="{4E1805BC-CAB5-4BCF-B59F-0FD45DFCBB03}"/>
              </a:ext>
            </a:extLst>
          </p:cNvPr>
          <p:cNvSpPr>
            <a:spLocks xmlns:a="http://schemas.openxmlformats.org/drawingml/2006/main" noGrp="1"/>
          </p:cNvSpPr>
          <p:nvPr/>
        </p:nvSpPr>
        <p:spPr>
          <a:xfrm xmlns:a="http://schemas.openxmlformats.org/drawingml/2006/main" rot="0" flipH="0" flipV="0">
            <a:off x="4238625" y="2828925"/>
            <a:ext cx="3714750" cy="1685925"/>
          </a:xfrm>
          <a:custGeom xmlns:a="http://schemas.openxmlformats.org/drawingml/2006/main">
            <a:pathLst>
              <a:path w="390" h="177">
                <a:moveTo>
                  <a:pt x="10" y="0"/>
                </a:moveTo>
                <a:cubicBezTo>
                  <a:pt x="8" y="0"/>
                  <a:pt x="6" y="2"/>
                  <a:pt x="6" y="4"/>
                </a:cubicBezTo>
                <a:lnTo>
                  <a:pt x="6" y="173"/>
                </a:lnTo>
                <a:cubicBezTo>
                  <a:pt x="6" y="175"/>
                  <a:pt x="8" y="177"/>
                  <a:pt x="10" y="177"/>
                </a:cubicBezTo>
                <a:cubicBezTo>
                  <a:pt x="4" y="177"/>
                  <a:pt x="0" y="172"/>
                  <a:pt x="0" y="167"/>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71" name="">
            <a:extLst xmlns:a="http://schemas.openxmlformats.org/drawingml/2006/main">
              <a:ext uri="{FF2B5EF4-FFF2-40B4-BE49-F238E27FC236}">
                <a16:creationId xmlns:a16="http://schemas.microsoft.com/office/drawing/2014/main" id="{ACDE0C53-FF4F-4478-8001-32AB2E0AF692}"/>
              </a:ext>
            </a:extLst>
          </p:cNvPr>
          <p:cNvSpPr>
            <a:spLocks xmlns:a="http://schemas.openxmlformats.org/drawingml/2006/main" noGrp="1"/>
          </p:cNvSpPr>
          <p:nvPr/>
        </p:nvSpPr>
        <p:spPr>
          <a:xfrm xmlns:a="http://schemas.openxmlformats.org/drawingml/2006/main" rot="0" flipH="0" flipV="0">
            <a:off x="4429125" y="2981325"/>
            <a:ext cx="3276600"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结论 1</a:t>
            </a:r>
          </a:p>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Conclusion 1</a:t>
            </a:r>
          </a:p>
        </p:txBody>
      </p:sp>
      <p:sp>
        <p:nvSpPr>
          <p:cNvPr id="172" name="">
            <a:extLst xmlns:a="http://schemas.openxmlformats.org/drawingml/2006/main">
              <a:ext uri="{FF2B5EF4-FFF2-40B4-BE49-F238E27FC236}">
                <a16:creationId xmlns:a16="http://schemas.microsoft.com/office/drawing/2014/main" id="{83038346-48BA-4C1F-B11E-7AE803588D6D}"/>
              </a:ext>
            </a:extLst>
          </p:cNvPr>
          <p:cNvSpPr>
            <a:spLocks xmlns:a="http://schemas.openxmlformats.org/drawingml/2006/main" noGrp="1"/>
          </p:cNvSpPr>
          <p:nvPr/>
        </p:nvSpPr>
        <p:spPr>
          <a:xfrm xmlns:a="http://schemas.openxmlformats.org/drawingml/2006/main" rot="0" flipH="0" flipV="0">
            <a:off x="4429125" y="3219450"/>
            <a:ext cx="3276600" cy="552450"/>
          </a:xfrm>
          <a:prstGeom xmlns:a="http://schemas.openxmlformats.org/drawingml/2006/main" prst="rect">
            <a:avLst/>
          </a:prstGeom>
        </p:spPr>
        <p:txBody>
          <a:bodyPr xmlns:a="http://schemas.openxmlformats.org/drawingml/2006/main" wrap="square" lIns="0" tIns="0" rIns="0" bIns="0">
            <a:normAutofit fontScale="39188"/>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创建子类对象时，子类总是按层次结构从上到下的顺序调用所有超类的构造函数</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When creating a subclass object, the subclass always calls the constructors of all superclasses in hierarchical order from top to bottom.</a:t>
            </a:r>
          </a:p>
        </p:txBody>
      </p:sp>
      <p:sp>
        <p:nvSpPr>
          <p:cNvPr id="173" name="">
            <a:extLst xmlns:a="http://schemas.openxmlformats.org/drawingml/2006/main">
              <a:ext uri="{FF2B5EF4-FFF2-40B4-BE49-F238E27FC236}">
                <a16:creationId xmlns:a16="http://schemas.microsoft.com/office/drawing/2014/main" id="{D3646FBE-1D90-4DD6-9567-17BFA0BE33E2}"/>
              </a:ext>
            </a:extLst>
          </p:cNvPr>
          <p:cNvSpPr>
            <a:spLocks xmlns:a="http://schemas.openxmlformats.org/drawingml/2006/main" noGrp="1"/>
          </p:cNvSpPr>
          <p:nvPr/>
        </p:nvSpPr>
        <p:spPr>
          <a:xfrm xmlns:a="http://schemas.openxmlformats.org/drawingml/2006/main" rot="0" flipH="0" flipV="0">
            <a:off x="8086725" y="2828925"/>
            <a:ext cx="3705225" cy="1685925"/>
          </a:xfrm>
          <a:prstGeom xmlns:a="http://schemas.openxmlformats.org/drawingml/2006/main" prst="roundRect">
            <a:avLst>
              <a:gd name="adj" fmla="val 5650"/>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74" name="">
            <a:extLst xmlns:a="http://schemas.openxmlformats.org/drawingml/2006/main">
              <a:ext uri="{FF2B5EF4-FFF2-40B4-BE49-F238E27FC236}">
                <a16:creationId xmlns:a16="http://schemas.microsoft.com/office/drawing/2014/main" id="{3DD141C9-8FB4-4EE1-8AFD-941B44E53695}"/>
              </a:ext>
            </a:extLst>
          </p:cNvPr>
          <p:cNvSpPr>
            <a:spLocks xmlns:a="http://schemas.openxmlformats.org/drawingml/2006/main" noGrp="1"/>
          </p:cNvSpPr>
          <p:nvPr/>
        </p:nvSpPr>
        <p:spPr>
          <a:xfrm xmlns:a="http://schemas.openxmlformats.org/drawingml/2006/main" rot="0" flipH="0" flipV="0">
            <a:off x="8086725" y="2828925"/>
            <a:ext cx="3705225" cy="1685925"/>
          </a:xfrm>
          <a:custGeom xmlns:a="http://schemas.openxmlformats.org/drawingml/2006/main">
            <a:pathLst>
              <a:path w="389" h="177">
                <a:moveTo>
                  <a:pt x="10" y="0"/>
                </a:moveTo>
                <a:cubicBezTo>
                  <a:pt x="8" y="0"/>
                  <a:pt x="6" y="2"/>
                  <a:pt x="6" y="4"/>
                </a:cubicBezTo>
                <a:lnTo>
                  <a:pt x="6" y="173"/>
                </a:lnTo>
                <a:cubicBezTo>
                  <a:pt x="6" y="175"/>
                  <a:pt x="8" y="177"/>
                  <a:pt x="10" y="177"/>
                </a:cubicBezTo>
                <a:cubicBezTo>
                  <a:pt x="4" y="177"/>
                  <a:pt x="0" y="172"/>
                  <a:pt x="0" y="167"/>
                </a:cubicBezTo>
                <a:lnTo>
                  <a:pt x="0" y="10"/>
                </a:lnTo>
                <a:cubicBezTo>
                  <a:pt x="0" y="5"/>
                  <a:pt x="4" y="0"/>
                  <a:pt x="10"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175" name="">
            <a:extLst xmlns:a="http://schemas.openxmlformats.org/drawingml/2006/main">
              <a:ext uri="{FF2B5EF4-FFF2-40B4-BE49-F238E27FC236}">
                <a16:creationId xmlns:a16="http://schemas.microsoft.com/office/drawing/2014/main" id="{3DE65190-589B-4D14-8B13-6939E2DB2165}"/>
              </a:ext>
            </a:extLst>
          </p:cNvPr>
          <p:cNvSpPr>
            <a:spLocks xmlns:a="http://schemas.openxmlformats.org/drawingml/2006/main" noGrp="1"/>
          </p:cNvSpPr>
          <p:nvPr/>
        </p:nvSpPr>
        <p:spPr>
          <a:xfrm xmlns:a="http://schemas.openxmlformats.org/drawingml/2006/main" rot="0" flipH="0" flipV="0">
            <a:off x="8277225" y="2981325"/>
            <a:ext cx="326707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结论 2</a:t>
            </a:r>
          </a:p>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Conclusion 2</a:t>
            </a:r>
          </a:p>
        </p:txBody>
      </p:sp>
      <p:sp>
        <p:nvSpPr>
          <p:cNvPr id="176" name="">
            <a:extLst xmlns:a="http://schemas.openxmlformats.org/drawingml/2006/main">
              <a:ext uri="{FF2B5EF4-FFF2-40B4-BE49-F238E27FC236}">
                <a16:creationId xmlns:a16="http://schemas.microsoft.com/office/drawing/2014/main" id="{94E73437-0E16-4A7B-9445-048AE8261C34}"/>
              </a:ext>
            </a:extLst>
          </p:cNvPr>
          <p:cNvSpPr>
            <a:spLocks xmlns:a="http://schemas.openxmlformats.org/drawingml/2006/main" noGrp="1"/>
          </p:cNvSpPr>
          <p:nvPr/>
        </p:nvSpPr>
        <p:spPr>
          <a:xfrm xmlns:a="http://schemas.openxmlformats.org/drawingml/2006/main" rot="0" flipH="0" flipV="0">
            <a:off x="8277225" y="3219450"/>
            <a:ext cx="3267075" cy="828675"/>
          </a:xfrm>
          <a:prstGeom xmlns:a="http://schemas.openxmlformats.org/drawingml/2006/main" prst="rect">
            <a:avLst/>
          </a:prstGeom>
        </p:spPr>
        <p:txBody>
          <a:bodyPr xmlns:a="http://schemas.openxmlformats.org/drawingml/2006/main" wrap="square" lIns="0" tIns="0" rIns="0" bIns="0">
            <a:normAutofit fontScale="46597"/>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如果父类没有不带参数的构造方法，则必须在子类的构造方法中明确告诉调用父类的某个带参数的构造方法（通过 super 关键字）</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If the parent class does not have a constructor without parameters, you must explicitly tell the constructor of the child class to call a constructor with parameters of the parent class (via the super keyword)</a:t>
            </a:r>
          </a:p>
        </p:txBody>
      </p:sp>
      <p:sp>
        <p:nvSpPr>
          <p:cNvPr id="177" name="">
            <a:extLst xmlns:a="http://schemas.openxmlformats.org/drawingml/2006/main">
              <a:ext uri="{FF2B5EF4-FFF2-40B4-BE49-F238E27FC236}">
                <a16:creationId xmlns:a16="http://schemas.microsoft.com/office/drawing/2014/main" id="{A5ADD35B-9A71-48D2-928F-DB6831912ABF}"/>
              </a:ext>
            </a:extLst>
          </p:cNvPr>
          <p:cNvSpPr>
            <a:spLocks xmlns:a="http://schemas.openxmlformats.org/drawingml/2006/main" noGrp="1"/>
          </p:cNvSpPr>
          <p:nvPr/>
        </p:nvSpPr>
        <p:spPr>
          <a:xfrm xmlns:a="http://schemas.openxmlformats.org/drawingml/2006/main" rot="0" flipH="0" flipV="0">
            <a:off x="8277225" y="4086225"/>
            <a:ext cx="3267075" cy="276225"/>
          </a:xfrm>
          <a:prstGeom xmlns:a="http://schemas.openxmlformats.org/drawingml/2006/main" prst="rect">
            <a:avLst/>
          </a:prstGeom>
        </p:spPr>
        <p:txBody>
          <a:bodyPr xmlns:a="http://schemas.openxmlformats.org/drawingml/2006/main" wrap="none" lIns="0" tIns="0" rIns="0" bIns="0">
            <a:normAutofit fontScale="39093"/>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super 语句必须出现在构造方法的第一句</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super statement must appear in the first sentence of the constructor</a:t>
            </a:r>
          </a:p>
        </p:txBody>
      </p:sp>
      <p:sp>
        <p:nvSpPr>
          <p:cNvPr id="178" name="">
            <a:extLst xmlns:a="http://schemas.openxmlformats.org/drawingml/2006/main">
              <a:ext uri="{FF2B5EF4-FFF2-40B4-BE49-F238E27FC236}">
                <a16:creationId xmlns:a16="http://schemas.microsoft.com/office/drawing/2014/main" id="{421B742D-02FC-4647-8374-4F9235911435}"/>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23 / 87</a:t>
            </a:r>
            <a:endParaRPr/>
          </a:p>
        </p:txBody>
      </p:sp>
    </p:spTree>
    <p:extLst>
      <p:ext uri="{BB962C8B-B14F-4D97-AF65-F5344CB8AC3E}">
        <p14:creationId xmlns:p14="http://schemas.microsoft.com/office/powerpoint/2010/main" val="32469957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80" name="">
            <a:extLst xmlns:a="http://schemas.openxmlformats.org/drawingml/2006/main">
              <a:ext uri="{FF2B5EF4-FFF2-40B4-BE49-F238E27FC236}">
                <a16:creationId xmlns:a16="http://schemas.microsoft.com/office/drawing/2014/main" id="{A2CC8398-2039-4366-B3E3-1F4CDAD3306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81" name="">
            <a:extLst xmlns:a="http://schemas.openxmlformats.org/drawingml/2006/main">
              <a:ext uri="{FF2B5EF4-FFF2-40B4-BE49-F238E27FC236}">
                <a16:creationId xmlns:a16="http://schemas.microsoft.com/office/drawing/2014/main" id="{3CC9A170-FA87-4545-8F5C-0994C3043C67}"/>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82" name="">
            <a:extLst xmlns:a="http://schemas.openxmlformats.org/drawingml/2006/main">
              <a:ext uri="{FF2B5EF4-FFF2-40B4-BE49-F238E27FC236}">
                <a16:creationId xmlns:a16="http://schemas.microsoft.com/office/drawing/2014/main" id="{AB65E26F-2465-4E8F-9F85-83CFD18F05EC}"/>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83" name="">
            <a:extLst xmlns:a="http://schemas.openxmlformats.org/drawingml/2006/main">
              <a:ext uri="{FF2B5EF4-FFF2-40B4-BE49-F238E27FC236}">
                <a16:creationId xmlns:a16="http://schemas.microsoft.com/office/drawing/2014/main" id="{88719218-C59C-45A2-8191-F7103A4A21C1}"/>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§5.3.2</a:t>
            </a:r>
            <a:endParaRPr/>
          </a:p>
        </p:txBody>
      </p:sp>
      <p:sp>
        <p:nvSpPr>
          <p:cNvPr id="184" name="">
            <a:extLst xmlns:a="http://schemas.openxmlformats.org/drawingml/2006/main">
              <a:ext uri="{FF2B5EF4-FFF2-40B4-BE49-F238E27FC236}">
                <a16:creationId xmlns:a16="http://schemas.microsoft.com/office/drawing/2014/main" id="{A9F5375B-2886-4226-9F7E-5A0254908358}"/>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instanceof 运算符</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instanceof operator</a:t>
            </a:r>
          </a:p>
        </p:txBody>
      </p:sp>
      <p:sp>
        <p:nvSpPr>
          <p:cNvPr id="185" name="">
            <a:extLst xmlns:a="http://schemas.openxmlformats.org/drawingml/2006/main">
              <a:ext uri="{FF2B5EF4-FFF2-40B4-BE49-F238E27FC236}">
                <a16:creationId xmlns:a16="http://schemas.microsoft.com/office/drawing/2014/main" id="{28C800A3-8A8E-4A01-B375-8AD26210F93B}"/>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86" name="">
            <a:extLst xmlns:a="http://schemas.openxmlformats.org/drawingml/2006/main">
              <a:ext uri="{FF2B5EF4-FFF2-40B4-BE49-F238E27FC236}">
                <a16:creationId xmlns:a16="http://schemas.microsoft.com/office/drawing/2014/main" id="{F1848064-1352-4B01-A439-33C6F6D36658}"/>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instanceof 是 Java 独有的双目运算符，用于判断对象的类型。</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instanceof is Java's unique binary operator, used to determine the type of an object.</a:t>
            </a:r>
          </a:p>
        </p:txBody>
      </p:sp>
      <p:sp>
        <p:nvSpPr>
          <p:cNvPr id="187" name="">
            <a:extLst xmlns:a="http://schemas.openxmlformats.org/drawingml/2006/main">
              <a:ext uri="{FF2B5EF4-FFF2-40B4-BE49-F238E27FC236}">
                <a16:creationId xmlns:a16="http://schemas.microsoft.com/office/drawing/2014/main" id="{FFBAEF4E-B071-4B80-A88B-29AD883401AE}"/>
              </a:ext>
            </a:extLst>
          </p:cNvPr>
          <p:cNvSpPr>
            <a:spLocks xmlns:a="http://schemas.openxmlformats.org/drawingml/2006/main" noGrp="1"/>
          </p:cNvSpPr>
          <p:nvPr/>
        </p:nvSpPr>
        <p:spPr>
          <a:xfrm xmlns:a="http://schemas.openxmlformats.org/drawingml/2006/main" rot="0" flipH="0" flipV="0">
            <a:off x="4181475" y="22288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88" name="">
            <a:extLst xmlns:a="http://schemas.openxmlformats.org/drawingml/2006/main">
              <a:ext uri="{FF2B5EF4-FFF2-40B4-BE49-F238E27FC236}">
                <a16:creationId xmlns:a16="http://schemas.microsoft.com/office/drawing/2014/main" id="{6E4F405C-4585-4008-95F6-E0290A2A21CB}"/>
              </a:ext>
            </a:extLst>
          </p:cNvPr>
          <p:cNvSpPr>
            <a:spLocks xmlns:a="http://schemas.openxmlformats.org/drawingml/2006/main" noGrp="1"/>
          </p:cNvSpPr>
          <p:nvPr/>
        </p:nvSpPr>
        <p:spPr>
          <a:xfrm xmlns:a="http://schemas.openxmlformats.org/drawingml/2006/main" rot="0" flipH="0" flipV="0">
            <a:off x="4371975" y="211455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左面的操作元是对象，右面的操作元是类</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operand on the left is an object, and the operand on the right is a class.</a:t>
            </a:r>
          </a:p>
        </p:txBody>
      </p:sp>
      <p:sp>
        <p:nvSpPr>
          <p:cNvPr id="189" name="">
            <a:extLst xmlns:a="http://schemas.openxmlformats.org/drawingml/2006/main">
              <a:ext uri="{FF2B5EF4-FFF2-40B4-BE49-F238E27FC236}">
                <a16:creationId xmlns:a16="http://schemas.microsoft.com/office/drawing/2014/main" id="{08354CC2-AE59-4698-ABB9-2F7474E6CBF0}"/>
              </a:ext>
            </a:extLst>
          </p:cNvPr>
          <p:cNvSpPr>
            <a:spLocks xmlns:a="http://schemas.openxmlformats.org/drawingml/2006/main" noGrp="1"/>
          </p:cNvSpPr>
          <p:nvPr/>
        </p:nvSpPr>
        <p:spPr>
          <a:xfrm xmlns:a="http://schemas.openxmlformats.org/drawingml/2006/main" rot="0" flipH="0" flipV="0">
            <a:off x="4181475" y="27908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90" name="">
            <a:extLst xmlns:a="http://schemas.openxmlformats.org/drawingml/2006/main">
              <a:ext uri="{FF2B5EF4-FFF2-40B4-BE49-F238E27FC236}">
                <a16:creationId xmlns:a16="http://schemas.microsoft.com/office/drawing/2014/main" id="{7FC14834-47DE-44C6-9846-7FB332E43D4C}"/>
              </a:ext>
            </a:extLst>
          </p:cNvPr>
          <p:cNvSpPr>
            <a:spLocks xmlns:a="http://schemas.openxmlformats.org/drawingml/2006/main" noGrp="1"/>
          </p:cNvSpPr>
          <p:nvPr/>
        </p:nvSpPr>
        <p:spPr>
          <a:xfrm xmlns:a="http://schemas.openxmlformats.org/drawingml/2006/main" rot="0" flipH="0" flipV="0">
            <a:off x="4371975" y="2676525"/>
            <a:ext cx="7362825" cy="781050"/>
          </a:xfrm>
          <a:prstGeom xmlns:a="http://schemas.openxmlformats.org/drawingml/2006/main" prst="rect">
            <a:avLst/>
          </a:prstGeom>
        </p:spPr>
        <p:txBody>
          <a:bodyPr xmlns:a="http://schemas.openxmlformats.org/drawingml/2006/main" wrap="square" lIns="0" tIns="0" rIns="0" bIns="0">
            <a:normAutofit fontScale="5589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当左面的操作元是右面的类或其子类所创建的对象时，instanceof 运算的结果是 true，否则是 false</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When the operand on the left is an object created by the class on the right or its subclass, the result of the instanceof operation is true, otherwise it is false</a:t>
            </a:r>
          </a:p>
        </p:txBody>
      </p:sp>
      <p:sp>
        <p:nvSpPr>
          <p:cNvPr id="191" name="">
            <a:extLst xmlns:a="http://schemas.openxmlformats.org/drawingml/2006/main">
              <a:ext uri="{FF2B5EF4-FFF2-40B4-BE49-F238E27FC236}">
                <a16:creationId xmlns:a16="http://schemas.microsoft.com/office/drawing/2014/main" id="{3C29F05A-5B7A-4258-BA07-5990392EF818}"/>
              </a:ext>
            </a:extLst>
          </p:cNvPr>
          <p:cNvSpPr>
            <a:spLocks xmlns:a="http://schemas.openxmlformats.org/drawingml/2006/main" noGrp="1"/>
          </p:cNvSpPr>
          <p:nvPr/>
        </p:nvSpPr>
        <p:spPr>
          <a:xfrm xmlns:a="http://schemas.openxmlformats.org/drawingml/2006/main" rot="0" flipH="0" flipV="0">
            <a:off x="4181475" y="3629025"/>
            <a:ext cx="7553325" cy="16002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192" name="">
            <a:extLst xmlns:a="http://schemas.openxmlformats.org/drawingml/2006/main">
              <a:ext uri="{FF2B5EF4-FFF2-40B4-BE49-F238E27FC236}">
                <a16:creationId xmlns:a16="http://schemas.microsoft.com/office/drawing/2014/main" id="{E757ED80-B723-4AFB-A1D2-6EDEC1B602BE}"/>
              </a:ext>
            </a:extLst>
          </p:cNvPr>
          <p:cNvSpPr>
            <a:spLocks xmlns:a="http://schemas.openxmlformats.org/drawingml/2006/main" noGrp="1"/>
          </p:cNvSpPr>
          <p:nvPr/>
        </p:nvSpPr>
        <p:spPr>
          <a:xfrm xmlns:a="http://schemas.openxmlformats.org/drawingml/2006/main" rot="0" flipH="0" flipV="0">
            <a:off x="4352925" y="37433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Test t = new Test();</a:t>
            </a:r>
            <a:endParaRPr/>
          </a:p>
        </p:txBody>
      </p:sp>
      <p:sp>
        <p:nvSpPr>
          <p:cNvPr id="193" name="">
            <a:extLst xmlns:a="http://schemas.openxmlformats.org/drawingml/2006/main">
              <a:ext uri="{FF2B5EF4-FFF2-40B4-BE49-F238E27FC236}">
                <a16:creationId xmlns:a16="http://schemas.microsoft.com/office/drawing/2014/main" id="{C49156FB-F531-40D5-94C5-BC4D32DCA492}"/>
              </a:ext>
            </a:extLst>
          </p:cNvPr>
          <p:cNvSpPr>
            <a:spLocks xmlns:a="http://schemas.openxmlformats.org/drawingml/2006/main" noGrp="1"/>
          </p:cNvSpPr>
          <p:nvPr/>
        </p:nvSpPr>
        <p:spPr>
          <a:xfrm xmlns:a="http://schemas.openxmlformats.org/drawingml/2006/main" rot="0" flipH="0" flipV="0">
            <a:off x="4352925" y="409575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if (s instanceof String) {</a:t>
            </a:r>
            <a:endParaRPr/>
          </a:p>
        </p:txBody>
      </p:sp>
      <p:sp>
        <p:nvSpPr>
          <p:cNvPr id="194" name="">
            <a:extLst xmlns:a="http://schemas.openxmlformats.org/drawingml/2006/main">
              <a:ext uri="{FF2B5EF4-FFF2-40B4-BE49-F238E27FC236}">
                <a16:creationId xmlns:a16="http://schemas.microsoft.com/office/drawing/2014/main" id="{208DC5B2-272F-4A60-8916-6BA73F5738C8}"/>
              </a:ext>
            </a:extLst>
          </p:cNvPr>
          <p:cNvSpPr>
            <a:spLocks xmlns:a="http://schemas.openxmlformats.org/drawingml/2006/main" noGrp="1"/>
          </p:cNvSpPr>
          <p:nvPr/>
        </p:nvSpPr>
        <p:spPr>
          <a:xfrm xmlns:a="http://schemas.openxmlformats.org/drawingml/2006/main" rot="0" flipH="0" flipV="0">
            <a:off x="4352925" y="444817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System.out.println("YES");</a:t>
            </a:r>
            <a:endParaRPr/>
          </a:p>
        </p:txBody>
      </p:sp>
      <p:sp>
        <p:nvSpPr>
          <p:cNvPr id="195" name="">
            <a:extLst xmlns:a="http://schemas.openxmlformats.org/drawingml/2006/main">
              <a:ext uri="{FF2B5EF4-FFF2-40B4-BE49-F238E27FC236}">
                <a16:creationId xmlns:a16="http://schemas.microsoft.com/office/drawing/2014/main" id="{F7750F25-F931-49EA-8D71-C18EAB1063BA}"/>
              </a:ext>
            </a:extLst>
          </p:cNvPr>
          <p:cNvSpPr>
            <a:spLocks xmlns:a="http://schemas.openxmlformats.org/drawingml/2006/main" noGrp="1"/>
          </p:cNvSpPr>
          <p:nvPr/>
        </p:nvSpPr>
        <p:spPr>
          <a:xfrm xmlns:a="http://schemas.openxmlformats.org/drawingml/2006/main" rot="0" flipH="0" flipV="0">
            <a:off x="4352925" y="480060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a:t>
            </a:r>
            <a:endParaRPr/>
          </a:p>
        </p:txBody>
      </p:sp>
      <p:sp>
        <p:nvSpPr>
          <p:cNvPr id="196" name="">
            <a:extLst xmlns:a="http://schemas.openxmlformats.org/drawingml/2006/main">
              <a:ext uri="{FF2B5EF4-FFF2-40B4-BE49-F238E27FC236}">
                <a16:creationId xmlns:a16="http://schemas.microsoft.com/office/drawing/2014/main" id="{98944686-F01E-4B03-949F-F37E2C4ACB33}"/>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24 / 87</a:t>
            </a:r>
            <a:endParaRPr/>
          </a:p>
        </p:txBody>
      </p:sp>
    </p:spTree>
    <p:extLst>
      <p:ext uri="{BB962C8B-B14F-4D97-AF65-F5344CB8AC3E}">
        <p14:creationId xmlns:p14="http://schemas.microsoft.com/office/powerpoint/2010/main" val="131885815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98" name="">
            <a:extLst xmlns:a="http://schemas.openxmlformats.org/drawingml/2006/main">
              <a:ext uri="{FF2B5EF4-FFF2-40B4-BE49-F238E27FC236}">
                <a16:creationId xmlns:a16="http://schemas.microsoft.com/office/drawing/2014/main" id="{05C103C2-1821-4E31-812C-509BEEA31CA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99" name="">
            <a:extLst xmlns:a="http://schemas.openxmlformats.org/drawingml/2006/main">
              <a:ext uri="{FF2B5EF4-FFF2-40B4-BE49-F238E27FC236}">
                <a16:creationId xmlns:a16="http://schemas.microsoft.com/office/drawing/2014/main" id="{A9952021-D8B7-47B7-8DA7-51A6FED45F60}"/>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00" name="">
            <a:extLst xmlns:a="http://schemas.openxmlformats.org/drawingml/2006/main">
              <a:ext uri="{FF2B5EF4-FFF2-40B4-BE49-F238E27FC236}">
                <a16:creationId xmlns:a16="http://schemas.microsoft.com/office/drawing/2014/main" id="{E7005308-F3EB-4EF6-A322-FC5CE625EC60}"/>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201" name="">
            <a:extLst xmlns:a="http://schemas.openxmlformats.org/drawingml/2006/main">
              <a:ext uri="{FF2B5EF4-FFF2-40B4-BE49-F238E27FC236}">
                <a16:creationId xmlns:a16="http://schemas.microsoft.com/office/drawing/2014/main" id="{CCDE4E5B-38F4-40C8-A674-1F8025425798}"/>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§5.4.1</a:t>
            </a:r>
            <a:endParaRPr/>
          </a:p>
        </p:txBody>
      </p:sp>
      <p:sp>
        <p:nvSpPr>
          <p:cNvPr id="202" name="">
            <a:extLst xmlns:a="http://schemas.openxmlformats.org/drawingml/2006/main">
              <a:ext uri="{FF2B5EF4-FFF2-40B4-BE49-F238E27FC236}">
                <a16:creationId xmlns:a16="http://schemas.microsoft.com/office/drawing/2014/main" id="{8A8DD444-0DFB-4C63-9E43-FF67F0ED9C13}"/>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成员变量的隐藏</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Hiding member variables</a:t>
            </a:r>
          </a:p>
        </p:txBody>
      </p:sp>
      <p:sp>
        <p:nvSpPr>
          <p:cNvPr id="203" name="">
            <a:extLst xmlns:a="http://schemas.openxmlformats.org/drawingml/2006/main">
              <a:ext uri="{FF2B5EF4-FFF2-40B4-BE49-F238E27FC236}">
                <a16:creationId xmlns:a16="http://schemas.microsoft.com/office/drawing/2014/main" id="{41B8BB73-C3CA-4EB2-B7DA-D596740B1430}"/>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04" name="">
            <a:extLst xmlns:a="http://schemas.openxmlformats.org/drawingml/2006/main">
              <a:ext uri="{FF2B5EF4-FFF2-40B4-BE49-F238E27FC236}">
                <a16:creationId xmlns:a16="http://schemas.microsoft.com/office/drawing/2014/main" id="{DE7DD449-AAFE-44D6-806F-388F48DBFCE1}"/>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子类声明与父类同名的成员变量时，就隐藏了继承的成员变量。</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When a subclass declares a member variable with the same name as the parent class, the inherited member variable is hidden.</a:t>
            </a:r>
          </a:p>
        </p:txBody>
      </p:sp>
      <p:sp>
        <p:nvSpPr>
          <p:cNvPr id="205" name="">
            <a:extLst xmlns:a="http://schemas.openxmlformats.org/drawingml/2006/main">
              <a:ext uri="{FF2B5EF4-FFF2-40B4-BE49-F238E27FC236}">
                <a16:creationId xmlns:a16="http://schemas.microsoft.com/office/drawing/2014/main" id="{37308147-A085-492A-9AB6-1D8354DB85E0}"/>
              </a:ext>
            </a:extLst>
          </p:cNvPr>
          <p:cNvSpPr>
            <a:spLocks xmlns:a="http://schemas.openxmlformats.org/drawingml/2006/main" noGrp="1"/>
          </p:cNvSpPr>
          <p:nvPr/>
        </p:nvSpPr>
        <p:spPr>
          <a:xfrm xmlns:a="http://schemas.openxmlformats.org/drawingml/2006/main" rot="0" flipH="0" flipV="0">
            <a:off x="4181475" y="24098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06" name="">
            <a:extLst xmlns:a="http://schemas.openxmlformats.org/drawingml/2006/main">
              <a:ext uri="{FF2B5EF4-FFF2-40B4-BE49-F238E27FC236}">
                <a16:creationId xmlns:a16="http://schemas.microsoft.com/office/drawing/2014/main" id="{8CAECA19-7048-443E-A980-ABD083FBD909}"/>
              </a:ext>
            </a:extLst>
          </p:cNvPr>
          <p:cNvSpPr>
            <a:spLocks xmlns:a="http://schemas.openxmlformats.org/drawingml/2006/main" noGrp="1"/>
          </p:cNvSpPr>
          <p:nvPr/>
        </p:nvSpPr>
        <p:spPr>
          <a:xfrm xmlns:a="http://schemas.openxmlformats.org/drawingml/2006/main" rot="0" flipH="0" flipV="0">
            <a:off x="4371975" y="2295525"/>
            <a:ext cx="7362825" cy="781050"/>
          </a:xfrm>
          <a:prstGeom xmlns:a="http://schemas.openxmlformats.org/drawingml/2006/main" prst="rect">
            <a:avLst/>
          </a:prstGeom>
        </p:spPr>
        <p:txBody>
          <a:bodyPr xmlns:a="http://schemas.openxmlformats.org/drawingml/2006/main" wrap="square" lIns="0" tIns="0" rIns="0" bIns="0">
            <a:normAutofit fontScale="4526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对于子类可以从父类继承的成员变量，只要子类中声明的成员变量和父类中的成员变量同名，子类就隐藏了继承的成员变量</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For member variables that a subclass can inherit from the parent class, as long as the member variables declared in the subclass have the same name as the member variables in the parent class, the subclass will hide the inherited member variables.</a:t>
            </a:r>
          </a:p>
        </p:txBody>
      </p:sp>
      <p:sp>
        <p:nvSpPr>
          <p:cNvPr id="207" name="">
            <a:extLst xmlns:a="http://schemas.openxmlformats.org/drawingml/2006/main">
              <a:ext uri="{FF2B5EF4-FFF2-40B4-BE49-F238E27FC236}">
                <a16:creationId xmlns:a16="http://schemas.microsoft.com/office/drawing/2014/main" id="{E9ADC33F-5B23-4930-96BE-FE5BD028F180}"/>
              </a:ext>
            </a:extLst>
          </p:cNvPr>
          <p:cNvSpPr>
            <a:spLocks xmlns:a="http://schemas.openxmlformats.org/drawingml/2006/main" noGrp="1"/>
          </p:cNvSpPr>
          <p:nvPr/>
        </p:nvSpPr>
        <p:spPr>
          <a:xfrm xmlns:a="http://schemas.openxmlformats.org/drawingml/2006/main" rot="0" flipH="0" flipV="0">
            <a:off x="4181475" y="33623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08" name="">
            <a:extLst xmlns:a="http://schemas.openxmlformats.org/drawingml/2006/main">
              <a:ext uri="{FF2B5EF4-FFF2-40B4-BE49-F238E27FC236}">
                <a16:creationId xmlns:a16="http://schemas.microsoft.com/office/drawing/2014/main" id="{FFE55117-98A8-46E2-A5C7-EF3E364FE7E6}"/>
              </a:ext>
            </a:extLst>
          </p:cNvPr>
          <p:cNvSpPr>
            <a:spLocks xmlns:a="http://schemas.openxmlformats.org/drawingml/2006/main" noGrp="1"/>
          </p:cNvSpPr>
          <p:nvPr/>
        </p:nvSpPr>
        <p:spPr>
          <a:xfrm xmlns:a="http://schemas.openxmlformats.org/drawingml/2006/main" rot="0" flipH="0" flipV="0">
            <a:off x="4371975" y="3248025"/>
            <a:ext cx="7362825" cy="781050"/>
          </a:xfrm>
          <a:prstGeom xmlns:a="http://schemas.openxmlformats.org/drawingml/2006/main" prst="rect">
            <a:avLst/>
          </a:prstGeom>
        </p:spPr>
        <p:txBody>
          <a:bodyPr xmlns:a="http://schemas.openxmlformats.org/drawingml/2006/main" wrap="square" lIns="0" tIns="0" rIns="0" bIns="0">
            <a:normAutofit fontScale="51685"/>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在子类中要操作这个与父类同名的成员变量时，子类操作的是子类重新声明的这个成员变量，而不是被隐藏掉的</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When you want to operate a member variable with the same name as the parent class in a subclass, the subclass operates the member variable redeclared by the subclass instead of the hidden one.</a:t>
            </a:r>
          </a:p>
        </p:txBody>
      </p:sp>
      <p:sp>
        <p:nvSpPr>
          <p:cNvPr id="209" name="">
            <a:extLst xmlns:a="http://schemas.openxmlformats.org/drawingml/2006/main">
              <a:ext uri="{FF2B5EF4-FFF2-40B4-BE49-F238E27FC236}">
                <a16:creationId xmlns:a16="http://schemas.microsoft.com/office/drawing/2014/main" id="{1B325063-608D-4AF2-B804-4C69558563E4}"/>
              </a:ext>
            </a:extLst>
          </p:cNvPr>
          <p:cNvSpPr>
            <a:spLocks xmlns:a="http://schemas.openxmlformats.org/drawingml/2006/main" noGrp="1"/>
          </p:cNvSpPr>
          <p:nvPr/>
        </p:nvSpPr>
        <p:spPr>
          <a:xfrm xmlns:a="http://schemas.openxmlformats.org/drawingml/2006/main" rot="0" flipH="0" flipV="0">
            <a:off x="4181475" y="4200525"/>
            <a:ext cx="7553325" cy="857250"/>
          </a:xfrm>
          <a:prstGeom xmlns:a="http://schemas.openxmlformats.org/drawingml/2006/main" prst="roundRect">
            <a:avLst>
              <a:gd name="adj" fmla="val 11111"/>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210" name="">
            <a:extLst xmlns:a="http://schemas.openxmlformats.org/drawingml/2006/main">
              <a:ext uri="{FF2B5EF4-FFF2-40B4-BE49-F238E27FC236}">
                <a16:creationId xmlns:a16="http://schemas.microsoft.com/office/drawing/2014/main" id="{14B5630A-FAD0-4F12-9EFC-E7341C61F2B8}"/>
              </a:ext>
            </a:extLst>
          </p:cNvPr>
          <p:cNvSpPr>
            <a:spLocks xmlns:a="http://schemas.openxmlformats.org/drawingml/2006/main" noGrp="1"/>
          </p:cNvSpPr>
          <p:nvPr/>
        </p:nvSpPr>
        <p:spPr>
          <a:xfrm xmlns:a="http://schemas.openxmlformats.org/drawingml/2006/main" rot="0" flipH="0" flipV="0">
            <a:off x="4371975" y="4333875"/>
            <a:ext cx="7172325" cy="590550"/>
          </a:xfrm>
          <a:prstGeom xmlns:a="http://schemas.openxmlformats.org/drawingml/2006/main" prst="rect">
            <a:avLst/>
          </a:prstGeom>
        </p:spPr>
        <p:txBody>
          <a:bodyPr xmlns:a="http://schemas.openxmlformats.org/drawingml/2006/main" wrap="square" lIns="0" tIns="0" rIns="0" bIns="0">
            <a:normAutofit fontScale="55300"/>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例子3 中，Goods 类有 double 型成员变量 weight，子类 CheapGoods 重新声明了一个 int 型的同名成员变量 weight。</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In Example 3, the Goods class has a double-type member variable weight, and the subclass CheapGoods redeclares an int-type member variable weight with the same name.</a:t>
            </a:r>
          </a:p>
        </p:txBody>
      </p:sp>
      <p:sp>
        <p:nvSpPr>
          <p:cNvPr id="211" name="">
            <a:extLst xmlns:a="http://schemas.openxmlformats.org/drawingml/2006/main">
              <a:ext uri="{FF2B5EF4-FFF2-40B4-BE49-F238E27FC236}">
                <a16:creationId xmlns:a16="http://schemas.microsoft.com/office/drawing/2014/main" id="{D4BB9146-8E10-4ADD-B7B8-B870C74D5EC5}"/>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25 / 87</a:t>
            </a:r>
            <a:endParaRPr/>
          </a:p>
        </p:txBody>
      </p:sp>
    </p:spTree>
    <p:extLst>
      <p:ext uri="{BB962C8B-B14F-4D97-AF65-F5344CB8AC3E}">
        <p14:creationId xmlns:p14="http://schemas.microsoft.com/office/powerpoint/2010/main" val="70136803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3" name="">
            <a:extLst xmlns:a="http://schemas.openxmlformats.org/drawingml/2006/main">
              <a:ext uri="{FF2B5EF4-FFF2-40B4-BE49-F238E27FC236}">
                <a16:creationId xmlns:a16="http://schemas.microsoft.com/office/drawing/2014/main" id="{474FA20F-C7A4-4D3F-899C-96C8009DB18F}"/>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14" name="">
            <a:extLst xmlns:a="http://schemas.openxmlformats.org/drawingml/2006/main">
              <a:ext uri="{FF2B5EF4-FFF2-40B4-BE49-F238E27FC236}">
                <a16:creationId xmlns:a16="http://schemas.microsoft.com/office/drawing/2014/main" id="{0AFC7FED-C578-465A-B857-92F881026D41}"/>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15" name="">
            <a:extLst xmlns:a="http://schemas.openxmlformats.org/drawingml/2006/main">
              <a:ext uri="{FF2B5EF4-FFF2-40B4-BE49-F238E27FC236}">
                <a16:creationId xmlns:a16="http://schemas.microsoft.com/office/drawing/2014/main" id="{764A818F-98CD-4B8A-A50C-4E7DE9C61F72}"/>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216" name="">
            <a:extLst xmlns:a="http://schemas.openxmlformats.org/drawingml/2006/main">
              <a:ext uri="{FF2B5EF4-FFF2-40B4-BE49-F238E27FC236}">
                <a16:creationId xmlns:a16="http://schemas.microsoft.com/office/drawing/2014/main" id="{56A8A172-2586-4FD3-AB19-7F60F3937557}"/>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例子3</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3</a:t>
            </a:r>
          </a:p>
        </p:txBody>
      </p:sp>
      <p:sp>
        <p:nvSpPr>
          <p:cNvPr id="217" name="">
            <a:extLst xmlns:a="http://schemas.openxmlformats.org/drawingml/2006/main">
              <a:ext uri="{FF2B5EF4-FFF2-40B4-BE49-F238E27FC236}">
                <a16:creationId xmlns:a16="http://schemas.microsoft.com/office/drawing/2014/main" id="{43C1EA6D-DC59-4268-B9D3-2AA4B9FA2109}"/>
              </a:ext>
            </a:extLst>
          </p:cNvPr>
          <p:cNvSpPr>
            <a:spLocks xmlns:a="http://schemas.openxmlformats.org/drawingml/2006/main" noGrp="1"/>
          </p:cNvSpPr>
          <p:nvPr/>
        </p:nvSpPr>
        <p:spPr>
          <a:xfrm xmlns:a="http://schemas.openxmlformats.org/drawingml/2006/main" rot="0" flipH="0" flipV="0">
            <a:off x="457200" y="15621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Goods 类（父类）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Goods class (parent class)</a:t>
            </a:r>
          </a:p>
        </p:txBody>
      </p:sp>
      <p:sp>
        <p:nvSpPr>
          <p:cNvPr id="218" name="">
            <a:extLst xmlns:a="http://schemas.openxmlformats.org/drawingml/2006/main">
              <a:ext uri="{FF2B5EF4-FFF2-40B4-BE49-F238E27FC236}">
                <a16:creationId xmlns:a16="http://schemas.microsoft.com/office/drawing/2014/main" id="{C8809485-F728-41DE-87AE-917B32CF9850}"/>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19" name="">
            <a:extLst xmlns:a="http://schemas.openxmlformats.org/drawingml/2006/main">
              <a:ext uri="{FF2B5EF4-FFF2-40B4-BE49-F238E27FC236}">
                <a16:creationId xmlns:a16="http://schemas.microsoft.com/office/drawing/2014/main" id="{065998F4-91DE-47A9-861F-839894DD78D4}"/>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声明 double 型 weight 与 oldSetWeight()、oldGetPrice()。</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Declare double type weight and oldSetWeight(), oldGetPrice().</a:t>
            </a:r>
          </a:p>
        </p:txBody>
      </p:sp>
      <p:pic>
        <p:nvPicPr>
          <p:cNvPr id="230" name=""/>
          <p:cNvPicPr>
            <a:picLocks xmlns:a="http://schemas.openxmlformats.org/drawingml/2006/main" noChangeAspect="1"/>
          </p:cNvPicPr>
          <p:nvPr/>
        </p:nvPicPr>
        <p:blipFill>
          <a:blip xmlns:r="http://schemas.openxmlformats.org/officeDocument/2006/relationships" xmlns:a="http://schemas.openxmlformats.org/drawingml/2006/main" r:embed="R69af265d725840ce"/>
          <a:srcRect xmlns:a="http://schemas.openxmlformats.org/drawingml/2006/main" l="18" t="0" r="18" b="0"/>
          <a:stretch xmlns:a="http://schemas.openxmlformats.org/drawingml/2006/main">
            <a:fillRect l="0" t="0" r="0" b="0"/>
          </a:stretch>
        </p:blipFill>
        <p:spPr>
          <a:xfrm xmlns:a="http://schemas.openxmlformats.org/drawingml/2006/main" rot="0" flipH="0" flipV="0">
            <a:off x="4200525" y="1600200"/>
            <a:ext cx="748665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221" name="">
            <a:extLst xmlns:a="http://schemas.openxmlformats.org/drawingml/2006/main">
              <a:ext uri="{FF2B5EF4-FFF2-40B4-BE49-F238E27FC236}">
                <a16:creationId xmlns:a16="http://schemas.microsoft.com/office/drawing/2014/main" id="{7313CD8C-63E1-4BC6-87FC-35CA5D61678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26 / 87</a:t>
            </a:r>
            <a:endParaRPr/>
          </a:p>
        </p:txBody>
      </p:sp>
    </p:spTree>
    <p:extLst>
      <p:ext uri="{BB962C8B-B14F-4D97-AF65-F5344CB8AC3E}">
        <p14:creationId xmlns:p14="http://schemas.microsoft.com/office/powerpoint/2010/main" val="213583979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23" name="">
            <a:extLst xmlns:a="http://schemas.openxmlformats.org/drawingml/2006/main">
              <a:ext uri="{FF2B5EF4-FFF2-40B4-BE49-F238E27FC236}">
                <a16:creationId xmlns:a16="http://schemas.microsoft.com/office/drawing/2014/main" id="{53A950CB-1FEA-4B47-B148-186C75B93E49}"/>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24" name="">
            <a:extLst xmlns:a="http://schemas.openxmlformats.org/drawingml/2006/main">
              <a:ext uri="{FF2B5EF4-FFF2-40B4-BE49-F238E27FC236}">
                <a16:creationId xmlns:a16="http://schemas.microsoft.com/office/drawing/2014/main" id="{EBE758C7-553D-41FA-B8B5-FC312EA45833}"/>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25" name="">
            <a:extLst xmlns:a="http://schemas.openxmlformats.org/drawingml/2006/main">
              <a:ext uri="{FF2B5EF4-FFF2-40B4-BE49-F238E27FC236}">
                <a16:creationId xmlns:a16="http://schemas.microsoft.com/office/drawing/2014/main" id="{9ECF7A14-311C-4D42-A154-57A67D0A5710}"/>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226" name="">
            <a:extLst xmlns:a="http://schemas.openxmlformats.org/drawingml/2006/main">
              <a:ext uri="{FF2B5EF4-FFF2-40B4-BE49-F238E27FC236}">
                <a16:creationId xmlns:a16="http://schemas.microsoft.com/office/drawing/2014/main" id="{CED144E4-28EE-463D-BA71-64695C8248F0}"/>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例子3</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3</a:t>
            </a:r>
          </a:p>
        </p:txBody>
      </p:sp>
      <p:sp>
        <p:nvSpPr>
          <p:cNvPr id="227" name="">
            <a:extLst xmlns:a="http://schemas.openxmlformats.org/drawingml/2006/main">
              <a:ext uri="{FF2B5EF4-FFF2-40B4-BE49-F238E27FC236}">
                <a16:creationId xmlns:a16="http://schemas.microsoft.com/office/drawing/2014/main" id="{5AB3011D-C8FA-4862-B629-975875195359}"/>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48325"/>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CheapGoods 类（子类）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CheapGoods class (subclass)</a:t>
            </a:r>
          </a:p>
        </p:txBody>
      </p:sp>
      <p:sp>
        <p:nvSpPr>
          <p:cNvPr id="228" name="">
            <a:extLst xmlns:a="http://schemas.openxmlformats.org/drawingml/2006/main">
              <a:ext uri="{FF2B5EF4-FFF2-40B4-BE49-F238E27FC236}">
                <a16:creationId xmlns:a16="http://schemas.microsoft.com/office/drawing/2014/main" id="{9429CCBB-B69E-449D-9AFD-DCB486AA5559}"/>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29" name="">
            <a:extLst xmlns:a="http://schemas.openxmlformats.org/drawingml/2006/main">
              <a:ext uri="{FF2B5EF4-FFF2-40B4-BE49-F238E27FC236}">
                <a16:creationId xmlns:a16="http://schemas.microsoft.com/office/drawing/2014/main" id="{5CF6C577-B466-44ED-B045-E38273D9A3C8}"/>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重新声明 int 型 weight，隐藏父类的 double 型 weight。</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Redeclare the int type weight and hide the double type weight of the parent class.</a:t>
            </a: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211e7b4562ef4105"/>
          <a:srcRect xmlns:a="http://schemas.openxmlformats.org/drawingml/2006/main" l="6" t="0" r="6" b="0"/>
          <a:stretch xmlns:a="http://schemas.openxmlformats.org/drawingml/2006/main">
            <a:fillRect l="0" t="0" r="0" b="0"/>
          </a:stretch>
        </p:blipFill>
        <p:spPr>
          <a:xfrm xmlns:a="http://schemas.openxmlformats.org/drawingml/2006/main" rot="0" flipH="0" flipV="0">
            <a:off x="4381500" y="1600200"/>
            <a:ext cx="712470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231" name="">
            <a:extLst xmlns:a="http://schemas.openxmlformats.org/drawingml/2006/main">
              <a:ext uri="{FF2B5EF4-FFF2-40B4-BE49-F238E27FC236}">
                <a16:creationId xmlns:a16="http://schemas.microsoft.com/office/drawing/2014/main" id="{39CA7F7F-8A1B-4A23-9C03-42E23DA4393E}"/>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27 / 87</a:t>
            </a:r>
            <a:endParaRPr/>
          </a:p>
        </p:txBody>
      </p:sp>
    </p:spTree>
    <p:extLst>
      <p:ext uri="{BB962C8B-B14F-4D97-AF65-F5344CB8AC3E}">
        <p14:creationId xmlns:p14="http://schemas.microsoft.com/office/powerpoint/2010/main" val="111611856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33" name="">
            <a:extLst xmlns:a="http://schemas.openxmlformats.org/drawingml/2006/main">
              <a:ext uri="{FF2B5EF4-FFF2-40B4-BE49-F238E27FC236}">
                <a16:creationId xmlns:a16="http://schemas.microsoft.com/office/drawing/2014/main" id="{7E935D47-0E72-4BA2-AC81-5C811CE2244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34" name="">
            <a:extLst xmlns:a="http://schemas.openxmlformats.org/drawingml/2006/main">
              <a:ext uri="{FF2B5EF4-FFF2-40B4-BE49-F238E27FC236}">
                <a16:creationId xmlns:a16="http://schemas.microsoft.com/office/drawing/2014/main" id="{AA7D7175-9559-4851-9CA6-4B84920F3D77}"/>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35" name="">
            <a:extLst xmlns:a="http://schemas.openxmlformats.org/drawingml/2006/main">
              <a:ext uri="{FF2B5EF4-FFF2-40B4-BE49-F238E27FC236}">
                <a16:creationId xmlns:a16="http://schemas.microsoft.com/office/drawing/2014/main" id="{461CB7E1-5A42-43FA-B9E0-7080EE7ABEBC}"/>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236" name="">
            <a:extLst xmlns:a="http://schemas.openxmlformats.org/drawingml/2006/main">
              <a:ext uri="{FF2B5EF4-FFF2-40B4-BE49-F238E27FC236}">
                <a16:creationId xmlns:a16="http://schemas.microsoft.com/office/drawing/2014/main" id="{A6AFC5C7-EF69-43A7-96D1-2DCCF2EE606C}"/>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例子3</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3</a:t>
            </a:r>
          </a:p>
        </p:txBody>
      </p:sp>
      <p:sp>
        <p:nvSpPr>
          <p:cNvPr id="237" name="">
            <a:extLst xmlns:a="http://schemas.openxmlformats.org/drawingml/2006/main">
              <a:ext uri="{FF2B5EF4-FFF2-40B4-BE49-F238E27FC236}">
                <a16:creationId xmlns:a16="http://schemas.microsoft.com/office/drawing/2014/main" id="{6410C678-7ECA-4EF6-B18E-A6161DC3F86B}"/>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Example5_3（主类）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Example5_3 (main class)</a:t>
            </a:r>
          </a:p>
        </p:txBody>
      </p:sp>
      <p:sp>
        <p:nvSpPr>
          <p:cNvPr id="238" name="">
            <a:extLst xmlns:a="http://schemas.openxmlformats.org/drawingml/2006/main">
              <a:ext uri="{FF2B5EF4-FFF2-40B4-BE49-F238E27FC236}">
                <a16:creationId xmlns:a16="http://schemas.microsoft.com/office/drawing/2014/main" id="{01BBE2F0-9861-4C13-8481-92927C1185EC}"/>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39" name="">
            <a:extLst xmlns:a="http://schemas.openxmlformats.org/drawingml/2006/main">
              <a:ext uri="{FF2B5EF4-FFF2-40B4-BE49-F238E27FC236}">
                <a16:creationId xmlns:a16="http://schemas.microsoft.com/office/drawing/2014/main" id="{BE9281D1-9307-47B6-A9EB-D9CF6CD52A12}"/>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分别用父类方法操作父类的 weight、用子类方法操作子类的 weight。</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Use the parent class method to operate the weight of the parent class, and use the subclass method to operate the weight of the subclass.</a:t>
            </a:r>
          </a:p>
        </p:txBody>
      </p:sp>
      <p:pic>
        <p:nvPicPr>
          <p:cNvPr id="250" name=""/>
          <p:cNvPicPr>
            <a:picLocks xmlns:a="http://schemas.openxmlformats.org/drawingml/2006/main" noChangeAspect="1"/>
          </p:cNvPicPr>
          <p:nvPr/>
        </p:nvPicPr>
        <p:blipFill>
          <a:blip xmlns:r="http://schemas.openxmlformats.org/officeDocument/2006/relationships" xmlns:a="http://schemas.openxmlformats.org/drawingml/2006/main" r:embed="R271c58d901224a9b"/>
          <a:srcRect xmlns:a="http://schemas.openxmlformats.org/drawingml/2006/main" l="0" t="42" r="0" b="42"/>
          <a:stretch xmlns:a="http://schemas.openxmlformats.org/drawingml/2006/main">
            <a:fillRect l="0" t="0" r="0" b="0"/>
          </a:stretch>
        </p:blipFill>
        <p:spPr>
          <a:xfrm xmlns:a="http://schemas.openxmlformats.org/drawingml/2006/main" rot="0" flipH="0" flipV="0">
            <a:off x="4143375" y="2152650"/>
            <a:ext cx="7591425" cy="3000375"/>
          </a:xfrm>
          <a:prstGeom xmlns:a="http://schemas.openxmlformats.org/drawingml/2006/main" prst="roundRect">
            <a:avLst>
              <a:gd name="adj" fmla="val 3810"/>
            </a:avLst>
          </a:prstGeom>
          <a:effectLst xmlns:a="http://schemas.openxmlformats.org/drawingml/2006/main">
            <a:outerShdw blurRad="152400" dist="38100" dir="5400000">
              <a:srgbClr val="0F1C2E">
                <a:alpha val="8000"/>
              </a:srgbClr>
            </a:outerShdw>
          </a:effectLst>
        </p:spPr>
      </p:pic>
      <p:sp>
        <p:nvSpPr>
          <p:cNvPr id="241" name="">
            <a:extLst xmlns:a="http://schemas.openxmlformats.org/drawingml/2006/main">
              <a:ext uri="{FF2B5EF4-FFF2-40B4-BE49-F238E27FC236}">
                <a16:creationId xmlns:a16="http://schemas.microsoft.com/office/drawing/2014/main" id="{DD94D143-74E3-4728-AE7B-22C0B54FA8FB}"/>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28 / 87</a:t>
            </a:r>
            <a:endParaRPr/>
          </a:p>
        </p:txBody>
      </p:sp>
    </p:spTree>
    <p:extLst>
      <p:ext uri="{BB962C8B-B14F-4D97-AF65-F5344CB8AC3E}">
        <p14:creationId xmlns:p14="http://schemas.microsoft.com/office/powerpoint/2010/main" val="18544010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43" name="">
            <a:extLst xmlns:a="http://schemas.openxmlformats.org/drawingml/2006/main">
              <a:ext uri="{FF2B5EF4-FFF2-40B4-BE49-F238E27FC236}">
                <a16:creationId xmlns:a16="http://schemas.microsoft.com/office/drawing/2014/main" id="{DE494579-4A6B-4666-8682-FD48E1D9EC9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44" name="">
            <a:extLst xmlns:a="http://schemas.openxmlformats.org/drawingml/2006/main">
              <a:ext uri="{FF2B5EF4-FFF2-40B4-BE49-F238E27FC236}">
                <a16:creationId xmlns:a16="http://schemas.microsoft.com/office/drawing/2014/main" id="{31E8C4DC-F008-49B2-B474-CA83F9DAEA1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45" name="">
            <a:extLst xmlns:a="http://schemas.openxmlformats.org/drawingml/2006/main">
              <a:ext uri="{FF2B5EF4-FFF2-40B4-BE49-F238E27FC236}">
                <a16:creationId xmlns:a16="http://schemas.microsoft.com/office/drawing/2014/main" id="{09E4E2E1-9B64-4BEA-8090-B0ACD0EA0C71}"/>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246" name="">
            <a:extLst xmlns:a="http://schemas.openxmlformats.org/drawingml/2006/main">
              <a:ext uri="{FF2B5EF4-FFF2-40B4-BE49-F238E27FC236}">
                <a16:creationId xmlns:a16="http://schemas.microsoft.com/office/drawing/2014/main" id="{D083EF4B-F3B7-4A9E-9B39-DB08562A47D7}"/>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例子3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3 · Operational effect</a:t>
            </a:r>
          </a:p>
        </p:txBody>
      </p:sp>
      <p:sp>
        <p:nvSpPr>
          <p:cNvPr id="247" name="">
            <a:extLst xmlns:a="http://schemas.openxmlformats.org/drawingml/2006/main">
              <a:ext uri="{FF2B5EF4-FFF2-40B4-BE49-F238E27FC236}">
                <a16:creationId xmlns:a16="http://schemas.microsoft.com/office/drawing/2014/main" id="{9AB2DFD7-553A-4416-98BD-938862625DF4}"/>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运行效果（图5.4）</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Operation effect (Figure 5.4)</a:t>
            </a:r>
          </a:p>
        </p:txBody>
      </p:sp>
      <p:sp>
        <p:nvSpPr>
          <p:cNvPr id="248" name="">
            <a:extLst xmlns:a="http://schemas.openxmlformats.org/drawingml/2006/main">
              <a:ext uri="{FF2B5EF4-FFF2-40B4-BE49-F238E27FC236}">
                <a16:creationId xmlns:a16="http://schemas.microsoft.com/office/drawing/2014/main" id="{C8DB2AC0-B727-4E91-88DA-EBA9443A629B}"/>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49" name="">
            <a:extLst xmlns:a="http://schemas.openxmlformats.org/drawingml/2006/main">
              <a:ext uri="{FF2B5EF4-FFF2-40B4-BE49-F238E27FC236}">
                <a16:creationId xmlns:a16="http://schemas.microsoft.com/office/drawing/2014/main" id="{43FC3C54-95CB-4324-A6E2-2517B3B514D9}"/>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同名成员变量被隐藏：子类重新声明的 int weight 隐藏父类的 double weight。</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Member variables with the same name are hidden: the redeclared int weight of the subclass hides the double weight of the parent class.</a:t>
            </a:r>
          </a:p>
        </p:txBody>
      </p:sp>
      <p:pic>
        <p:nvPicPr>
          <p:cNvPr id="260" name=""/>
          <p:cNvPicPr>
            <a:picLocks xmlns:a="http://schemas.openxmlformats.org/drawingml/2006/main" noChangeAspect="1"/>
          </p:cNvPicPr>
          <p:nvPr/>
        </p:nvPicPr>
        <p:blipFill>
          <a:blip xmlns:r="http://schemas.openxmlformats.org/officeDocument/2006/relationships" xmlns:a="http://schemas.openxmlformats.org/drawingml/2006/main" r:embed="Rbf435d2dd8cb4d29"/>
          <a:srcRect xmlns:a="http://schemas.openxmlformats.org/drawingml/2006/main" l="18" t="0" r="18" b="0"/>
          <a:stretch xmlns:a="http://schemas.openxmlformats.org/drawingml/2006/main">
            <a:fillRect l="0" t="0" r="0" b="0"/>
          </a:stretch>
        </p:blipFill>
        <p:spPr>
          <a:xfrm xmlns:a="http://schemas.openxmlformats.org/drawingml/2006/main" rot="0" flipH="0" flipV="0">
            <a:off x="4343400" y="2419350"/>
            <a:ext cx="7239000" cy="2657475"/>
          </a:xfrm>
          <a:prstGeom xmlns:a="http://schemas.openxmlformats.org/drawingml/2006/main" prst="roundRect">
            <a:avLst>
              <a:gd name="adj" fmla="val 2867"/>
            </a:avLst>
          </a:prstGeom>
        </p:spPr>
      </p:pic>
      <p:sp>
        <p:nvSpPr>
          <p:cNvPr id="251" name="">
            <a:extLst xmlns:a="http://schemas.openxmlformats.org/drawingml/2006/main">
              <a:ext uri="{FF2B5EF4-FFF2-40B4-BE49-F238E27FC236}">
                <a16:creationId xmlns:a16="http://schemas.microsoft.com/office/drawing/2014/main" id="{344CE4D9-FD4E-4C3E-A75D-439E82EB24A7}"/>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29 / 87</a:t>
            </a:r>
            <a:endParaRPr/>
          </a:p>
        </p:txBody>
      </p:sp>
    </p:spTree>
    <p:extLst>
      <p:ext uri="{BB962C8B-B14F-4D97-AF65-F5344CB8AC3E}">
        <p14:creationId xmlns:p14="http://schemas.microsoft.com/office/powerpoint/2010/main" val="85937253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87" name="">
            <a:extLst xmlns:a="http://schemas.openxmlformats.org/drawingml/2006/main">
              <a:ext uri="{FF2B5EF4-FFF2-40B4-BE49-F238E27FC236}">
                <a16:creationId xmlns:a16="http://schemas.microsoft.com/office/drawing/2014/main" id="{DE122264-1860-4478-95E3-B82DC95C270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88" name="">
            <a:extLst xmlns:a="http://schemas.openxmlformats.org/drawingml/2006/main">
              <a:ext uri="{FF2B5EF4-FFF2-40B4-BE49-F238E27FC236}">
                <a16:creationId xmlns:a16="http://schemas.microsoft.com/office/drawing/2014/main" id="{A99EA174-6848-4377-A8DF-F47569817F85}"/>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89" name="">
            <a:extLst xmlns:a="http://schemas.openxmlformats.org/drawingml/2006/main">
              <a:ext uri="{FF2B5EF4-FFF2-40B4-BE49-F238E27FC236}">
                <a16:creationId xmlns:a16="http://schemas.microsoft.com/office/drawing/2014/main" id="{33F2CB1E-BCA6-47FB-BE42-92F9237EAC17}"/>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290" name="">
            <a:extLst xmlns:a="http://schemas.openxmlformats.org/drawingml/2006/main">
              <a:ext uri="{FF2B5EF4-FFF2-40B4-BE49-F238E27FC236}">
                <a16:creationId xmlns:a16="http://schemas.microsoft.com/office/drawing/2014/main" id="{1015C3F9-E454-42CB-B7BC-8DFCE7AD7353}"/>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§5.4.2</a:t>
            </a:r>
            <a:endParaRPr/>
          </a:p>
        </p:txBody>
      </p:sp>
      <p:sp>
        <p:nvSpPr>
          <p:cNvPr id="291" name="">
            <a:extLst xmlns:a="http://schemas.openxmlformats.org/drawingml/2006/main">
              <a:ext uri="{FF2B5EF4-FFF2-40B4-BE49-F238E27FC236}">
                <a16:creationId xmlns:a16="http://schemas.microsoft.com/office/drawing/2014/main" id="{2E2CD358-2E6D-46AA-B9E5-485D0E6CAA20}"/>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方法重写（Override）</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Method override (Override)</a:t>
            </a:r>
          </a:p>
        </p:txBody>
      </p:sp>
      <p:sp>
        <p:nvSpPr>
          <p:cNvPr id="292" name="">
            <a:extLst xmlns:a="http://schemas.openxmlformats.org/drawingml/2006/main">
              <a:ext uri="{FF2B5EF4-FFF2-40B4-BE49-F238E27FC236}">
                <a16:creationId xmlns:a16="http://schemas.microsoft.com/office/drawing/2014/main" id="{65F04BC4-A2C6-40A7-96AA-B1CD19446635}"/>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93" name="">
            <a:extLst xmlns:a="http://schemas.openxmlformats.org/drawingml/2006/main">
              <a:ext uri="{FF2B5EF4-FFF2-40B4-BE49-F238E27FC236}">
                <a16:creationId xmlns:a16="http://schemas.microsoft.com/office/drawing/2014/main" id="{485764A2-AC23-400D-80DC-918BDC3A6B56}"/>
              </a:ext>
            </a:extLst>
          </p:cNvPr>
          <p:cNvSpPr>
            <a:spLocks xmlns:a="http://schemas.openxmlformats.org/drawingml/2006/main" noGrp="1"/>
          </p:cNvSpPr>
          <p:nvPr/>
        </p:nvSpPr>
        <p:spPr>
          <a:xfrm xmlns:a="http://schemas.openxmlformats.org/drawingml/2006/main" rot="0" flipH="0" flipV="0">
            <a:off x="457200" y="3190875"/>
            <a:ext cx="3381375" cy="781050"/>
          </a:xfrm>
          <a:prstGeom xmlns:a="http://schemas.openxmlformats.org/drawingml/2006/main" prst="rect">
            <a:avLst/>
          </a:prstGeom>
        </p:spPr>
        <p:txBody>
          <a:bodyPr xmlns:a="http://schemas.openxmlformats.org/drawingml/2006/main" wrap="square" lIns="0" tIns="0" rIns="0" bIns="0">
            <a:normAutofit fontScale="59563"/>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子类通过重写可以隐藏已继承的实例方法。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Subclasses can hide inherited instance methods by overriding them.</a:t>
            </a:r>
          </a:p>
        </p:txBody>
      </p:sp>
      <p:sp>
        <p:nvSpPr>
          <p:cNvPr id="294" name="">
            <a:extLst xmlns:a="http://schemas.openxmlformats.org/drawingml/2006/main">
              <a:ext uri="{FF2B5EF4-FFF2-40B4-BE49-F238E27FC236}">
                <a16:creationId xmlns:a16="http://schemas.microsoft.com/office/drawing/2014/main" id="{5DC60D71-0A9B-48C4-99B3-C9696C1EAAC6}"/>
              </a:ext>
            </a:extLst>
          </p:cNvPr>
          <p:cNvSpPr>
            <a:spLocks xmlns:a="http://schemas.openxmlformats.org/drawingml/2006/main" noGrp="1"/>
          </p:cNvSpPr>
          <p:nvPr/>
        </p:nvSpPr>
        <p:spPr>
          <a:xfrm xmlns:a="http://schemas.openxmlformats.org/drawingml/2006/main" rot="0" flipH="0" flipV="0">
            <a:off x="4238625" y="1828800"/>
            <a:ext cx="2428875" cy="3695700"/>
          </a:xfrm>
          <a:prstGeom xmlns:a="http://schemas.openxmlformats.org/drawingml/2006/main" prst="roundRect">
            <a:avLst>
              <a:gd name="adj" fmla="val 392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295" name="">
            <a:extLst xmlns:a="http://schemas.openxmlformats.org/drawingml/2006/main">
              <a:ext uri="{FF2B5EF4-FFF2-40B4-BE49-F238E27FC236}">
                <a16:creationId xmlns:a16="http://schemas.microsoft.com/office/drawing/2014/main" id="{B1210004-516A-49FE-8570-99442F68BF0C}"/>
              </a:ext>
            </a:extLst>
          </p:cNvPr>
          <p:cNvSpPr>
            <a:spLocks xmlns:a="http://schemas.openxmlformats.org/drawingml/2006/main" noGrp="1"/>
          </p:cNvSpPr>
          <p:nvPr/>
        </p:nvSpPr>
        <p:spPr>
          <a:xfrm xmlns:a="http://schemas.openxmlformats.org/drawingml/2006/main" rot="0" flipH="0" flipV="0">
            <a:off x="4238625" y="1828800"/>
            <a:ext cx="2428875" cy="3695700"/>
          </a:xfrm>
          <a:custGeom xmlns:a="http://schemas.openxmlformats.org/drawingml/2006/main">
            <a:pathLst>
              <a:path w="255" h="388">
                <a:moveTo>
                  <a:pt x="10" y="0"/>
                </a:moveTo>
                <a:cubicBezTo>
                  <a:pt x="8" y="0"/>
                  <a:pt x="6" y="2"/>
                  <a:pt x="6" y="4"/>
                </a:cubicBezTo>
                <a:lnTo>
                  <a:pt x="6" y="384"/>
                </a:lnTo>
                <a:cubicBezTo>
                  <a:pt x="6" y="386"/>
                  <a:pt x="8" y="388"/>
                  <a:pt x="10" y="388"/>
                </a:cubicBezTo>
                <a:cubicBezTo>
                  <a:pt x="4" y="388"/>
                  <a:pt x="0" y="383"/>
                  <a:pt x="0" y="378"/>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96" name="">
            <a:extLst xmlns:a="http://schemas.openxmlformats.org/drawingml/2006/main">
              <a:ext uri="{FF2B5EF4-FFF2-40B4-BE49-F238E27FC236}">
                <a16:creationId xmlns:a16="http://schemas.microsoft.com/office/drawing/2014/main" id="{C42F9E36-35CF-496A-972F-E3D869608319}"/>
              </a:ext>
            </a:extLst>
          </p:cNvPr>
          <p:cNvSpPr>
            <a:spLocks xmlns:a="http://schemas.openxmlformats.org/drawingml/2006/main" noGrp="1"/>
          </p:cNvSpPr>
          <p:nvPr/>
        </p:nvSpPr>
        <p:spPr>
          <a:xfrm xmlns:a="http://schemas.openxmlformats.org/drawingml/2006/main" rot="0" flipH="0" flipV="0">
            <a:off x="4429125" y="1981200"/>
            <a:ext cx="199072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1．重写的语法规则</a:t>
            </a:r>
          </a:p>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1. Rewritten syntax rules</a:t>
            </a:r>
          </a:p>
        </p:txBody>
      </p:sp>
      <p:sp>
        <p:nvSpPr>
          <p:cNvPr id="297" name="">
            <a:extLst xmlns:a="http://schemas.openxmlformats.org/drawingml/2006/main">
              <a:ext uri="{FF2B5EF4-FFF2-40B4-BE49-F238E27FC236}">
                <a16:creationId xmlns:a16="http://schemas.microsoft.com/office/drawing/2014/main" id="{38859E63-3584-4C4E-9551-361BF4ED02DE}"/>
              </a:ext>
            </a:extLst>
          </p:cNvPr>
          <p:cNvSpPr>
            <a:spLocks xmlns:a="http://schemas.openxmlformats.org/drawingml/2006/main" noGrp="1"/>
          </p:cNvSpPr>
          <p:nvPr/>
        </p:nvSpPr>
        <p:spPr>
          <a:xfrm xmlns:a="http://schemas.openxmlformats.org/drawingml/2006/main" rot="0" flipH="0" flipV="0">
            <a:off x="4429125" y="2219325"/>
            <a:ext cx="1990725" cy="828675"/>
          </a:xfrm>
          <a:prstGeom xmlns:a="http://schemas.openxmlformats.org/drawingml/2006/main" prst="rect">
            <a:avLst/>
          </a:prstGeom>
        </p:spPr>
        <p:txBody>
          <a:bodyPr xmlns:a="http://schemas.openxmlformats.org/drawingml/2006/main" wrap="squar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子类继承了父类的实例或静态方法（非 final 的）后，就有权利重写它</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After a subclass inherits an instance or static method (non-final) of the parent class, it has the right to override it.</a:t>
            </a:r>
          </a:p>
        </p:txBody>
      </p:sp>
      <p:sp>
        <p:nvSpPr>
          <p:cNvPr id="298" name="">
            <a:extLst xmlns:a="http://schemas.openxmlformats.org/drawingml/2006/main">
              <a:ext uri="{FF2B5EF4-FFF2-40B4-BE49-F238E27FC236}">
                <a16:creationId xmlns:a16="http://schemas.microsoft.com/office/drawing/2014/main" id="{C1AC07A4-021A-4814-9305-1BAF07CDBA0E}"/>
              </a:ext>
            </a:extLst>
          </p:cNvPr>
          <p:cNvSpPr>
            <a:spLocks xmlns:a="http://schemas.openxmlformats.org/drawingml/2006/main" noGrp="1"/>
          </p:cNvSpPr>
          <p:nvPr/>
        </p:nvSpPr>
        <p:spPr>
          <a:xfrm xmlns:a="http://schemas.openxmlformats.org/drawingml/2006/main" rot="0" flipH="0" flipV="0">
            <a:off x="4429125" y="3086100"/>
            <a:ext cx="1990725" cy="828675"/>
          </a:xfrm>
          <a:prstGeom xmlns:a="http://schemas.openxmlformats.org/drawingml/2006/main" prst="rect">
            <a:avLst/>
          </a:prstGeom>
        </p:spPr>
        <p:txBody>
          <a:bodyPr xmlns:a="http://schemas.openxmlformats.org/drawingml/2006/main" wrap="square" lIns="0" tIns="0" rIns="0" bIns="0">
            <a:normAutofit fontScale="45252"/>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重写方法的名字、参数个数、参数的类型和父类的方法完全相同</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name, number of parameters, and parameter types of the overridden method are exactly the same as the method of the parent class.</a:t>
            </a:r>
          </a:p>
        </p:txBody>
      </p:sp>
      <p:sp>
        <p:nvSpPr>
          <p:cNvPr id="299" name="">
            <a:extLst xmlns:a="http://schemas.openxmlformats.org/drawingml/2006/main">
              <a:ext uri="{FF2B5EF4-FFF2-40B4-BE49-F238E27FC236}">
                <a16:creationId xmlns:a16="http://schemas.microsoft.com/office/drawing/2014/main" id="{05F93FC0-6552-470E-8CD4-9261DB360D97}"/>
              </a:ext>
            </a:extLst>
          </p:cNvPr>
          <p:cNvSpPr>
            <a:spLocks xmlns:a="http://schemas.openxmlformats.org/drawingml/2006/main" noGrp="1"/>
          </p:cNvSpPr>
          <p:nvPr/>
        </p:nvSpPr>
        <p:spPr>
          <a:xfrm xmlns:a="http://schemas.openxmlformats.org/drawingml/2006/main" rot="0" flipH="0" flipV="0">
            <a:off x="4429125" y="3952875"/>
            <a:ext cx="1990725" cy="828675"/>
          </a:xfrm>
          <a:prstGeom xmlns:a="http://schemas.openxmlformats.org/drawingml/2006/main" prst="rect">
            <a:avLst/>
          </a:prstGeom>
        </p:spPr>
        <p:txBody>
          <a:bodyPr xmlns:a="http://schemas.openxmlformats.org/drawingml/2006/main" wrap="squar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返回类型与父类方法的类型一致，或是父类方法返回类型的子类型</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return type is consistent with the type of the parent class method, or a subtype of the return type of the parent class method</a:t>
            </a:r>
          </a:p>
        </p:txBody>
      </p:sp>
      <p:sp>
        <p:nvSpPr>
          <p:cNvPr id="300" name="">
            <a:extLst xmlns:a="http://schemas.openxmlformats.org/drawingml/2006/main">
              <a:ext uri="{FF2B5EF4-FFF2-40B4-BE49-F238E27FC236}">
                <a16:creationId xmlns:a16="http://schemas.microsoft.com/office/drawing/2014/main" id="{0F4ACACB-F928-462A-9846-4A541318A073}"/>
              </a:ext>
            </a:extLst>
          </p:cNvPr>
          <p:cNvSpPr>
            <a:spLocks xmlns:a="http://schemas.openxmlformats.org/drawingml/2006/main" noGrp="1"/>
          </p:cNvSpPr>
          <p:nvPr/>
        </p:nvSpPr>
        <p:spPr>
          <a:xfrm xmlns:a="http://schemas.openxmlformats.org/drawingml/2006/main" rot="0" flipH="0" flipV="0">
            <a:off x="4429125" y="4819650"/>
            <a:ext cx="1990725" cy="552450"/>
          </a:xfrm>
          <a:prstGeom xmlns:a="http://schemas.openxmlformats.org/drawingml/2006/main" prst="rect">
            <a:avLst/>
          </a:prstGeom>
        </p:spPr>
        <p:txBody>
          <a:bodyPr xmlns:a="http://schemas.openxmlformats.org/drawingml/2006/main" wrap="squar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final 方法只能继承，不允许重写</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Final methods can only be inherited and are not allowed to be overridden.</a:t>
            </a:r>
          </a:p>
        </p:txBody>
      </p:sp>
      <p:sp>
        <p:nvSpPr>
          <p:cNvPr id="301" name="">
            <a:extLst xmlns:a="http://schemas.openxmlformats.org/drawingml/2006/main">
              <a:ext uri="{FF2B5EF4-FFF2-40B4-BE49-F238E27FC236}">
                <a16:creationId xmlns:a16="http://schemas.microsoft.com/office/drawing/2014/main" id="{76996E31-C92B-42F7-BF76-EE339CB51905}"/>
              </a:ext>
            </a:extLst>
          </p:cNvPr>
          <p:cNvSpPr>
            <a:spLocks xmlns:a="http://schemas.openxmlformats.org/drawingml/2006/main" noGrp="1"/>
          </p:cNvSpPr>
          <p:nvPr/>
        </p:nvSpPr>
        <p:spPr>
          <a:xfrm xmlns:a="http://schemas.openxmlformats.org/drawingml/2006/main" rot="0" flipH="0" flipV="0">
            <a:off x="6800850" y="1828800"/>
            <a:ext cx="2428875" cy="3695700"/>
          </a:xfrm>
          <a:prstGeom xmlns:a="http://schemas.openxmlformats.org/drawingml/2006/main" prst="roundRect">
            <a:avLst>
              <a:gd name="adj" fmla="val 392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302" name="">
            <a:extLst xmlns:a="http://schemas.openxmlformats.org/drawingml/2006/main">
              <a:ext uri="{FF2B5EF4-FFF2-40B4-BE49-F238E27FC236}">
                <a16:creationId xmlns:a16="http://schemas.microsoft.com/office/drawing/2014/main" id="{C4C01281-2F69-4194-B58B-1CC81FA30251}"/>
              </a:ext>
            </a:extLst>
          </p:cNvPr>
          <p:cNvSpPr>
            <a:spLocks xmlns:a="http://schemas.openxmlformats.org/drawingml/2006/main" noGrp="1"/>
          </p:cNvSpPr>
          <p:nvPr/>
        </p:nvSpPr>
        <p:spPr>
          <a:xfrm xmlns:a="http://schemas.openxmlformats.org/drawingml/2006/main" rot="0" flipH="0" flipV="0">
            <a:off x="6800850" y="1828800"/>
            <a:ext cx="2428875" cy="3695700"/>
          </a:xfrm>
          <a:custGeom xmlns:a="http://schemas.openxmlformats.org/drawingml/2006/main">
            <a:pathLst>
              <a:path w="255" h="388">
                <a:moveTo>
                  <a:pt x="10" y="0"/>
                </a:moveTo>
                <a:cubicBezTo>
                  <a:pt x="8" y="0"/>
                  <a:pt x="6" y="2"/>
                  <a:pt x="6" y="4"/>
                </a:cubicBezTo>
                <a:lnTo>
                  <a:pt x="6" y="384"/>
                </a:lnTo>
                <a:cubicBezTo>
                  <a:pt x="6" y="386"/>
                  <a:pt x="8" y="388"/>
                  <a:pt x="10" y="388"/>
                </a:cubicBezTo>
                <a:cubicBezTo>
                  <a:pt x="4" y="388"/>
                  <a:pt x="0" y="383"/>
                  <a:pt x="0" y="378"/>
                </a:cubicBezTo>
                <a:lnTo>
                  <a:pt x="0" y="10"/>
                </a:lnTo>
                <a:cubicBezTo>
                  <a:pt x="0" y="5"/>
                  <a:pt x="4" y="0"/>
                  <a:pt x="10" y="0"/>
                </a:cubicBezTo>
                <a:close/>
              </a:path>
            </a:pathLst>
          </a:custGeom>
          <a:solidFill xmlns:a="http://schemas.openxmlformats.org/drawingml/2006/main">
            <a:srgbClr val="3D7BD9"/>
          </a:solidFill>
        </p:spPr>
        <p:txBody>
          <a:bodyPr xmlns:a="http://schemas.openxmlformats.org/drawingml/2006/main"/>
          <a:lstStyle xmlns:a="http://schemas.openxmlformats.org/drawingml/2006/main"/>
          <a:p xmlns:a="http://schemas.openxmlformats.org/drawingml/2006/main"/>
        </p:txBody>
      </p:sp>
      <p:sp>
        <p:nvSpPr>
          <p:cNvPr id="303" name="">
            <a:extLst xmlns:a="http://schemas.openxmlformats.org/drawingml/2006/main">
              <a:ext uri="{FF2B5EF4-FFF2-40B4-BE49-F238E27FC236}">
                <a16:creationId xmlns:a16="http://schemas.microsoft.com/office/drawing/2014/main" id="{3DBCC208-0E13-4C2B-8817-564E280BA07F}"/>
              </a:ext>
            </a:extLst>
          </p:cNvPr>
          <p:cNvSpPr>
            <a:spLocks xmlns:a="http://schemas.openxmlformats.org/drawingml/2006/main" noGrp="1"/>
          </p:cNvSpPr>
          <p:nvPr/>
        </p:nvSpPr>
        <p:spPr>
          <a:xfrm xmlns:a="http://schemas.openxmlformats.org/drawingml/2006/main" rot="0" flipH="0" flipV="0">
            <a:off x="6991350" y="1981200"/>
            <a:ext cx="199072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3D7BD9"/>
                </a:solidFill>
                <a:latin typeface="Microsoft YaHei"/>
                <a:ea typeface="Microsoft YaHei"/>
                <a:cs typeface="Microsoft YaHei"/>
              </a:rPr>
              <a:t>2．重写的目的</a:t>
            </a:r>
          </a:p>
          <a:p xmlns:a="http://schemas.openxmlformats.org/drawingml/2006/main">
            <a:pPr marL="0">
              <a:lnSpc>
                <a:spcPct val="100000"/>
              </a:lnSpc>
              <a:spcBef>
                <a:spcPts val="0"/>
              </a:spcBef>
              <a:spcAft>
                <a:spcPts val="0"/>
              </a:spcAft>
              <a:buNone/>
            </a:pPr>
            <a:r>
              <a:rPr sz="2010" b="1">
                <a:solidFill>
                  <a:srgbClr val="3D7BD9"/>
                </a:solidFill>
                <a:latin typeface="Microsoft YaHei"/>
                <a:ea typeface="Microsoft YaHei"/>
                <a:cs typeface="Microsoft YaHei"/>
              </a:rPr>
              <a:t>2. Purpose of rewriting</a:t>
            </a:r>
          </a:p>
        </p:txBody>
      </p:sp>
      <p:sp>
        <p:nvSpPr>
          <p:cNvPr id="304" name="">
            <a:extLst xmlns:a="http://schemas.openxmlformats.org/drawingml/2006/main">
              <a:ext uri="{FF2B5EF4-FFF2-40B4-BE49-F238E27FC236}">
                <a16:creationId xmlns:a16="http://schemas.microsoft.com/office/drawing/2014/main" id="{5B7C4F5A-09E1-41CB-A645-3444CAB57213}"/>
              </a:ext>
            </a:extLst>
          </p:cNvPr>
          <p:cNvSpPr>
            <a:spLocks xmlns:a="http://schemas.openxmlformats.org/drawingml/2006/main" noGrp="1"/>
          </p:cNvSpPr>
          <p:nvPr/>
        </p:nvSpPr>
        <p:spPr>
          <a:xfrm xmlns:a="http://schemas.openxmlformats.org/drawingml/2006/main" rot="0" flipH="0" flipV="0">
            <a:off x="6991350" y="221932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隐藏继承的方法</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Hide inherited methods</a:t>
            </a:r>
          </a:p>
        </p:txBody>
      </p:sp>
      <p:sp>
        <p:nvSpPr>
          <p:cNvPr id="305" name="">
            <a:extLst xmlns:a="http://schemas.openxmlformats.org/drawingml/2006/main">
              <a:ext uri="{FF2B5EF4-FFF2-40B4-BE49-F238E27FC236}">
                <a16:creationId xmlns:a16="http://schemas.microsoft.com/office/drawing/2014/main" id="{37B15871-F6F3-41F8-928A-ECA4461D69A8}"/>
              </a:ext>
            </a:extLst>
          </p:cNvPr>
          <p:cNvSpPr>
            <a:spLocks xmlns:a="http://schemas.openxmlformats.org/drawingml/2006/main" noGrp="1"/>
          </p:cNvSpPr>
          <p:nvPr/>
        </p:nvSpPr>
        <p:spPr>
          <a:xfrm xmlns:a="http://schemas.openxmlformats.org/drawingml/2006/main" rot="0" flipH="0" flipV="0">
            <a:off x="6991350" y="2533650"/>
            <a:ext cx="1990725" cy="552450"/>
          </a:xfrm>
          <a:prstGeom xmlns:a="http://schemas.openxmlformats.org/drawingml/2006/main" prst="rect">
            <a:avLst/>
          </a:prstGeom>
        </p:spPr>
        <p:txBody>
          <a:bodyPr xmlns:a="http://schemas.openxmlformats.org/drawingml/2006/main" wrap="square" lIns="0" tIns="0" rIns="0" bIns="0">
            <a:normAutofit fontScale="41423"/>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把父类的状态和行为改变为自身的状态和行为</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Change the state and behavior of the parent class to its own state and behavior</a:t>
            </a:r>
          </a:p>
        </p:txBody>
      </p:sp>
      <p:sp>
        <p:nvSpPr>
          <p:cNvPr id="306" name="">
            <a:extLst xmlns:a="http://schemas.openxmlformats.org/drawingml/2006/main">
              <a:ext uri="{FF2B5EF4-FFF2-40B4-BE49-F238E27FC236}">
                <a16:creationId xmlns:a16="http://schemas.microsoft.com/office/drawing/2014/main" id="{E8F2D9D2-6B28-4C0E-9ECF-E61B351D10DE}"/>
              </a:ext>
            </a:extLst>
          </p:cNvPr>
          <p:cNvSpPr>
            <a:spLocks xmlns:a="http://schemas.openxmlformats.org/drawingml/2006/main" noGrp="1"/>
          </p:cNvSpPr>
          <p:nvPr/>
        </p:nvSpPr>
        <p:spPr>
          <a:xfrm xmlns:a="http://schemas.openxmlformats.org/drawingml/2006/main" rot="0" flipH="0" flipV="0">
            <a:off x="9363075" y="1828800"/>
            <a:ext cx="2428875" cy="3695700"/>
          </a:xfrm>
          <a:prstGeom xmlns:a="http://schemas.openxmlformats.org/drawingml/2006/main" prst="roundRect">
            <a:avLst>
              <a:gd name="adj" fmla="val 392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307" name="">
            <a:extLst xmlns:a="http://schemas.openxmlformats.org/drawingml/2006/main">
              <a:ext uri="{FF2B5EF4-FFF2-40B4-BE49-F238E27FC236}">
                <a16:creationId xmlns:a16="http://schemas.microsoft.com/office/drawing/2014/main" id="{332F5F77-D407-4C74-B186-7C8D92F70522}"/>
              </a:ext>
            </a:extLst>
          </p:cNvPr>
          <p:cNvSpPr>
            <a:spLocks xmlns:a="http://schemas.openxmlformats.org/drawingml/2006/main" noGrp="1"/>
          </p:cNvSpPr>
          <p:nvPr/>
        </p:nvSpPr>
        <p:spPr>
          <a:xfrm xmlns:a="http://schemas.openxmlformats.org/drawingml/2006/main" rot="0" flipH="0" flipV="0">
            <a:off x="9363075" y="1828800"/>
            <a:ext cx="2428875" cy="3695700"/>
          </a:xfrm>
          <a:custGeom xmlns:a="http://schemas.openxmlformats.org/drawingml/2006/main">
            <a:pathLst>
              <a:path w="255" h="388">
                <a:moveTo>
                  <a:pt x="10" y="0"/>
                </a:moveTo>
                <a:cubicBezTo>
                  <a:pt x="8" y="0"/>
                  <a:pt x="6" y="2"/>
                  <a:pt x="6" y="4"/>
                </a:cubicBezTo>
                <a:lnTo>
                  <a:pt x="6" y="384"/>
                </a:lnTo>
                <a:cubicBezTo>
                  <a:pt x="6" y="386"/>
                  <a:pt x="8" y="388"/>
                  <a:pt x="10" y="388"/>
                </a:cubicBezTo>
                <a:cubicBezTo>
                  <a:pt x="4" y="388"/>
                  <a:pt x="0" y="383"/>
                  <a:pt x="0" y="378"/>
                </a:cubicBezTo>
                <a:lnTo>
                  <a:pt x="0" y="10"/>
                </a:lnTo>
                <a:cubicBezTo>
                  <a:pt x="0" y="5"/>
                  <a:pt x="4" y="0"/>
                  <a:pt x="10"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308" name="">
            <a:extLst xmlns:a="http://schemas.openxmlformats.org/drawingml/2006/main">
              <a:ext uri="{FF2B5EF4-FFF2-40B4-BE49-F238E27FC236}">
                <a16:creationId xmlns:a16="http://schemas.microsoft.com/office/drawing/2014/main" id="{789727F7-00F5-47D8-8FE4-0D69315D5E97}"/>
              </a:ext>
            </a:extLst>
          </p:cNvPr>
          <p:cNvSpPr>
            <a:spLocks xmlns:a="http://schemas.openxmlformats.org/drawingml/2006/main" noGrp="1"/>
          </p:cNvSpPr>
          <p:nvPr/>
        </p:nvSpPr>
        <p:spPr>
          <a:xfrm xmlns:a="http://schemas.openxmlformats.org/drawingml/2006/main" rot="0" flipH="0" flipV="0">
            <a:off x="9553575" y="1981200"/>
            <a:ext cx="199072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3．重写后方法的调用</a:t>
            </a:r>
          </a:p>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3． Calling the method after overriding</a:t>
            </a:r>
          </a:p>
        </p:txBody>
      </p:sp>
      <p:sp>
        <p:nvSpPr>
          <p:cNvPr id="309" name="">
            <a:extLst xmlns:a="http://schemas.openxmlformats.org/drawingml/2006/main">
              <a:ext uri="{FF2B5EF4-FFF2-40B4-BE49-F238E27FC236}">
                <a16:creationId xmlns:a16="http://schemas.microsoft.com/office/drawing/2014/main" id="{C8B64856-6498-46A5-9361-6ED287DC3990}"/>
              </a:ext>
            </a:extLst>
          </p:cNvPr>
          <p:cNvSpPr>
            <a:spLocks xmlns:a="http://schemas.openxmlformats.org/drawingml/2006/main" noGrp="1"/>
          </p:cNvSpPr>
          <p:nvPr/>
        </p:nvSpPr>
        <p:spPr>
          <a:xfrm xmlns:a="http://schemas.openxmlformats.org/drawingml/2006/main" rot="0" flipH="0" flipV="0">
            <a:off x="9553575" y="2219325"/>
            <a:ext cx="1990725" cy="552450"/>
          </a:xfrm>
          <a:prstGeom xmlns:a="http://schemas.openxmlformats.org/drawingml/2006/main" prst="rect">
            <a:avLst/>
          </a:prstGeom>
        </p:spPr>
        <p:txBody>
          <a:bodyPr xmlns:a="http://schemas.openxmlformats.org/drawingml/2006/main" wrap="square" lIns="0" tIns="0" rIns="0" bIns="0">
            <a:normAutofit fontScale="3836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子类重写了父类的方法 → 运行时调用子类重写的方法</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subclass overrides the method of the parent class → calls the method overridden by the subclass at runtime</a:t>
            </a:r>
          </a:p>
        </p:txBody>
      </p:sp>
      <p:sp>
        <p:nvSpPr>
          <p:cNvPr id="310" name="">
            <a:extLst xmlns:a="http://schemas.openxmlformats.org/drawingml/2006/main">
              <a:ext uri="{FF2B5EF4-FFF2-40B4-BE49-F238E27FC236}">
                <a16:creationId xmlns:a16="http://schemas.microsoft.com/office/drawing/2014/main" id="{0EE15618-FDDB-4EAA-92BF-B21331CC7702}"/>
              </a:ext>
            </a:extLst>
          </p:cNvPr>
          <p:cNvSpPr>
            <a:spLocks xmlns:a="http://schemas.openxmlformats.org/drawingml/2006/main" noGrp="1"/>
          </p:cNvSpPr>
          <p:nvPr/>
        </p:nvSpPr>
        <p:spPr>
          <a:xfrm xmlns:a="http://schemas.openxmlformats.org/drawingml/2006/main" rot="0" flipH="0" flipV="0">
            <a:off x="9553575" y="2809875"/>
            <a:ext cx="1990725" cy="552450"/>
          </a:xfrm>
          <a:prstGeom xmlns:a="http://schemas.openxmlformats.org/drawingml/2006/main" prst="rect">
            <a:avLst/>
          </a:prstGeom>
        </p:spPr>
        <p:txBody>
          <a:bodyPr xmlns:a="http://schemas.openxmlformats.org/drawingml/2006/main" wrap="square" lIns="0" tIns="0" rIns="0" bIns="0">
            <a:normAutofit fontScale="3836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子类未重写父类的方法 → 运行时调用子类继承的方法</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subclass does not override the method of the parent class → calls the method inherited by the subclass at runtime</a:t>
            </a:r>
          </a:p>
        </p:txBody>
      </p:sp>
      <p:sp>
        <p:nvSpPr>
          <p:cNvPr id="311" name="">
            <a:extLst xmlns:a="http://schemas.openxmlformats.org/drawingml/2006/main">
              <a:ext uri="{FF2B5EF4-FFF2-40B4-BE49-F238E27FC236}">
                <a16:creationId xmlns:a16="http://schemas.microsoft.com/office/drawing/2014/main" id="{EFE8A32D-7953-4C06-8DC6-62643A95C328}"/>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30 / 87</a:t>
            </a:r>
            <a:endParaRPr/>
          </a:p>
        </p:txBody>
      </p:sp>
    </p:spTree>
    <p:extLst>
      <p:ext uri="{BB962C8B-B14F-4D97-AF65-F5344CB8AC3E}">
        <p14:creationId xmlns:p14="http://schemas.microsoft.com/office/powerpoint/2010/main" val="174721270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313" name="">
            <a:extLst xmlns:a="http://schemas.openxmlformats.org/drawingml/2006/main">
              <a:ext uri="{FF2B5EF4-FFF2-40B4-BE49-F238E27FC236}">
                <a16:creationId xmlns:a16="http://schemas.microsoft.com/office/drawing/2014/main" id="{148D1A64-942A-49DD-A8A6-946B21041481}"/>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14" name="">
            <a:extLst xmlns:a="http://schemas.openxmlformats.org/drawingml/2006/main">
              <a:ext uri="{FF2B5EF4-FFF2-40B4-BE49-F238E27FC236}">
                <a16:creationId xmlns:a16="http://schemas.microsoft.com/office/drawing/2014/main" id="{12C2D077-9A9D-47B9-A649-0F6B2FE5C4F8}"/>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15" name="">
            <a:extLst xmlns:a="http://schemas.openxmlformats.org/drawingml/2006/main">
              <a:ext uri="{FF2B5EF4-FFF2-40B4-BE49-F238E27FC236}">
                <a16:creationId xmlns:a16="http://schemas.microsoft.com/office/drawing/2014/main" id="{FF117EA7-6A6B-426F-AA9A-7D412182C1A6}"/>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316" name="">
            <a:extLst xmlns:a="http://schemas.openxmlformats.org/drawingml/2006/main">
              <a:ext uri="{FF2B5EF4-FFF2-40B4-BE49-F238E27FC236}">
                <a16:creationId xmlns:a16="http://schemas.microsoft.com/office/drawing/2014/main" id="{8508A6B4-4EFF-485D-A3C4-848480BEB6B3}"/>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§5.4.2</a:t>
            </a:r>
            <a:endParaRPr/>
          </a:p>
        </p:txBody>
      </p:sp>
      <p:sp>
        <p:nvSpPr>
          <p:cNvPr id="317" name="">
            <a:extLst xmlns:a="http://schemas.openxmlformats.org/drawingml/2006/main">
              <a:ext uri="{FF2B5EF4-FFF2-40B4-BE49-F238E27FC236}">
                <a16:creationId xmlns:a16="http://schemas.microsoft.com/office/drawing/2014/main" id="{69D7FCF9-5971-48D8-8323-B2C3B7163089}"/>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重写的注意事项</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Notes on rewriting</a:t>
            </a:r>
          </a:p>
        </p:txBody>
      </p:sp>
      <p:sp>
        <p:nvSpPr>
          <p:cNvPr id="318" name="">
            <a:extLst xmlns:a="http://schemas.openxmlformats.org/drawingml/2006/main">
              <a:ext uri="{FF2B5EF4-FFF2-40B4-BE49-F238E27FC236}">
                <a16:creationId xmlns:a16="http://schemas.microsoft.com/office/drawing/2014/main" id="{2A4F1040-0D0C-468D-9C43-4509E594F67F}"/>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19" name="">
            <a:extLst xmlns:a="http://schemas.openxmlformats.org/drawingml/2006/main">
              <a:ext uri="{FF2B5EF4-FFF2-40B4-BE49-F238E27FC236}">
                <a16:creationId xmlns:a16="http://schemas.microsoft.com/office/drawing/2014/main" id="{92CE5C34-D5CA-4BBF-8137-74087C5AFFA1}"/>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58699"/>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重写父类方法时的访问权限与类型约束。</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Access permissions and type constraints when overriding parent class methods.</a:t>
            </a:r>
          </a:p>
        </p:txBody>
      </p:sp>
      <p:sp>
        <p:nvSpPr>
          <p:cNvPr id="320" name="">
            <a:extLst xmlns:a="http://schemas.openxmlformats.org/drawingml/2006/main">
              <a:ext uri="{FF2B5EF4-FFF2-40B4-BE49-F238E27FC236}">
                <a16:creationId xmlns:a16="http://schemas.microsoft.com/office/drawing/2014/main" id="{1606746E-B09D-464B-ADA6-C5008ACF8EDA}"/>
              </a:ext>
            </a:extLst>
          </p:cNvPr>
          <p:cNvSpPr>
            <a:spLocks xmlns:a="http://schemas.openxmlformats.org/drawingml/2006/main" noGrp="1"/>
          </p:cNvSpPr>
          <p:nvPr/>
        </p:nvSpPr>
        <p:spPr>
          <a:xfrm xmlns:a="http://schemas.openxmlformats.org/drawingml/2006/main" rot="0" flipH="0" flipV="0">
            <a:off x="4181475" y="26670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21" name="">
            <a:extLst xmlns:a="http://schemas.openxmlformats.org/drawingml/2006/main">
              <a:ext uri="{FF2B5EF4-FFF2-40B4-BE49-F238E27FC236}">
                <a16:creationId xmlns:a16="http://schemas.microsoft.com/office/drawing/2014/main" id="{0A27C597-7D1A-4517-B6F9-18972F3DA09F}"/>
              </a:ext>
            </a:extLst>
          </p:cNvPr>
          <p:cNvSpPr>
            <a:spLocks xmlns:a="http://schemas.openxmlformats.org/drawingml/2006/main" noGrp="1"/>
          </p:cNvSpPr>
          <p:nvPr/>
        </p:nvSpPr>
        <p:spPr>
          <a:xfrm xmlns:a="http://schemas.openxmlformats.org/drawingml/2006/main" rot="0" flipH="0" flipV="0">
            <a:off x="4371975" y="2552700"/>
            <a:ext cx="7362825" cy="390525"/>
          </a:xfrm>
          <a:prstGeom xmlns:a="http://schemas.openxmlformats.org/drawingml/2006/main" prst="rect">
            <a:avLst/>
          </a:prstGeom>
        </p:spPr>
        <p:txBody>
          <a:bodyPr xmlns:a="http://schemas.openxmlformats.org/drawingml/2006/main" wrap="none" lIns="0" tIns="0" rIns="0" bIns="0">
            <a:normAutofit fontScale="35213"/>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重写父类的方法时，不允许降低方法的访问权限，但可以提高访问权限</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When overriding a method of a parent class, you are not allowed to lower the access rights of the method, but you can increase the access rights.</a:t>
            </a:r>
          </a:p>
        </p:txBody>
      </p:sp>
      <p:sp>
        <p:nvSpPr>
          <p:cNvPr id="322" name="">
            <a:extLst xmlns:a="http://schemas.openxmlformats.org/drawingml/2006/main">
              <a:ext uri="{FF2B5EF4-FFF2-40B4-BE49-F238E27FC236}">
                <a16:creationId xmlns:a16="http://schemas.microsoft.com/office/drawing/2014/main" id="{01EAE0B2-C3A7-4136-B2F8-0D5916FAEF32}"/>
              </a:ext>
            </a:extLst>
          </p:cNvPr>
          <p:cNvSpPr>
            <a:spLocks xmlns:a="http://schemas.openxmlformats.org/drawingml/2006/main" noGrp="1"/>
          </p:cNvSpPr>
          <p:nvPr/>
        </p:nvSpPr>
        <p:spPr>
          <a:xfrm xmlns:a="http://schemas.openxmlformats.org/drawingml/2006/main" rot="0" flipH="0" flipV="0">
            <a:off x="4181475" y="32289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23" name="">
            <a:extLst xmlns:a="http://schemas.openxmlformats.org/drawingml/2006/main">
              <a:ext uri="{FF2B5EF4-FFF2-40B4-BE49-F238E27FC236}">
                <a16:creationId xmlns:a16="http://schemas.microsoft.com/office/drawing/2014/main" id="{09022C5A-F8FE-46C0-9F30-5A497ACCC18E}"/>
              </a:ext>
            </a:extLst>
          </p:cNvPr>
          <p:cNvSpPr>
            <a:spLocks xmlns:a="http://schemas.openxmlformats.org/drawingml/2006/main" noGrp="1"/>
          </p:cNvSpPr>
          <p:nvPr/>
        </p:nvSpPr>
        <p:spPr>
          <a:xfrm xmlns:a="http://schemas.openxmlformats.org/drawingml/2006/main" rot="0" flipH="0" flipV="0">
            <a:off x="4371975" y="3114675"/>
            <a:ext cx="7362825" cy="390525"/>
          </a:xfrm>
          <a:prstGeom xmlns:a="http://schemas.openxmlformats.org/drawingml/2006/main" prst="rect">
            <a:avLst/>
          </a:prstGeom>
        </p:spPr>
        <p:txBody>
          <a:bodyPr xmlns:a="http://schemas.openxmlformats.org/drawingml/2006/main" wrap="none" lIns="0" tIns="0" rIns="0" bIns="0">
            <a:normAutofit fontScale="4591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访问限制修饰符按访问权限从高到低排列：public、protected、友好的、private</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Access restriction modifiers are arranged in descending order of access rights: public, protected, friendly, private</a:t>
            </a:r>
          </a:p>
        </p:txBody>
      </p:sp>
      <p:sp>
        <p:nvSpPr>
          <p:cNvPr id="324" name="">
            <a:extLst xmlns:a="http://schemas.openxmlformats.org/drawingml/2006/main">
              <a:ext uri="{FF2B5EF4-FFF2-40B4-BE49-F238E27FC236}">
                <a16:creationId xmlns:a16="http://schemas.microsoft.com/office/drawing/2014/main" id="{78FAE883-1C61-4256-90BC-2295348546CA}"/>
              </a:ext>
            </a:extLst>
          </p:cNvPr>
          <p:cNvSpPr>
            <a:spLocks xmlns:a="http://schemas.openxmlformats.org/drawingml/2006/main" noGrp="1"/>
          </p:cNvSpPr>
          <p:nvPr/>
        </p:nvSpPr>
        <p:spPr>
          <a:xfrm xmlns:a="http://schemas.openxmlformats.org/drawingml/2006/main" rot="0" flipH="0" flipV="0">
            <a:off x="4181475" y="37909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25" name="">
            <a:extLst xmlns:a="http://schemas.openxmlformats.org/drawingml/2006/main">
              <a:ext uri="{FF2B5EF4-FFF2-40B4-BE49-F238E27FC236}">
                <a16:creationId xmlns:a16="http://schemas.microsoft.com/office/drawing/2014/main" id="{4F11C4DA-C57B-448D-BA1F-0D9015A7D845}"/>
              </a:ext>
            </a:extLst>
          </p:cNvPr>
          <p:cNvSpPr>
            <a:spLocks xmlns:a="http://schemas.openxmlformats.org/drawingml/2006/main" noGrp="1"/>
          </p:cNvSpPr>
          <p:nvPr/>
        </p:nvSpPr>
        <p:spPr>
          <a:xfrm xmlns:a="http://schemas.openxmlformats.org/drawingml/2006/main" rot="0" flipH="0" flipV="0">
            <a:off x="4371975" y="3676650"/>
            <a:ext cx="7362825" cy="390525"/>
          </a:xfrm>
          <a:prstGeom xmlns:a="http://schemas.openxmlformats.org/drawingml/2006/main" prst="rect">
            <a:avLst/>
          </a:prstGeom>
        </p:spPr>
        <p:txBody>
          <a:bodyPr xmlns:a="http://schemas.openxmlformats.org/drawingml/2006/main" wrap="none" lIns="0" tIns="0" rIns="0" bIns="0">
            <a:normAutofit fontScale="3848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不允许把实例方法重写为静态方法，也不允许把静态方法重写为实例方法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It is not allowed to override instance methods as static methods, and it is not allowed to override static methods as instance methods.</a:t>
            </a:r>
          </a:p>
        </p:txBody>
      </p:sp>
      <p:sp>
        <p:nvSpPr>
          <p:cNvPr id="326" name="">
            <a:extLst xmlns:a="http://schemas.openxmlformats.org/drawingml/2006/main">
              <a:ext uri="{FF2B5EF4-FFF2-40B4-BE49-F238E27FC236}">
                <a16:creationId xmlns:a16="http://schemas.microsoft.com/office/drawing/2014/main" id="{EDB277F2-7FE3-4E65-B7A7-9828E8154329}"/>
              </a:ext>
            </a:extLst>
          </p:cNvPr>
          <p:cNvSpPr>
            <a:spLocks xmlns:a="http://schemas.openxmlformats.org/drawingml/2006/main" noGrp="1"/>
          </p:cNvSpPr>
          <p:nvPr/>
        </p:nvSpPr>
        <p:spPr>
          <a:xfrm xmlns:a="http://schemas.openxmlformats.org/drawingml/2006/main" rot="0" flipH="0" flipV="0">
            <a:off x="4181475" y="4238625"/>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327" name="">
            <a:extLst xmlns:a="http://schemas.openxmlformats.org/drawingml/2006/main">
              <a:ext uri="{FF2B5EF4-FFF2-40B4-BE49-F238E27FC236}">
                <a16:creationId xmlns:a16="http://schemas.microsoft.com/office/drawing/2014/main" id="{D4F8FEF1-16B9-41E1-AA8A-4DD5490A8B21}"/>
              </a:ext>
            </a:extLst>
          </p:cNvPr>
          <p:cNvSpPr>
            <a:spLocks xmlns:a="http://schemas.openxmlformats.org/drawingml/2006/main" noGrp="1"/>
          </p:cNvSpPr>
          <p:nvPr/>
        </p:nvSpPr>
        <p:spPr>
          <a:xfrm xmlns:a="http://schemas.openxmlformats.org/drawingml/2006/main" rot="0" flipH="0" flipV="0">
            <a:off x="4371975" y="4371975"/>
            <a:ext cx="7172325" cy="295275"/>
          </a:xfrm>
          <a:prstGeom xmlns:a="http://schemas.openxmlformats.org/drawingml/2006/main" prst="rect">
            <a:avLst/>
          </a:prstGeom>
        </p:spPr>
        <p:txBody>
          <a:bodyPr xmlns:a="http://schemas.openxmlformats.org/drawingml/2006/main" wrap="none" lIns="0" tIns="0" rIns="0" bIns="0">
            <a:normAutofit fontScale="47879"/>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例子4 中，ImportantUniversity 是 University 的子类，子类重写了父类的 enterRule() 方法。</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In Example 4, ImportantUniversity is a subclass of University, and the subclass overrides the enterRule() method of the parent class.</a:t>
            </a:r>
          </a:p>
        </p:txBody>
      </p:sp>
      <p:sp>
        <p:nvSpPr>
          <p:cNvPr id="328" name="">
            <a:extLst xmlns:a="http://schemas.openxmlformats.org/drawingml/2006/main">
              <a:ext uri="{FF2B5EF4-FFF2-40B4-BE49-F238E27FC236}">
                <a16:creationId xmlns:a16="http://schemas.microsoft.com/office/drawing/2014/main" id="{8F69F923-7DB4-4F1B-A9DF-E7D1C6C9EBA0}"/>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31 / 87</a:t>
            </a:r>
            <a:endParaRPr/>
          </a:p>
        </p:txBody>
      </p:sp>
    </p:spTree>
    <p:extLst>
      <p:ext uri="{BB962C8B-B14F-4D97-AF65-F5344CB8AC3E}">
        <p14:creationId xmlns:p14="http://schemas.microsoft.com/office/powerpoint/2010/main" val="74632702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330" name="">
            <a:extLst xmlns:a="http://schemas.openxmlformats.org/drawingml/2006/main">
              <a:ext uri="{FF2B5EF4-FFF2-40B4-BE49-F238E27FC236}">
                <a16:creationId xmlns:a16="http://schemas.microsoft.com/office/drawing/2014/main" id="{25771866-266B-44D4-A8A8-20CE2CA3E55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31" name="">
            <a:extLst xmlns:a="http://schemas.openxmlformats.org/drawingml/2006/main">
              <a:ext uri="{FF2B5EF4-FFF2-40B4-BE49-F238E27FC236}">
                <a16:creationId xmlns:a16="http://schemas.microsoft.com/office/drawing/2014/main" id="{98856D44-6857-42A5-9E7A-70E043B8EB3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32" name="">
            <a:extLst xmlns:a="http://schemas.openxmlformats.org/drawingml/2006/main">
              <a:ext uri="{FF2B5EF4-FFF2-40B4-BE49-F238E27FC236}">
                <a16:creationId xmlns:a16="http://schemas.microsoft.com/office/drawing/2014/main" id="{6E635ED9-D4A1-4E00-9C9E-53CB03A17E86}"/>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333" name="">
            <a:extLst xmlns:a="http://schemas.openxmlformats.org/drawingml/2006/main">
              <a:ext uri="{FF2B5EF4-FFF2-40B4-BE49-F238E27FC236}">
                <a16:creationId xmlns:a16="http://schemas.microsoft.com/office/drawing/2014/main" id="{7C0DD47F-BAF6-40E2-A636-726F91816EE5}"/>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例子4</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4</a:t>
            </a:r>
          </a:p>
        </p:txBody>
      </p:sp>
      <p:sp>
        <p:nvSpPr>
          <p:cNvPr id="334" name="">
            <a:extLst xmlns:a="http://schemas.openxmlformats.org/drawingml/2006/main">
              <a:ext uri="{FF2B5EF4-FFF2-40B4-BE49-F238E27FC236}">
                <a16:creationId xmlns:a16="http://schemas.microsoft.com/office/drawing/2014/main" id="{40EDB772-BF3C-4010-A363-E6A4819C1CA4}"/>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University 类（父类）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University class (parent class)</a:t>
            </a:r>
          </a:p>
        </p:txBody>
      </p:sp>
      <p:sp>
        <p:nvSpPr>
          <p:cNvPr id="335" name="">
            <a:extLst xmlns:a="http://schemas.openxmlformats.org/drawingml/2006/main">
              <a:ext uri="{FF2B5EF4-FFF2-40B4-BE49-F238E27FC236}">
                <a16:creationId xmlns:a16="http://schemas.microsoft.com/office/drawing/2014/main" id="{DB8602C4-1919-449C-9C4C-0458D30E8B69}"/>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36" name="">
            <a:extLst xmlns:a="http://schemas.openxmlformats.org/drawingml/2006/main">
              <a:ext uri="{FF2B5EF4-FFF2-40B4-BE49-F238E27FC236}">
                <a16:creationId xmlns:a16="http://schemas.microsoft.com/office/drawing/2014/main" id="{DE1F97D6-7D51-406E-B8E4-A50C94A21191}"/>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4526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enterRule() 按总分 180 判断是否达到大学最低录取线。</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enterRule() uses a total score of 180 to determine whether the student has reached the minimum admission level of the university.</a:t>
            </a:r>
          </a:p>
        </p:txBody>
      </p:sp>
      <p:pic>
        <p:nvPicPr>
          <p:cNvPr id="347" name=""/>
          <p:cNvPicPr>
            <a:picLocks xmlns:a="http://schemas.openxmlformats.org/drawingml/2006/main" noChangeAspect="1"/>
          </p:cNvPicPr>
          <p:nvPr/>
        </p:nvPicPr>
        <p:blipFill>
          <a:blip xmlns:r="http://schemas.openxmlformats.org/officeDocument/2006/relationships" xmlns:a="http://schemas.openxmlformats.org/drawingml/2006/main" r:embed="R8ef5e1463bd64f4d"/>
          <a:srcRect xmlns:a="http://schemas.openxmlformats.org/drawingml/2006/main" l="0" t="25" r="0" b="25"/>
          <a:stretch xmlns:a="http://schemas.openxmlformats.org/drawingml/2006/main">
            <a:fillRect l="0" t="0" r="0" b="0"/>
          </a:stretch>
        </p:blipFill>
        <p:spPr>
          <a:xfrm xmlns:a="http://schemas.openxmlformats.org/drawingml/2006/main" rot="0" flipH="0" flipV="0">
            <a:off x="4143375" y="2171700"/>
            <a:ext cx="7591425" cy="2971800"/>
          </a:xfrm>
          <a:prstGeom xmlns:a="http://schemas.openxmlformats.org/drawingml/2006/main" prst="roundRect">
            <a:avLst>
              <a:gd name="adj" fmla="val 3846"/>
            </a:avLst>
          </a:prstGeom>
          <a:effectLst xmlns:a="http://schemas.openxmlformats.org/drawingml/2006/main">
            <a:outerShdw blurRad="152400" dist="38100" dir="5400000">
              <a:srgbClr val="0F1C2E">
                <a:alpha val="8000"/>
              </a:srgbClr>
            </a:outerShdw>
          </a:effectLst>
        </p:spPr>
      </p:pic>
      <p:sp>
        <p:nvSpPr>
          <p:cNvPr id="338" name="">
            <a:extLst xmlns:a="http://schemas.openxmlformats.org/drawingml/2006/main">
              <a:ext uri="{FF2B5EF4-FFF2-40B4-BE49-F238E27FC236}">
                <a16:creationId xmlns:a16="http://schemas.microsoft.com/office/drawing/2014/main" id="{9257FDD3-E252-410F-A801-8E66B1EE90D3}"/>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32 / 87</a:t>
            </a:r>
            <a:endParaRPr/>
          </a:p>
        </p:txBody>
      </p:sp>
    </p:spTree>
    <p:extLst>
      <p:ext uri="{BB962C8B-B14F-4D97-AF65-F5344CB8AC3E}">
        <p14:creationId xmlns:p14="http://schemas.microsoft.com/office/powerpoint/2010/main" val="198615203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340" name="">
            <a:extLst xmlns:a="http://schemas.openxmlformats.org/drawingml/2006/main">
              <a:ext uri="{FF2B5EF4-FFF2-40B4-BE49-F238E27FC236}">
                <a16:creationId xmlns:a16="http://schemas.microsoft.com/office/drawing/2014/main" id="{F5E462F7-2896-4B55-BAE4-BE9BA736289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41" name="">
            <a:extLst xmlns:a="http://schemas.openxmlformats.org/drawingml/2006/main">
              <a:ext uri="{FF2B5EF4-FFF2-40B4-BE49-F238E27FC236}">
                <a16:creationId xmlns:a16="http://schemas.microsoft.com/office/drawing/2014/main" id="{E5531140-3E41-4B1B-A6FC-949DDD122A09}"/>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42" name="">
            <a:extLst xmlns:a="http://schemas.openxmlformats.org/drawingml/2006/main">
              <a:ext uri="{FF2B5EF4-FFF2-40B4-BE49-F238E27FC236}">
                <a16:creationId xmlns:a16="http://schemas.microsoft.com/office/drawing/2014/main" id="{38EFF902-6E06-428D-8384-4EDAD7DF712F}"/>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343" name="">
            <a:extLst xmlns:a="http://schemas.openxmlformats.org/drawingml/2006/main">
              <a:ext uri="{FF2B5EF4-FFF2-40B4-BE49-F238E27FC236}">
                <a16:creationId xmlns:a16="http://schemas.microsoft.com/office/drawing/2014/main" id="{1FD1D0C5-7B2D-4203-B085-38C266D19343}"/>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例子4</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4</a:t>
            </a:r>
          </a:p>
        </p:txBody>
      </p:sp>
      <p:sp>
        <p:nvSpPr>
          <p:cNvPr id="344" name="">
            <a:extLst xmlns:a="http://schemas.openxmlformats.org/drawingml/2006/main">
              <a:ext uri="{FF2B5EF4-FFF2-40B4-BE49-F238E27FC236}">
                <a16:creationId xmlns:a16="http://schemas.microsoft.com/office/drawing/2014/main" id="{8EF830EB-6F87-4152-BBE9-0C599873BCEE}"/>
              </a:ext>
            </a:extLst>
          </p:cNvPr>
          <p:cNvSpPr>
            <a:spLocks xmlns:a="http://schemas.openxmlformats.org/drawingml/2006/main" noGrp="1"/>
          </p:cNvSpPr>
          <p:nvPr/>
        </p:nvSpPr>
        <p:spPr>
          <a:xfrm xmlns:a="http://schemas.openxmlformats.org/drawingml/2006/main" rot="0" flipH="0" flipV="0">
            <a:off x="457200" y="1562100"/>
            <a:ext cx="3905250" cy="1104900"/>
          </a:xfrm>
          <a:prstGeom xmlns:a="http://schemas.openxmlformats.org/drawingml/2006/main" prst="rect">
            <a:avLst/>
          </a:prstGeom>
        </p:spPr>
        <p:txBody>
          <a:bodyPr xmlns:a="http://schemas.openxmlformats.org/drawingml/2006/main" wrap="square" lIns="0" tIns="0" rIns="0" bIns="0">
            <a:normAutofit fontScale="41955"/>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ImportantUniversity 类（子类）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ImportantUniversity class (subclass)</a:t>
            </a:r>
          </a:p>
        </p:txBody>
      </p:sp>
      <p:sp>
        <p:nvSpPr>
          <p:cNvPr id="345" name="">
            <a:extLst xmlns:a="http://schemas.openxmlformats.org/drawingml/2006/main">
              <a:ext uri="{FF2B5EF4-FFF2-40B4-BE49-F238E27FC236}">
                <a16:creationId xmlns:a16="http://schemas.microsoft.com/office/drawing/2014/main" id="{137EAE1C-0054-4041-8732-CB51836AEA84}"/>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46" name="">
            <a:extLst xmlns:a="http://schemas.openxmlformats.org/drawingml/2006/main">
              <a:ext uri="{FF2B5EF4-FFF2-40B4-BE49-F238E27FC236}">
                <a16:creationId xmlns:a16="http://schemas.microsoft.com/office/drawing/2014/main" id="{6B50E755-2652-476F-8EFD-EA6EEFD60498}"/>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重写 enterRule()，按总分 220 判断是否达到重点大学录取线。</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Rewrite enterRule() to determine whether the admission score of key universities is reached based on the total score of 220.</a:t>
            </a:r>
          </a:p>
        </p:txBody>
      </p:sp>
      <p:pic>
        <p:nvPicPr>
          <p:cNvPr id="357" name=""/>
          <p:cNvPicPr>
            <a:picLocks xmlns:a="http://schemas.openxmlformats.org/drawingml/2006/main" noChangeAspect="1"/>
          </p:cNvPicPr>
          <p:nvPr/>
        </p:nvPicPr>
        <p:blipFill>
          <a:blip xmlns:r="http://schemas.openxmlformats.org/officeDocument/2006/relationships" xmlns:a="http://schemas.openxmlformats.org/drawingml/2006/main" r:embed="Rbde165a11ea846bb"/>
          <a:srcRect xmlns:a="http://schemas.openxmlformats.org/drawingml/2006/main" l="0" t="25" r="0" b="25"/>
          <a:stretch xmlns:a="http://schemas.openxmlformats.org/drawingml/2006/main">
            <a:fillRect l="0" t="0" r="0" b="0"/>
          </a:stretch>
        </p:blipFill>
        <p:spPr>
          <a:xfrm xmlns:a="http://schemas.openxmlformats.org/drawingml/2006/main" rot="0" flipH="0" flipV="0">
            <a:off x="4143375" y="2171700"/>
            <a:ext cx="7591425" cy="2971800"/>
          </a:xfrm>
          <a:prstGeom xmlns:a="http://schemas.openxmlformats.org/drawingml/2006/main" prst="roundRect">
            <a:avLst>
              <a:gd name="adj" fmla="val 3846"/>
            </a:avLst>
          </a:prstGeom>
          <a:effectLst xmlns:a="http://schemas.openxmlformats.org/drawingml/2006/main">
            <a:outerShdw blurRad="152400" dist="38100" dir="5400000">
              <a:srgbClr val="0F1C2E">
                <a:alpha val="8000"/>
              </a:srgbClr>
            </a:outerShdw>
          </a:effectLst>
        </p:spPr>
      </p:pic>
      <p:sp>
        <p:nvSpPr>
          <p:cNvPr id="348" name="">
            <a:extLst xmlns:a="http://schemas.openxmlformats.org/drawingml/2006/main">
              <a:ext uri="{FF2B5EF4-FFF2-40B4-BE49-F238E27FC236}">
                <a16:creationId xmlns:a16="http://schemas.microsoft.com/office/drawing/2014/main" id="{25E87FDF-5658-41C8-BB34-1A57F8A692F0}"/>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33 / 87</a:t>
            </a:r>
            <a:endParaRPr/>
          </a:p>
        </p:txBody>
      </p:sp>
    </p:spTree>
    <p:extLst>
      <p:ext uri="{BB962C8B-B14F-4D97-AF65-F5344CB8AC3E}">
        <p14:creationId xmlns:p14="http://schemas.microsoft.com/office/powerpoint/2010/main" val="1658707056"/>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350" name="">
            <a:extLst xmlns:a="http://schemas.openxmlformats.org/drawingml/2006/main">
              <a:ext uri="{FF2B5EF4-FFF2-40B4-BE49-F238E27FC236}">
                <a16:creationId xmlns:a16="http://schemas.microsoft.com/office/drawing/2014/main" id="{0BC795D0-C754-49B9-90BD-5F2F3A3011B9}"/>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51" name="">
            <a:extLst xmlns:a="http://schemas.openxmlformats.org/drawingml/2006/main">
              <a:ext uri="{FF2B5EF4-FFF2-40B4-BE49-F238E27FC236}">
                <a16:creationId xmlns:a16="http://schemas.microsoft.com/office/drawing/2014/main" id="{930E3B5B-A9F1-42B1-9C52-2E94AE4EB320}"/>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52" name="">
            <a:extLst xmlns:a="http://schemas.openxmlformats.org/drawingml/2006/main">
              <a:ext uri="{FF2B5EF4-FFF2-40B4-BE49-F238E27FC236}">
                <a16:creationId xmlns:a16="http://schemas.microsoft.com/office/drawing/2014/main" id="{A58ED613-AF21-40EA-9EDC-97786DA4273A}"/>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353" name="">
            <a:extLst xmlns:a="http://schemas.openxmlformats.org/drawingml/2006/main">
              <a:ext uri="{FF2B5EF4-FFF2-40B4-BE49-F238E27FC236}">
                <a16:creationId xmlns:a16="http://schemas.microsoft.com/office/drawing/2014/main" id="{39A11AEC-2921-490F-B894-3F4D45B10186}"/>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例子4</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4</a:t>
            </a:r>
          </a:p>
        </p:txBody>
      </p:sp>
      <p:sp>
        <p:nvSpPr>
          <p:cNvPr id="354" name="">
            <a:extLst xmlns:a="http://schemas.openxmlformats.org/drawingml/2006/main">
              <a:ext uri="{FF2B5EF4-FFF2-40B4-BE49-F238E27FC236}">
                <a16:creationId xmlns:a16="http://schemas.microsoft.com/office/drawing/2014/main" id="{871894AD-533F-4D7D-8209-89E910D8225F}"/>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Example5_4（主类）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Example5_4 (main class)</a:t>
            </a:r>
          </a:p>
        </p:txBody>
      </p:sp>
      <p:sp>
        <p:nvSpPr>
          <p:cNvPr id="355" name="">
            <a:extLst xmlns:a="http://schemas.openxmlformats.org/drawingml/2006/main">
              <a:ext uri="{FF2B5EF4-FFF2-40B4-BE49-F238E27FC236}">
                <a16:creationId xmlns:a16="http://schemas.microsoft.com/office/drawing/2014/main" id="{4FA3C2AA-9908-4D87-BBFD-8176C0E45325}"/>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56" name="">
            <a:extLst xmlns:a="http://schemas.openxmlformats.org/drawingml/2006/main">
              <a:ext uri="{FF2B5EF4-FFF2-40B4-BE49-F238E27FC236}">
                <a16:creationId xmlns:a16="http://schemas.microsoft.com/office/drawing/2014/main" id="{AC91A9EE-42AC-4673-972D-2B0698C1C58E}"/>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4926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同样的方法名，子类对象调用的是子类重写后的版本。</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For the same method name, the subclass object calls the rewritten version of the subclass.</a:t>
            </a:r>
          </a:p>
        </p:txBody>
      </p:sp>
      <p:pic>
        <p:nvPicPr>
          <p:cNvPr id="367" name=""/>
          <p:cNvPicPr>
            <a:picLocks xmlns:a="http://schemas.openxmlformats.org/drawingml/2006/main" noChangeAspect="1"/>
          </p:cNvPicPr>
          <p:nvPr/>
        </p:nvPicPr>
        <p:blipFill>
          <a:blip xmlns:r="http://schemas.openxmlformats.org/officeDocument/2006/relationships" xmlns:a="http://schemas.openxmlformats.org/drawingml/2006/main" r:embed="Rf5687b593eb14f89"/>
          <a:srcRect xmlns:a="http://schemas.openxmlformats.org/drawingml/2006/main" l="0" t="22" r="0" b="22"/>
          <a:stretch xmlns:a="http://schemas.openxmlformats.org/drawingml/2006/main">
            <a:fillRect l="0" t="0" r="0" b="0"/>
          </a:stretch>
        </p:blipFill>
        <p:spPr>
          <a:xfrm xmlns:a="http://schemas.openxmlformats.org/drawingml/2006/main" rot="0" flipH="0" flipV="0">
            <a:off x="4143375" y="1704975"/>
            <a:ext cx="7591425" cy="3905250"/>
          </a:xfrm>
          <a:prstGeom xmlns:a="http://schemas.openxmlformats.org/drawingml/2006/main" prst="roundRect">
            <a:avLst>
              <a:gd name="adj" fmla="val 2927"/>
            </a:avLst>
          </a:prstGeom>
          <a:effectLst xmlns:a="http://schemas.openxmlformats.org/drawingml/2006/main">
            <a:outerShdw blurRad="152400" dist="38100" dir="5400000">
              <a:srgbClr val="0F1C2E">
                <a:alpha val="8000"/>
              </a:srgbClr>
            </a:outerShdw>
          </a:effectLst>
        </p:spPr>
      </p:pic>
      <p:sp>
        <p:nvSpPr>
          <p:cNvPr id="358" name="">
            <a:extLst xmlns:a="http://schemas.openxmlformats.org/drawingml/2006/main">
              <a:ext uri="{FF2B5EF4-FFF2-40B4-BE49-F238E27FC236}">
                <a16:creationId xmlns:a16="http://schemas.microsoft.com/office/drawing/2014/main" id="{3252FB1C-F9F9-41A3-B24D-E9941A6781E8}"/>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34 / 87</a:t>
            </a:r>
            <a:endParaRPr/>
          </a:p>
        </p:txBody>
      </p:sp>
    </p:spTree>
    <p:extLst>
      <p:ext uri="{BB962C8B-B14F-4D97-AF65-F5344CB8AC3E}">
        <p14:creationId xmlns:p14="http://schemas.microsoft.com/office/powerpoint/2010/main" val="1501418906"/>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360" name="">
            <a:extLst xmlns:a="http://schemas.openxmlformats.org/drawingml/2006/main">
              <a:ext uri="{FF2B5EF4-FFF2-40B4-BE49-F238E27FC236}">
                <a16:creationId xmlns:a16="http://schemas.microsoft.com/office/drawing/2014/main" id="{9F8A827E-6374-46B4-8106-0041EF5D7DC5}"/>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61" name="">
            <a:extLst xmlns:a="http://schemas.openxmlformats.org/drawingml/2006/main">
              <a:ext uri="{FF2B5EF4-FFF2-40B4-BE49-F238E27FC236}">
                <a16:creationId xmlns:a16="http://schemas.microsoft.com/office/drawing/2014/main" id="{6F1A4CA2-B703-4917-A0F1-6D96365D97E3}"/>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62" name="">
            <a:extLst xmlns:a="http://schemas.openxmlformats.org/drawingml/2006/main">
              <a:ext uri="{FF2B5EF4-FFF2-40B4-BE49-F238E27FC236}">
                <a16:creationId xmlns:a16="http://schemas.microsoft.com/office/drawing/2014/main" id="{4E3412F2-CD42-4000-B680-8903309FDA49}"/>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363" name="">
            <a:extLst xmlns:a="http://schemas.openxmlformats.org/drawingml/2006/main">
              <a:ext uri="{FF2B5EF4-FFF2-40B4-BE49-F238E27FC236}">
                <a16:creationId xmlns:a16="http://schemas.microsoft.com/office/drawing/2014/main" id="{03FF1066-9924-488C-BCFC-F57586151141}"/>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例子4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4·Operation effect</a:t>
            </a:r>
          </a:p>
        </p:txBody>
      </p:sp>
      <p:sp>
        <p:nvSpPr>
          <p:cNvPr id="364" name="">
            <a:extLst xmlns:a="http://schemas.openxmlformats.org/drawingml/2006/main">
              <a:ext uri="{FF2B5EF4-FFF2-40B4-BE49-F238E27FC236}">
                <a16:creationId xmlns:a16="http://schemas.microsoft.com/office/drawing/2014/main" id="{3F6147AB-33D6-47CA-84C3-9B9040D85A10}"/>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运行效果（图5.5）</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Operation effect (Figure 5.5)</a:t>
            </a:r>
          </a:p>
        </p:txBody>
      </p:sp>
      <p:sp>
        <p:nvSpPr>
          <p:cNvPr id="365" name="">
            <a:extLst xmlns:a="http://schemas.openxmlformats.org/drawingml/2006/main">
              <a:ext uri="{FF2B5EF4-FFF2-40B4-BE49-F238E27FC236}">
                <a16:creationId xmlns:a16="http://schemas.microsoft.com/office/drawing/2014/main" id="{C0EF4171-21CF-4E20-BB5F-FE7E60374445}"/>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66" name="">
            <a:extLst xmlns:a="http://schemas.openxmlformats.org/drawingml/2006/main">
              <a:ext uri="{FF2B5EF4-FFF2-40B4-BE49-F238E27FC236}">
                <a16:creationId xmlns:a16="http://schemas.microsoft.com/office/drawing/2014/main" id="{9470CBDA-2E5E-44A8-BCB9-1ADBDC1A2604}"/>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53747"/>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重写后调用的是子类的方法，录取线判定不同。</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After rewriting, the method of the subclass is called, and the admission line judgment is different.</a:t>
            </a:r>
          </a:p>
        </p:txBody>
      </p:sp>
      <p:pic>
        <p:nvPicPr>
          <p:cNvPr id="377" name=""/>
          <p:cNvPicPr>
            <a:picLocks xmlns:a="http://schemas.openxmlformats.org/drawingml/2006/main" noChangeAspect="1"/>
          </p:cNvPicPr>
          <p:nvPr/>
        </p:nvPicPr>
        <p:blipFill>
          <a:blip xmlns:r="http://schemas.openxmlformats.org/officeDocument/2006/relationships" xmlns:a="http://schemas.openxmlformats.org/drawingml/2006/main" r:embed="R1f953525cfbd4545"/>
          <a:srcRect xmlns:a="http://schemas.openxmlformats.org/drawingml/2006/main" l="0" t="32" r="0" b="32"/>
          <a:stretch xmlns:a="http://schemas.openxmlformats.org/drawingml/2006/main">
            <a:fillRect l="0" t="0" r="0" b="0"/>
          </a:stretch>
        </p:blipFill>
        <p:spPr>
          <a:xfrm xmlns:a="http://schemas.openxmlformats.org/drawingml/2006/main" rot="0" flipH="0" flipV="0">
            <a:off x="4343400" y="2419350"/>
            <a:ext cx="7239000" cy="2657475"/>
          </a:xfrm>
          <a:prstGeom xmlns:a="http://schemas.openxmlformats.org/drawingml/2006/main" prst="roundRect">
            <a:avLst>
              <a:gd name="adj" fmla="val 2867"/>
            </a:avLst>
          </a:prstGeom>
        </p:spPr>
      </p:pic>
      <p:sp>
        <p:nvSpPr>
          <p:cNvPr id="368" name="">
            <a:extLst xmlns:a="http://schemas.openxmlformats.org/drawingml/2006/main">
              <a:ext uri="{FF2B5EF4-FFF2-40B4-BE49-F238E27FC236}">
                <a16:creationId xmlns:a16="http://schemas.microsoft.com/office/drawing/2014/main" id="{BF85D551-77A1-445A-96B6-DF040C3C9C17}"/>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35 / 87</a:t>
            </a:r>
            <a:endParaRPr/>
          </a:p>
        </p:txBody>
      </p:sp>
    </p:spTree>
    <p:extLst>
      <p:ext uri="{BB962C8B-B14F-4D97-AF65-F5344CB8AC3E}">
        <p14:creationId xmlns:p14="http://schemas.microsoft.com/office/powerpoint/2010/main" val="1856519337"/>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370" name="">
            <a:extLst xmlns:a="http://schemas.openxmlformats.org/drawingml/2006/main">
              <a:ext uri="{FF2B5EF4-FFF2-40B4-BE49-F238E27FC236}">
                <a16:creationId xmlns:a16="http://schemas.microsoft.com/office/drawing/2014/main" id="{DC7D4BAC-761E-4F12-B94B-FCB998935B96}"/>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71" name="">
            <a:extLst xmlns:a="http://schemas.openxmlformats.org/drawingml/2006/main">
              <a:ext uri="{FF2B5EF4-FFF2-40B4-BE49-F238E27FC236}">
                <a16:creationId xmlns:a16="http://schemas.microsoft.com/office/drawing/2014/main" id="{C15A0428-E87C-47B5-96E1-04C9D0A7E06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72" name="">
            <a:extLst xmlns:a="http://schemas.openxmlformats.org/drawingml/2006/main">
              <a:ext uri="{FF2B5EF4-FFF2-40B4-BE49-F238E27FC236}">
                <a16:creationId xmlns:a16="http://schemas.microsoft.com/office/drawing/2014/main" id="{0C76BF12-900D-4309-A280-11C0C3614C31}"/>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373" name="">
            <a:extLst xmlns:a="http://schemas.openxmlformats.org/drawingml/2006/main">
              <a:ext uri="{FF2B5EF4-FFF2-40B4-BE49-F238E27FC236}">
                <a16:creationId xmlns:a16="http://schemas.microsoft.com/office/drawing/2014/main" id="{271536FA-E464-4ABD-980E-E28F3DA52347}"/>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例子5</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5</a:t>
            </a:r>
          </a:p>
        </p:txBody>
      </p:sp>
      <p:sp>
        <p:nvSpPr>
          <p:cNvPr id="374" name="">
            <a:extLst xmlns:a="http://schemas.openxmlformats.org/drawingml/2006/main">
              <a:ext uri="{FF2B5EF4-FFF2-40B4-BE49-F238E27FC236}">
                <a16:creationId xmlns:a16="http://schemas.microsoft.com/office/drawing/2014/main" id="{F548AB0A-9280-4413-8877-B8D059DB2BAC}"/>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Example5_5（上）</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Example5_5 (Part 1)</a:t>
            </a:r>
          </a:p>
        </p:txBody>
      </p:sp>
      <p:sp>
        <p:nvSpPr>
          <p:cNvPr id="375" name="">
            <a:extLst xmlns:a="http://schemas.openxmlformats.org/drawingml/2006/main">
              <a:ext uri="{FF2B5EF4-FFF2-40B4-BE49-F238E27FC236}">
                <a16:creationId xmlns:a16="http://schemas.microsoft.com/office/drawing/2014/main" id="{3AD132E9-8B71-4CFD-8CFE-6E023285B2AC}"/>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76" name="">
            <a:extLst xmlns:a="http://schemas.openxmlformats.org/drawingml/2006/main">
              <a:ext uri="{FF2B5EF4-FFF2-40B4-BE49-F238E27FC236}">
                <a16:creationId xmlns:a16="http://schemas.microsoft.com/office/drawing/2014/main" id="{CA97B8F1-0379-42CE-86C2-AA3364A42245}"/>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49241"/>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B 类重写父类 A 的 computer() 方法，返回类型相同（float）。</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Class B overrides the computer() method of parent class A, with the same return type (float).</a:t>
            </a:r>
          </a:p>
        </p:txBody>
      </p:sp>
      <p:pic>
        <p:nvPicPr>
          <p:cNvPr id="387" name=""/>
          <p:cNvPicPr>
            <a:picLocks xmlns:a="http://schemas.openxmlformats.org/drawingml/2006/main" noChangeAspect="1"/>
          </p:cNvPicPr>
          <p:nvPr/>
        </p:nvPicPr>
        <p:blipFill>
          <a:blip xmlns:r="http://schemas.openxmlformats.org/officeDocument/2006/relationships" xmlns:a="http://schemas.openxmlformats.org/drawingml/2006/main" r:embed="Rc97dd6535fe4443b"/>
          <a:srcRect xmlns:a="http://schemas.openxmlformats.org/drawingml/2006/main" l="14" t="0" r="14" b="0"/>
          <a:stretch xmlns:a="http://schemas.openxmlformats.org/drawingml/2006/main">
            <a:fillRect l="0" t="0" r="0" b="0"/>
          </a:stretch>
        </p:blipFill>
        <p:spPr>
          <a:xfrm xmlns:a="http://schemas.openxmlformats.org/drawingml/2006/main" rot="0" flipH="0" flipV="0">
            <a:off x="4276725" y="1600200"/>
            <a:ext cx="7324725"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378" name="">
            <a:extLst xmlns:a="http://schemas.openxmlformats.org/drawingml/2006/main">
              <a:ext uri="{FF2B5EF4-FFF2-40B4-BE49-F238E27FC236}">
                <a16:creationId xmlns:a16="http://schemas.microsoft.com/office/drawing/2014/main" id="{046EAF8F-8566-4C60-B988-4DB2C287F81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36 / 87</a:t>
            </a:r>
            <a:endParaRPr/>
          </a:p>
        </p:txBody>
      </p:sp>
    </p:spTree>
    <p:extLst>
      <p:ext uri="{BB962C8B-B14F-4D97-AF65-F5344CB8AC3E}">
        <p14:creationId xmlns:p14="http://schemas.microsoft.com/office/powerpoint/2010/main" val="57504772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380" name="">
            <a:extLst xmlns:a="http://schemas.openxmlformats.org/drawingml/2006/main">
              <a:ext uri="{FF2B5EF4-FFF2-40B4-BE49-F238E27FC236}">
                <a16:creationId xmlns:a16="http://schemas.microsoft.com/office/drawing/2014/main" id="{B3D58F11-C85D-4C3D-A8DE-CA1B77FF6A9E}"/>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81" name="">
            <a:extLst xmlns:a="http://schemas.openxmlformats.org/drawingml/2006/main">
              <a:ext uri="{FF2B5EF4-FFF2-40B4-BE49-F238E27FC236}">
                <a16:creationId xmlns:a16="http://schemas.microsoft.com/office/drawing/2014/main" id="{8F1AA410-D8B0-47F0-8BEE-7D45AED2AD4A}"/>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82" name="">
            <a:extLst xmlns:a="http://schemas.openxmlformats.org/drawingml/2006/main">
              <a:ext uri="{FF2B5EF4-FFF2-40B4-BE49-F238E27FC236}">
                <a16:creationId xmlns:a16="http://schemas.microsoft.com/office/drawing/2014/main" id="{C3B27520-5C09-4478-821C-F0C6871E283E}"/>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383" name="">
            <a:extLst xmlns:a="http://schemas.openxmlformats.org/drawingml/2006/main">
              <a:ext uri="{FF2B5EF4-FFF2-40B4-BE49-F238E27FC236}">
                <a16:creationId xmlns:a16="http://schemas.microsoft.com/office/drawing/2014/main" id="{E73DFDF1-95B5-402E-862A-5FD406434353}"/>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例子5</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5</a:t>
            </a:r>
          </a:p>
        </p:txBody>
      </p:sp>
      <p:sp>
        <p:nvSpPr>
          <p:cNvPr id="384" name="">
            <a:extLst xmlns:a="http://schemas.openxmlformats.org/drawingml/2006/main">
              <a:ext uri="{FF2B5EF4-FFF2-40B4-BE49-F238E27FC236}">
                <a16:creationId xmlns:a16="http://schemas.microsoft.com/office/drawing/2014/main" id="{6E4DC9AA-0850-4FA5-8F5C-E8063C49FC75}"/>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Example5_5（下）</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Example5_5 (Part 2)</a:t>
            </a:r>
          </a:p>
        </p:txBody>
      </p:sp>
      <p:sp>
        <p:nvSpPr>
          <p:cNvPr id="385" name="">
            <a:extLst xmlns:a="http://schemas.openxmlformats.org/drawingml/2006/main">
              <a:ext uri="{FF2B5EF4-FFF2-40B4-BE49-F238E27FC236}">
                <a16:creationId xmlns:a16="http://schemas.microsoft.com/office/drawing/2014/main" id="{6DEB4111-9637-40E0-BF68-5AB839A6C550}"/>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86" name="">
            <a:extLst xmlns:a="http://schemas.openxmlformats.org/drawingml/2006/main">
              <a:ext uri="{FF2B5EF4-FFF2-40B4-BE49-F238E27FC236}">
                <a16:creationId xmlns:a16="http://schemas.microsoft.com/office/drawing/2014/main" id="{0E00ACED-CCF4-4A71-8EF1-11E360344C6D}"/>
              </a:ext>
            </a:extLst>
          </p:cNvPr>
          <p:cNvSpPr>
            <a:spLocks xmlns:a="http://schemas.openxmlformats.org/drawingml/2006/main" noGrp="1"/>
          </p:cNvSpPr>
          <p:nvPr/>
        </p:nvSpPr>
        <p:spPr>
          <a:xfrm xmlns:a="http://schemas.openxmlformats.org/drawingml/2006/main" rot="0" flipH="0" flipV="0">
            <a:off x="457200" y="260032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b.computer(8,9) 调用重写的方法（8-9）；b.g(12,8) 调用继承的方法（12+8）。</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b.computer(8,9) calls the overridden method (8-9); b.g(12,8) calls the inherited method (12+8).</a:t>
            </a:r>
          </a:p>
        </p:txBody>
      </p:sp>
      <p:pic>
        <p:nvPicPr>
          <p:cNvPr id="397" name=""/>
          <p:cNvPicPr>
            <a:picLocks xmlns:a="http://schemas.openxmlformats.org/drawingml/2006/main" noChangeAspect="1"/>
          </p:cNvPicPr>
          <p:nvPr/>
        </p:nvPicPr>
        <p:blipFill>
          <a:blip xmlns:r="http://schemas.openxmlformats.org/officeDocument/2006/relationships" xmlns:a="http://schemas.openxmlformats.org/drawingml/2006/main" r:embed="R5ed7ad0a6e4844cc"/>
          <a:srcRect xmlns:a="http://schemas.openxmlformats.org/drawingml/2006/main" l="8" t="0" r="8" b="0"/>
          <a:stretch xmlns:a="http://schemas.openxmlformats.org/drawingml/2006/main">
            <a:fillRect l="0" t="0" r="0" b="0"/>
          </a:stretch>
        </p:blipFill>
        <p:spPr>
          <a:xfrm xmlns:a="http://schemas.openxmlformats.org/drawingml/2006/main" rot="0" flipH="0" flipV="0">
            <a:off x="4143375" y="1800225"/>
            <a:ext cx="7591425" cy="3705225"/>
          </a:xfrm>
          <a:prstGeom xmlns:a="http://schemas.openxmlformats.org/drawingml/2006/main" prst="roundRect">
            <a:avLst>
              <a:gd name="adj" fmla="val 3085"/>
            </a:avLst>
          </a:prstGeom>
          <a:effectLst xmlns:a="http://schemas.openxmlformats.org/drawingml/2006/main">
            <a:outerShdw blurRad="152400" dist="38100" dir="5400000">
              <a:srgbClr val="0F1C2E">
                <a:alpha val="8000"/>
              </a:srgbClr>
            </a:outerShdw>
          </a:effectLst>
        </p:spPr>
      </p:pic>
      <p:sp>
        <p:nvSpPr>
          <p:cNvPr id="388" name="">
            <a:extLst xmlns:a="http://schemas.openxmlformats.org/drawingml/2006/main">
              <a:ext uri="{FF2B5EF4-FFF2-40B4-BE49-F238E27FC236}">
                <a16:creationId xmlns:a16="http://schemas.microsoft.com/office/drawing/2014/main" id="{F29D2855-C206-4CB3-B920-5E3C0D2AE732}"/>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37 / 87</a:t>
            </a:r>
            <a:endParaRPr/>
          </a:p>
        </p:txBody>
      </p:sp>
    </p:spTree>
    <p:extLst>
      <p:ext uri="{BB962C8B-B14F-4D97-AF65-F5344CB8AC3E}">
        <p14:creationId xmlns:p14="http://schemas.microsoft.com/office/powerpoint/2010/main" val="1513565740"/>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390" name="">
            <a:extLst xmlns:a="http://schemas.openxmlformats.org/drawingml/2006/main">
              <a:ext uri="{FF2B5EF4-FFF2-40B4-BE49-F238E27FC236}">
                <a16:creationId xmlns:a16="http://schemas.microsoft.com/office/drawing/2014/main" id="{973F16E2-1AC1-4C13-A9D2-4F0486FA846D}"/>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91" name="">
            <a:extLst xmlns:a="http://schemas.openxmlformats.org/drawingml/2006/main">
              <a:ext uri="{FF2B5EF4-FFF2-40B4-BE49-F238E27FC236}">
                <a16:creationId xmlns:a16="http://schemas.microsoft.com/office/drawing/2014/main" id="{BCA4C31E-AD46-47F8-A975-54C91AAF7DE1}"/>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92" name="">
            <a:extLst xmlns:a="http://schemas.openxmlformats.org/drawingml/2006/main">
              <a:ext uri="{FF2B5EF4-FFF2-40B4-BE49-F238E27FC236}">
                <a16:creationId xmlns:a16="http://schemas.microsoft.com/office/drawing/2014/main" id="{04127BEE-CD55-4980-A91E-9EE81FE7D869}"/>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393" name="">
            <a:extLst xmlns:a="http://schemas.openxmlformats.org/drawingml/2006/main">
              <a:ext uri="{FF2B5EF4-FFF2-40B4-BE49-F238E27FC236}">
                <a16:creationId xmlns:a16="http://schemas.microsoft.com/office/drawing/2014/main" id="{61BF4666-DCD4-4B6C-977B-C0106BAB1BA9}"/>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例子6</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6</a:t>
            </a:r>
          </a:p>
        </p:txBody>
      </p:sp>
      <p:sp>
        <p:nvSpPr>
          <p:cNvPr id="394" name="">
            <a:extLst xmlns:a="http://schemas.openxmlformats.org/drawingml/2006/main">
              <a:ext uri="{FF2B5EF4-FFF2-40B4-BE49-F238E27FC236}">
                <a16:creationId xmlns:a16="http://schemas.microsoft.com/office/drawing/2014/main" id="{CC25E2BD-A2C3-4CCA-AA8A-D2DED79F1CAF}"/>
              </a:ext>
            </a:extLst>
          </p:cNvPr>
          <p:cNvSpPr>
            <a:spLocks xmlns:a="http://schemas.openxmlformats.org/drawingml/2006/main" noGrp="1"/>
          </p:cNvSpPr>
          <p:nvPr/>
        </p:nvSpPr>
        <p:spPr>
          <a:xfrm xmlns:a="http://schemas.openxmlformats.org/drawingml/2006/main" rot="0" flipH="0" flipV="0">
            <a:off x="457200" y="1562100"/>
            <a:ext cx="3381375" cy="5524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20000"/>
              </a:lnSpc>
              <a:buNone/>
            </a:pPr>
            <a:r>
              <a:rPr sz="3000" b="1">
                <a:solidFill>
                  <a:srgbClr val="0E3F8C"/>
                </a:solidFill>
                <a:latin typeface="Microsoft YaHei"/>
                <a:ea typeface="Microsoft YaHei"/>
                <a:cs typeface="Microsoft YaHei"/>
              </a:rPr>
              <a:t>Example5_6</a:t>
            </a:r>
            <a:endParaRPr/>
          </a:p>
        </p:txBody>
      </p:sp>
      <p:sp>
        <p:nvSpPr>
          <p:cNvPr id="395" name="">
            <a:extLst xmlns:a="http://schemas.openxmlformats.org/drawingml/2006/main">
              <a:ext uri="{FF2B5EF4-FFF2-40B4-BE49-F238E27FC236}">
                <a16:creationId xmlns:a16="http://schemas.microsoft.com/office/drawing/2014/main" id="{61A694B1-459F-4999-9778-61F4925E851A}"/>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96" name="">
            <a:extLst xmlns:a="http://schemas.openxmlformats.org/drawingml/2006/main">
              <a:ext uri="{FF2B5EF4-FFF2-40B4-BE49-F238E27FC236}">
                <a16:creationId xmlns:a16="http://schemas.microsoft.com/office/drawing/2014/main" id="{E5F1BFC1-C856-4F45-8B47-F67C5DB62AB0}"/>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重写方法的返回类型可以是父类方法返回类型的子类型：Object → Integer。</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return type of an overridden method can be a subtype of the parent class method's return type: Object → Integer.</a:t>
            </a:r>
          </a:p>
        </p:txBody>
      </p:sp>
      <p:pic>
        <p:nvPicPr>
          <p:cNvPr id="407" name=""/>
          <p:cNvPicPr>
            <a:picLocks xmlns:a="http://schemas.openxmlformats.org/drawingml/2006/main" noChangeAspect="1"/>
          </p:cNvPicPr>
          <p:nvPr/>
        </p:nvPicPr>
        <p:blipFill>
          <a:blip xmlns:r="http://schemas.openxmlformats.org/officeDocument/2006/relationships" xmlns:a="http://schemas.openxmlformats.org/drawingml/2006/main" r:embed="R785a780346c942d7"/>
          <a:srcRect xmlns:a="http://schemas.openxmlformats.org/drawingml/2006/main" l="0" t="43" r="0" b="43"/>
          <a:stretch xmlns:a="http://schemas.openxmlformats.org/drawingml/2006/main">
            <a:fillRect l="0" t="0" r="0" b="0"/>
          </a:stretch>
        </p:blipFill>
        <p:spPr>
          <a:xfrm xmlns:a="http://schemas.openxmlformats.org/drawingml/2006/main" rot="0" flipH="0" flipV="0">
            <a:off x="5400675" y="1600200"/>
            <a:ext cx="508635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398" name="">
            <a:extLst xmlns:a="http://schemas.openxmlformats.org/drawingml/2006/main">
              <a:ext uri="{FF2B5EF4-FFF2-40B4-BE49-F238E27FC236}">
                <a16:creationId xmlns:a16="http://schemas.microsoft.com/office/drawing/2014/main" id="{EF46B555-52E8-4B11-928C-1C5381281E7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38 / 87</a:t>
            </a:r>
            <a:endParaRPr/>
          </a:p>
        </p:txBody>
      </p:sp>
    </p:spTree>
    <p:extLst>
      <p:ext uri="{BB962C8B-B14F-4D97-AF65-F5344CB8AC3E}">
        <p14:creationId xmlns:p14="http://schemas.microsoft.com/office/powerpoint/2010/main" val="13764707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400" name="">
            <a:extLst xmlns:a="http://schemas.openxmlformats.org/drawingml/2006/main">
              <a:ext uri="{FF2B5EF4-FFF2-40B4-BE49-F238E27FC236}">
                <a16:creationId xmlns:a16="http://schemas.microsoft.com/office/drawing/2014/main" id="{B6EBF45E-B8B8-4705-B8DD-9771ADABEA2E}"/>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01" name="">
            <a:extLst xmlns:a="http://schemas.openxmlformats.org/drawingml/2006/main">
              <a:ext uri="{FF2B5EF4-FFF2-40B4-BE49-F238E27FC236}">
                <a16:creationId xmlns:a16="http://schemas.microsoft.com/office/drawing/2014/main" id="{73FE28DA-7EE9-4077-B6EE-B449E3FCE15A}"/>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02" name="">
            <a:extLst xmlns:a="http://schemas.openxmlformats.org/drawingml/2006/main">
              <a:ext uri="{FF2B5EF4-FFF2-40B4-BE49-F238E27FC236}">
                <a16:creationId xmlns:a16="http://schemas.microsoft.com/office/drawing/2014/main" id="{827F90C8-39E9-45A1-9C14-8D2BD4943E36}"/>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403" name="">
            <a:extLst xmlns:a="http://schemas.openxmlformats.org/drawingml/2006/main">
              <a:ext uri="{FF2B5EF4-FFF2-40B4-BE49-F238E27FC236}">
                <a16:creationId xmlns:a16="http://schemas.microsoft.com/office/drawing/2014/main" id="{F8226954-862F-44CA-B13C-329A18299924}"/>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§5.5</a:t>
            </a:r>
            <a:endParaRPr/>
          </a:p>
        </p:txBody>
      </p:sp>
      <p:sp>
        <p:nvSpPr>
          <p:cNvPr id="404" name="">
            <a:extLst xmlns:a="http://schemas.openxmlformats.org/drawingml/2006/main">
              <a:ext uri="{FF2B5EF4-FFF2-40B4-BE49-F238E27FC236}">
                <a16:creationId xmlns:a16="http://schemas.microsoft.com/office/drawing/2014/main" id="{EF391FE0-E581-4BE3-B17B-9E1A0C4592FA}"/>
              </a:ext>
            </a:extLst>
          </p:cNvPr>
          <p:cNvSpPr>
            <a:spLocks xmlns:a="http://schemas.openxmlformats.org/drawingml/2006/main" noGrp="1"/>
          </p:cNvSpPr>
          <p:nvPr/>
        </p:nvSpPr>
        <p:spPr>
          <a:xfrm xmlns:a="http://schemas.openxmlformats.org/drawingml/2006/main" rot="0" flipH="0" flipV="0">
            <a:off x="457200" y="1600200"/>
            <a:ext cx="3381375" cy="1647825"/>
          </a:xfrm>
          <a:prstGeom xmlns:a="http://schemas.openxmlformats.org/drawingml/2006/main" prst="rect">
            <a:avLst/>
          </a:prstGeom>
        </p:spPr>
        <p:txBody>
          <a:bodyPr xmlns:a="http://schemas.openxmlformats.org/drawingml/2006/main" wrap="square" lIns="0" tIns="0" rIns="0" bIns="0">
            <a:normAutofit fontScale="3818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super 关键字（1）操作被隐藏的成员变量和方法</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super keyword (1) operates hidden member variables and methods</a:t>
            </a:r>
          </a:p>
        </p:txBody>
      </p:sp>
      <p:sp>
        <p:nvSpPr>
          <p:cNvPr id="405" name="">
            <a:extLst xmlns:a="http://schemas.openxmlformats.org/drawingml/2006/main">
              <a:ext uri="{FF2B5EF4-FFF2-40B4-BE49-F238E27FC236}">
                <a16:creationId xmlns:a16="http://schemas.microsoft.com/office/drawing/2014/main" id="{F4B300FE-1F3D-421D-B188-5450591E0D7A}"/>
              </a:ext>
            </a:extLst>
          </p:cNvPr>
          <p:cNvSpPr>
            <a:spLocks xmlns:a="http://schemas.openxmlformats.org/drawingml/2006/main" noGrp="1"/>
          </p:cNvSpPr>
          <p:nvPr/>
        </p:nvSpPr>
        <p:spPr>
          <a:xfrm xmlns:a="http://schemas.openxmlformats.org/drawingml/2006/main" rot="0" flipH="0" flipV="0">
            <a:off x="457200" y="3476625"/>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06" name="">
            <a:extLst xmlns:a="http://schemas.openxmlformats.org/drawingml/2006/main">
              <a:ext uri="{FF2B5EF4-FFF2-40B4-BE49-F238E27FC236}">
                <a16:creationId xmlns:a16="http://schemas.microsoft.com/office/drawing/2014/main" id="{4AFCE48D-8957-4D63-93D1-C79E0E2CC870}"/>
              </a:ext>
            </a:extLst>
          </p:cNvPr>
          <p:cNvSpPr>
            <a:spLocks xmlns:a="http://schemas.openxmlformats.org/drawingml/2006/main" noGrp="1"/>
          </p:cNvSpPr>
          <p:nvPr/>
        </p:nvSpPr>
        <p:spPr>
          <a:xfrm xmlns:a="http://schemas.openxmlformats.org/drawingml/2006/main" rot="0" flipH="0" flipV="0">
            <a:off x="457200" y="3733800"/>
            <a:ext cx="3381375" cy="781050"/>
          </a:xfrm>
          <a:prstGeom xmlns:a="http://schemas.openxmlformats.org/drawingml/2006/main" prst="rect">
            <a:avLst/>
          </a:prstGeom>
        </p:spPr>
        <p:txBody>
          <a:bodyPr xmlns:a="http://schemas.openxmlformats.org/drawingml/2006/main" wrap="square" lIns="0" tIns="0" rIns="0" bIns="0">
            <a:normAutofit fontScale="55886"/>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子类可以使用 super 访问被子类隐藏的成员。</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Subclasses can use super to access members hidden by the subclass.</a:t>
            </a:r>
          </a:p>
        </p:txBody>
      </p:sp>
      <p:sp>
        <p:nvSpPr>
          <p:cNvPr id="407" name="">
            <a:extLst xmlns:a="http://schemas.openxmlformats.org/drawingml/2006/main">
              <a:ext uri="{FF2B5EF4-FFF2-40B4-BE49-F238E27FC236}">
                <a16:creationId xmlns:a16="http://schemas.microsoft.com/office/drawing/2014/main" id="{1BC26D7B-B61D-4C5D-BDA5-08621FA850DD}"/>
              </a:ext>
            </a:extLst>
          </p:cNvPr>
          <p:cNvSpPr>
            <a:spLocks xmlns:a="http://schemas.openxmlformats.org/drawingml/2006/main" noGrp="1"/>
          </p:cNvSpPr>
          <p:nvPr/>
        </p:nvSpPr>
        <p:spPr>
          <a:xfrm xmlns:a="http://schemas.openxmlformats.org/drawingml/2006/main" rot="0" flipH="0" flipV="0">
            <a:off x="4181475" y="26670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08" name="">
            <a:extLst xmlns:a="http://schemas.openxmlformats.org/drawingml/2006/main">
              <a:ext uri="{FF2B5EF4-FFF2-40B4-BE49-F238E27FC236}">
                <a16:creationId xmlns:a16="http://schemas.microsoft.com/office/drawing/2014/main" id="{1BE605BD-9A5B-4FDB-90A8-5861955FA489}"/>
              </a:ext>
            </a:extLst>
          </p:cNvPr>
          <p:cNvSpPr>
            <a:spLocks xmlns:a="http://schemas.openxmlformats.org/drawingml/2006/main" noGrp="1"/>
          </p:cNvSpPr>
          <p:nvPr/>
        </p:nvSpPr>
        <p:spPr>
          <a:xfrm xmlns:a="http://schemas.openxmlformats.org/drawingml/2006/main" rot="0" flipH="0" flipV="0">
            <a:off x="4371975" y="25527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子类可以隐藏从父类继承的成员变量和方法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Subclasses can hide member variables and methods inherited from the parent class</a:t>
            </a:r>
          </a:p>
        </p:txBody>
      </p:sp>
      <p:sp>
        <p:nvSpPr>
          <p:cNvPr id="409" name="">
            <a:extLst xmlns:a="http://schemas.openxmlformats.org/drawingml/2006/main">
              <a:ext uri="{FF2B5EF4-FFF2-40B4-BE49-F238E27FC236}">
                <a16:creationId xmlns:a16="http://schemas.microsoft.com/office/drawing/2014/main" id="{CEEC12F2-8704-4C36-BCD5-3609E8A85A0D}"/>
              </a:ext>
            </a:extLst>
          </p:cNvPr>
          <p:cNvSpPr>
            <a:spLocks xmlns:a="http://schemas.openxmlformats.org/drawingml/2006/main" noGrp="1"/>
          </p:cNvSpPr>
          <p:nvPr/>
        </p:nvSpPr>
        <p:spPr>
          <a:xfrm xmlns:a="http://schemas.openxmlformats.org/drawingml/2006/main" rot="0" flipH="0" flipV="0">
            <a:off x="4181475" y="32289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10" name="">
            <a:extLst xmlns:a="http://schemas.openxmlformats.org/drawingml/2006/main">
              <a:ext uri="{FF2B5EF4-FFF2-40B4-BE49-F238E27FC236}">
                <a16:creationId xmlns:a16="http://schemas.microsoft.com/office/drawing/2014/main" id="{BC406FA4-BCF3-4EDD-BD93-88B9BBEDE367}"/>
              </a:ext>
            </a:extLst>
          </p:cNvPr>
          <p:cNvSpPr>
            <a:spLocks xmlns:a="http://schemas.openxmlformats.org/drawingml/2006/main" noGrp="1"/>
          </p:cNvSpPr>
          <p:nvPr/>
        </p:nvSpPr>
        <p:spPr>
          <a:xfrm xmlns:a="http://schemas.openxmlformats.org/drawingml/2006/main" rot="0" flipH="0" flipV="0">
            <a:off x="4371975" y="3114675"/>
            <a:ext cx="7362825" cy="390525"/>
          </a:xfrm>
          <a:prstGeom xmlns:a="http://schemas.openxmlformats.org/drawingml/2006/main" prst="rect">
            <a:avLst/>
          </a:prstGeom>
        </p:spPr>
        <p:txBody>
          <a:bodyPr xmlns:a="http://schemas.openxmlformats.org/drawingml/2006/main" wrap="none" lIns="0" tIns="0" rIns="0" bIns="0">
            <a:normAutofit fontScale="43826"/>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在子类中想使用被子类隐藏的成员变量或方法，可以使用关键字 super</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If you want to use member variables or methods hidden by the subclass in a subclass, you can use the keyword super</a:t>
            </a:r>
          </a:p>
        </p:txBody>
      </p:sp>
      <p:sp>
        <p:nvSpPr>
          <p:cNvPr id="411" name="">
            <a:extLst xmlns:a="http://schemas.openxmlformats.org/drawingml/2006/main">
              <a:ext uri="{FF2B5EF4-FFF2-40B4-BE49-F238E27FC236}">
                <a16:creationId xmlns:a16="http://schemas.microsoft.com/office/drawing/2014/main" id="{7B20DC4D-7D83-42D5-AB65-D0492AD0ECC3}"/>
              </a:ext>
            </a:extLst>
          </p:cNvPr>
          <p:cNvSpPr>
            <a:spLocks xmlns:a="http://schemas.openxmlformats.org/drawingml/2006/main" noGrp="1"/>
          </p:cNvSpPr>
          <p:nvPr/>
        </p:nvSpPr>
        <p:spPr>
          <a:xfrm xmlns:a="http://schemas.openxmlformats.org/drawingml/2006/main" rot="0" flipH="0" flipV="0">
            <a:off x="4181475" y="37909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12" name="">
            <a:extLst xmlns:a="http://schemas.openxmlformats.org/drawingml/2006/main">
              <a:ext uri="{FF2B5EF4-FFF2-40B4-BE49-F238E27FC236}">
                <a16:creationId xmlns:a16="http://schemas.microsoft.com/office/drawing/2014/main" id="{29467120-7634-40CA-BBC2-664A38E73B9A}"/>
              </a:ext>
            </a:extLst>
          </p:cNvPr>
          <p:cNvSpPr>
            <a:spLocks xmlns:a="http://schemas.openxmlformats.org/drawingml/2006/main" noGrp="1"/>
          </p:cNvSpPr>
          <p:nvPr/>
        </p:nvSpPr>
        <p:spPr>
          <a:xfrm xmlns:a="http://schemas.openxmlformats.org/drawingml/2006/main" rot="0" flipH="0" flipV="0">
            <a:off x="4371975" y="3676650"/>
            <a:ext cx="7362825" cy="390525"/>
          </a:xfrm>
          <a:prstGeom xmlns:a="http://schemas.openxmlformats.org/drawingml/2006/main" prst="rect">
            <a:avLst/>
          </a:prstGeom>
        </p:spPr>
        <p:txBody>
          <a:bodyPr xmlns:a="http://schemas.openxmlformats.org/drawingml/2006/main" wrap="none" lIns="0" tIns="0" rIns="0" bIns="0">
            <a:normAutofit fontScale="5331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super.x、super.play()：访问和调用被子类隐藏的成员变量 x 和方法 play()</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super.x, super.play(): access and call member variables x and method play() hidden by subclasses</a:t>
            </a:r>
          </a:p>
        </p:txBody>
      </p:sp>
      <p:sp>
        <p:nvSpPr>
          <p:cNvPr id="413" name="">
            <a:extLst xmlns:a="http://schemas.openxmlformats.org/drawingml/2006/main">
              <a:ext uri="{FF2B5EF4-FFF2-40B4-BE49-F238E27FC236}">
                <a16:creationId xmlns:a16="http://schemas.microsoft.com/office/drawing/2014/main" id="{BEC357C4-E5B4-4483-8B03-B098A80A9AA8}"/>
              </a:ext>
            </a:extLst>
          </p:cNvPr>
          <p:cNvSpPr>
            <a:spLocks xmlns:a="http://schemas.openxmlformats.org/drawingml/2006/main" noGrp="1"/>
          </p:cNvSpPr>
          <p:nvPr/>
        </p:nvSpPr>
        <p:spPr>
          <a:xfrm xmlns:a="http://schemas.openxmlformats.org/drawingml/2006/main" rot="0" flipH="0" flipV="0">
            <a:off x="4181475" y="4238625"/>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414" name="">
            <a:extLst xmlns:a="http://schemas.openxmlformats.org/drawingml/2006/main">
              <a:ext uri="{FF2B5EF4-FFF2-40B4-BE49-F238E27FC236}">
                <a16:creationId xmlns:a16="http://schemas.microsoft.com/office/drawing/2014/main" id="{14D9C0D7-8B7B-45D3-A4C9-86D7336AE007}"/>
              </a:ext>
            </a:extLst>
          </p:cNvPr>
          <p:cNvSpPr>
            <a:spLocks xmlns:a="http://schemas.openxmlformats.org/drawingml/2006/main" noGrp="1"/>
          </p:cNvSpPr>
          <p:nvPr/>
        </p:nvSpPr>
        <p:spPr>
          <a:xfrm xmlns:a="http://schemas.openxmlformats.org/drawingml/2006/main" rot="0" flipH="0" flipV="0">
            <a:off x="4371975" y="4371975"/>
            <a:ext cx="7172325" cy="295275"/>
          </a:xfrm>
          <a:prstGeom xmlns:a="http://schemas.openxmlformats.org/drawingml/2006/main" prst="rect">
            <a:avLst/>
          </a:prstGeom>
        </p:spPr>
        <p:txBody>
          <a:bodyPr xmlns:a="http://schemas.openxmlformats.org/drawingml/2006/main" wrap="non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例子7 中，子类使用 super 访问和调用被子类隐藏的成员变量和方法。</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In Example 7, the subclass uses super to access and call member variables and methods hidden by the subclass.</a:t>
            </a:r>
          </a:p>
        </p:txBody>
      </p:sp>
      <p:sp>
        <p:nvSpPr>
          <p:cNvPr id="415" name="">
            <a:extLst xmlns:a="http://schemas.openxmlformats.org/drawingml/2006/main">
              <a:ext uri="{FF2B5EF4-FFF2-40B4-BE49-F238E27FC236}">
                <a16:creationId xmlns:a16="http://schemas.microsoft.com/office/drawing/2014/main" id="{1DD99BA3-9789-4DA9-B03D-63D4C62D678F}"/>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39 / 87</a:t>
            </a:r>
            <a:endParaRPr/>
          </a:p>
        </p:txBody>
      </p:sp>
    </p:spTree>
    <p:extLst>
      <p:ext uri="{BB962C8B-B14F-4D97-AF65-F5344CB8AC3E}">
        <p14:creationId xmlns:p14="http://schemas.microsoft.com/office/powerpoint/2010/main" val="142966580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434" name="">
            <a:extLst xmlns:a="http://schemas.openxmlformats.org/drawingml/2006/main">
              <a:ext uri="{FF2B5EF4-FFF2-40B4-BE49-F238E27FC236}">
                <a16:creationId xmlns:a16="http://schemas.microsoft.com/office/drawing/2014/main" id="{8C31FBF2-A20F-4DC2-A083-EE2F1C5F87A5}"/>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35" name="">
            <a:extLst xmlns:a="http://schemas.openxmlformats.org/drawingml/2006/main">
              <a:ext uri="{FF2B5EF4-FFF2-40B4-BE49-F238E27FC236}">
                <a16:creationId xmlns:a16="http://schemas.microsoft.com/office/drawing/2014/main" id="{07443606-5482-4B69-AEA2-5E347438399D}"/>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36" name="">
            <a:extLst xmlns:a="http://schemas.openxmlformats.org/drawingml/2006/main">
              <a:ext uri="{FF2B5EF4-FFF2-40B4-BE49-F238E27FC236}">
                <a16:creationId xmlns:a16="http://schemas.microsoft.com/office/drawing/2014/main" id="{5F962812-6E41-421A-94AE-A5C0432A440E}"/>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437" name="">
            <a:extLst xmlns:a="http://schemas.openxmlformats.org/drawingml/2006/main">
              <a:ext uri="{FF2B5EF4-FFF2-40B4-BE49-F238E27FC236}">
                <a16:creationId xmlns:a16="http://schemas.microsoft.com/office/drawing/2014/main" id="{42EDE0DE-3FD8-403C-A5BC-F36FAC4190D4}"/>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例子7</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7</a:t>
            </a:r>
          </a:p>
        </p:txBody>
      </p:sp>
      <p:sp>
        <p:nvSpPr>
          <p:cNvPr id="438" name="">
            <a:extLst xmlns:a="http://schemas.openxmlformats.org/drawingml/2006/main">
              <a:ext uri="{FF2B5EF4-FFF2-40B4-BE49-F238E27FC236}">
                <a16:creationId xmlns:a16="http://schemas.microsoft.com/office/drawing/2014/main" id="{E306BBA5-29D4-49CB-B751-5CAB38C7363D}"/>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Example5_7（上）</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Example5_7 (Part 1)</a:t>
            </a:r>
          </a:p>
        </p:txBody>
      </p:sp>
      <p:sp>
        <p:nvSpPr>
          <p:cNvPr id="439" name="">
            <a:extLst xmlns:a="http://schemas.openxmlformats.org/drawingml/2006/main">
              <a:ext uri="{FF2B5EF4-FFF2-40B4-BE49-F238E27FC236}">
                <a16:creationId xmlns:a16="http://schemas.microsoft.com/office/drawing/2014/main" id="{5CDFB6DE-59AB-494E-B324-EDE6345597D3}"/>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40" name="">
            <a:extLst xmlns:a="http://schemas.openxmlformats.org/drawingml/2006/main">
              <a:ext uri="{FF2B5EF4-FFF2-40B4-BE49-F238E27FC236}">
                <a16:creationId xmlns:a16="http://schemas.microsoft.com/office/drawing/2014/main" id="{99AC513F-BE25-4252-986D-AB898229DA04}"/>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4535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Average 隐藏了 Sum 的 n 与 f()，通过 super.n、super.f() 访问父类成员。</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Average hides n and f() of Sum, and accesses parent class members through super.n and super.f().</a:t>
            </a:r>
          </a:p>
        </p:txBody>
      </p:sp>
      <p:pic>
        <p:nvPicPr>
          <p:cNvPr id="451" name=""/>
          <p:cNvPicPr>
            <a:picLocks xmlns:a="http://schemas.openxmlformats.org/drawingml/2006/main" noChangeAspect="1"/>
          </p:cNvPicPr>
          <p:nvPr/>
        </p:nvPicPr>
        <p:blipFill>
          <a:blip xmlns:r="http://schemas.openxmlformats.org/officeDocument/2006/relationships" xmlns:a="http://schemas.openxmlformats.org/drawingml/2006/main" r:embed="Rae59fad5988a4ba8"/>
          <a:stretch xmlns:a="http://schemas.openxmlformats.org/drawingml/2006/main">
            <a:fillRect l="0" t="0" r="0" b="0"/>
          </a:stretch>
        </p:blipFill>
        <p:spPr>
          <a:xfrm xmlns:a="http://schemas.openxmlformats.org/drawingml/2006/main" rot="0" flipH="0" flipV="0">
            <a:off x="5486400" y="1600200"/>
            <a:ext cx="491490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442" name="">
            <a:extLst xmlns:a="http://schemas.openxmlformats.org/drawingml/2006/main">
              <a:ext uri="{FF2B5EF4-FFF2-40B4-BE49-F238E27FC236}">
                <a16:creationId xmlns:a16="http://schemas.microsoft.com/office/drawing/2014/main" id="{7B3A3C11-600E-4448-A2E7-1B797FA7A4B9}"/>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40 / 87</a:t>
            </a:r>
            <a:endParaRPr/>
          </a:p>
        </p:txBody>
      </p:sp>
    </p:spTree>
    <p:extLst>
      <p:ext uri="{BB962C8B-B14F-4D97-AF65-F5344CB8AC3E}">
        <p14:creationId xmlns:p14="http://schemas.microsoft.com/office/powerpoint/2010/main" val="960487880"/>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444" name="">
            <a:extLst xmlns:a="http://schemas.openxmlformats.org/drawingml/2006/main">
              <a:ext uri="{FF2B5EF4-FFF2-40B4-BE49-F238E27FC236}">
                <a16:creationId xmlns:a16="http://schemas.microsoft.com/office/drawing/2014/main" id="{FDC30969-6FD7-4209-B30E-3073935AAC5E}"/>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45" name="">
            <a:extLst xmlns:a="http://schemas.openxmlformats.org/drawingml/2006/main">
              <a:ext uri="{FF2B5EF4-FFF2-40B4-BE49-F238E27FC236}">
                <a16:creationId xmlns:a16="http://schemas.microsoft.com/office/drawing/2014/main" id="{43F4A06E-6632-4C0A-8232-A698D4689B4D}"/>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46" name="">
            <a:extLst xmlns:a="http://schemas.openxmlformats.org/drawingml/2006/main">
              <a:ext uri="{FF2B5EF4-FFF2-40B4-BE49-F238E27FC236}">
                <a16:creationId xmlns:a16="http://schemas.microsoft.com/office/drawing/2014/main" id="{68A5BBB6-0ED9-4794-B535-E9B52233D766}"/>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447" name="">
            <a:extLst xmlns:a="http://schemas.openxmlformats.org/drawingml/2006/main">
              <a:ext uri="{FF2B5EF4-FFF2-40B4-BE49-F238E27FC236}">
                <a16:creationId xmlns:a16="http://schemas.microsoft.com/office/drawing/2014/main" id="{3BC79034-6844-4F40-A408-B965B43C33B8}"/>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例子7</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7</a:t>
            </a:r>
          </a:p>
        </p:txBody>
      </p:sp>
      <p:sp>
        <p:nvSpPr>
          <p:cNvPr id="448" name="">
            <a:extLst xmlns:a="http://schemas.openxmlformats.org/drawingml/2006/main">
              <a:ext uri="{FF2B5EF4-FFF2-40B4-BE49-F238E27FC236}">
                <a16:creationId xmlns:a16="http://schemas.microsoft.com/office/drawing/2014/main" id="{633DD988-7AD2-4C2B-9E23-9FF56A84801A}"/>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Example5_7（下）</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Example5_7 (Part 2)</a:t>
            </a:r>
          </a:p>
        </p:txBody>
      </p:sp>
      <p:sp>
        <p:nvSpPr>
          <p:cNvPr id="449" name="">
            <a:extLst xmlns:a="http://schemas.openxmlformats.org/drawingml/2006/main">
              <a:ext uri="{FF2B5EF4-FFF2-40B4-BE49-F238E27FC236}">
                <a16:creationId xmlns:a16="http://schemas.microsoft.com/office/drawing/2014/main" id="{91F2C929-5DBB-40CB-8C02-5A184ECCA795}"/>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50" name="">
            <a:extLst xmlns:a="http://schemas.openxmlformats.org/drawingml/2006/main">
              <a:ext uri="{FF2B5EF4-FFF2-40B4-BE49-F238E27FC236}">
                <a16:creationId xmlns:a16="http://schemas.microsoft.com/office/drawing/2014/main" id="{393C1BAF-6A30-4B61-B6A7-DD2931568AD8}"/>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super.f() 调用父类 Sum 的 f() 计算和，再除以 n 得平均值。</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super.f() calls f() of the parent class Sum to calculate the sum, and then divides it by n to get the average value.</a:t>
            </a:r>
          </a:p>
        </p:txBody>
      </p:sp>
      <p:pic>
        <p:nvPicPr>
          <p:cNvPr id="461" name=""/>
          <p:cNvPicPr>
            <a:picLocks xmlns:a="http://schemas.openxmlformats.org/drawingml/2006/main" noChangeAspect="1"/>
          </p:cNvPicPr>
          <p:nvPr/>
        </p:nvPicPr>
        <p:blipFill>
          <a:blip xmlns:r="http://schemas.openxmlformats.org/officeDocument/2006/relationships" xmlns:a="http://schemas.openxmlformats.org/drawingml/2006/main" r:embed="R4029e4678edf4234"/>
          <a:srcRect xmlns:a="http://schemas.openxmlformats.org/drawingml/2006/main" l="0" t="9" r="0" b="9"/>
          <a:stretch xmlns:a="http://schemas.openxmlformats.org/drawingml/2006/main">
            <a:fillRect l="0" t="0" r="0" b="0"/>
          </a:stretch>
        </p:blipFill>
        <p:spPr>
          <a:xfrm xmlns:a="http://schemas.openxmlformats.org/drawingml/2006/main" rot="0" flipH="0" flipV="0">
            <a:off x="5353050" y="1600200"/>
            <a:ext cx="518160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452" name="">
            <a:extLst xmlns:a="http://schemas.openxmlformats.org/drawingml/2006/main">
              <a:ext uri="{FF2B5EF4-FFF2-40B4-BE49-F238E27FC236}">
                <a16:creationId xmlns:a16="http://schemas.microsoft.com/office/drawing/2014/main" id="{C257A9C9-9AD1-4688-85DE-DAEE038BDB1D}"/>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41 / 87</a:t>
            </a:r>
            <a:endParaRPr/>
          </a:p>
        </p:txBody>
      </p:sp>
    </p:spTree>
    <p:extLst>
      <p:ext uri="{BB962C8B-B14F-4D97-AF65-F5344CB8AC3E}">
        <p14:creationId xmlns:p14="http://schemas.microsoft.com/office/powerpoint/2010/main" val="921397429"/>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454" name="">
            <a:extLst xmlns:a="http://schemas.openxmlformats.org/drawingml/2006/main">
              <a:ext uri="{FF2B5EF4-FFF2-40B4-BE49-F238E27FC236}">
                <a16:creationId xmlns:a16="http://schemas.microsoft.com/office/drawing/2014/main" id="{D3A11693-9C64-4482-AA71-C527EA2960D0}"/>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55" name="">
            <a:extLst xmlns:a="http://schemas.openxmlformats.org/drawingml/2006/main">
              <a:ext uri="{FF2B5EF4-FFF2-40B4-BE49-F238E27FC236}">
                <a16:creationId xmlns:a16="http://schemas.microsoft.com/office/drawing/2014/main" id="{037BA9A9-A1F4-4E77-88D5-6783A2EFCC42}"/>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56" name="">
            <a:extLst xmlns:a="http://schemas.openxmlformats.org/drawingml/2006/main">
              <a:ext uri="{FF2B5EF4-FFF2-40B4-BE49-F238E27FC236}">
                <a16:creationId xmlns:a16="http://schemas.microsoft.com/office/drawing/2014/main" id="{BEC67B10-47EE-4DAD-AD6D-E0314011E00E}"/>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457" name="">
            <a:extLst xmlns:a="http://schemas.openxmlformats.org/drawingml/2006/main">
              <a:ext uri="{FF2B5EF4-FFF2-40B4-BE49-F238E27FC236}">
                <a16:creationId xmlns:a16="http://schemas.microsoft.com/office/drawing/2014/main" id="{6B4723B0-AE47-4E35-8DB7-1D8DF525CF90}"/>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例子7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7 · Operational effect</a:t>
            </a:r>
          </a:p>
        </p:txBody>
      </p:sp>
      <p:sp>
        <p:nvSpPr>
          <p:cNvPr id="458" name="">
            <a:extLst xmlns:a="http://schemas.openxmlformats.org/drawingml/2006/main">
              <a:ext uri="{FF2B5EF4-FFF2-40B4-BE49-F238E27FC236}">
                <a16:creationId xmlns:a16="http://schemas.microsoft.com/office/drawing/2014/main" id="{D45A78D4-042E-4513-B0E1-C1126CF12AAA}"/>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运行效果（图5.7）</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Operation effect (Figure 5.7)</a:t>
            </a:r>
          </a:p>
        </p:txBody>
      </p:sp>
      <p:sp>
        <p:nvSpPr>
          <p:cNvPr id="459" name="">
            <a:extLst xmlns:a="http://schemas.openxmlformats.org/drawingml/2006/main">
              <a:ext uri="{FF2B5EF4-FFF2-40B4-BE49-F238E27FC236}">
                <a16:creationId xmlns:a16="http://schemas.microsoft.com/office/drawing/2014/main" id="{7D3FC143-7D79-4067-80CB-9876B9A886F7}"/>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60" name="">
            <a:extLst xmlns:a="http://schemas.openxmlformats.org/drawingml/2006/main">
              <a:ext uri="{FF2B5EF4-FFF2-40B4-BE49-F238E27FC236}">
                <a16:creationId xmlns:a16="http://schemas.microsoft.com/office/drawing/2014/main" id="{6CCA2F0D-A49C-4D38-BA9C-59638BAB77D9}"/>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3803"/>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子类使用 super 访问父类被隐藏的成员变量 n 和方法 f()。</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subclass uses super to access the hidden member variable n and method f() of the parent class.</a:t>
            </a:r>
          </a:p>
        </p:txBody>
      </p:sp>
      <p:pic>
        <p:nvPicPr>
          <p:cNvPr id="471" name=""/>
          <p:cNvPicPr>
            <a:picLocks xmlns:a="http://schemas.openxmlformats.org/drawingml/2006/main" noChangeAspect="1"/>
          </p:cNvPicPr>
          <p:nvPr/>
        </p:nvPicPr>
        <p:blipFill>
          <a:blip xmlns:r="http://schemas.openxmlformats.org/officeDocument/2006/relationships" xmlns:a="http://schemas.openxmlformats.org/drawingml/2006/main" r:embed="R9ce872b18be1405b"/>
          <a:srcRect xmlns:a="http://schemas.openxmlformats.org/drawingml/2006/main" l="0" t="36" r="0" b="36"/>
          <a:stretch xmlns:a="http://schemas.openxmlformats.org/drawingml/2006/main">
            <a:fillRect l="0" t="0" r="0" b="0"/>
          </a:stretch>
        </p:blipFill>
        <p:spPr>
          <a:xfrm xmlns:a="http://schemas.openxmlformats.org/drawingml/2006/main" rot="0" flipH="0" flipV="0">
            <a:off x="4343400" y="2171700"/>
            <a:ext cx="7239000" cy="3162300"/>
          </a:xfrm>
          <a:prstGeom xmlns:a="http://schemas.openxmlformats.org/drawingml/2006/main" prst="roundRect">
            <a:avLst>
              <a:gd name="adj" fmla="val 2410"/>
            </a:avLst>
          </a:prstGeom>
        </p:spPr>
      </p:pic>
      <p:sp>
        <p:nvSpPr>
          <p:cNvPr id="462" name="">
            <a:extLst xmlns:a="http://schemas.openxmlformats.org/drawingml/2006/main">
              <a:ext uri="{FF2B5EF4-FFF2-40B4-BE49-F238E27FC236}">
                <a16:creationId xmlns:a16="http://schemas.microsoft.com/office/drawing/2014/main" id="{31272E29-F208-4F00-90BD-5C6F1313A6A3}"/>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42 / 87</a:t>
            </a:r>
            <a:endParaRPr/>
          </a:p>
        </p:txBody>
      </p:sp>
    </p:spTree>
    <p:extLst>
      <p:ext uri="{BB962C8B-B14F-4D97-AF65-F5344CB8AC3E}">
        <p14:creationId xmlns:p14="http://schemas.microsoft.com/office/powerpoint/2010/main" val="1679763158"/>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464" name="">
            <a:extLst xmlns:a="http://schemas.openxmlformats.org/drawingml/2006/main">
              <a:ext uri="{FF2B5EF4-FFF2-40B4-BE49-F238E27FC236}">
                <a16:creationId xmlns:a16="http://schemas.microsoft.com/office/drawing/2014/main" id="{B75DCB95-9367-4BB1-830C-989457E86131}"/>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65" name="">
            <a:extLst xmlns:a="http://schemas.openxmlformats.org/drawingml/2006/main">
              <a:ext uri="{FF2B5EF4-FFF2-40B4-BE49-F238E27FC236}">
                <a16:creationId xmlns:a16="http://schemas.microsoft.com/office/drawing/2014/main" id="{3C3AF086-F145-46F1-9D17-D520CBC72F69}"/>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66" name="">
            <a:extLst xmlns:a="http://schemas.openxmlformats.org/drawingml/2006/main">
              <a:ext uri="{FF2B5EF4-FFF2-40B4-BE49-F238E27FC236}">
                <a16:creationId xmlns:a16="http://schemas.microsoft.com/office/drawing/2014/main" id="{BAFFDC4C-B2AD-4540-82E0-28332D857859}"/>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467" name="">
            <a:extLst xmlns:a="http://schemas.openxmlformats.org/drawingml/2006/main">
              <a:ext uri="{FF2B5EF4-FFF2-40B4-BE49-F238E27FC236}">
                <a16:creationId xmlns:a16="http://schemas.microsoft.com/office/drawing/2014/main" id="{85D0ED16-A8DE-4ADC-8DBF-9AF8A8F1E3FD}"/>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§5.5</a:t>
            </a:r>
            <a:endParaRPr/>
          </a:p>
        </p:txBody>
      </p:sp>
      <p:sp>
        <p:nvSpPr>
          <p:cNvPr id="468" name="">
            <a:extLst xmlns:a="http://schemas.openxmlformats.org/drawingml/2006/main">
              <a:ext uri="{FF2B5EF4-FFF2-40B4-BE49-F238E27FC236}">
                <a16:creationId xmlns:a16="http://schemas.microsoft.com/office/drawing/2014/main" id="{610956E2-735D-4F47-BFAB-9DD717156444}"/>
              </a:ext>
            </a:extLst>
          </p:cNvPr>
          <p:cNvSpPr>
            <a:spLocks xmlns:a="http://schemas.openxmlformats.org/drawingml/2006/main" noGrp="1"/>
          </p:cNvSpPr>
          <p:nvPr/>
        </p:nvSpPr>
        <p:spPr>
          <a:xfrm xmlns:a="http://schemas.openxmlformats.org/drawingml/2006/main" rot="0" flipH="0" flipV="0">
            <a:off x="457200" y="1600200"/>
            <a:ext cx="3381375" cy="1647825"/>
          </a:xfrm>
          <a:prstGeom xmlns:a="http://schemas.openxmlformats.org/drawingml/2006/main" prst="rect">
            <a:avLst/>
          </a:prstGeom>
        </p:spPr>
        <p:txBody>
          <a:bodyPr xmlns:a="http://schemas.openxmlformats.org/drawingml/2006/main" wrap="square" lIns="0" tIns="0" rIns="0" bIns="0">
            <a:normAutofit fontScale="38545"/>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super 关键字（2）调用父类的构造方法</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The super keyword (2) calls the constructor of the parent class</a:t>
            </a:r>
          </a:p>
        </p:txBody>
      </p:sp>
      <p:sp>
        <p:nvSpPr>
          <p:cNvPr id="469" name="">
            <a:extLst xmlns:a="http://schemas.openxmlformats.org/drawingml/2006/main">
              <a:ext uri="{FF2B5EF4-FFF2-40B4-BE49-F238E27FC236}">
                <a16:creationId xmlns:a16="http://schemas.microsoft.com/office/drawing/2014/main" id="{D51BAB56-FEF1-49ED-A2D6-41C7CC5100D4}"/>
              </a:ext>
            </a:extLst>
          </p:cNvPr>
          <p:cNvSpPr>
            <a:spLocks xmlns:a="http://schemas.openxmlformats.org/drawingml/2006/main" noGrp="1"/>
          </p:cNvSpPr>
          <p:nvPr/>
        </p:nvSpPr>
        <p:spPr>
          <a:xfrm xmlns:a="http://schemas.openxmlformats.org/drawingml/2006/main" rot="0" flipH="0" flipV="0">
            <a:off x="457200" y="3476625"/>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70" name="">
            <a:extLst xmlns:a="http://schemas.openxmlformats.org/drawingml/2006/main">
              <a:ext uri="{FF2B5EF4-FFF2-40B4-BE49-F238E27FC236}">
                <a16:creationId xmlns:a16="http://schemas.microsoft.com/office/drawing/2014/main" id="{DCAEDAEB-578E-402D-902B-DC01D7F87E03}"/>
              </a:ext>
            </a:extLst>
          </p:cNvPr>
          <p:cNvSpPr>
            <a:spLocks xmlns:a="http://schemas.openxmlformats.org/drawingml/2006/main" noGrp="1"/>
          </p:cNvSpPr>
          <p:nvPr/>
        </p:nvSpPr>
        <p:spPr>
          <a:xfrm xmlns:a="http://schemas.openxmlformats.org/drawingml/2006/main" rot="0" flipH="0" flipV="0">
            <a:off x="457200" y="3733800"/>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子类不继承父类的构造方法，如需使用必须用 super 调用。</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Subclasses do not inherit the constructor of the parent class. If you need to use it, you must call it with super.</a:t>
            </a:r>
          </a:p>
        </p:txBody>
      </p:sp>
      <p:sp>
        <p:nvSpPr>
          <p:cNvPr id="471" name="">
            <a:extLst xmlns:a="http://schemas.openxmlformats.org/drawingml/2006/main">
              <a:ext uri="{FF2B5EF4-FFF2-40B4-BE49-F238E27FC236}">
                <a16:creationId xmlns:a16="http://schemas.microsoft.com/office/drawing/2014/main" id="{3822B77B-23DA-4011-B524-0E8522510A1F}"/>
              </a:ext>
            </a:extLst>
          </p:cNvPr>
          <p:cNvSpPr>
            <a:spLocks xmlns:a="http://schemas.openxmlformats.org/drawingml/2006/main" noGrp="1"/>
          </p:cNvSpPr>
          <p:nvPr/>
        </p:nvSpPr>
        <p:spPr>
          <a:xfrm xmlns:a="http://schemas.openxmlformats.org/drawingml/2006/main" rot="0" flipH="0" flipV="0">
            <a:off x="4181475" y="2552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72" name="">
            <a:extLst xmlns:a="http://schemas.openxmlformats.org/drawingml/2006/main">
              <a:ext uri="{FF2B5EF4-FFF2-40B4-BE49-F238E27FC236}">
                <a16:creationId xmlns:a16="http://schemas.microsoft.com/office/drawing/2014/main" id="{56B1F97A-3DC6-4C4F-81A0-9B23568947EE}"/>
              </a:ext>
            </a:extLst>
          </p:cNvPr>
          <p:cNvSpPr>
            <a:spLocks xmlns:a="http://schemas.openxmlformats.org/drawingml/2006/main" noGrp="1"/>
          </p:cNvSpPr>
          <p:nvPr/>
        </p:nvSpPr>
        <p:spPr>
          <a:xfrm xmlns:a="http://schemas.openxmlformats.org/drawingml/2006/main" rot="0" flipH="0" flipV="0">
            <a:off x="4371975" y="2438400"/>
            <a:ext cx="7362825" cy="390525"/>
          </a:xfrm>
          <a:prstGeom xmlns:a="http://schemas.openxmlformats.org/drawingml/2006/main" prst="rect">
            <a:avLst/>
          </a:prstGeom>
        </p:spPr>
        <p:txBody>
          <a:bodyPr xmlns:a="http://schemas.openxmlformats.org/drawingml/2006/main" wrap="none" lIns="0" tIns="0" rIns="0" bIns="0">
            <a:normAutofit fontScale="40756"/>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子类如果想使用父类的构造方法，必须在子类的构造方法中使用关键字 super 表示</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If a subclass wants to use the constructor of the parent class, it must use the keyword super in the constructor of the subclass.</a:t>
            </a:r>
          </a:p>
        </p:txBody>
      </p:sp>
      <p:sp>
        <p:nvSpPr>
          <p:cNvPr id="473" name="">
            <a:extLst xmlns:a="http://schemas.openxmlformats.org/drawingml/2006/main">
              <a:ext uri="{FF2B5EF4-FFF2-40B4-BE49-F238E27FC236}">
                <a16:creationId xmlns:a16="http://schemas.microsoft.com/office/drawing/2014/main" id="{B46C6432-4965-4F60-A90E-58A00AD262F0}"/>
              </a:ext>
            </a:extLst>
          </p:cNvPr>
          <p:cNvSpPr>
            <a:spLocks xmlns:a="http://schemas.openxmlformats.org/drawingml/2006/main" noGrp="1"/>
          </p:cNvSpPr>
          <p:nvPr/>
        </p:nvSpPr>
        <p:spPr>
          <a:xfrm xmlns:a="http://schemas.openxmlformats.org/drawingml/2006/main" rot="0" flipH="0" flipV="0">
            <a:off x="4181475" y="3114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74" name="">
            <a:extLst xmlns:a="http://schemas.openxmlformats.org/drawingml/2006/main">
              <a:ext uri="{FF2B5EF4-FFF2-40B4-BE49-F238E27FC236}">
                <a16:creationId xmlns:a16="http://schemas.microsoft.com/office/drawing/2014/main" id="{640CB98E-8C99-45DC-A54C-6638E0D396FE}"/>
              </a:ext>
            </a:extLst>
          </p:cNvPr>
          <p:cNvSpPr>
            <a:spLocks xmlns:a="http://schemas.openxmlformats.org/drawingml/2006/main" noGrp="1"/>
          </p:cNvSpPr>
          <p:nvPr/>
        </p:nvSpPr>
        <p:spPr>
          <a:xfrm xmlns:a="http://schemas.openxmlformats.org/drawingml/2006/main" rot="0" flipH="0" flipV="0">
            <a:off x="4371975" y="30003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super 必须是子类构造方法中的头一条语句</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super must be the first statement in the subclass constructor</a:t>
            </a:r>
          </a:p>
        </p:txBody>
      </p:sp>
      <p:sp>
        <p:nvSpPr>
          <p:cNvPr id="475" name="">
            <a:extLst xmlns:a="http://schemas.openxmlformats.org/drawingml/2006/main">
              <a:ext uri="{FF2B5EF4-FFF2-40B4-BE49-F238E27FC236}">
                <a16:creationId xmlns:a16="http://schemas.microsoft.com/office/drawing/2014/main" id="{34ACA172-2AEC-49C8-91AB-7529E2EC28AE}"/>
              </a:ext>
            </a:extLst>
          </p:cNvPr>
          <p:cNvSpPr>
            <a:spLocks xmlns:a="http://schemas.openxmlformats.org/drawingml/2006/main" noGrp="1"/>
          </p:cNvSpPr>
          <p:nvPr/>
        </p:nvSpPr>
        <p:spPr>
          <a:xfrm xmlns:a="http://schemas.openxmlformats.org/drawingml/2006/main" rot="0" flipH="0" flipV="0">
            <a:off x="4181475" y="36766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76" name="">
            <a:extLst xmlns:a="http://schemas.openxmlformats.org/drawingml/2006/main">
              <a:ext uri="{FF2B5EF4-FFF2-40B4-BE49-F238E27FC236}">
                <a16:creationId xmlns:a16="http://schemas.microsoft.com/office/drawing/2014/main" id="{95122A41-B51B-4700-A2E7-41C831197039}"/>
              </a:ext>
            </a:extLst>
          </p:cNvPr>
          <p:cNvSpPr>
            <a:spLocks xmlns:a="http://schemas.openxmlformats.org/drawingml/2006/main" noGrp="1"/>
          </p:cNvSpPr>
          <p:nvPr/>
        </p:nvSpPr>
        <p:spPr>
          <a:xfrm xmlns:a="http://schemas.openxmlformats.org/drawingml/2006/main" rot="0" flipH="0" flipV="0">
            <a:off x="4371975" y="3562350"/>
            <a:ext cx="7362825" cy="781050"/>
          </a:xfrm>
          <a:prstGeom xmlns:a="http://schemas.openxmlformats.org/drawingml/2006/main" prst="rect">
            <a:avLst/>
          </a:prstGeom>
        </p:spPr>
        <p:txBody>
          <a:bodyPr xmlns:a="http://schemas.openxmlformats.org/drawingml/2006/main" wrap="square" lIns="0" tIns="0" rIns="0" bIns="0">
            <a:normAutofit fontScale="60103"/>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子类构造方法没有显式写出 super 时，默认第一条语句是 super()（调用父类无参构造方法）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When the subclass constructor does not explicitly write super, the default first statement is super() (calling the parent class no-argument constructor)</a:t>
            </a:r>
          </a:p>
        </p:txBody>
      </p:sp>
      <p:sp>
        <p:nvSpPr>
          <p:cNvPr id="477" name="">
            <a:extLst xmlns:a="http://schemas.openxmlformats.org/drawingml/2006/main">
              <a:ext uri="{FF2B5EF4-FFF2-40B4-BE49-F238E27FC236}">
                <a16:creationId xmlns:a16="http://schemas.microsoft.com/office/drawing/2014/main" id="{A921D15D-03DA-45E8-ACAA-9A545E40A97C}"/>
              </a:ext>
            </a:extLst>
          </p:cNvPr>
          <p:cNvSpPr>
            <a:spLocks xmlns:a="http://schemas.openxmlformats.org/drawingml/2006/main" noGrp="1"/>
          </p:cNvSpPr>
          <p:nvPr/>
        </p:nvSpPr>
        <p:spPr>
          <a:xfrm xmlns:a="http://schemas.openxmlformats.org/drawingml/2006/main" rot="0" flipH="0" flipV="0">
            <a:off x="4181475" y="46291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78" name="">
            <a:extLst xmlns:a="http://schemas.openxmlformats.org/drawingml/2006/main">
              <a:ext uri="{FF2B5EF4-FFF2-40B4-BE49-F238E27FC236}">
                <a16:creationId xmlns:a16="http://schemas.microsoft.com/office/drawing/2014/main" id="{7FDC5E43-84E1-43AE-8FA6-125F9CF19B84}"/>
              </a:ext>
            </a:extLst>
          </p:cNvPr>
          <p:cNvSpPr>
            <a:spLocks xmlns:a="http://schemas.openxmlformats.org/drawingml/2006/main" noGrp="1"/>
          </p:cNvSpPr>
          <p:nvPr/>
        </p:nvSpPr>
        <p:spPr>
          <a:xfrm xmlns:a="http://schemas.openxmlformats.org/drawingml/2006/main" rot="0" flipH="0" flipV="0">
            <a:off x="4371975" y="451485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显式写出 super 后，编译器不再提供默认的 super 语句</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After writing super explicitly, the compiler no longer provides a default super statement</a:t>
            </a:r>
          </a:p>
        </p:txBody>
      </p:sp>
      <p:sp>
        <p:nvSpPr>
          <p:cNvPr id="479" name="">
            <a:extLst xmlns:a="http://schemas.openxmlformats.org/drawingml/2006/main">
              <a:ext uri="{FF2B5EF4-FFF2-40B4-BE49-F238E27FC236}">
                <a16:creationId xmlns:a16="http://schemas.microsoft.com/office/drawing/2014/main" id="{35C3128A-9176-4CEE-AE94-E9C84EF55172}"/>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43 / 87</a:t>
            </a:r>
            <a:endParaRPr/>
          </a:p>
        </p:txBody>
      </p:sp>
    </p:spTree>
    <p:extLst>
      <p:ext uri="{BB962C8B-B14F-4D97-AF65-F5344CB8AC3E}">
        <p14:creationId xmlns:p14="http://schemas.microsoft.com/office/powerpoint/2010/main" val="161541302"/>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481" name="">
            <a:extLst xmlns:a="http://schemas.openxmlformats.org/drawingml/2006/main">
              <a:ext uri="{FF2B5EF4-FFF2-40B4-BE49-F238E27FC236}">
                <a16:creationId xmlns:a16="http://schemas.microsoft.com/office/drawing/2014/main" id="{B4569667-8DF3-40FE-9BA2-1FCD82ADB98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82" name="">
            <a:extLst xmlns:a="http://schemas.openxmlformats.org/drawingml/2006/main">
              <a:ext uri="{FF2B5EF4-FFF2-40B4-BE49-F238E27FC236}">
                <a16:creationId xmlns:a16="http://schemas.microsoft.com/office/drawing/2014/main" id="{1B9C7F3B-5466-48CA-9237-1AAE6ED9FB9C}"/>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83" name="">
            <a:extLst xmlns:a="http://schemas.openxmlformats.org/drawingml/2006/main">
              <a:ext uri="{FF2B5EF4-FFF2-40B4-BE49-F238E27FC236}">
                <a16:creationId xmlns:a16="http://schemas.microsoft.com/office/drawing/2014/main" id="{4CD78C7E-0885-4A86-9377-B84FF05CFA30}"/>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484" name="">
            <a:extLst xmlns:a="http://schemas.openxmlformats.org/drawingml/2006/main">
              <a:ext uri="{FF2B5EF4-FFF2-40B4-BE49-F238E27FC236}">
                <a16:creationId xmlns:a16="http://schemas.microsoft.com/office/drawing/2014/main" id="{FE48455A-3F3E-47E6-A51C-854C79EE94F4}"/>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例子8</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8</a:t>
            </a:r>
          </a:p>
        </p:txBody>
      </p:sp>
      <p:sp>
        <p:nvSpPr>
          <p:cNvPr id="485" name="">
            <a:extLst xmlns:a="http://schemas.openxmlformats.org/drawingml/2006/main">
              <a:ext uri="{FF2B5EF4-FFF2-40B4-BE49-F238E27FC236}">
                <a16:creationId xmlns:a16="http://schemas.microsoft.com/office/drawing/2014/main" id="{9F356A20-5331-48C1-A681-4E359AA1E0BA}"/>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Example5_8（上）</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Example5_8 (Part 1)</a:t>
            </a:r>
          </a:p>
        </p:txBody>
      </p:sp>
      <p:sp>
        <p:nvSpPr>
          <p:cNvPr id="486" name="">
            <a:extLst xmlns:a="http://schemas.openxmlformats.org/drawingml/2006/main">
              <a:ext uri="{FF2B5EF4-FFF2-40B4-BE49-F238E27FC236}">
                <a16:creationId xmlns:a16="http://schemas.microsoft.com/office/drawing/2014/main" id="{014AC0F3-AEB1-4B55-B2B4-B50726FA8EF2}"/>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87" name="">
            <a:extLst xmlns:a="http://schemas.openxmlformats.org/drawingml/2006/main">
              <a:ext uri="{FF2B5EF4-FFF2-40B4-BE49-F238E27FC236}">
                <a16:creationId xmlns:a16="http://schemas.microsoft.com/office/drawing/2014/main" id="{42FB4552-8E52-4597-9293-8CEC16FE4198}"/>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60043"/>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Student 有两个构造方法：无参与带参。</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Student has two construction methods: no participation and parameters.</a:t>
            </a:r>
          </a:p>
        </p:txBody>
      </p:sp>
      <p:pic>
        <p:nvPicPr>
          <p:cNvPr id="498" name=""/>
          <p:cNvPicPr>
            <a:picLocks xmlns:a="http://schemas.openxmlformats.org/drawingml/2006/main" noChangeAspect="1"/>
          </p:cNvPicPr>
          <p:nvPr/>
        </p:nvPicPr>
        <p:blipFill>
          <a:blip xmlns:r="http://schemas.openxmlformats.org/officeDocument/2006/relationships" xmlns:a="http://schemas.openxmlformats.org/drawingml/2006/main" r:embed="R29ee3771da6a435f"/>
          <a:srcRect xmlns:a="http://schemas.openxmlformats.org/drawingml/2006/main" l="0" t="8" r="0" b="8"/>
          <a:stretch xmlns:a="http://schemas.openxmlformats.org/drawingml/2006/main">
            <a:fillRect l="0" t="0" r="0" b="0"/>
          </a:stretch>
        </p:blipFill>
        <p:spPr>
          <a:xfrm xmlns:a="http://schemas.openxmlformats.org/drawingml/2006/main" rot="0" flipH="0" flipV="0">
            <a:off x="4143375" y="1752600"/>
            <a:ext cx="7591425" cy="3800475"/>
          </a:xfrm>
          <a:prstGeom xmlns:a="http://schemas.openxmlformats.org/drawingml/2006/main" prst="roundRect">
            <a:avLst>
              <a:gd name="adj" fmla="val 3008"/>
            </a:avLst>
          </a:prstGeom>
          <a:effectLst xmlns:a="http://schemas.openxmlformats.org/drawingml/2006/main">
            <a:outerShdw blurRad="152400" dist="38100" dir="5400000">
              <a:srgbClr val="0F1C2E">
                <a:alpha val="8000"/>
              </a:srgbClr>
            </a:outerShdw>
          </a:effectLst>
        </p:spPr>
      </p:pic>
      <p:sp>
        <p:nvSpPr>
          <p:cNvPr id="489" name="">
            <a:extLst xmlns:a="http://schemas.openxmlformats.org/drawingml/2006/main">
              <a:ext uri="{FF2B5EF4-FFF2-40B4-BE49-F238E27FC236}">
                <a16:creationId xmlns:a16="http://schemas.microsoft.com/office/drawing/2014/main" id="{92FF083F-EDF8-409B-B9FC-F93F09EF6224}"/>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44 / 87</a:t>
            </a:r>
            <a:endParaRPr/>
          </a:p>
        </p:txBody>
      </p:sp>
    </p:spTree>
    <p:extLst>
      <p:ext uri="{BB962C8B-B14F-4D97-AF65-F5344CB8AC3E}">
        <p14:creationId xmlns:p14="http://schemas.microsoft.com/office/powerpoint/2010/main" val="277360122"/>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491" name="">
            <a:extLst xmlns:a="http://schemas.openxmlformats.org/drawingml/2006/main">
              <a:ext uri="{FF2B5EF4-FFF2-40B4-BE49-F238E27FC236}">
                <a16:creationId xmlns:a16="http://schemas.microsoft.com/office/drawing/2014/main" id="{2671CB84-0B65-4AB2-A585-40172CD81AF5}"/>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92" name="">
            <a:extLst xmlns:a="http://schemas.openxmlformats.org/drawingml/2006/main">
              <a:ext uri="{FF2B5EF4-FFF2-40B4-BE49-F238E27FC236}">
                <a16:creationId xmlns:a16="http://schemas.microsoft.com/office/drawing/2014/main" id="{69B03E61-5CC3-448C-9D58-D5961E19FDA9}"/>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93" name="">
            <a:extLst xmlns:a="http://schemas.openxmlformats.org/drawingml/2006/main">
              <a:ext uri="{FF2B5EF4-FFF2-40B4-BE49-F238E27FC236}">
                <a16:creationId xmlns:a16="http://schemas.microsoft.com/office/drawing/2014/main" id="{924940C0-A850-4440-A5E5-DE2C12F4F4DB}"/>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494" name="">
            <a:extLst xmlns:a="http://schemas.openxmlformats.org/drawingml/2006/main">
              <a:ext uri="{FF2B5EF4-FFF2-40B4-BE49-F238E27FC236}">
                <a16:creationId xmlns:a16="http://schemas.microsoft.com/office/drawing/2014/main" id="{E4E481DD-8A11-499A-8DD0-5C1C933260D7}"/>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例子8</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8</a:t>
            </a:r>
          </a:p>
        </p:txBody>
      </p:sp>
      <p:sp>
        <p:nvSpPr>
          <p:cNvPr id="495" name="">
            <a:extLst xmlns:a="http://schemas.openxmlformats.org/drawingml/2006/main">
              <a:ext uri="{FF2B5EF4-FFF2-40B4-BE49-F238E27FC236}">
                <a16:creationId xmlns:a16="http://schemas.microsoft.com/office/drawing/2014/main" id="{3D3F6643-A7E2-4F86-899C-BA28B97B90F8}"/>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Example5_8（下）</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Example5_8 (Part 2)</a:t>
            </a:r>
          </a:p>
        </p:txBody>
      </p:sp>
      <p:sp>
        <p:nvSpPr>
          <p:cNvPr id="496" name="">
            <a:extLst xmlns:a="http://schemas.openxmlformats.org/drawingml/2006/main">
              <a:ext uri="{FF2B5EF4-FFF2-40B4-BE49-F238E27FC236}">
                <a16:creationId xmlns:a16="http://schemas.microsoft.com/office/drawing/2014/main" id="{3C1740F9-9B0A-46EE-9D21-AC3D9F470EDF}"/>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97" name="">
            <a:extLst xmlns:a="http://schemas.openxmlformats.org/drawingml/2006/main">
              <a:ext uri="{FF2B5EF4-FFF2-40B4-BE49-F238E27FC236}">
                <a16:creationId xmlns:a16="http://schemas.microsoft.com/office/drawing/2014/main" id="{5E045DCC-7B9C-4971-B2E1-69127D628B7B}"/>
              </a:ext>
            </a:extLst>
          </p:cNvPr>
          <p:cNvSpPr>
            <a:spLocks xmlns:a="http://schemas.openxmlformats.org/drawingml/2006/main" noGrp="1"/>
          </p:cNvSpPr>
          <p:nvPr/>
        </p:nvSpPr>
        <p:spPr>
          <a:xfrm xmlns:a="http://schemas.openxmlformats.org/drawingml/2006/main" rot="0" flipH="0" flipV="0">
            <a:off x="457200" y="260032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UniverStudent 构造方法第一条语句 super(number,name) 调用父类带参构造方法。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first statement of the UniverStudent constructor, super(number,name), calls the parent class's constructor with parameters.</a:t>
            </a:r>
          </a:p>
        </p:txBody>
      </p:sp>
      <p:pic>
        <p:nvPicPr>
          <p:cNvPr id="508" name=""/>
          <p:cNvPicPr>
            <a:picLocks xmlns:a="http://schemas.openxmlformats.org/drawingml/2006/main" noChangeAspect="1"/>
          </p:cNvPicPr>
          <p:nvPr/>
        </p:nvPicPr>
        <p:blipFill>
          <a:blip xmlns:r="http://schemas.openxmlformats.org/officeDocument/2006/relationships" xmlns:a="http://schemas.openxmlformats.org/drawingml/2006/main" r:embed="R923693b6f3e64944"/>
          <a:srcRect xmlns:a="http://schemas.openxmlformats.org/drawingml/2006/main" l="10" t="0" r="10" b="0"/>
          <a:stretch xmlns:a="http://schemas.openxmlformats.org/drawingml/2006/main">
            <a:fillRect l="0" t="0" r="0" b="0"/>
          </a:stretch>
        </p:blipFill>
        <p:spPr>
          <a:xfrm xmlns:a="http://schemas.openxmlformats.org/drawingml/2006/main" rot="0" flipH="0" flipV="0">
            <a:off x="4143375" y="1876425"/>
            <a:ext cx="7591425" cy="3552825"/>
          </a:xfrm>
          <a:prstGeom xmlns:a="http://schemas.openxmlformats.org/drawingml/2006/main" prst="roundRect">
            <a:avLst>
              <a:gd name="adj" fmla="val 3217"/>
            </a:avLst>
          </a:prstGeom>
          <a:effectLst xmlns:a="http://schemas.openxmlformats.org/drawingml/2006/main">
            <a:outerShdw blurRad="152400" dist="38100" dir="5400000">
              <a:srgbClr val="0F1C2E">
                <a:alpha val="8000"/>
              </a:srgbClr>
            </a:outerShdw>
          </a:effectLst>
        </p:spPr>
      </p:pic>
      <p:sp>
        <p:nvSpPr>
          <p:cNvPr id="499" name="">
            <a:extLst xmlns:a="http://schemas.openxmlformats.org/drawingml/2006/main">
              <a:ext uri="{FF2B5EF4-FFF2-40B4-BE49-F238E27FC236}">
                <a16:creationId xmlns:a16="http://schemas.microsoft.com/office/drawing/2014/main" id="{C094C814-F5E4-4EF4-86B5-ED87BBF14EE3}"/>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45 / 87</a:t>
            </a:r>
            <a:endParaRPr/>
          </a:p>
        </p:txBody>
      </p:sp>
    </p:spTree>
    <p:extLst>
      <p:ext uri="{BB962C8B-B14F-4D97-AF65-F5344CB8AC3E}">
        <p14:creationId xmlns:p14="http://schemas.microsoft.com/office/powerpoint/2010/main" val="1073841585"/>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501" name="">
            <a:extLst xmlns:a="http://schemas.openxmlformats.org/drawingml/2006/main">
              <a:ext uri="{FF2B5EF4-FFF2-40B4-BE49-F238E27FC236}">
                <a16:creationId xmlns:a16="http://schemas.microsoft.com/office/drawing/2014/main" id="{E807BC8D-2A8F-40B7-AB27-2EFAE1FD2C00}"/>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02" name="">
            <a:extLst xmlns:a="http://schemas.openxmlformats.org/drawingml/2006/main">
              <a:ext uri="{FF2B5EF4-FFF2-40B4-BE49-F238E27FC236}">
                <a16:creationId xmlns:a16="http://schemas.microsoft.com/office/drawing/2014/main" id="{D62DCB50-76DE-4C69-BD2E-7EFCA3CCDE14}"/>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03" name="">
            <a:extLst xmlns:a="http://schemas.openxmlformats.org/drawingml/2006/main">
              <a:ext uri="{FF2B5EF4-FFF2-40B4-BE49-F238E27FC236}">
                <a16:creationId xmlns:a16="http://schemas.microsoft.com/office/drawing/2014/main" id="{2F0AAC07-EDF2-4985-A5EE-7728045EC3E3}"/>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504" name="">
            <a:extLst xmlns:a="http://schemas.openxmlformats.org/drawingml/2006/main">
              <a:ext uri="{FF2B5EF4-FFF2-40B4-BE49-F238E27FC236}">
                <a16:creationId xmlns:a16="http://schemas.microsoft.com/office/drawing/2014/main" id="{187E683E-8779-47A6-8212-458D73124D17}"/>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例子8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8 · Operation effect</a:t>
            </a:r>
          </a:p>
        </p:txBody>
      </p:sp>
      <p:sp>
        <p:nvSpPr>
          <p:cNvPr id="505" name="">
            <a:extLst xmlns:a="http://schemas.openxmlformats.org/drawingml/2006/main">
              <a:ext uri="{FF2B5EF4-FFF2-40B4-BE49-F238E27FC236}">
                <a16:creationId xmlns:a16="http://schemas.microsoft.com/office/drawing/2014/main" id="{07FB1454-E7D7-45A5-83CF-E97AAC57393C}"/>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运行效果（图5.8）</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Operation effect (Figure 5.8)</a:t>
            </a:r>
          </a:p>
        </p:txBody>
      </p:sp>
      <p:sp>
        <p:nvSpPr>
          <p:cNvPr id="506" name="">
            <a:extLst xmlns:a="http://schemas.openxmlformats.org/drawingml/2006/main">
              <a:ext uri="{FF2B5EF4-FFF2-40B4-BE49-F238E27FC236}">
                <a16:creationId xmlns:a16="http://schemas.microsoft.com/office/drawing/2014/main" id="{D0ECCF45-019B-4761-A0D7-65DB536D0E6F}"/>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07" name="">
            <a:extLst xmlns:a="http://schemas.openxmlformats.org/drawingml/2006/main">
              <a:ext uri="{FF2B5EF4-FFF2-40B4-BE49-F238E27FC236}">
                <a16:creationId xmlns:a16="http://schemas.microsoft.com/office/drawing/2014/main" id="{9D788760-9168-4CED-954E-6A0764291681}"/>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先执行父类构造方法，再执行子类构造方法。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parent class construction method is executed first, and then the subclass construction method is executed.</a:t>
            </a:r>
          </a:p>
        </p:txBody>
      </p:sp>
      <p:pic>
        <p:nvPicPr>
          <p:cNvPr id="518" name=""/>
          <p:cNvPicPr>
            <a:picLocks xmlns:a="http://schemas.openxmlformats.org/drawingml/2006/main" noChangeAspect="1"/>
          </p:cNvPicPr>
          <p:nvPr/>
        </p:nvPicPr>
        <p:blipFill>
          <a:blip xmlns:r="http://schemas.openxmlformats.org/officeDocument/2006/relationships" xmlns:a="http://schemas.openxmlformats.org/drawingml/2006/main" r:embed="Rd28f94eaac914c64"/>
          <a:srcRect xmlns:a="http://schemas.openxmlformats.org/drawingml/2006/main" l="84" t="0" r="84" b="0"/>
          <a:stretch xmlns:a="http://schemas.openxmlformats.org/drawingml/2006/main">
            <a:fillRect l="0" t="0" r="0" b="0"/>
          </a:stretch>
        </p:blipFill>
        <p:spPr>
          <a:xfrm xmlns:a="http://schemas.openxmlformats.org/drawingml/2006/main" rot="0" flipH="0" flipV="0">
            <a:off x="4343400" y="2590800"/>
            <a:ext cx="7239000" cy="2324100"/>
          </a:xfrm>
          <a:prstGeom xmlns:a="http://schemas.openxmlformats.org/drawingml/2006/main" prst="roundRect">
            <a:avLst>
              <a:gd name="adj" fmla="val 3279"/>
            </a:avLst>
          </a:prstGeom>
        </p:spPr>
      </p:pic>
      <p:sp>
        <p:nvSpPr>
          <p:cNvPr id="509" name="">
            <a:extLst xmlns:a="http://schemas.openxmlformats.org/drawingml/2006/main">
              <a:ext uri="{FF2B5EF4-FFF2-40B4-BE49-F238E27FC236}">
                <a16:creationId xmlns:a16="http://schemas.microsoft.com/office/drawing/2014/main" id="{181929BB-0B91-4208-A07F-4785228A1412}"/>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46 / 87</a:t>
            </a:r>
            <a:endParaRPr/>
          </a:p>
        </p:txBody>
      </p:sp>
    </p:spTree>
    <p:extLst>
      <p:ext uri="{BB962C8B-B14F-4D97-AF65-F5344CB8AC3E}">
        <p14:creationId xmlns:p14="http://schemas.microsoft.com/office/powerpoint/2010/main" val="242355901"/>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511" name="">
            <a:extLst xmlns:a="http://schemas.openxmlformats.org/drawingml/2006/main">
              <a:ext uri="{FF2B5EF4-FFF2-40B4-BE49-F238E27FC236}">
                <a16:creationId xmlns:a16="http://schemas.microsoft.com/office/drawing/2014/main" id="{AC09C01C-569A-4BFA-9692-617EDF3630B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12" name="">
            <a:extLst xmlns:a="http://schemas.openxmlformats.org/drawingml/2006/main">
              <a:ext uri="{FF2B5EF4-FFF2-40B4-BE49-F238E27FC236}">
                <a16:creationId xmlns:a16="http://schemas.microsoft.com/office/drawing/2014/main" id="{B8B0F8C9-34F3-42D5-BDB9-866A9A3C4044}"/>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13" name="">
            <a:extLst xmlns:a="http://schemas.openxmlformats.org/drawingml/2006/main">
              <a:ext uri="{FF2B5EF4-FFF2-40B4-BE49-F238E27FC236}">
                <a16:creationId xmlns:a16="http://schemas.microsoft.com/office/drawing/2014/main" id="{FE97CCD7-606A-44B8-822A-93C6AC347476}"/>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514" name="">
            <a:extLst xmlns:a="http://schemas.openxmlformats.org/drawingml/2006/main">
              <a:ext uri="{FF2B5EF4-FFF2-40B4-BE49-F238E27FC236}">
                <a16:creationId xmlns:a16="http://schemas.microsoft.com/office/drawing/2014/main" id="{E9CF0A8C-50AE-4514-8BAF-1320F91D5230}"/>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§5.5</a:t>
            </a:r>
            <a:endParaRPr/>
          </a:p>
        </p:txBody>
      </p:sp>
      <p:sp>
        <p:nvSpPr>
          <p:cNvPr id="515" name="">
            <a:extLst xmlns:a="http://schemas.openxmlformats.org/drawingml/2006/main">
              <a:ext uri="{FF2B5EF4-FFF2-40B4-BE49-F238E27FC236}">
                <a16:creationId xmlns:a16="http://schemas.microsoft.com/office/drawing/2014/main" id="{58E736BE-BD28-44ED-8EE0-DBD8F0E45459}"/>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3729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super 详解：父类构造方法的调用</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Detailed explanation of super: calling the parent class constructor method</a:t>
            </a:r>
          </a:p>
        </p:txBody>
      </p:sp>
      <p:sp>
        <p:nvSpPr>
          <p:cNvPr id="516" name="">
            <a:extLst xmlns:a="http://schemas.openxmlformats.org/drawingml/2006/main">
              <a:ext uri="{FF2B5EF4-FFF2-40B4-BE49-F238E27FC236}">
                <a16:creationId xmlns:a16="http://schemas.microsoft.com/office/drawing/2014/main" id="{15DC209F-45A4-49EF-904E-5FB5AA97DF59}"/>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17" name="">
            <a:extLst xmlns:a="http://schemas.openxmlformats.org/drawingml/2006/main">
              <a:ext uri="{FF2B5EF4-FFF2-40B4-BE49-F238E27FC236}">
                <a16:creationId xmlns:a16="http://schemas.microsoft.com/office/drawing/2014/main" id="{DBF96B0F-3D51-432D-BB2B-81352404BB81}"/>
              </a:ext>
            </a:extLst>
          </p:cNvPr>
          <p:cNvSpPr>
            <a:spLocks xmlns:a="http://schemas.openxmlformats.org/drawingml/2006/main" noGrp="1"/>
          </p:cNvSpPr>
          <p:nvPr/>
        </p:nvSpPr>
        <p:spPr>
          <a:xfrm xmlns:a="http://schemas.openxmlformats.org/drawingml/2006/main" rot="0" flipH="0" flipV="0">
            <a:off x="457200" y="319087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构造方法用于创建对象并初始化对象，子类对象的创建过程与父类密切相关。</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constructor is used to create and initialize objects. The creation process of subclass objects is closely related to the parent class.</a:t>
            </a:r>
          </a:p>
        </p:txBody>
      </p:sp>
      <p:sp>
        <p:nvSpPr>
          <p:cNvPr id="518" name="">
            <a:extLst xmlns:a="http://schemas.openxmlformats.org/drawingml/2006/main">
              <a:ext uri="{FF2B5EF4-FFF2-40B4-BE49-F238E27FC236}">
                <a16:creationId xmlns:a16="http://schemas.microsoft.com/office/drawing/2014/main" id="{611E0F3C-1856-4D57-BC37-8C1D5135AA2C}"/>
              </a:ext>
            </a:extLst>
          </p:cNvPr>
          <p:cNvSpPr>
            <a:spLocks xmlns:a="http://schemas.openxmlformats.org/drawingml/2006/main" noGrp="1"/>
          </p:cNvSpPr>
          <p:nvPr/>
        </p:nvSpPr>
        <p:spPr>
          <a:xfrm xmlns:a="http://schemas.openxmlformats.org/drawingml/2006/main" rot="0" flipH="0" flipV="0">
            <a:off x="4238625" y="2676525"/>
            <a:ext cx="3714750" cy="2000250"/>
          </a:xfrm>
          <a:prstGeom xmlns:a="http://schemas.openxmlformats.org/drawingml/2006/main" prst="roundRect">
            <a:avLst>
              <a:gd name="adj" fmla="val 476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19" name="">
            <a:extLst xmlns:a="http://schemas.openxmlformats.org/drawingml/2006/main">
              <a:ext uri="{FF2B5EF4-FFF2-40B4-BE49-F238E27FC236}">
                <a16:creationId xmlns:a16="http://schemas.microsoft.com/office/drawing/2014/main" id="{F7D5ECA7-8E14-4F39-A17F-E9715999694D}"/>
              </a:ext>
            </a:extLst>
          </p:cNvPr>
          <p:cNvSpPr>
            <a:spLocks xmlns:a="http://schemas.openxmlformats.org/drawingml/2006/main" noGrp="1"/>
          </p:cNvSpPr>
          <p:nvPr/>
        </p:nvSpPr>
        <p:spPr>
          <a:xfrm xmlns:a="http://schemas.openxmlformats.org/drawingml/2006/main" rot="0" flipH="0" flipV="0">
            <a:off x="4238625" y="2676525"/>
            <a:ext cx="3714750" cy="2000250"/>
          </a:xfrm>
          <a:custGeom xmlns:a="http://schemas.openxmlformats.org/drawingml/2006/main">
            <a:pathLst>
              <a:path w="390" h="210">
                <a:moveTo>
                  <a:pt x="10" y="0"/>
                </a:moveTo>
                <a:cubicBezTo>
                  <a:pt x="8" y="0"/>
                  <a:pt x="6" y="2"/>
                  <a:pt x="6" y="4"/>
                </a:cubicBezTo>
                <a:lnTo>
                  <a:pt x="6" y="206"/>
                </a:lnTo>
                <a:cubicBezTo>
                  <a:pt x="6" y="208"/>
                  <a:pt x="8" y="210"/>
                  <a:pt x="10" y="210"/>
                </a:cubicBezTo>
                <a:cubicBezTo>
                  <a:pt x="4" y="210"/>
                  <a:pt x="0" y="205"/>
                  <a:pt x="0" y="200"/>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20" name="">
            <a:extLst xmlns:a="http://schemas.openxmlformats.org/drawingml/2006/main">
              <a:ext uri="{FF2B5EF4-FFF2-40B4-BE49-F238E27FC236}">
                <a16:creationId xmlns:a16="http://schemas.microsoft.com/office/drawing/2014/main" id="{065DA3BD-D678-4140-9235-B2BAD87174CE}"/>
              </a:ext>
            </a:extLst>
          </p:cNvPr>
          <p:cNvSpPr>
            <a:spLocks xmlns:a="http://schemas.openxmlformats.org/drawingml/2006/main" noGrp="1"/>
          </p:cNvSpPr>
          <p:nvPr/>
        </p:nvSpPr>
        <p:spPr>
          <a:xfrm xmlns:a="http://schemas.openxmlformats.org/drawingml/2006/main" rot="0" flipH="0" flipV="0">
            <a:off x="4429125" y="2828925"/>
            <a:ext cx="3276600"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父类有带参构造方法</a:t>
            </a:r>
          </a:p>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The parent class has a constructor with parameters</a:t>
            </a:r>
          </a:p>
        </p:txBody>
      </p:sp>
      <p:sp>
        <p:nvSpPr>
          <p:cNvPr id="521" name="">
            <a:extLst xmlns:a="http://schemas.openxmlformats.org/drawingml/2006/main">
              <a:ext uri="{FF2B5EF4-FFF2-40B4-BE49-F238E27FC236}">
                <a16:creationId xmlns:a16="http://schemas.microsoft.com/office/drawing/2014/main" id="{506F7823-3C9E-40F1-928A-EDFB51F816FA}"/>
              </a:ext>
            </a:extLst>
          </p:cNvPr>
          <p:cNvSpPr>
            <a:spLocks xmlns:a="http://schemas.openxmlformats.org/drawingml/2006/main" noGrp="1"/>
          </p:cNvSpPr>
          <p:nvPr/>
        </p:nvSpPr>
        <p:spPr>
          <a:xfrm xmlns:a="http://schemas.openxmlformats.org/drawingml/2006/main" rot="0" flipH="0" flipV="0">
            <a:off x="4429125" y="3067050"/>
            <a:ext cx="3276600" cy="828675"/>
          </a:xfrm>
          <a:prstGeom xmlns:a="http://schemas.openxmlformats.org/drawingml/2006/main" prst="rect">
            <a:avLst/>
          </a:prstGeom>
        </p:spPr>
        <p:txBody>
          <a:bodyPr xmlns:a="http://schemas.openxmlformats.org/drawingml/2006/main" wrap="squar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父类拥有不带参数的构造方法 → 子类构造方法自动调用父类无参构造方法完成父类部分的初始化</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parent class has a constructor without parameters → the subclass constructor automatically calls the parent class's parameterless constructor to complete the initialization of the parent class.</a:t>
            </a:r>
          </a:p>
        </p:txBody>
      </p:sp>
      <p:sp>
        <p:nvSpPr>
          <p:cNvPr id="522" name="">
            <a:extLst xmlns:a="http://schemas.openxmlformats.org/drawingml/2006/main">
              <a:ext uri="{FF2B5EF4-FFF2-40B4-BE49-F238E27FC236}">
                <a16:creationId xmlns:a16="http://schemas.microsoft.com/office/drawing/2014/main" id="{F2FC9074-391B-417B-8E0F-015D91DB522D}"/>
              </a:ext>
            </a:extLst>
          </p:cNvPr>
          <p:cNvSpPr>
            <a:spLocks xmlns:a="http://schemas.openxmlformats.org/drawingml/2006/main" noGrp="1"/>
          </p:cNvSpPr>
          <p:nvPr/>
        </p:nvSpPr>
        <p:spPr>
          <a:xfrm xmlns:a="http://schemas.openxmlformats.org/drawingml/2006/main" rot="0" flipH="0" flipV="0">
            <a:off x="4429125" y="3933825"/>
            <a:ext cx="3276600" cy="552450"/>
          </a:xfrm>
          <a:prstGeom xmlns:a="http://schemas.openxmlformats.org/drawingml/2006/main" prst="rect">
            <a:avLst/>
          </a:prstGeom>
        </p:spPr>
        <p:txBody>
          <a:bodyPr xmlns:a="http://schemas.openxmlformats.org/drawingml/2006/main" wrap="square" lIns="0" tIns="0" rIns="0" bIns="0">
            <a:normAutofit fontScale="49399"/>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好比先按默认方式组装好基础部件，再组装子类特有的部分</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It's like assembling the basic components in the default way first, and then assembling the subclass-specific parts.</a:t>
            </a:r>
          </a:p>
        </p:txBody>
      </p:sp>
      <p:sp>
        <p:nvSpPr>
          <p:cNvPr id="523" name="">
            <a:extLst xmlns:a="http://schemas.openxmlformats.org/drawingml/2006/main">
              <a:ext uri="{FF2B5EF4-FFF2-40B4-BE49-F238E27FC236}">
                <a16:creationId xmlns:a16="http://schemas.microsoft.com/office/drawing/2014/main" id="{1D63D4D3-9279-46BC-8B06-C3FE664FF34D}"/>
              </a:ext>
            </a:extLst>
          </p:cNvPr>
          <p:cNvSpPr>
            <a:spLocks xmlns:a="http://schemas.openxmlformats.org/drawingml/2006/main" noGrp="1"/>
          </p:cNvSpPr>
          <p:nvPr/>
        </p:nvSpPr>
        <p:spPr>
          <a:xfrm xmlns:a="http://schemas.openxmlformats.org/drawingml/2006/main" rot="0" flipH="0" flipV="0">
            <a:off x="8086725" y="2676525"/>
            <a:ext cx="3705225" cy="2000250"/>
          </a:xfrm>
          <a:prstGeom xmlns:a="http://schemas.openxmlformats.org/drawingml/2006/main" prst="roundRect">
            <a:avLst>
              <a:gd name="adj" fmla="val 476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24" name="">
            <a:extLst xmlns:a="http://schemas.openxmlformats.org/drawingml/2006/main">
              <a:ext uri="{FF2B5EF4-FFF2-40B4-BE49-F238E27FC236}">
                <a16:creationId xmlns:a16="http://schemas.microsoft.com/office/drawing/2014/main" id="{ACA00DEC-FEE3-41EC-B017-EC2CE0AED8A5}"/>
              </a:ext>
            </a:extLst>
          </p:cNvPr>
          <p:cNvSpPr>
            <a:spLocks xmlns:a="http://schemas.openxmlformats.org/drawingml/2006/main" noGrp="1"/>
          </p:cNvSpPr>
          <p:nvPr/>
        </p:nvSpPr>
        <p:spPr>
          <a:xfrm xmlns:a="http://schemas.openxmlformats.org/drawingml/2006/main" rot="0" flipH="0" flipV="0">
            <a:off x="8086725" y="2676525"/>
            <a:ext cx="3705225" cy="2000250"/>
          </a:xfrm>
          <a:custGeom xmlns:a="http://schemas.openxmlformats.org/drawingml/2006/main">
            <a:pathLst>
              <a:path w="389" h="210">
                <a:moveTo>
                  <a:pt x="10" y="0"/>
                </a:moveTo>
                <a:cubicBezTo>
                  <a:pt x="8" y="0"/>
                  <a:pt x="6" y="2"/>
                  <a:pt x="6" y="4"/>
                </a:cubicBezTo>
                <a:lnTo>
                  <a:pt x="6" y="206"/>
                </a:lnTo>
                <a:cubicBezTo>
                  <a:pt x="6" y="208"/>
                  <a:pt x="8" y="210"/>
                  <a:pt x="10" y="210"/>
                </a:cubicBezTo>
                <a:cubicBezTo>
                  <a:pt x="4" y="210"/>
                  <a:pt x="0" y="205"/>
                  <a:pt x="0" y="200"/>
                </a:cubicBezTo>
                <a:lnTo>
                  <a:pt x="0" y="10"/>
                </a:lnTo>
                <a:cubicBezTo>
                  <a:pt x="0" y="5"/>
                  <a:pt x="4" y="0"/>
                  <a:pt x="10"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525" name="">
            <a:extLst xmlns:a="http://schemas.openxmlformats.org/drawingml/2006/main">
              <a:ext uri="{FF2B5EF4-FFF2-40B4-BE49-F238E27FC236}">
                <a16:creationId xmlns:a16="http://schemas.microsoft.com/office/drawing/2014/main" id="{8B57EE6B-B133-41FF-8B02-CFFF915ABDB2}"/>
              </a:ext>
            </a:extLst>
          </p:cNvPr>
          <p:cNvSpPr>
            <a:spLocks xmlns:a="http://schemas.openxmlformats.org/drawingml/2006/main" noGrp="1"/>
          </p:cNvSpPr>
          <p:nvPr/>
        </p:nvSpPr>
        <p:spPr>
          <a:xfrm xmlns:a="http://schemas.openxmlformats.org/drawingml/2006/main" rot="0" flipH="0" flipV="0">
            <a:off x="8277225" y="2828925"/>
            <a:ext cx="326707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父类只有带参构造方法</a:t>
            </a:r>
          </a:p>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The parent class only has a constructor with parameters</a:t>
            </a:r>
          </a:p>
        </p:txBody>
      </p:sp>
      <p:sp>
        <p:nvSpPr>
          <p:cNvPr id="526" name="">
            <a:extLst xmlns:a="http://schemas.openxmlformats.org/drawingml/2006/main">
              <a:ext uri="{FF2B5EF4-FFF2-40B4-BE49-F238E27FC236}">
                <a16:creationId xmlns:a16="http://schemas.microsoft.com/office/drawing/2014/main" id="{63A038B6-5798-4847-BF2C-F789D2943CE7}"/>
              </a:ext>
            </a:extLst>
          </p:cNvPr>
          <p:cNvSpPr>
            <a:spLocks xmlns:a="http://schemas.openxmlformats.org/drawingml/2006/main" noGrp="1"/>
          </p:cNvSpPr>
          <p:nvPr/>
        </p:nvSpPr>
        <p:spPr>
          <a:xfrm xmlns:a="http://schemas.openxmlformats.org/drawingml/2006/main" rot="0" flipH="0" flipV="0">
            <a:off x="8277225" y="3067050"/>
            <a:ext cx="3267075" cy="552450"/>
          </a:xfrm>
          <a:prstGeom xmlns:a="http://schemas.openxmlformats.org/drawingml/2006/main" prst="rect">
            <a:avLst/>
          </a:prstGeom>
        </p:spPr>
        <p:txBody>
          <a:bodyPr xmlns:a="http://schemas.openxmlformats.org/drawingml/2006/main" wrap="square" lIns="0" tIns="0" rIns="0" bIns="0">
            <a:normAutofit fontScale="53899"/>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子类必须显式使用 super 调用父类的某个带参数构造方法</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subclass must explicitly use super to call a parameterized constructor of the parent class.</a:t>
            </a:r>
          </a:p>
        </p:txBody>
      </p:sp>
      <p:sp>
        <p:nvSpPr>
          <p:cNvPr id="527" name="">
            <a:extLst xmlns:a="http://schemas.openxmlformats.org/drawingml/2006/main">
              <a:ext uri="{FF2B5EF4-FFF2-40B4-BE49-F238E27FC236}">
                <a16:creationId xmlns:a16="http://schemas.microsoft.com/office/drawing/2014/main" id="{974D2655-DF98-4B47-81A5-097BAE8C1D9B}"/>
              </a:ext>
            </a:extLst>
          </p:cNvPr>
          <p:cNvSpPr>
            <a:spLocks xmlns:a="http://schemas.openxmlformats.org/drawingml/2006/main" noGrp="1"/>
          </p:cNvSpPr>
          <p:nvPr/>
        </p:nvSpPr>
        <p:spPr>
          <a:xfrm xmlns:a="http://schemas.openxmlformats.org/drawingml/2006/main" rot="0" flipH="0" flipV="0">
            <a:off x="8277225" y="3657600"/>
            <a:ext cx="3267075" cy="276225"/>
          </a:xfrm>
          <a:prstGeom xmlns:a="http://schemas.openxmlformats.org/drawingml/2006/main" prst="rect">
            <a:avLst/>
          </a:prstGeom>
        </p:spPr>
        <p:txBody>
          <a:bodyPr xmlns:a="http://schemas.openxmlformats.org/drawingml/2006/main" wrap="none" lIns="0" tIns="0" rIns="0" bIns="0">
            <a:normAutofit fontScale="33692"/>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super 语句必须放在子类构造方法的第一句</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super statement must be placed in the first sentence of the subclass constructor</a:t>
            </a:r>
          </a:p>
        </p:txBody>
      </p:sp>
      <p:sp>
        <p:nvSpPr>
          <p:cNvPr id="528" name="">
            <a:extLst xmlns:a="http://schemas.openxmlformats.org/drawingml/2006/main">
              <a:ext uri="{FF2B5EF4-FFF2-40B4-BE49-F238E27FC236}">
                <a16:creationId xmlns:a16="http://schemas.microsoft.com/office/drawing/2014/main" id="{D67EB7D9-89A3-4A7F-9C49-C726CC61A481}"/>
              </a:ext>
            </a:extLst>
          </p:cNvPr>
          <p:cNvSpPr>
            <a:spLocks xmlns:a="http://schemas.openxmlformats.org/drawingml/2006/main" noGrp="1"/>
          </p:cNvSpPr>
          <p:nvPr/>
        </p:nvSpPr>
        <p:spPr>
          <a:xfrm xmlns:a="http://schemas.openxmlformats.org/drawingml/2006/main" rot="0" flipH="0" flipV="0">
            <a:off x="8277225" y="3971925"/>
            <a:ext cx="3267075" cy="552450"/>
          </a:xfrm>
          <a:prstGeom xmlns:a="http://schemas.openxmlformats.org/drawingml/2006/main" prst="rect">
            <a:avLst/>
          </a:prstGeom>
        </p:spPr>
        <p:txBody>
          <a:bodyPr xmlns:a="http://schemas.openxmlformats.org/drawingml/2006/main" wrap="square" lIns="0" tIns="0" rIns="0" bIns="0">
            <a:normAutofit fontScale="424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一个子类构造方法中只能有一条 super 语句，保证父类部分只按一种方式初始化一次</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There can only be one super statement in a subclass constructor to ensure that the parent class part is only initialized once in one way.</a:t>
            </a:r>
          </a:p>
        </p:txBody>
      </p:sp>
      <p:sp>
        <p:nvSpPr>
          <p:cNvPr id="529" name="">
            <a:extLst xmlns:a="http://schemas.openxmlformats.org/drawingml/2006/main">
              <a:ext uri="{FF2B5EF4-FFF2-40B4-BE49-F238E27FC236}">
                <a16:creationId xmlns:a16="http://schemas.microsoft.com/office/drawing/2014/main" id="{BB4A9E8E-A1C0-436A-B238-96DE1531270D}"/>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47 / 87</a:t>
            </a:r>
            <a:endParaRPr/>
          </a:p>
        </p:txBody>
      </p:sp>
    </p:spTree>
    <p:extLst>
      <p:ext uri="{BB962C8B-B14F-4D97-AF65-F5344CB8AC3E}">
        <p14:creationId xmlns:p14="http://schemas.microsoft.com/office/powerpoint/2010/main" val="1700038229"/>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531" name="">
            <a:extLst xmlns:a="http://schemas.openxmlformats.org/drawingml/2006/main">
              <a:ext uri="{FF2B5EF4-FFF2-40B4-BE49-F238E27FC236}">
                <a16:creationId xmlns:a16="http://schemas.microsoft.com/office/drawing/2014/main" id="{9AB50738-F00D-42B4-B544-B0B1221F7AA1}"/>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32" name="">
            <a:extLst xmlns:a="http://schemas.openxmlformats.org/drawingml/2006/main">
              <a:ext uri="{FF2B5EF4-FFF2-40B4-BE49-F238E27FC236}">
                <a16:creationId xmlns:a16="http://schemas.microsoft.com/office/drawing/2014/main" id="{E0DC8257-29A5-440D-AEC4-503AF4A4C772}"/>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33" name="">
            <a:extLst xmlns:a="http://schemas.openxmlformats.org/drawingml/2006/main">
              <a:ext uri="{FF2B5EF4-FFF2-40B4-BE49-F238E27FC236}">
                <a16:creationId xmlns:a16="http://schemas.microsoft.com/office/drawing/2014/main" id="{9C32C63A-6DEE-4128-B7DB-DC785E0AF686}"/>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534" name="">
            <a:extLst xmlns:a="http://schemas.openxmlformats.org/drawingml/2006/main">
              <a:ext uri="{FF2B5EF4-FFF2-40B4-BE49-F238E27FC236}">
                <a16:creationId xmlns:a16="http://schemas.microsoft.com/office/drawing/2014/main" id="{15CFF3B7-C270-436A-A23A-F6B675B9A5D5}"/>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§5.6</a:t>
            </a:r>
            <a:endParaRPr/>
          </a:p>
        </p:txBody>
      </p:sp>
      <p:sp>
        <p:nvSpPr>
          <p:cNvPr id="535" name="">
            <a:extLst xmlns:a="http://schemas.openxmlformats.org/drawingml/2006/main">
              <a:ext uri="{FF2B5EF4-FFF2-40B4-BE49-F238E27FC236}">
                <a16:creationId xmlns:a16="http://schemas.microsoft.com/office/drawing/2014/main" id="{28F0FA42-3865-4196-BA09-D514986C777B}"/>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final 关键字</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final keyword</a:t>
            </a:r>
          </a:p>
        </p:txBody>
      </p:sp>
      <p:sp>
        <p:nvSpPr>
          <p:cNvPr id="536" name="">
            <a:extLst xmlns:a="http://schemas.openxmlformats.org/drawingml/2006/main">
              <a:ext uri="{FF2B5EF4-FFF2-40B4-BE49-F238E27FC236}">
                <a16:creationId xmlns:a16="http://schemas.microsoft.com/office/drawing/2014/main" id="{E6BDF784-3DC0-4EB6-8231-CBFD32051619}"/>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37" name="">
            <a:extLst xmlns:a="http://schemas.openxmlformats.org/drawingml/2006/main">
              <a:ext uri="{FF2B5EF4-FFF2-40B4-BE49-F238E27FC236}">
                <a16:creationId xmlns:a16="http://schemas.microsoft.com/office/drawing/2014/main" id="{8FC58955-A2D0-4367-B10C-DE68EC2F4952}"/>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final 可以修饰类、成员变量和方法中的局部变量。</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final can modify local variables in classes, member variables and methods.</a:t>
            </a:r>
          </a:p>
        </p:txBody>
      </p:sp>
      <p:sp>
        <p:nvSpPr>
          <p:cNvPr id="538" name="">
            <a:extLst xmlns:a="http://schemas.openxmlformats.org/drawingml/2006/main">
              <a:ext uri="{FF2B5EF4-FFF2-40B4-BE49-F238E27FC236}">
                <a16:creationId xmlns:a16="http://schemas.microsoft.com/office/drawing/2014/main" id="{583484AA-AAF0-4E8E-B540-D99643B9A413}"/>
              </a:ext>
            </a:extLst>
          </p:cNvPr>
          <p:cNvSpPr>
            <a:spLocks xmlns:a="http://schemas.openxmlformats.org/drawingml/2006/main" noGrp="1"/>
          </p:cNvSpPr>
          <p:nvPr/>
        </p:nvSpPr>
        <p:spPr>
          <a:xfrm xmlns:a="http://schemas.openxmlformats.org/drawingml/2006/main" rot="0" flipH="0" flipV="0">
            <a:off x="4181475" y="26670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39" name="">
            <a:extLst xmlns:a="http://schemas.openxmlformats.org/drawingml/2006/main">
              <a:ext uri="{FF2B5EF4-FFF2-40B4-BE49-F238E27FC236}">
                <a16:creationId xmlns:a16="http://schemas.microsoft.com/office/drawing/2014/main" id="{E7A62FFC-7FE1-409A-AB0A-184D9A7E1EBB}"/>
              </a:ext>
            </a:extLst>
          </p:cNvPr>
          <p:cNvSpPr>
            <a:spLocks xmlns:a="http://schemas.openxmlformats.org/drawingml/2006/main" noGrp="1"/>
          </p:cNvSpPr>
          <p:nvPr/>
        </p:nvSpPr>
        <p:spPr>
          <a:xfrm xmlns:a="http://schemas.openxmlformats.org/drawingml/2006/main" rot="0" flipH="0" flipV="0">
            <a:off x="4371975" y="2552700"/>
            <a:ext cx="7362825" cy="3905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70000"/>
              </a:lnSpc>
              <a:buNone/>
            </a:pPr>
            <a:r>
              <a:rPr sz="1500">
                <a:solidFill>
                  <a:srgbClr val="1A2230"/>
                </a:solidFill>
                <a:latin typeface="Microsoft YaHei"/>
                <a:ea typeface="Microsoft YaHei"/>
                <a:cs typeface="Microsoft YaHei"/>
              </a:rPr>
              <a:t>final </a:t>
            </a:r>
            <a:r>
              <a:rPr sz="1500">
                <a:solidFill>
                  <a:srgbClr val="1A2230"/>
                </a:solidFill>
                <a:latin typeface="Microsoft YaHei"/>
                <a:ea typeface="Microsoft YaHei"/>
                <a:cs typeface="Microsoft YaHei"/>
              </a:rPr>
              <a:t>类不能被继承，即不能有子类：</a:t>
            </a:r>
            <a:r>
              <a:rPr sz="1500">
                <a:solidFill>
                  <a:srgbClr val="1A2230"/>
                </a:solidFill>
                <a:latin typeface="Microsoft YaHei"/>
                <a:ea typeface="Microsoft YaHei"/>
                <a:cs typeface="Microsoft YaHei"/>
              </a:rPr>
              <a:t>final class A { … }</a:t>
            </a:r>
            <a:endParaRPr/>
          </a:p>
        </p:txBody>
      </p:sp>
      <p:sp>
        <p:nvSpPr>
          <p:cNvPr id="540" name="">
            <a:extLst xmlns:a="http://schemas.openxmlformats.org/drawingml/2006/main">
              <a:ext uri="{FF2B5EF4-FFF2-40B4-BE49-F238E27FC236}">
                <a16:creationId xmlns:a16="http://schemas.microsoft.com/office/drawing/2014/main" id="{D69249FB-7296-496B-979F-E0C58BFE1BF8}"/>
              </a:ext>
            </a:extLst>
          </p:cNvPr>
          <p:cNvSpPr>
            <a:spLocks xmlns:a="http://schemas.openxmlformats.org/drawingml/2006/main" noGrp="1"/>
          </p:cNvSpPr>
          <p:nvPr/>
        </p:nvSpPr>
        <p:spPr>
          <a:xfrm xmlns:a="http://schemas.openxmlformats.org/drawingml/2006/main" rot="0" flipH="0" flipV="0">
            <a:off x="4181475" y="32289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41" name="">
            <a:extLst xmlns:a="http://schemas.openxmlformats.org/drawingml/2006/main">
              <a:ext uri="{FF2B5EF4-FFF2-40B4-BE49-F238E27FC236}">
                <a16:creationId xmlns:a16="http://schemas.microsoft.com/office/drawing/2014/main" id="{7BC3B9E8-2EF9-436F-8A30-E55C625B913C}"/>
              </a:ext>
            </a:extLst>
          </p:cNvPr>
          <p:cNvSpPr>
            <a:spLocks xmlns:a="http://schemas.openxmlformats.org/drawingml/2006/main" noGrp="1"/>
          </p:cNvSpPr>
          <p:nvPr/>
        </p:nvSpPr>
        <p:spPr>
          <a:xfrm xmlns:a="http://schemas.openxmlformats.org/drawingml/2006/main" rot="0" flipH="0" flipV="0">
            <a:off x="4371975" y="3114675"/>
            <a:ext cx="7362825" cy="390525"/>
          </a:xfrm>
          <a:prstGeom xmlns:a="http://schemas.openxmlformats.org/drawingml/2006/main" prst="rect">
            <a:avLst/>
          </a:prstGeom>
        </p:spPr>
        <p:txBody>
          <a:bodyPr xmlns:a="http://schemas.openxmlformats.org/drawingml/2006/main" wrap="none" lIns="0" tIns="0" rIns="0" bIns="0">
            <a:normAutofit fontScale="53131"/>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final 修饰父类中的一个方法，这个方法不允许子类重写</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final modifies a method in the parent class. This method does not allow subclasses to override it.</a:t>
            </a:r>
          </a:p>
        </p:txBody>
      </p:sp>
      <p:sp>
        <p:nvSpPr>
          <p:cNvPr id="542" name="">
            <a:extLst xmlns:a="http://schemas.openxmlformats.org/drawingml/2006/main">
              <a:ext uri="{FF2B5EF4-FFF2-40B4-BE49-F238E27FC236}">
                <a16:creationId xmlns:a16="http://schemas.microsoft.com/office/drawing/2014/main" id="{2D3D3823-9E6F-4EE9-A9FC-1EEF2200EB68}"/>
              </a:ext>
            </a:extLst>
          </p:cNvPr>
          <p:cNvSpPr>
            <a:spLocks xmlns:a="http://schemas.openxmlformats.org/drawingml/2006/main" noGrp="1"/>
          </p:cNvSpPr>
          <p:nvPr/>
        </p:nvSpPr>
        <p:spPr>
          <a:xfrm xmlns:a="http://schemas.openxmlformats.org/drawingml/2006/main" rot="0" flipH="0" flipV="0">
            <a:off x="4181475" y="37909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43" name="">
            <a:extLst xmlns:a="http://schemas.openxmlformats.org/drawingml/2006/main">
              <a:ext uri="{FF2B5EF4-FFF2-40B4-BE49-F238E27FC236}">
                <a16:creationId xmlns:a16="http://schemas.microsoft.com/office/drawing/2014/main" id="{7E793204-DC92-4727-999D-E571E5DCE82D}"/>
              </a:ext>
            </a:extLst>
          </p:cNvPr>
          <p:cNvSpPr>
            <a:spLocks xmlns:a="http://schemas.openxmlformats.org/drawingml/2006/main" noGrp="1"/>
          </p:cNvSpPr>
          <p:nvPr/>
        </p:nvSpPr>
        <p:spPr>
          <a:xfrm xmlns:a="http://schemas.openxmlformats.org/drawingml/2006/main" rot="0" flipH="0" flipV="0">
            <a:off x="4371975" y="367665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成员变量或局部变量被修饰为 final 的，就是常量</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Member variables or local variables that are modified as final are constants.</a:t>
            </a:r>
          </a:p>
        </p:txBody>
      </p:sp>
      <p:sp>
        <p:nvSpPr>
          <p:cNvPr id="544" name="">
            <a:extLst xmlns:a="http://schemas.openxmlformats.org/drawingml/2006/main">
              <a:ext uri="{FF2B5EF4-FFF2-40B4-BE49-F238E27FC236}">
                <a16:creationId xmlns:a16="http://schemas.microsoft.com/office/drawing/2014/main" id="{866D5A6B-AC05-43C3-8948-8F9A1F866C45}"/>
              </a:ext>
            </a:extLst>
          </p:cNvPr>
          <p:cNvSpPr>
            <a:spLocks xmlns:a="http://schemas.openxmlformats.org/drawingml/2006/main" noGrp="1"/>
          </p:cNvSpPr>
          <p:nvPr/>
        </p:nvSpPr>
        <p:spPr>
          <a:xfrm xmlns:a="http://schemas.openxmlformats.org/drawingml/2006/main" rot="0" flipH="0" flipV="0">
            <a:off x="4181475" y="4238625"/>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545" name="">
            <a:extLst xmlns:a="http://schemas.openxmlformats.org/drawingml/2006/main">
              <a:ext uri="{FF2B5EF4-FFF2-40B4-BE49-F238E27FC236}">
                <a16:creationId xmlns:a16="http://schemas.microsoft.com/office/drawing/2014/main" id="{F4E9D30D-5472-4F75-AD33-D174595F153B}"/>
              </a:ext>
            </a:extLst>
          </p:cNvPr>
          <p:cNvSpPr>
            <a:spLocks xmlns:a="http://schemas.openxmlformats.org/drawingml/2006/main" noGrp="1"/>
          </p:cNvSpPr>
          <p:nvPr/>
        </p:nvSpPr>
        <p:spPr>
          <a:xfrm xmlns:a="http://schemas.openxmlformats.org/drawingml/2006/main" rot="0" flipH="0" flipV="0">
            <a:off x="4371975" y="4371975"/>
            <a:ext cx="7172325" cy="295275"/>
          </a:xfrm>
          <a:prstGeom xmlns:a="http://schemas.openxmlformats.org/drawingml/2006/main" prst="rect">
            <a:avLst/>
          </a:prstGeom>
        </p:spPr>
        <p:txBody>
          <a:bodyPr xmlns:a="http://schemas.openxmlformats.org/drawingml/2006/main" wrap="non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例子9 使用了 final 关键字。</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Example 9 uses the final keyword.</a:t>
            </a:r>
          </a:p>
        </p:txBody>
      </p:sp>
      <p:sp>
        <p:nvSpPr>
          <p:cNvPr id="546" name="">
            <a:extLst xmlns:a="http://schemas.openxmlformats.org/drawingml/2006/main">
              <a:ext uri="{FF2B5EF4-FFF2-40B4-BE49-F238E27FC236}">
                <a16:creationId xmlns:a16="http://schemas.microsoft.com/office/drawing/2014/main" id="{FEE860D3-A500-4108-ADFF-B3DEBDD1DACA}"/>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48 / 87</a:t>
            </a:r>
            <a:endParaRPr/>
          </a:p>
        </p:txBody>
      </p:sp>
    </p:spTree>
    <p:extLst>
      <p:ext uri="{BB962C8B-B14F-4D97-AF65-F5344CB8AC3E}">
        <p14:creationId xmlns:p14="http://schemas.microsoft.com/office/powerpoint/2010/main" val="1771417860"/>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548" name="">
            <a:extLst xmlns:a="http://schemas.openxmlformats.org/drawingml/2006/main">
              <a:ext uri="{FF2B5EF4-FFF2-40B4-BE49-F238E27FC236}">
                <a16:creationId xmlns:a16="http://schemas.microsoft.com/office/drawing/2014/main" id="{23DA8A70-D1D5-42CC-801C-081F7A8896A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49" name="">
            <a:extLst xmlns:a="http://schemas.openxmlformats.org/drawingml/2006/main">
              <a:ext uri="{FF2B5EF4-FFF2-40B4-BE49-F238E27FC236}">
                <a16:creationId xmlns:a16="http://schemas.microsoft.com/office/drawing/2014/main" id="{A9CB1A3B-4745-450C-95DE-1FD2F3D88CF4}"/>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50" name="">
            <a:extLst xmlns:a="http://schemas.openxmlformats.org/drawingml/2006/main">
              <a:ext uri="{FF2B5EF4-FFF2-40B4-BE49-F238E27FC236}">
                <a16:creationId xmlns:a16="http://schemas.microsoft.com/office/drawing/2014/main" id="{8E193C5A-0C2E-4534-A953-4CBF4ED2D63E}"/>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551" name="">
            <a:extLst xmlns:a="http://schemas.openxmlformats.org/drawingml/2006/main">
              <a:ext uri="{FF2B5EF4-FFF2-40B4-BE49-F238E27FC236}">
                <a16:creationId xmlns:a16="http://schemas.microsoft.com/office/drawing/2014/main" id="{41E0516E-72C0-4E8D-98F8-A2BB6B8C700B}"/>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例子9</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9</a:t>
            </a:r>
          </a:p>
        </p:txBody>
      </p:sp>
      <p:sp>
        <p:nvSpPr>
          <p:cNvPr id="552" name="">
            <a:extLst xmlns:a="http://schemas.openxmlformats.org/drawingml/2006/main">
              <a:ext uri="{FF2B5EF4-FFF2-40B4-BE49-F238E27FC236}">
                <a16:creationId xmlns:a16="http://schemas.microsoft.com/office/drawing/2014/main" id="{735A26E2-7608-4335-8300-7C336D587C17}"/>
              </a:ext>
            </a:extLst>
          </p:cNvPr>
          <p:cNvSpPr>
            <a:spLocks xmlns:a="http://schemas.openxmlformats.org/drawingml/2006/main" noGrp="1"/>
          </p:cNvSpPr>
          <p:nvPr/>
        </p:nvSpPr>
        <p:spPr>
          <a:xfrm xmlns:a="http://schemas.openxmlformats.org/drawingml/2006/main" rot="0" flipH="0" flipV="0">
            <a:off x="457200" y="1562100"/>
            <a:ext cx="3381375" cy="5524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20000"/>
              </a:lnSpc>
              <a:buNone/>
            </a:pPr>
            <a:r>
              <a:rPr sz="3000" b="1">
                <a:solidFill>
                  <a:srgbClr val="0E3F8C"/>
                </a:solidFill>
                <a:latin typeface="Microsoft YaHei"/>
                <a:ea typeface="Microsoft YaHei"/>
                <a:cs typeface="Microsoft YaHei"/>
              </a:rPr>
              <a:t>Example5_9</a:t>
            </a:r>
            <a:endParaRPr/>
          </a:p>
        </p:txBody>
      </p:sp>
      <p:sp>
        <p:nvSpPr>
          <p:cNvPr id="553" name="">
            <a:extLst xmlns:a="http://schemas.openxmlformats.org/drawingml/2006/main">
              <a:ext uri="{FF2B5EF4-FFF2-40B4-BE49-F238E27FC236}">
                <a16:creationId xmlns:a16="http://schemas.microsoft.com/office/drawing/2014/main" id="{6E5AB7F4-B791-406C-B200-05F9EBFB78E6}"/>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54" name="">
            <a:extLst xmlns:a="http://schemas.openxmlformats.org/drawingml/2006/main">
              <a:ext uri="{FF2B5EF4-FFF2-40B4-BE49-F238E27FC236}">
                <a16:creationId xmlns:a16="http://schemas.microsoft.com/office/drawing/2014/main" id="{8ED7FF67-6411-4FAF-B1E6-8D36E06956EF}"/>
              </a:ext>
            </a:extLst>
          </p:cNvPr>
          <p:cNvSpPr>
            <a:spLocks xmlns:a="http://schemas.openxmlformats.org/drawingml/2006/main" noGrp="1"/>
          </p:cNvSpPr>
          <p:nvPr/>
        </p:nvSpPr>
        <p:spPr>
          <a:xfrm xmlns:a="http://schemas.openxmlformats.org/drawingml/2006/main" rot="0" flipH="0" flipV="0">
            <a:off x="457200" y="260032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final double PI 是常量；final 方法 speak() 不允许子类重写；final 形参 r 不可修改。</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final double PI is a constant; the final method speak() does not allow subclasses to override; the final formal parameter r cannot be modified.</a:t>
            </a:r>
          </a:p>
        </p:txBody>
      </p:sp>
      <p:pic>
        <p:nvPicPr>
          <p:cNvPr id="565" name=""/>
          <p:cNvPicPr>
            <a:picLocks xmlns:a="http://schemas.openxmlformats.org/drawingml/2006/main" noChangeAspect="1"/>
          </p:cNvPicPr>
          <p:nvPr/>
        </p:nvPicPr>
        <p:blipFill>
          <a:blip xmlns:r="http://schemas.openxmlformats.org/officeDocument/2006/relationships" xmlns:a="http://schemas.openxmlformats.org/drawingml/2006/main" r:embed="Rad4ea9936e7a49f7"/>
          <a:srcRect xmlns:a="http://schemas.openxmlformats.org/drawingml/2006/main" l="8" t="0" r="8" b="0"/>
          <a:stretch xmlns:a="http://schemas.openxmlformats.org/drawingml/2006/main">
            <a:fillRect l="0" t="0" r="0" b="0"/>
          </a:stretch>
        </p:blipFill>
        <p:spPr>
          <a:xfrm xmlns:a="http://schemas.openxmlformats.org/drawingml/2006/main" rot="0" flipH="0" flipV="0">
            <a:off x="5048250" y="1600200"/>
            <a:ext cx="579120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556" name="">
            <a:extLst xmlns:a="http://schemas.openxmlformats.org/drawingml/2006/main">
              <a:ext uri="{FF2B5EF4-FFF2-40B4-BE49-F238E27FC236}">
                <a16:creationId xmlns:a16="http://schemas.microsoft.com/office/drawing/2014/main" id="{7803E2EF-5230-4858-8A0C-EB77F29593EB}"/>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49 / 87</a:t>
            </a:r>
            <a:endParaRPr/>
          </a:p>
        </p:txBody>
      </p:sp>
    </p:spTree>
    <p:extLst>
      <p:ext uri="{BB962C8B-B14F-4D97-AF65-F5344CB8AC3E}">
        <p14:creationId xmlns:p14="http://schemas.microsoft.com/office/powerpoint/2010/main" val="829541242"/>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575" name="">
            <a:extLst xmlns:a="http://schemas.openxmlformats.org/drawingml/2006/main">
              <a:ext uri="{FF2B5EF4-FFF2-40B4-BE49-F238E27FC236}">
                <a16:creationId xmlns:a16="http://schemas.microsoft.com/office/drawing/2014/main" id="{41C7DB93-68E3-45D7-B1D9-3A3DF1A37B09}"/>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76" name="">
            <a:extLst xmlns:a="http://schemas.openxmlformats.org/drawingml/2006/main">
              <a:ext uri="{FF2B5EF4-FFF2-40B4-BE49-F238E27FC236}">
                <a16:creationId xmlns:a16="http://schemas.microsoft.com/office/drawing/2014/main" id="{88AF25BA-C9EE-4D5D-A2C3-1ECEF09AB0FA}"/>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77" name="">
            <a:extLst xmlns:a="http://schemas.openxmlformats.org/drawingml/2006/main">
              <a:ext uri="{FF2B5EF4-FFF2-40B4-BE49-F238E27FC236}">
                <a16:creationId xmlns:a16="http://schemas.microsoft.com/office/drawing/2014/main" id="{23539042-5361-472A-B95E-5550D83C6D7D}"/>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578" name="">
            <a:extLst xmlns:a="http://schemas.openxmlformats.org/drawingml/2006/main">
              <a:ext uri="{FF2B5EF4-FFF2-40B4-BE49-F238E27FC236}">
                <a16:creationId xmlns:a16="http://schemas.microsoft.com/office/drawing/2014/main" id="{4D22D9DF-8F7C-4D2F-A282-5825F86A4BF5}"/>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§5.7</a:t>
            </a:r>
            <a:endParaRPr/>
          </a:p>
        </p:txBody>
      </p:sp>
      <p:sp>
        <p:nvSpPr>
          <p:cNvPr id="579" name="">
            <a:extLst xmlns:a="http://schemas.openxmlformats.org/drawingml/2006/main">
              <a:ext uri="{FF2B5EF4-FFF2-40B4-BE49-F238E27FC236}">
                <a16:creationId xmlns:a16="http://schemas.microsoft.com/office/drawing/2014/main" id="{D6C2E621-9BF9-49E4-81EC-EC7CC29DFE6B}"/>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对象的上转型对象</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upcast object</a:t>
            </a:r>
          </a:p>
        </p:txBody>
      </p:sp>
      <p:sp>
        <p:nvSpPr>
          <p:cNvPr id="580" name="">
            <a:extLst xmlns:a="http://schemas.openxmlformats.org/drawingml/2006/main">
              <a:ext uri="{FF2B5EF4-FFF2-40B4-BE49-F238E27FC236}">
                <a16:creationId xmlns:a16="http://schemas.microsoft.com/office/drawing/2014/main" id="{AADEE5FF-8DB9-45FB-8053-5A2F499DF0AD}"/>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81" name="">
            <a:extLst xmlns:a="http://schemas.openxmlformats.org/drawingml/2006/main">
              <a:ext uri="{FF2B5EF4-FFF2-40B4-BE49-F238E27FC236}">
                <a16:creationId xmlns:a16="http://schemas.microsoft.com/office/drawing/2014/main" id="{DFD426A0-00D5-413A-8DCA-16599ECDB8E5}"/>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把子类对象的引用放到父类的对象中，得到的对象称上转型对象。</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Put the reference of the subclass object into the object of the parent class, and the resulting object is called a transformation object.</a:t>
            </a:r>
          </a:p>
        </p:txBody>
      </p:sp>
      <p:sp>
        <p:nvSpPr>
          <p:cNvPr id="582" name="">
            <a:extLst xmlns:a="http://schemas.openxmlformats.org/drawingml/2006/main">
              <a:ext uri="{FF2B5EF4-FFF2-40B4-BE49-F238E27FC236}">
                <a16:creationId xmlns:a16="http://schemas.microsoft.com/office/drawing/2014/main" id="{1F01F417-EFBB-416B-AC6F-2735676782E5}"/>
              </a:ext>
            </a:extLst>
          </p:cNvPr>
          <p:cNvSpPr>
            <a:spLocks xmlns:a="http://schemas.openxmlformats.org/drawingml/2006/main" noGrp="1"/>
          </p:cNvSpPr>
          <p:nvPr/>
        </p:nvSpPr>
        <p:spPr>
          <a:xfrm xmlns:a="http://schemas.openxmlformats.org/drawingml/2006/main" rot="0" flipH="0" flipV="0">
            <a:off x="4181475" y="18573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83" name="">
            <a:extLst xmlns:a="http://schemas.openxmlformats.org/drawingml/2006/main">
              <a:ext uri="{FF2B5EF4-FFF2-40B4-BE49-F238E27FC236}">
                <a16:creationId xmlns:a16="http://schemas.microsoft.com/office/drawing/2014/main" id="{DE1DBF74-4942-432D-B2A8-18963349DD53}"/>
              </a:ext>
            </a:extLst>
          </p:cNvPr>
          <p:cNvSpPr>
            <a:spLocks xmlns:a="http://schemas.openxmlformats.org/drawingml/2006/main" noGrp="1"/>
          </p:cNvSpPr>
          <p:nvPr/>
        </p:nvSpPr>
        <p:spPr>
          <a:xfrm xmlns:a="http://schemas.openxmlformats.org/drawingml/2006/main" rot="0" flipH="0" flipV="0">
            <a:off x="4371975" y="1743075"/>
            <a:ext cx="7362825" cy="781050"/>
          </a:xfrm>
          <a:prstGeom xmlns:a="http://schemas.openxmlformats.org/drawingml/2006/main" prst="rect">
            <a:avLst/>
          </a:prstGeom>
        </p:spPr>
        <p:txBody>
          <a:bodyPr xmlns:a="http://schemas.openxmlformats.org/drawingml/2006/main" wrap="square" lIns="0" tIns="0" rIns="0" bIns="0">
            <a:normAutofit fontScale="53207"/>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人们说 “老虎是动物”“狗是动物”，当说老虎是动物时，老虎失掉了老虎独有的属性和功能，这属于上溯思维</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People say "tiger is an animal" and "dog is an animal". When saying that a tiger is an animal, the tiger loses its unique attributes and functions. This is backward thinking.</a:t>
            </a:r>
          </a:p>
        </p:txBody>
      </p:sp>
      <p:sp>
        <p:nvSpPr>
          <p:cNvPr id="584" name="">
            <a:extLst xmlns:a="http://schemas.openxmlformats.org/drawingml/2006/main">
              <a:ext uri="{FF2B5EF4-FFF2-40B4-BE49-F238E27FC236}">
                <a16:creationId xmlns:a16="http://schemas.microsoft.com/office/drawing/2014/main" id="{5547CF52-2252-459C-8F46-5BB7D3E21D3E}"/>
              </a:ext>
            </a:extLst>
          </p:cNvPr>
          <p:cNvSpPr>
            <a:spLocks xmlns:a="http://schemas.openxmlformats.org/drawingml/2006/main" noGrp="1"/>
          </p:cNvSpPr>
          <p:nvPr/>
        </p:nvSpPr>
        <p:spPr>
          <a:xfrm xmlns:a="http://schemas.openxmlformats.org/drawingml/2006/main" rot="0" flipH="0" flipV="0">
            <a:off x="4181475" y="28098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85" name="">
            <a:extLst xmlns:a="http://schemas.openxmlformats.org/drawingml/2006/main">
              <a:ext uri="{FF2B5EF4-FFF2-40B4-BE49-F238E27FC236}">
                <a16:creationId xmlns:a16="http://schemas.microsoft.com/office/drawing/2014/main" id="{401D6FDB-B360-46FB-A7F2-5E930CE7C861}"/>
              </a:ext>
            </a:extLst>
          </p:cNvPr>
          <p:cNvSpPr>
            <a:spLocks xmlns:a="http://schemas.openxmlformats.org/drawingml/2006/main" noGrp="1"/>
          </p:cNvSpPr>
          <p:nvPr/>
        </p:nvSpPr>
        <p:spPr>
          <a:xfrm xmlns:a="http://schemas.openxmlformats.org/drawingml/2006/main" rot="0" flipH="0" flipV="0">
            <a:off x="4371975" y="2695575"/>
            <a:ext cx="7362825" cy="781050"/>
          </a:xfrm>
          <a:prstGeom xmlns:a="http://schemas.openxmlformats.org/drawingml/2006/main" prst="rect">
            <a:avLst/>
          </a:prstGeom>
        </p:spPr>
        <p:txBody>
          <a:bodyPr xmlns:a="http://schemas.openxmlformats.org/drawingml/2006/main" wrap="square" lIns="0" tIns="0" rIns="0" bIns="0">
            <a:normAutofit fontScale="51214"/>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假设 A 类是 B 类的父类，用子类 B 创建一个对象，并把这个对象的引用放到父类 A 的对象 a 中，称对象 a 是对象 b 的上转型对象</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Assume that class A is the parent class of class B, create an object using subclass B, and put the reference of this object into object a of parent class A, and call object a an upcast object of object b.</a:t>
            </a:r>
          </a:p>
        </p:txBody>
      </p:sp>
      <p:sp>
        <p:nvSpPr>
          <p:cNvPr id="586" name="">
            <a:extLst xmlns:a="http://schemas.openxmlformats.org/drawingml/2006/main">
              <a:ext uri="{FF2B5EF4-FFF2-40B4-BE49-F238E27FC236}">
                <a16:creationId xmlns:a16="http://schemas.microsoft.com/office/drawing/2014/main" id="{9094D5C7-4F1A-4267-BCC4-98967C98CA60}"/>
              </a:ext>
            </a:extLst>
          </p:cNvPr>
          <p:cNvSpPr>
            <a:spLocks xmlns:a="http://schemas.openxmlformats.org/drawingml/2006/main" noGrp="1"/>
          </p:cNvSpPr>
          <p:nvPr/>
        </p:nvSpPr>
        <p:spPr>
          <a:xfrm xmlns:a="http://schemas.openxmlformats.org/drawingml/2006/main" rot="0" flipH="0" flipV="0">
            <a:off x="4181475" y="3648075"/>
            <a:ext cx="755332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587" name="">
            <a:extLst xmlns:a="http://schemas.openxmlformats.org/drawingml/2006/main">
              <a:ext uri="{FF2B5EF4-FFF2-40B4-BE49-F238E27FC236}">
                <a16:creationId xmlns:a16="http://schemas.microsoft.com/office/drawing/2014/main" id="{F0642710-06A3-4404-A669-BE791F128C10}"/>
              </a:ext>
            </a:extLst>
          </p:cNvPr>
          <p:cNvSpPr>
            <a:spLocks xmlns:a="http://schemas.openxmlformats.org/drawingml/2006/main" noGrp="1"/>
          </p:cNvSpPr>
          <p:nvPr/>
        </p:nvSpPr>
        <p:spPr>
          <a:xfrm xmlns:a="http://schemas.openxmlformats.org/drawingml/2006/main" rot="0" flipH="0" flipV="0">
            <a:off x="4352925" y="376237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A a;</a:t>
            </a:r>
            <a:endParaRPr/>
          </a:p>
        </p:txBody>
      </p:sp>
      <p:sp>
        <p:nvSpPr>
          <p:cNvPr id="588" name="">
            <a:extLst xmlns:a="http://schemas.openxmlformats.org/drawingml/2006/main">
              <a:ext uri="{FF2B5EF4-FFF2-40B4-BE49-F238E27FC236}">
                <a16:creationId xmlns:a16="http://schemas.microsoft.com/office/drawing/2014/main" id="{F08EE2EF-5E6E-4396-A09B-ECA3FE4DA87A}"/>
              </a:ext>
            </a:extLst>
          </p:cNvPr>
          <p:cNvSpPr>
            <a:spLocks xmlns:a="http://schemas.openxmlformats.org/drawingml/2006/main" noGrp="1"/>
          </p:cNvSpPr>
          <p:nvPr/>
        </p:nvSpPr>
        <p:spPr>
          <a:xfrm xmlns:a="http://schemas.openxmlformats.org/drawingml/2006/main" rot="0" flipH="0" flipV="0">
            <a:off x="4352925" y="411480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a = new B();</a:t>
            </a:r>
            <a:endParaRPr/>
          </a:p>
        </p:txBody>
      </p:sp>
      <p:sp>
        <p:nvSpPr>
          <p:cNvPr id="589" name="">
            <a:extLst xmlns:a="http://schemas.openxmlformats.org/drawingml/2006/main">
              <a:ext uri="{FF2B5EF4-FFF2-40B4-BE49-F238E27FC236}">
                <a16:creationId xmlns:a16="http://schemas.microsoft.com/office/drawing/2014/main" id="{45091924-C3FE-4210-BF6C-9DC02BA5F75E}"/>
              </a:ext>
            </a:extLst>
          </p:cNvPr>
          <p:cNvSpPr>
            <a:spLocks xmlns:a="http://schemas.openxmlformats.org/drawingml/2006/main" noGrp="1"/>
          </p:cNvSpPr>
          <p:nvPr/>
        </p:nvSpPr>
        <p:spPr>
          <a:xfrm xmlns:a="http://schemas.openxmlformats.org/drawingml/2006/main" rot="0" flipH="0" flipV="0">
            <a:off x="4352925" y="4467225"/>
            <a:ext cx="7210425" cy="314325"/>
          </a:xfrm>
          <a:prstGeom xmlns:a="http://schemas.openxmlformats.org/drawingml/2006/main" prst="rect">
            <a:avLst/>
          </a:prstGeom>
        </p:spPr>
        <p:txBody>
          <a:bodyPr xmlns:a="http://schemas.openxmlformats.org/drawingml/2006/main" wrap="none" lIns="0" tIns="0" rIns="0" bIns="0">
            <a:normAutofit fontScale="48644"/>
          </a:bodyPr>
          <a:lstStyle xmlns:a="http://schemas.openxmlformats.org/drawingml/2006/main"/>
          <a:p xmlns:a="http://schemas.openxmlformats.org/drawingml/2006/main">
            <a:pPr marL="0">
              <a:lnSpc>
                <a:spcPct val="100000"/>
              </a:lnSpc>
              <a:spcBef>
                <a:spcPts val="0"/>
              </a:spcBef>
              <a:spcAft>
                <a:spcPts val="0"/>
              </a:spcAft>
              <a:buNone/>
            </a:pPr>
            <a:r>
              <a:rPr sz="2120">
                <a:solidFill>
                  <a:srgbClr val="1E3A5F"/>
                </a:solidFill>
                <a:latin typeface="Consolas"/>
                <a:ea typeface="Consolas"/>
                <a:cs typeface="Consolas"/>
              </a:rPr>
              <a:t>// 或</a:t>
            </a:r>
          </a:p>
          <a:p xmlns:a="http://schemas.openxmlformats.org/drawingml/2006/main">
            <a:pPr marL="0">
              <a:lnSpc>
                <a:spcPct val="100000"/>
              </a:lnSpc>
              <a:spcBef>
                <a:spcPts val="0"/>
              </a:spcBef>
              <a:spcAft>
                <a:spcPts val="0"/>
              </a:spcAft>
              <a:buNone/>
            </a:pPr>
            <a:r>
              <a:rPr sz="2120">
                <a:solidFill>
                  <a:srgbClr val="1E3A5F"/>
                </a:solidFill>
                <a:latin typeface="Consolas"/>
                <a:ea typeface="Consolas"/>
                <a:cs typeface="Consolas"/>
              </a:rPr>
              <a:t>// or</a:t>
            </a:r>
          </a:p>
        </p:txBody>
      </p:sp>
      <p:sp>
        <p:nvSpPr>
          <p:cNvPr id="590" name="">
            <a:extLst xmlns:a="http://schemas.openxmlformats.org/drawingml/2006/main">
              <a:ext uri="{FF2B5EF4-FFF2-40B4-BE49-F238E27FC236}">
                <a16:creationId xmlns:a16="http://schemas.microsoft.com/office/drawing/2014/main" id="{8FCAD6B8-6457-4439-B54E-51FCF0EE1686}"/>
              </a:ext>
            </a:extLst>
          </p:cNvPr>
          <p:cNvSpPr>
            <a:spLocks xmlns:a="http://schemas.openxmlformats.org/drawingml/2006/main" noGrp="1"/>
          </p:cNvSpPr>
          <p:nvPr/>
        </p:nvSpPr>
        <p:spPr>
          <a:xfrm xmlns:a="http://schemas.openxmlformats.org/drawingml/2006/main" rot="0" flipH="0" flipV="0">
            <a:off x="4352925" y="481965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B b = new B();</a:t>
            </a:r>
            <a:endParaRPr/>
          </a:p>
        </p:txBody>
      </p:sp>
      <p:sp>
        <p:nvSpPr>
          <p:cNvPr id="591" name="">
            <a:extLst xmlns:a="http://schemas.openxmlformats.org/drawingml/2006/main">
              <a:ext uri="{FF2B5EF4-FFF2-40B4-BE49-F238E27FC236}">
                <a16:creationId xmlns:a16="http://schemas.microsoft.com/office/drawing/2014/main" id="{66A808AB-B89F-445B-84F1-202B3EEF1881}"/>
              </a:ext>
            </a:extLst>
          </p:cNvPr>
          <p:cNvSpPr>
            <a:spLocks xmlns:a="http://schemas.openxmlformats.org/drawingml/2006/main" noGrp="1"/>
          </p:cNvSpPr>
          <p:nvPr/>
        </p:nvSpPr>
        <p:spPr>
          <a:xfrm xmlns:a="http://schemas.openxmlformats.org/drawingml/2006/main" rot="0" flipH="0" flipV="0">
            <a:off x="4352925" y="517207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a = b;</a:t>
            </a:r>
            <a:endParaRPr/>
          </a:p>
        </p:txBody>
      </p:sp>
      <p:sp>
        <p:nvSpPr>
          <p:cNvPr id="592" name="">
            <a:extLst xmlns:a="http://schemas.openxmlformats.org/drawingml/2006/main">
              <a:ext uri="{FF2B5EF4-FFF2-40B4-BE49-F238E27FC236}">
                <a16:creationId xmlns:a16="http://schemas.microsoft.com/office/drawing/2014/main" id="{A26D6108-ABB9-4D63-8313-9B936DDC962B}"/>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50 / 87</a:t>
            </a:r>
            <a:endParaRPr/>
          </a:p>
        </p:txBody>
      </p:sp>
    </p:spTree>
    <p:extLst>
      <p:ext uri="{BB962C8B-B14F-4D97-AF65-F5344CB8AC3E}">
        <p14:creationId xmlns:p14="http://schemas.microsoft.com/office/powerpoint/2010/main" val="2051643716"/>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594" name="">
            <a:extLst xmlns:a="http://schemas.openxmlformats.org/drawingml/2006/main">
              <a:ext uri="{FF2B5EF4-FFF2-40B4-BE49-F238E27FC236}">
                <a16:creationId xmlns:a16="http://schemas.microsoft.com/office/drawing/2014/main" id="{2131FFC1-38B6-4737-997B-296768ADC49C}"/>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95" name="">
            <a:extLst xmlns:a="http://schemas.openxmlformats.org/drawingml/2006/main">
              <a:ext uri="{FF2B5EF4-FFF2-40B4-BE49-F238E27FC236}">
                <a16:creationId xmlns:a16="http://schemas.microsoft.com/office/drawing/2014/main" id="{03D3659F-08B6-4A65-9433-4FDAE0620A0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96" name="">
            <a:extLst xmlns:a="http://schemas.openxmlformats.org/drawingml/2006/main">
              <a:ext uri="{FF2B5EF4-FFF2-40B4-BE49-F238E27FC236}">
                <a16:creationId xmlns:a16="http://schemas.microsoft.com/office/drawing/2014/main" id="{FF106999-395B-403B-AD5F-EA5CFBAB368E}"/>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597" name="">
            <a:extLst xmlns:a="http://schemas.openxmlformats.org/drawingml/2006/main">
              <a:ext uri="{FF2B5EF4-FFF2-40B4-BE49-F238E27FC236}">
                <a16:creationId xmlns:a16="http://schemas.microsoft.com/office/drawing/2014/main" id="{C3534A4F-BF95-4C3F-A7F5-3C84A005FB06}"/>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§5.7</a:t>
            </a:r>
            <a:endParaRPr/>
          </a:p>
        </p:txBody>
      </p:sp>
      <p:sp>
        <p:nvSpPr>
          <p:cNvPr id="598" name="">
            <a:extLst xmlns:a="http://schemas.openxmlformats.org/drawingml/2006/main">
              <a:ext uri="{FF2B5EF4-FFF2-40B4-BE49-F238E27FC236}">
                <a16:creationId xmlns:a16="http://schemas.microsoft.com/office/drawing/2014/main" id="{0C1A6E50-1681-48B2-88F5-B5225FAC7923}"/>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上转型对象的使用</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Use of upcast objects</a:t>
            </a:r>
          </a:p>
        </p:txBody>
      </p:sp>
      <p:sp>
        <p:nvSpPr>
          <p:cNvPr id="599" name="">
            <a:extLst xmlns:a="http://schemas.openxmlformats.org/drawingml/2006/main">
              <a:ext uri="{FF2B5EF4-FFF2-40B4-BE49-F238E27FC236}">
                <a16:creationId xmlns:a16="http://schemas.microsoft.com/office/drawing/2014/main" id="{189DE6FA-AB36-4C6F-8AB3-96D017E44596}"/>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0" name="">
            <a:extLst xmlns:a="http://schemas.openxmlformats.org/drawingml/2006/main">
              <a:ext uri="{FF2B5EF4-FFF2-40B4-BE49-F238E27FC236}">
                <a16:creationId xmlns:a16="http://schemas.microsoft.com/office/drawing/2014/main" id="{EC19D77A-32D3-447C-9C66-4A25CBB31F3B}"/>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上转型对象的使用规则（4 条）。</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Rules for using upcast objects (4 items).</a:t>
            </a:r>
          </a:p>
        </p:txBody>
      </p:sp>
      <p:sp>
        <p:nvSpPr>
          <p:cNvPr id="601" name="">
            <a:extLst xmlns:a="http://schemas.openxmlformats.org/drawingml/2006/main">
              <a:ext uri="{FF2B5EF4-FFF2-40B4-BE49-F238E27FC236}">
                <a16:creationId xmlns:a16="http://schemas.microsoft.com/office/drawing/2014/main" id="{0D7E6ED8-B819-48D2-91AD-62F98BEFF39C}"/>
              </a:ext>
            </a:extLst>
          </p:cNvPr>
          <p:cNvSpPr>
            <a:spLocks xmlns:a="http://schemas.openxmlformats.org/drawingml/2006/main" noGrp="1"/>
          </p:cNvSpPr>
          <p:nvPr/>
        </p:nvSpPr>
        <p:spPr>
          <a:xfrm xmlns:a="http://schemas.openxmlformats.org/drawingml/2006/main" rot="0" flipH="0" flipV="0">
            <a:off x="4238625" y="2152650"/>
            <a:ext cx="3714750" cy="2314575"/>
          </a:xfrm>
          <a:prstGeom xmlns:a="http://schemas.openxmlformats.org/drawingml/2006/main" prst="roundRect">
            <a:avLst>
              <a:gd name="adj" fmla="val 4115"/>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602" name="">
            <a:extLst xmlns:a="http://schemas.openxmlformats.org/drawingml/2006/main">
              <a:ext uri="{FF2B5EF4-FFF2-40B4-BE49-F238E27FC236}">
                <a16:creationId xmlns:a16="http://schemas.microsoft.com/office/drawing/2014/main" id="{604E7482-E44D-407F-AB82-2B30CCC0487F}"/>
              </a:ext>
            </a:extLst>
          </p:cNvPr>
          <p:cNvSpPr>
            <a:spLocks xmlns:a="http://schemas.openxmlformats.org/drawingml/2006/main" noGrp="1"/>
          </p:cNvSpPr>
          <p:nvPr/>
        </p:nvSpPr>
        <p:spPr>
          <a:xfrm xmlns:a="http://schemas.openxmlformats.org/drawingml/2006/main" rot="0" flipH="0" flipV="0">
            <a:off x="4238625" y="2152650"/>
            <a:ext cx="3714750" cy="2314575"/>
          </a:xfrm>
          <a:custGeom xmlns:a="http://schemas.openxmlformats.org/drawingml/2006/main">
            <a:pathLst>
              <a:path w="390" h="243">
                <a:moveTo>
                  <a:pt x="10" y="0"/>
                </a:moveTo>
                <a:cubicBezTo>
                  <a:pt x="8" y="0"/>
                  <a:pt x="6" y="2"/>
                  <a:pt x="6" y="4"/>
                </a:cubicBezTo>
                <a:lnTo>
                  <a:pt x="6" y="239"/>
                </a:lnTo>
                <a:cubicBezTo>
                  <a:pt x="6" y="241"/>
                  <a:pt x="8" y="243"/>
                  <a:pt x="10" y="243"/>
                </a:cubicBezTo>
                <a:cubicBezTo>
                  <a:pt x="4" y="243"/>
                  <a:pt x="0" y="238"/>
                  <a:pt x="0" y="233"/>
                </a:cubicBezTo>
                <a:lnTo>
                  <a:pt x="0" y="10"/>
                </a:lnTo>
                <a:cubicBezTo>
                  <a:pt x="0" y="5"/>
                  <a:pt x="4" y="0"/>
                  <a:pt x="10"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603" name="">
            <a:extLst xmlns:a="http://schemas.openxmlformats.org/drawingml/2006/main">
              <a:ext uri="{FF2B5EF4-FFF2-40B4-BE49-F238E27FC236}">
                <a16:creationId xmlns:a16="http://schemas.microsoft.com/office/drawing/2014/main" id="{38A781EC-A438-4A21-83BA-CD503B445C01}"/>
              </a:ext>
            </a:extLst>
          </p:cNvPr>
          <p:cNvSpPr>
            <a:spLocks xmlns:a="http://schemas.openxmlformats.org/drawingml/2006/main" noGrp="1"/>
          </p:cNvSpPr>
          <p:nvPr/>
        </p:nvSpPr>
        <p:spPr>
          <a:xfrm xmlns:a="http://schemas.openxmlformats.org/drawingml/2006/main" rot="0" flipH="0" flipV="0">
            <a:off x="4429125" y="2305050"/>
            <a:ext cx="3276600"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不能</a:t>
            </a:r>
          </a:p>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cannot</a:t>
            </a:r>
          </a:p>
        </p:txBody>
      </p:sp>
      <p:sp>
        <p:nvSpPr>
          <p:cNvPr id="604" name="">
            <a:extLst xmlns:a="http://schemas.openxmlformats.org/drawingml/2006/main">
              <a:ext uri="{FF2B5EF4-FFF2-40B4-BE49-F238E27FC236}">
                <a16:creationId xmlns:a16="http://schemas.microsoft.com/office/drawing/2014/main" id="{3CD66F39-5B41-4586-B59A-7EFE241A739D}"/>
              </a:ext>
            </a:extLst>
          </p:cNvPr>
          <p:cNvSpPr>
            <a:spLocks xmlns:a="http://schemas.openxmlformats.org/drawingml/2006/main" noGrp="1"/>
          </p:cNvSpPr>
          <p:nvPr/>
        </p:nvSpPr>
        <p:spPr>
          <a:xfrm xmlns:a="http://schemas.openxmlformats.org/drawingml/2006/main" rot="0" flipH="0" flipV="0">
            <a:off x="4429125" y="2543175"/>
            <a:ext cx="3276600"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不能操作子类新增的成员变量</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Cannot operate member variables added by subclasses</a:t>
            </a:r>
          </a:p>
        </p:txBody>
      </p:sp>
      <p:sp>
        <p:nvSpPr>
          <p:cNvPr id="605" name="">
            <a:extLst xmlns:a="http://schemas.openxmlformats.org/drawingml/2006/main">
              <a:ext uri="{FF2B5EF4-FFF2-40B4-BE49-F238E27FC236}">
                <a16:creationId xmlns:a16="http://schemas.microsoft.com/office/drawing/2014/main" id="{E31DFE23-4E75-4A5E-9E03-2203995B623A}"/>
              </a:ext>
            </a:extLst>
          </p:cNvPr>
          <p:cNvSpPr>
            <a:spLocks xmlns:a="http://schemas.openxmlformats.org/drawingml/2006/main" noGrp="1"/>
          </p:cNvSpPr>
          <p:nvPr/>
        </p:nvSpPr>
        <p:spPr>
          <a:xfrm xmlns:a="http://schemas.openxmlformats.org/drawingml/2006/main" rot="0" flipH="0" flipV="0">
            <a:off x="4429125" y="2857500"/>
            <a:ext cx="3276600"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不能调用子类新增的方法</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Methods added by subclasses cannot be called</a:t>
            </a:r>
          </a:p>
        </p:txBody>
      </p:sp>
      <p:sp>
        <p:nvSpPr>
          <p:cNvPr id="606" name="">
            <a:extLst xmlns:a="http://schemas.openxmlformats.org/drawingml/2006/main">
              <a:ext uri="{FF2B5EF4-FFF2-40B4-BE49-F238E27FC236}">
                <a16:creationId xmlns:a16="http://schemas.microsoft.com/office/drawing/2014/main" id="{B1C872B4-4FB5-4B68-91B9-8DB9B6AA692A}"/>
              </a:ext>
            </a:extLst>
          </p:cNvPr>
          <p:cNvSpPr>
            <a:spLocks xmlns:a="http://schemas.openxmlformats.org/drawingml/2006/main" noGrp="1"/>
          </p:cNvSpPr>
          <p:nvPr/>
        </p:nvSpPr>
        <p:spPr>
          <a:xfrm xmlns:a="http://schemas.openxmlformats.org/drawingml/2006/main" rot="0" flipH="0" flipV="0">
            <a:off x="8086725" y="2152650"/>
            <a:ext cx="3705225" cy="2314575"/>
          </a:xfrm>
          <a:prstGeom xmlns:a="http://schemas.openxmlformats.org/drawingml/2006/main" prst="roundRect">
            <a:avLst>
              <a:gd name="adj" fmla="val 4115"/>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607" name="">
            <a:extLst xmlns:a="http://schemas.openxmlformats.org/drawingml/2006/main">
              <a:ext uri="{FF2B5EF4-FFF2-40B4-BE49-F238E27FC236}">
                <a16:creationId xmlns:a16="http://schemas.microsoft.com/office/drawing/2014/main" id="{95B98A0E-9E62-4A5D-8EAF-269A9EC33926}"/>
              </a:ext>
            </a:extLst>
          </p:cNvPr>
          <p:cNvSpPr>
            <a:spLocks xmlns:a="http://schemas.openxmlformats.org/drawingml/2006/main" noGrp="1"/>
          </p:cNvSpPr>
          <p:nvPr/>
        </p:nvSpPr>
        <p:spPr>
          <a:xfrm xmlns:a="http://schemas.openxmlformats.org/drawingml/2006/main" rot="0" flipH="0" flipV="0">
            <a:off x="8086725" y="2152650"/>
            <a:ext cx="3705225" cy="2314575"/>
          </a:xfrm>
          <a:custGeom xmlns:a="http://schemas.openxmlformats.org/drawingml/2006/main">
            <a:pathLst>
              <a:path w="389" h="243">
                <a:moveTo>
                  <a:pt x="10" y="0"/>
                </a:moveTo>
                <a:cubicBezTo>
                  <a:pt x="8" y="0"/>
                  <a:pt x="6" y="2"/>
                  <a:pt x="6" y="4"/>
                </a:cubicBezTo>
                <a:lnTo>
                  <a:pt x="6" y="239"/>
                </a:lnTo>
                <a:cubicBezTo>
                  <a:pt x="6" y="241"/>
                  <a:pt x="8" y="243"/>
                  <a:pt x="10" y="243"/>
                </a:cubicBezTo>
                <a:cubicBezTo>
                  <a:pt x="4" y="243"/>
                  <a:pt x="0" y="238"/>
                  <a:pt x="0" y="233"/>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8" name="">
            <a:extLst xmlns:a="http://schemas.openxmlformats.org/drawingml/2006/main">
              <a:ext uri="{FF2B5EF4-FFF2-40B4-BE49-F238E27FC236}">
                <a16:creationId xmlns:a16="http://schemas.microsoft.com/office/drawing/2014/main" id="{E0607C51-C087-4819-8069-9D6612B55AE0}"/>
              </a:ext>
            </a:extLst>
          </p:cNvPr>
          <p:cNvSpPr>
            <a:spLocks xmlns:a="http://schemas.openxmlformats.org/drawingml/2006/main" noGrp="1"/>
          </p:cNvSpPr>
          <p:nvPr/>
        </p:nvSpPr>
        <p:spPr>
          <a:xfrm xmlns:a="http://schemas.openxmlformats.org/drawingml/2006/main" rot="0" flipH="0" flipV="0">
            <a:off x="8277225" y="2305050"/>
            <a:ext cx="326707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可以</a:t>
            </a:r>
          </a:p>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Can</a:t>
            </a:r>
          </a:p>
        </p:txBody>
      </p:sp>
      <p:sp>
        <p:nvSpPr>
          <p:cNvPr id="609" name="">
            <a:extLst xmlns:a="http://schemas.openxmlformats.org/drawingml/2006/main">
              <a:ext uri="{FF2B5EF4-FFF2-40B4-BE49-F238E27FC236}">
                <a16:creationId xmlns:a16="http://schemas.microsoft.com/office/drawing/2014/main" id="{57EE310F-4151-4867-933F-1FBD0CF6E0E6}"/>
              </a:ext>
            </a:extLst>
          </p:cNvPr>
          <p:cNvSpPr>
            <a:spLocks xmlns:a="http://schemas.openxmlformats.org/drawingml/2006/main" noGrp="1"/>
          </p:cNvSpPr>
          <p:nvPr/>
        </p:nvSpPr>
        <p:spPr>
          <a:xfrm xmlns:a="http://schemas.openxmlformats.org/drawingml/2006/main" rot="0" flipH="0" flipV="0">
            <a:off x="8277225" y="2543175"/>
            <a:ext cx="326707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访问子类继承或隐藏的成员变量</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Access inherited or hidden member variables of subclasses</a:t>
            </a:r>
          </a:p>
        </p:txBody>
      </p:sp>
      <p:sp>
        <p:nvSpPr>
          <p:cNvPr id="610" name="">
            <a:extLst xmlns:a="http://schemas.openxmlformats.org/drawingml/2006/main">
              <a:ext uri="{FF2B5EF4-FFF2-40B4-BE49-F238E27FC236}">
                <a16:creationId xmlns:a16="http://schemas.microsoft.com/office/drawing/2014/main" id="{ADFB367C-CA7C-4A3E-B893-68438F0A671F}"/>
              </a:ext>
            </a:extLst>
          </p:cNvPr>
          <p:cNvSpPr>
            <a:spLocks xmlns:a="http://schemas.openxmlformats.org/drawingml/2006/main" noGrp="1"/>
          </p:cNvSpPr>
          <p:nvPr/>
        </p:nvSpPr>
        <p:spPr>
          <a:xfrm xmlns:a="http://schemas.openxmlformats.org/drawingml/2006/main" rot="0" flipH="0" flipV="0">
            <a:off x="8277225" y="2857500"/>
            <a:ext cx="3267075" cy="276225"/>
          </a:xfrm>
          <a:prstGeom xmlns:a="http://schemas.openxmlformats.org/drawingml/2006/main" prst="rect">
            <a:avLst/>
          </a:prstGeom>
        </p:spPr>
        <p:txBody>
          <a:bodyPr xmlns:a="http://schemas.openxmlformats.org/drawingml/2006/main" wrap="none" lIns="0" tIns="0" rIns="0" bIns="0">
            <a:normAutofit fontScale="33792"/>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调用子类继承的方法或子类重写的实例方法</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Call methods inherited by subclasses or instance methods overridden by subclasses</a:t>
            </a:r>
          </a:p>
        </p:txBody>
      </p:sp>
      <p:sp>
        <p:nvSpPr>
          <p:cNvPr id="611" name="">
            <a:extLst xmlns:a="http://schemas.openxmlformats.org/drawingml/2006/main">
              <a:ext uri="{FF2B5EF4-FFF2-40B4-BE49-F238E27FC236}">
                <a16:creationId xmlns:a16="http://schemas.microsoft.com/office/drawing/2014/main" id="{B01B8745-31B6-489D-8368-A0A3C9A158E7}"/>
              </a:ext>
            </a:extLst>
          </p:cNvPr>
          <p:cNvSpPr>
            <a:spLocks xmlns:a="http://schemas.openxmlformats.org/drawingml/2006/main" noGrp="1"/>
          </p:cNvSpPr>
          <p:nvPr/>
        </p:nvSpPr>
        <p:spPr>
          <a:xfrm xmlns:a="http://schemas.openxmlformats.org/drawingml/2006/main" rot="0" flipH="0" flipV="0">
            <a:off x="8277225" y="3171825"/>
            <a:ext cx="3267075" cy="552450"/>
          </a:xfrm>
          <a:prstGeom xmlns:a="http://schemas.openxmlformats.org/drawingml/2006/main" prst="rect">
            <a:avLst/>
          </a:prstGeom>
        </p:spPr>
        <p:txBody>
          <a:bodyPr xmlns:a="http://schemas.openxmlformats.org/drawingml/2006/main" wrap="square" lIns="0" tIns="0" rIns="0" bIns="0">
            <a:normAutofit fontScale="42629"/>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子类重写了父类的实例方法，用上转型对象调用时一定是子类重写的方法</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subclass overrides the instance method of the parent class. When called using the transformation object, it must be the method rewritten by the subclass.</a:t>
            </a:r>
          </a:p>
        </p:txBody>
      </p:sp>
      <p:sp>
        <p:nvSpPr>
          <p:cNvPr id="612" name="">
            <a:extLst xmlns:a="http://schemas.openxmlformats.org/drawingml/2006/main">
              <a:ext uri="{FF2B5EF4-FFF2-40B4-BE49-F238E27FC236}">
                <a16:creationId xmlns:a16="http://schemas.microsoft.com/office/drawing/2014/main" id="{7B4EF59C-73A5-40E9-ADC9-6CBC3D27F263}"/>
              </a:ext>
            </a:extLst>
          </p:cNvPr>
          <p:cNvSpPr>
            <a:spLocks xmlns:a="http://schemas.openxmlformats.org/drawingml/2006/main" noGrp="1"/>
          </p:cNvSpPr>
          <p:nvPr/>
        </p:nvSpPr>
        <p:spPr>
          <a:xfrm xmlns:a="http://schemas.openxmlformats.org/drawingml/2006/main" rot="0" flipH="0" flipV="0">
            <a:off x="8277225" y="3762375"/>
            <a:ext cx="3267075" cy="552450"/>
          </a:xfrm>
          <a:prstGeom xmlns:a="http://schemas.openxmlformats.org/drawingml/2006/main" prst="rect">
            <a:avLst/>
          </a:prstGeom>
        </p:spPr>
        <p:txBody>
          <a:bodyPr xmlns:a="http://schemas.openxmlformats.org/drawingml/2006/main" wrap="square" lIns="0" tIns="0" rIns="0" bIns="0">
            <a:normAutofit fontScale="46617"/>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子类重写了父类的静态方法，上转型对象只能调用父类的静态方法</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subclass overrides the static method of the parent class, and the up-transformed object can only call the static method of the parent class.</a:t>
            </a:r>
          </a:p>
        </p:txBody>
      </p:sp>
      <p:sp>
        <p:nvSpPr>
          <p:cNvPr id="613" name="">
            <a:extLst xmlns:a="http://schemas.openxmlformats.org/drawingml/2006/main">
              <a:ext uri="{FF2B5EF4-FFF2-40B4-BE49-F238E27FC236}">
                <a16:creationId xmlns:a16="http://schemas.microsoft.com/office/drawing/2014/main" id="{A1A4F0A5-8B33-4FE7-9FEE-BECA23EF094C}"/>
              </a:ext>
            </a:extLst>
          </p:cNvPr>
          <p:cNvSpPr>
            <a:spLocks xmlns:a="http://schemas.openxmlformats.org/drawingml/2006/main" noGrp="1"/>
          </p:cNvSpPr>
          <p:nvPr/>
        </p:nvSpPr>
        <p:spPr>
          <a:xfrm xmlns:a="http://schemas.openxmlformats.org/drawingml/2006/main" rot="0" flipH="0" flipV="0">
            <a:off x="4181475" y="4638675"/>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614" name="">
            <a:extLst xmlns:a="http://schemas.openxmlformats.org/drawingml/2006/main">
              <a:ext uri="{FF2B5EF4-FFF2-40B4-BE49-F238E27FC236}">
                <a16:creationId xmlns:a16="http://schemas.microsoft.com/office/drawing/2014/main" id="{260EF0FE-82E8-4C5D-8034-06A94AA27F4F}"/>
              </a:ext>
            </a:extLst>
          </p:cNvPr>
          <p:cNvSpPr>
            <a:spLocks xmlns:a="http://schemas.openxmlformats.org/drawingml/2006/main" noGrp="1"/>
          </p:cNvSpPr>
          <p:nvPr/>
        </p:nvSpPr>
        <p:spPr>
          <a:xfrm xmlns:a="http://schemas.openxmlformats.org/drawingml/2006/main" rot="0" flipH="0" flipV="0">
            <a:off x="4371975" y="4772025"/>
            <a:ext cx="7172325" cy="295275"/>
          </a:xfrm>
          <a:prstGeom xmlns:a="http://schemas.openxmlformats.org/drawingml/2006/main" prst="rect">
            <a:avLst/>
          </a:prstGeom>
        </p:spPr>
        <p:txBody>
          <a:bodyPr xmlns:a="http://schemas.openxmlformats.org/drawingml/2006/main" wrap="non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例子10 中，monkey 是 People 类型对象的上转型对象。</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In Example 10, monkey is an upcast object of People type object.</a:t>
            </a:r>
          </a:p>
        </p:txBody>
      </p:sp>
      <p:sp>
        <p:nvSpPr>
          <p:cNvPr id="615" name="">
            <a:extLst xmlns:a="http://schemas.openxmlformats.org/drawingml/2006/main">
              <a:ext uri="{FF2B5EF4-FFF2-40B4-BE49-F238E27FC236}">
                <a16:creationId xmlns:a16="http://schemas.microsoft.com/office/drawing/2014/main" id="{53C78D31-BF7F-42BC-875D-40D086ED424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51 / 87</a:t>
            </a:r>
            <a:endParaRPr/>
          </a:p>
        </p:txBody>
      </p:sp>
    </p:spTree>
    <p:extLst>
      <p:ext uri="{BB962C8B-B14F-4D97-AF65-F5344CB8AC3E}">
        <p14:creationId xmlns:p14="http://schemas.microsoft.com/office/powerpoint/2010/main" val="412212903"/>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617" name="">
            <a:extLst xmlns:a="http://schemas.openxmlformats.org/drawingml/2006/main">
              <a:ext uri="{FF2B5EF4-FFF2-40B4-BE49-F238E27FC236}">
                <a16:creationId xmlns:a16="http://schemas.microsoft.com/office/drawing/2014/main" id="{1BDE701C-3455-4197-95FF-94FA3926D8EE}"/>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18" name="">
            <a:extLst xmlns:a="http://schemas.openxmlformats.org/drawingml/2006/main">
              <a:ext uri="{FF2B5EF4-FFF2-40B4-BE49-F238E27FC236}">
                <a16:creationId xmlns:a16="http://schemas.microsoft.com/office/drawing/2014/main" id="{2586A5BB-A116-43D2-B408-76B35A72F16B}"/>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19" name="">
            <a:extLst xmlns:a="http://schemas.openxmlformats.org/drawingml/2006/main">
              <a:ext uri="{FF2B5EF4-FFF2-40B4-BE49-F238E27FC236}">
                <a16:creationId xmlns:a16="http://schemas.microsoft.com/office/drawing/2014/main" id="{EF0150E0-0D1D-4327-A57F-22AD0C417B6C}"/>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620" name="">
            <a:extLst xmlns:a="http://schemas.openxmlformats.org/drawingml/2006/main">
              <a:ext uri="{FF2B5EF4-FFF2-40B4-BE49-F238E27FC236}">
                <a16:creationId xmlns:a16="http://schemas.microsoft.com/office/drawing/2014/main" id="{7A058A28-5B2C-428D-AB04-3C5B32B3095F}"/>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§5.7</a:t>
            </a:r>
            <a:endParaRPr/>
          </a:p>
        </p:txBody>
      </p:sp>
      <p:sp>
        <p:nvSpPr>
          <p:cNvPr id="621" name="">
            <a:extLst xmlns:a="http://schemas.openxmlformats.org/drawingml/2006/main">
              <a:ext uri="{FF2B5EF4-FFF2-40B4-BE49-F238E27FC236}">
                <a16:creationId xmlns:a16="http://schemas.microsoft.com/office/drawing/2014/main" id="{1D10DDA3-18B4-461E-8D9F-04D277997041}"/>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上转型对象示例（图5.10）</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 of upward transformation object (Figure 5.10)</a:t>
            </a:r>
          </a:p>
        </p:txBody>
      </p:sp>
      <p:sp>
        <p:nvSpPr>
          <p:cNvPr id="622" name="">
            <a:extLst xmlns:a="http://schemas.openxmlformats.org/drawingml/2006/main">
              <a:ext uri="{FF2B5EF4-FFF2-40B4-BE49-F238E27FC236}">
                <a16:creationId xmlns:a16="http://schemas.microsoft.com/office/drawing/2014/main" id="{122D66AB-C368-45C6-A595-034021375DB5}"/>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23" name="">
            <a:extLst xmlns:a="http://schemas.openxmlformats.org/drawingml/2006/main">
              <a:ext uri="{FF2B5EF4-FFF2-40B4-BE49-F238E27FC236}">
                <a16:creationId xmlns:a16="http://schemas.microsoft.com/office/drawing/2014/main" id="{524214E4-33E2-4678-855F-6533CE9EBDCA}"/>
              </a:ext>
            </a:extLst>
          </p:cNvPr>
          <p:cNvSpPr>
            <a:spLocks xmlns:a="http://schemas.openxmlformats.org/drawingml/2006/main" noGrp="1"/>
          </p:cNvSpPr>
          <p:nvPr/>
        </p:nvSpPr>
        <p:spPr>
          <a:xfrm xmlns:a="http://schemas.openxmlformats.org/drawingml/2006/main" rot="0" flipH="0" flipV="0">
            <a:off x="457200" y="319087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monkey 是 People 类型对象的上转型对象，调用重写方法：输出 ***I love this game ***。</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monkey is an upcast object of People type object, calling the overridden method: output ***I love this game ***.</a:t>
            </a:r>
          </a:p>
        </p:txBody>
      </p:sp>
      <p:pic>
        <p:nvPicPr>
          <p:cNvPr id="634" name=""/>
          <p:cNvPicPr>
            <a:picLocks xmlns:a="http://schemas.openxmlformats.org/drawingml/2006/main" noChangeAspect="1"/>
          </p:cNvPicPr>
          <p:nvPr/>
        </p:nvPicPr>
        <p:blipFill>
          <a:blip xmlns:r="http://schemas.openxmlformats.org/officeDocument/2006/relationships" xmlns:a="http://schemas.openxmlformats.org/drawingml/2006/main" r:embed="R0c8d42539dda4f1c"/>
          <a:srcRect xmlns:a="http://schemas.openxmlformats.org/drawingml/2006/main" l="31" t="0" r="31" b="0"/>
          <a:stretch xmlns:a="http://schemas.openxmlformats.org/drawingml/2006/main">
            <a:fillRect l="0" t="0" r="0" b="0"/>
          </a:stretch>
        </p:blipFill>
        <p:spPr>
          <a:xfrm xmlns:a="http://schemas.openxmlformats.org/drawingml/2006/main" rot="0" flipH="0" flipV="0">
            <a:off x="4533900" y="1657350"/>
            <a:ext cx="6858000" cy="4191000"/>
          </a:xfrm>
          <a:prstGeom xmlns:a="http://schemas.openxmlformats.org/drawingml/2006/main" prst="roundRect">
            <a:avLst>
              <a:gd name="adj" fmla="val 1818"/>
            </a:avLst>
          </a:prstGeom>
        </p:spPr>
      </p:pic>
      <p:sp>
        <p:nvSpPr>
          <p:cNvPr id="625" name="">
            <a:extLst xmlns:a="http://schemas.openxmlformats.org/drawingml/2006/main">
              <a:ext uri="{FF2B5EF4-FFF2-40B4-BE49-F238E27FC236}">
                <a16:creationId xmlns:a16="http://schemas.microsoft.com/office/drawing/2014/main" id="{C8D1E987-D5AA-4237-9955-2267BFA9E4EA}"/>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52 / 87</a:t>
            </a:r>
            <a:endParaRPr/>
          </a:p>
        </p:txBody>
      </p:sp>
    </p:spTree>
    <p:extLst>
      <p:ext uri="{BB962C8B-B14F-4D97-AF65-F5344CB8AC3E}">
        <p14:creationId xmlns:p14="http://schemas.microsoft.com/office/powerpoint/2010/main" val="1630308615"/>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627" name="">
            <a:extLst xmlns:a="http://schemas.openxmlformats.org/drawingml/2006/main">
              <a:ext uri="{FF2B5EF4-FFF2-40B4-BE49-F238E27FC236}">
                <a16:creationId xmlns:a16="http://schemas.microsoft.com/office/drawing/2014/main" id="{970C1AC0-3131-4F0B-AEF4-E0937FB9B3EC}"/>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28" name="">
            <a:extLst xmlns:a="http://schemas.openxmlformats.org/drawingml/2006/main">
              <a:ext uri="{FF2B5EF4-FFF2-40B4-BE49-F238E27FC236}">
                <a16:creationId xmlns:a16="http://schemas.microsoft.com/office/drawing/2014/main" id="{91F2D5AE-1BC2-4DE6-A8EB-E4FF1331FE1F}"/>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29" name="">
            <a:extLst xmlns:a="http://schemas.openxmlformats.org/drawingml/2006/main">
              <a:ext uri="{FF2B5EF4-FFF2-40B4-BE49-F238E27FC236}">
                <a16:creationId xmlns:a16="http://schemas.microsoft.com/office/drawing/2014/main" id="{7D43594C-B282-43F4-A850-CBF63213798B}"/>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630" name="">
            <a:extLst xmlns:a="http://schemas.openxmlformats.org/drawingml/2006/main">
              <a:ext uri="{FF2B5EF4-FFF2-40B4-BE49-F238E27FC236}">
                <a16:creationId xmlns:a16="http://schemas.microsoft.com/office/drawing/2014/main" id="{BB8160C7-EF15-4114-ACB5-2EB0F17C26AB}"/>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例子10</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10</a:t>
            </a:r>
          </a:p>
        </p:txBody>
      </p:sp>
      <p:sp>
        <p:nvSpPr>
          <p:cNvPr id="631" name="">
            <a:extLst xmlns:a="http://schemas.openxmlformats.org/drawingml/2006/main">
              <a:ext uri="{FF2B5EF4-FFF2-40B4-BE49-F238E27FC236}">
                <a16:creationId xmlns:a16="http://schemas.microsoft.com/office/drawing/2014/main" id="{26C47D4A-4168-41AD-88EB-31C987E8BF47}"/>
              </a:ext>
            </a:extLst>
          </p:cNvPr>
          <p:cNvSpPr>
            <a:spLocks xmlns:a="http://schemas.openxmlformats.org/drawingml/2006/main" noGrp="1"/>
          </p:cNvSpPr>
          <p:nvPr/>
        </p:nvSpPr>
        <p:spPr>
          <a:xfrm xmlns:a="http://schemas.openxmlformats.org/drawingml/2006/main" rot="0" flipH="0" flipV="0">
            <a:off x="457200" y="1562100"/>
            <a:ext cx="36480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Example5_10（上）</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Example5_10 (Part 1)</a:t>
            </a:r>
          </a:p>
        </p:txBody>
      </p:sp>
      <p:sp>
        <p:nvSpPr>
          <p:cNvPr id="632" name="">
            <a:extLst xmlns:a="http://schemas.openxmlformats.org/drawingml/2006/main">
              <a:ext uri="{FF2B5EF4-FFF2-40B4-BE49-F238E27FC236}">
                <a16:creationId xmlns:a16="http://schemas.microsoft.com/office/drawing/2014/main" id="{2C046408-E13C-4833-8934-79F13AB8A759}"/>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33" name="">
            <a:extLst xmlns:a="http://schemas.openxmlformats.org/drawingml/2006/main">
              <a:ext uri="{FF2B5EF4-FFF2-40B4-BE49-F238E27FC236}">
                <a16:creationId xmlns:a16="http://schemas.microsoft.com/office/drawing/2014/main" id="{A8028AAC-BBE7-43F6-BFFF-56928013D97A}"/>
              </a:ext>
            </a:extLst>
          </p:cNvPr>
          <p:cNvSpPr>
            <a:spLocks xmlns:a="http://schemas.openxmlformats.org/drawingml/2006/main" noGrp="1"/>
          </p:cNvSpPr>
          <p:nvPr/>
        </p:nvSpPr>
        <p:spPr>
          <a:xfrm xmlns:a="http://schemas.openxmlformats.org/drawingml/2006/main" rot="0" flipH="0" flipV="0">
            <a:off x="457200" y="260032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People 继承类人猿并重写 crySpeak()，monkey 是 geng 的上转型对象。</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People inherits monkey and overrides crySpeak(), monkey is the upcast object of geng.</a:t>
            </a:r>
          </a:p>
        </p:txBody>
      </p:sp>
      <p:pic>
        <p:nvPicPr>
          <p:cNvPr id="644" name=""/>
          <p:cNvPicPr>
            <a:picLocks xmlns:a="http://schemas.openxmlformats.org/drawingml/2006/main" noChangeAspect="1"/>
          </p:cNvPicPr>
          <p:nvPr/>
        </p:nvPicPr>
        <p:blipFill>
          <a:blip xmlns:r="http://schemas.openxmlformats.org/officeDocument/2006/relationships" xmlns:a="http://schemas.openxmlformats.org/drawingml/2006/main" r:embed="Ra0794f65cd3a42f1"/>
          <a:srcRect xmlns:a="http://schemas.openxmlformats.org/drawingml/2006/main" l="20" t="0" r="20" b="0"/>
          <a:stretch xmlns:a="http://schemas.openxmlformats.org/drawingml/2006/main">
            <a:fillRect l="0" t="0" r="0" b="0"/>
          </a:stretch>
        </p:blipFill>
        <p:spPr>
          <a:xfrm xmlns:a="http://schemas.openxmlformats.org/drawingml/2006/main" rot="0" flipH="0" flipV="0">
            <a:off x="4143375" y="2038350"/>
            <a:ext cx="7591425" cy="3228975"/>
          </a:xfrm>
          <a:prstGeom xmlns:a="http://schemas.openxmlformats.org/drawingml/2006/main" prst="roundRect">
            <a:avLst>
              <a:gd name="adj" fmla="val 3540"/>
            </a:avLst>
          </a:prstGeom>
          <a:effectLst xmlns:a="http://schemas.openxmlformats.org/drawingml/2006/main">
            <a:outerShdw blurRad="152400" dist="38100" dir="5400000">
              <a:srgbClr val="0F1C2E">
                <a:alpha val="8000"/>
              </a:srgbClr>
            </a:outerShdw>
          </a:effectLst>
        </p:spPr>
      </p:pic>
      <p:sp>
        <p:nvSpPr>
          <p:cNvPr id="635" name="">
            <a:extLst xmlns:a="http://schemas.openxmlformats.org/drawingml/2006/main">
              <a:ext uri="{FF2B5EF4-FFF2-40B4-BE49-F238E27FC236}">
                <a16:creationId xmlns:a16="http://schemas.microsoft.com/office/drawing/2014/main" id="{B989D4B5-5279-4D41-A713-BED4F0E1E11D}"/>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53 / 87</a:t>
            </a:r>
            <a:endParaRPr/>
          </a:p>
        </p:txBody>
      </p:sp>
    </p:spTree>
    <p:extLst>
      <p:ext uri="{BB962C8B-B14F-4D97-AF65-F5344CB8AC3E}">
        <p14:creationId xmlns:p14="http://schemas.microsoft.com/office/powerpoint/2010/main" val="1484338498"/>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637" name="">
            <a:extLst xmlns:a="http://schemas.openxmlformats.org/drawingml/2006/main">
              <a:ext uri="{FF2B5EF4-FFF2-40B4-BE49-F238E27FC236}">
                <a16:creationId xmlns:a16="http://schemas.microsoft.com/office/drawing/2014/main" id="{7BAEB209-C023-4AF9-BB42-F04A3240AEBB}"/>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38" name="">
            <a:extLst xmlns:a="http://schemas.openxmlformats.org/drawingml/2006/main">
              <a:ext uri="{FF2B5EF4-FFF2-40B4-BE49-F238E27FC236}">
                <a16:creationId xmlns:a16="http://schemas.microsoft.com/office/drawing/2014/main" id="{08FC6EC0-8E06-467F-94D6-2E606DE6D905}"/>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39" name="">
            <a:extLst xmlns:a="http://schemas.openxmlformats.org/drawingml/2006/main">
              <a:ext uri="{FF2B5EF4-FFF2-40B4-BE49-F238E27FC236}">
                <a16:creationId xmlns:a16="http://schemas.microsoft.com/office/drawing/2014/main" id="{DAB3C3E2-CFCD-4B35-A907-815B0AA8E0C3}"/>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640" name="">
            <a:extLst xmlns:a="http://schemas.openxmlformats.org/drawingml/2006/main">
              <a:ext uri="{FF2B5EF4-FFF2-40B4-BE49-F238E27FC236}">
                <a16:creationId xmlns:a16="http://schemas.microsoft.com/office/drawing/2014/main" id="{5CFDDE51-4600-41B0-BE05-4FFB2996C1B5}"/>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例子10</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10</a:t>
            </a:r>
          </a:p>
        </p:txBody>
      </p:sp>
      <p:sp>
        <p:nvSpPr>
          <p:cNvPr id="641" name="">
            <a:extLst xmlns:a="http://schemas.openxmlformats.org/drawingml/2006/main">
              <a:ext uri="{FF2B5EF4-FFF2-40B4-BE49-F238E27FC236}">
                <a16:creationId xmlns:a16="http://schemas.microsoft.com/office/drawing/2014/main" id="{2ACD5145-9433-4A31-BA7E-958C6EA475DB}"/>
              </a:ext>
            </a:extLst>
          </p:cNvPr>
          <p:cNvSpPr>
            <a:spLocks xmlns:a="http://schemas.openxmlformats.org/drawingml/2006/main" noGrp="1"/>
          </p:cNvSpPr>
          <p:nvPr/>
        </p:nvSpPr>
        <p:spPr>
          <a:xfrm xmlns:a="http://schemas.openxmlformats.org/drawingml/2006/main" rot="0" flipH="0" flipV="0">
            <a:off x="457200" y="1562100"/>
            <a:ext cx="36480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Example5_10（下）</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Example5_10 (Part 2)</a:t>
            </a:r>
          </a:p>
        </p:txBody>
      </p:sp>
      <p:sp>
        <p:nvSpPr>
          <p:cNvPr id="642" name="">
            <a:extLst xmlns:a="http://schemas.openxmlformats.org/drawingml/2006/main">
              <a:ext uri="{FF2B5EF4-FFF2-40B4-BE49-F238E27FC236}">
                <a16:creationId xmlns:a16="http://schemas.microsoft.com/office/drawing/2014/main" id="{C6D0D434-92E8-473C-89D3-69A0C9248528}"/>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43" name="">
            <a:extLst xmlns:a="http://schemas.openxmlformats.org/drawingml/2006/main">
              <a:ext uri="{FF2B5EF4-FFF2-40B4-BE49-F238E27FC236}">
                <a16:creationId xmlns:a16="http://schemas.microsoft.com/office/drawing/2014/main" id="{D7252F17-3544-405A-BCEA-69E97C73AE0A}"/>
              </a:ext>
            </a:extLst>
          </p:cNvPr>
          <p:cNvSpPr>
            <a:spLocks xmlns:a="http://schemas.openxmlformats.org/drawingml/2006/main" noGrp="1"/>
          </p:cNvSpPr>
          <p:nvPr/>
        </p:nvSpPr>
        <p:spPr>
          <a:xfrm xmlns:a="http://schemas.openxmlformats.org/drawingml/2006/main" rot="0" flipH="0" flipV="0">
            <a:off x="457200" y="260032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上转型对象调用重写的实例方法；强制转化 (People)monkey 后调用子类新增方法。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Upcast the object to call the overridden instance method; call the new method of the subclass after forcing conversion to (People)monkey.</a:t>
            </a:r>
          </a:p>
        </p:txBody>
      </p:sp>
      <p:pic>
        <p:nvPicPr>
          <p:cNvPr id="654" name=""/>
          <p:cNvPicPr>
            <a:picLocks xmlns:a="http://schemas.openxmlformats.org/drawingml/2006/main" noChangeAspect="1"/>
          </p:cNvPicPr>
          <p:nvPr/>
        </p:nvPicPr>
        <p:blipFill>
          <a:blip xmlns:r="http://schemas.openxmlformats.org/officeDocument/2006/relationships" xmlns:a="http://schemas.openxmlformats.org/drawingml/2006/main" r:embed="Rc6f0a038e96c493b"/>
          <a:srcRect xmlns:a="http://schemas.openxmlformats.org/drawingml/2006/main" l="20" t="0" r="20" b="0"/>
          <a:stretch xmlns:a="http://schemas.openxmlformats.org/drawingml/2006/main">
            <a:fillRect l="0" t="0" r="0" b="0"/>
          </a:stretch>
        </p:blipFill>
        <p:spPr>
          <a:xfrm xmlns:a="http://schemas.openxmlformats.org/drawingml/2006/main" rot="0" flipH="0" flipV="0">
            <a:off x="4143375" y="2038350"/>
            <a:ext cx="7591425" cy="3228975"/>
          </a:xfrm>
          <a:prstGeom xmlns:a="http://schemas.openxmlformats.org/drawingml/2006/main" prst="roundRect">
            <a:avLst>
              <a:gd name="adj" fmla="val 3540"/>
            </a:avLst>
          </a:prstGeom>
          <a:effectLst xmlns:a="http://schemas.openxmlformats.org/drawingml/2006/main">
            <a:outerShdw blurRad="152400" dist="38100" dir="5400000">
              <a:srgbClr val="0F1C2E">
                <a:alpha val="8000"/>
              </a:srgbClr>
            </a:outerShdw>
          </a:effectLst>
        </p:spPr>
      </p:pic>
      <p:sp>
        <p:nvSpPr>
          <p:cNvPr id="645" name="">
            <a:extLst xmlns:a="http://schemas.openxmlformats.org/drawingml/2006/main">
              <a:ext uri="{FF2B5EF4-FFF2-40B4-BE49-F238E27FC236}">
                <a16:creationId xmlns:a16="http://schemas.microsoft.com/office/drawing/2014/main" id="{7A1FB899-4643-4FA8-8472-B45F9A518CF6}"/>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54 / 87</a:t>
            </a:r>
            <a:endParaRPr/>
          </a:p>
        </p:txBody>
      </p:sp>
    </p:spTree>
    <p:extLst>
      <p:ext uri="{BB962C8B-B14F-4D97-AF65-F5344CB8AC3E}">
        <p14:creationId xmlns:p14="http://schemas.microsoft.com/office/powerpoint/2010/main" val="1372428752"/>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647" name="">
            <a:extLst xmlns:a="http://schemas.openxmlformats.org/drawingml/2006/main">
              <a:ext uri="{FF2B5EF4-FFF2-40B4-BE49-F238E27FC236}">
                <a16:creationId xmlns:a16="http://schemas.microsoft.com/office/drawing/2014/main" id="{B39A438C-914B-4833-BC7C-54B0A08E1B4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48" name="">
            <a:extLst xmlns:a="http://schemas.openxmlformats.org/drawingml/2006/main">
              <a:ext uri="{FF2B5EF4-FFF2-40B4-BE49-F238E27FC236}">
                <a16:creationId xmlns:a16="http://schemas.microsoft.com/office/drawing/2014/main" id="{E367C3FF-3AB3-4B27-8060-CBB12825C91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49" name="">
            <a:extLst xmlns:a="http://schemas.openxmlformats.org/drawingml/2006/main">
              <a:ext uri="{FF2B5EF4-FFF2-40B4-BE49-F238E27FC236}">
                <a16:creationId xmlns:a16="http://schemas.microsoft.com/office/drawing/2014/main" id="{2E05011E-08AA-473F-BB87-2A65B4703E67}"/>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650" name="">
            <a:extLst xmlns:a="http://schemas.openxmlformats.org/drawingml/2006/main">
              <a:ext uri="{FF2B5EF4-FFF2-40B4-BE49-F238E27FC236}">
                <a16:creationId xmlns:a16="http://schemas.microsoft.com/office/drawing/2014/main" id="{0AC1994A-32F8-4598-A8C1-8914E17F83A3}"/>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§5.8</a:t>
            </a:r>
            <a:endParaRPr/>
          </a:p>
        </p:txBody>
      </p:sp>
      <p:sp>
        <p:nvSpPr>
          <p:cNvPr id="651" name="">
            <a:extLst xmlns:a="http://schemas.openxmlformats.org/drawingml/2006/main">
              <a:ext uri="{FF2B5EF4-FFF2-40B4-BE49-F238E27FC236}">
                <a16:creationId xmlns:a16="http://schemas.microsoft.com/office/drawing/2014/main" id="{5305FF1F-0734-421B-A5CC-DC10543D9487}"/>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6473"/>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继承与多态</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Inheritance and Polymorphism</a:t>
            </a:r>
          </a:p>
        </p:txBody>
      </p:sp>
      <p:sp>
        <p:nvSpPr>
          <p:cNvPr id="652" name="">
            <a:extLst xmlns:a="http://schemas.openxmlformats.org/drawingml/2006/main">
              <a:ext uri="{FF2B5EF4-FFF2-40B4-BE49-F238E27FC236}">
                <a16:creationId xmlns:a16="http://schemas.microsoft.com/office/drawing/2014/main" id="{A7CB8C03-E2FD-425C-8E80-6EAA8C87EF19}"/>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53" name="">
            <a:extLst xmlns:a="http://schemas.openxmlformats.org/drawingml/2006/main">
              <a:ext uri="{FF2B5EF4-FFF2-40B4-BE49-F238E27FC236}">
                <a16:creationId xmlns:a16="http://schemas.microsoft.com/office/drawing/2014/main" id="{0A38A9F6-792B-45E4-A979-80523D530682}"/>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多态性是指父类的某个方法被其子类重写时，可以各自产生自己的功能行为。</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Polymorphism means that when a method of the parent class is overridden by its subclass, each can produce its own functional behavior.</a:t>
            </a:r>
          </a:p>
        </p:txBody>
      </p:sp>
      <p:sp>
        <p:nvSpPr>
          <p:cNvPr id="654" name="">
            <a:extLst xmlns:a="http://schemas.openxmlformats.org/drawingml/2006/main">
              <a:ext uri="{FF2B5EF4-FFF2-40B4-BE49-F238E27FC236}">
                <a16:creationId xmlns:a16="http://schemas.microsoft.com/office/drawing/2014/main" id="{27699FA8-2388-498D-A17A-A35E58A05E4C}"/>
              </a:ext>
            </a:extLst>
          </p:cNvPr>
          <p:cNvSpPr>
            <a:spLocks xmlns:a="http://schemas.openxmlformats.org/drawingml/2006/main" noGrp="1"/>
          </p:cNvSpPr>
          <p:nvPr/>
        </p:nvSpPr>
        <p:spPr>
          <a:xfrm xmlns:a="http://schemas.openxmlformats.org/drawingml/2006/main" rot="0" flipH="0" flipV="0">
            <a:off x="4181475" y="21907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55" name="">
            <a:extLst xmlns:a="http://schemas.openxmlformats.org/drawingml/2006/main">
              <a:ext uri="{FF2B5EF4-FFF2-40B4-BE49-F238E27FC236}">
                <a16:creationId xmlns:a16="http://schemas.microsoft.com/office/drawing/2014/main" id="{3F11ADFC-E195-4179-A6E1-F2683C12912B}"/>
              </a:ext>
            </a:extLst>
          </p:cNvPr>
          <p:cNvSpPr>
            <a:spLocks xmlns:a="http://schemas.openxmlformats.org/drawingml/2006/main" noGrp="1"/>
          </p:cNvSpPr>
          <p:nvPr/>
        </p:nvSpPr>
        <p:spPr>
          <a:xfrm xmlns:a="http://schemas.openxmlformats.org/drawingml/2006/main" rot="0" flipH="0" flipV="0">
            <a:off x="4371975" y="2076450"/>
            <a:ext cx="7362825" cy="390525"/>
          </a:xfrm>
          <a:prstGeom xmlns:a="http://schemas.openxmlformats.org/drawingml/2006/main" prst="rect">
            <a:avLst/>
          </a:prstGeom>
        </p:spPr>
        <p:txBody>
          <a:bodyPr xmlns:a="http://schemas.openxmlformats.org/drawingml/2006/main" wrap="none" lIns="0" tIns="0" rIns="0" bIns="0">
            <a:normAutofit fontScale="5126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“哺乳动物有很多种叫声”：吼、嚎、汪汪、喵喵，这就是叫声的多态</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"Mammals have many kinds of sounds": roar, howl, woof, meow, this is the polymorphism of sounds</a:t>
            </a:r>
          </a:p>
        </p:txBody>
      </p:sp>
      <p:sp>
        <p:nvSpPr>
          <p:cNvPr id="656" name="">
            <a:extLst xmlns:a="http://schemas.openxmlformats.org/drawingml/2006/main">
              <a:ext uri="{FF2B5EF4-FFF2-40B4-BE49-F238E27FC236}">
                <a16:creationId xmlns:a16="http://schemas.microsoft.com/office/drawing/2014/main" id="{E89A2B13-428E-4FAD-A0FF-B3AA04CC8C32}"/>
              </a:ext>
            </a:extLst>
          </p:cNvPr>
          <p:cNvSpPr>
            <a:spLocks xmlns:a="http://schemas.openxmlformats.org/drawingml/2006/main" noGrp="1"/>
          </p:cNvSpPr>
          <p:nvPr/>
        </p:nvSpPr>
        <p:spPr>
          <a:xfrm xmlns:a="http://schemas.openxmlformats.org/drawingml/2006/main" rot="0" flipH="0" flipV="0">
            <a:off x="4181475" y="27527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57" name="">
            <a:extLst xmlns:a="http://schemas.openxmlformats.org/drawingml/2006/main">
              <a:ext uri="{FF2B5EF4-FFF2-40B4-BE49-F238E27FC236}">
                <a16:creationId xmlns:a16="http://schemas.microsoft.com/office/drawing/2014/main" id="{FF17F59B-D9E7-4CC0-8D08-EA2A877A0096}"/>
              </a:ext>
            </a:extLst>
          </p:cNvPr>
          <p:cNvSpPr>
            <a:spLocks xmlns:a="http://schemas.openxmlformats.org/drawingml/2006/main" noGrp="1"/>
          </p:cNvSpPr>
          <p:nvPr/>
        </p:nvSpPr>
        <p:spPr>
          <a:xfrm xmlns:a="http://schemas.openxmlformats.org/drawingml/2006/main" rot="0" flipH="0" flipV="0">
            <a:off x="4371975" y="2638425"/>
            <a:ext cx="7362825" cy="390525"/>
          </a:xfrm>
          <a:prstGeom xmlns:a="http://schemas.openxmlformats.org/drawingml/2006/main" prst="rect">
            <a:avLst/>
          </a:prstGeom>
        </p:spPr>
        <p:txBody>
          <a:bodyPr xmlns:a="http://schemas.openxmlformats.org/drawingml/2006/main" wrap="none" lIns="0" tIns="0" rIns="0" bIns="0">
            <a:normAutofit fontScale="50913"/>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一个类有很多子类，且这些子类都重写了父类中的某个实例方法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 class has many subclasses, and these subclasses all override an instance method in the parent class</a:t>
            </a:r>
          </a:p>
        </p:txBody>
      </p:sp>
      <p:sp>
        <p:nvSpPr>
          <p:cNvPr id="658" name="">
            <a:extLst xmlns:a="http://schemas.openxmlformats.org/drawingml/2006/main">
              <a:ext uri="{FF2B5EF4-FFF2-40B4-BE49-F238E27FC236}">
                <a16:creationId xmlns:a16="http://schemas.microsoft.com/office/drawing/2014/main" id="{332BC29A-54C7-4180-BB4D-D377C6D98D3F}"/>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59" name="">
            <a:extLst xmlns:a="http://schemas.openxmlformats.org/drawingml/2006/main">
              <a:ext uri="{FF2B5EF4-FFF2-40B4-BE49-F238E27FC236}">
                <a16:creationId xmlns:a16="http://schemas.microsoft.com/office/drawing/2014/main" id="{9357768B-0C5A-42F9-A5BA-53194EC196C9}"/>
              </a:ext>
            </a:extLst>
          </p:cNvPr>
          <p:cNvSpPr>
            <a:spLocks xmlns:a="http://schemas.openxmlformats.org/drawingml/2006/main" noGrp="1"/>
          </p:cNvSpPr>
          <p:nvPr/>
        </p:nvSpPr>
        <p:spPr>
          <a:xfrm xmlns:a="http://schemas.openxmlformats.org/drawingml/2006/main" rot="0" flipH="0" flipV="0">
            <a:off x="4371975" y="3200400"/>
            <a:ext cx="736282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把子类创建的对象的引用放到父类的对象中，得到上转型对象，它调用这个实例方法时就可能具有多种形态</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Put the reference of the object created by the subclass into the object of the parent class to get the up-transformed object. It may have multiple forms when it calls this instance method.</a:t>
            </a:r>
          </a:p>
        </p:txBody>
      </p:sp>
      <p:sp>
        <p:nvSpPr>
          <p:cNvPr id="660" name="">
            <a:extLst xmlns:a="http://schemas.openxmlformats.org/drawingml/2006/main">
              <a:ext uri="{FF2B5EF4-FFF2-40B4-BE49-F238E27FC236}">
                <a16:creationId xmlns:a16="http://schemas.microsoft.com/office/drawing/2014/main" id="{09612517-034B-4639-9346-CB4620B2435F}"/>
              </a:ext>
            </a:extLst>
          </p:cNvPr>
          <p:cNvSpPr>
            <a:spLocks xmlns:a="http://schemas.openxmlformats.org/drawingml/2006/main" noGrp="1"/>
          </p:cNvSpPr>
          <p:nvPr/>
        </p:nvSpPr>
        <p:spPr>
          <a:xfrm xmlns:a="http://schemas.openxmlformats.org/drawingml/2006/main" rot="0" flipH="0" flipV="0">
            <a:off x="4181475" y="42672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61" name="">
            <a:extLst xmlns:a="http://schemas.openxmlformats.org/drawingml/2006/main">
              <a:ext uri="{FF2B5EF4-FFF2-40B4-BE49-F238E27FC236}">
                <a16:creationId xmlns:a16="http://schemas.microsoft.com/office/drawing/2014/main" id="{C9DDBCDF-ECED-41BA-BCDE-095B02302C92}"/>
              </a:ext>
            </a:extLst>
          </p:cNvPr>
          <p:cNvSpPr>
            <a:spLocks xmlns:a="http://schemas.openxmlformats.org/drawingml/2006/main" noGrp="1"/>
          </p:cNvSpPr>
          <p:nvPr/>
        </p:nvSpPr>
        <p:spPr>
          <a:xfrm xmlns:a="http://schemas.openxmlformats.org/drawingml/2006/main" rot="0" flipH="0" flipV="0">
            <a:off x="4371975" y="4152900"/>
            <a:ext cx="7362825" cy="390525"/>
          </a:xfrm>
          <a:prstGeom xmlns:a="http://schemas.openxmlformats.org/drawingml/2006/main" prst="rect">
            <a:avLst/>
          </a:prstGeom>
        </p:spPr>
        <p:txBody>
          <a:bodyPr xmlns:a="http://schemas.openxmlformats.org/drawingml/2006/main" wrap="none" lIns="0" tIns="0" rIns="0" bIns="0">
            <a:normAutofit fontScale="42049"/>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狗类的上转型对象调用 “叫声” 产生 “汪汪”，猫类的上转型对象产生 “喵喵”</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upcast object of the dog class calls "bark" to produce "woof", and the upcast object of the cat class produces "meow".</a:t>
            </a:r>
          </a:p>
        </p:txBody>
      </p:sp>
      <p:sp>
        <p:nvSpPr>
          <p:cNvPr id="662" name="">
            <a:extLst xmlns:a="http://schemas.openxmlformats.org/drawingml/2006/main">
              <a:ext uri="{FF2B5EF4-FFF2-40B4-BE49-F238E27FC236}">
                <a16:creationId xmlns:a16="http://schemas.microsoft.com/office/drawing/2014/main" id="{42E398B3-BF69-49C4-8587-9C67D8D1F509}"/>
              </a:ext>
            </a:extLst>
          </p:cNvPr>
          <p:cNvSpPr>
            <a:spLocks xmlns:a="http://schemas.openxmlformats.org/drawingml/2006/main" noGrp="1"/>
          </p:cNvSpPr>
          <p:nvPr/>
        </p:nvSpPr>
        <p:spPr>
          <a:xfrm xmlns:a="http://schemas.openxmlformats.org/drawingml/2006/main" rot="0" flipH="0" flipV="0">
            <a:off x="4181475" y="4714875"/>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663" name="">
            <a:extLst xmlns:a="http://schemas.openxmlformats.org/drawingml/2006/main">
              <a:ext uri="{FF2B5EF4-FFF2-40B4-BE49-F238E27FC236}">
                <a16:creationId xmlns:a16="http://schemas.microsoft.com/office/drawing/2014/main" id="{967E2BF2-1227-4358-91C9-19928D66161F}"/>
              </a:ext>
            </a:extLst>
          </p:cNvPr>
          <p:cNvSpPr>
            <a:spLocks xmlns:a="http://schemas.openxmlformats.org/drawingml/2006/main" noGrp="1"/>
          </p:cNvSpPr>
          <p:nvPr/>
        </p:nvSpPr>
        <p:spPr>
          <a:xfrm xmlns:a="http://schemas.openxmlformats.org/drawingml/2006/main" rot="0" flipH="0" flipV="0">
            <a:off x="4371975" y="4848225"/>
            <a:ext cx="7172325" cy="295275"/>
          </a:xfrm>
          <a:prstGeom xmlns:a="http://schemas.openxmlformats.org/drawingml/2006/main" prst="rect">
            <a:avLst/>
          </a:prstGeom>
        </p:spPr>
        <p:txBody>
          <a:bodyPr xmlns:a="http://schemas.openxmlformats.org/drawingml/2006/main" wrap="non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例子11 展示了多态。</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Example 11 demonstrates polymorphism.</a:t>
            </a:r>
          </a:p>
        </p:txBody>
      </p:sp>
      <p:sp>
        <p:nvSpPr>
          <p:cNvPr id="664" name="">
            <a:extLst xmlns:a="http://schemas.openxmlformats.org/drawingml/2006/main">
              <a:ext uri="{FF2B5EF4-FFF2-40B4-BE49-F238E27FC236}">
                <a16:creationId xmlns:a16="http://schemas.microsoft.com/office/drawing/2014/main" id="{B5A58217-FEA9-40F0-AD1F-2D7D8FF8D667}"/>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55 / 87</a:t>
            </a:r>
            <a:endParaRPr/>
          </a:p>
        </p:txBody>
      </p:sp>
    </p:spTree>
    <p:extLst>
      <p:ext uri="{BB962C8B-B14F-4D97-AF65-F5344CB8AC3E}">
        <p14:creationId xmlns:p14="http://schemas.microsoft.com/office/powerpoint/2010/main" val="791767884"/>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666" name="">
            <a:extLst xmlns:a="http://schemas.openxmlformats.org/drawingml/2006/main">
              <a:ext uri="{FF2B5EF4-FFF2-40B4-BE49-F238E27FC236}">
                <a16:creationId xmlns:a16="http://schemas.microsoft.com/office/drawing/2014/main" id="{3D07A19A-DC69-4570-B922-6FD7A559FADD}"/>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67" name="">
            <a:extLst xmlns:a="http://schemas.openxmlformats.org/drawingml/2006/main">
              <a:ext uri="{FF2B5EF4-FFF2-40B4-BE49-F238E27FC236}">
                <a16:creationId xmlns:a16="http://schemas.microsoft.com/office/drawing/2014/main" id="{3E335622-8B95-4AC9-A1BE-0C9803DB456A}"/>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68" name="">
            <a:extLst xmlns:a="http://schemas.openxmlformats.org/drawingml/2006/main">
              <a:ext uri="{FF2B5EF4-FFF2-40B4-BE49-F238E27FC236}">
                <a16:creationId xmlns:a16="http://schemas.microsoft.com/office/drawing/2014/main" id="{66BC605D-379F-47EA-A1F0-45AF892ED881}"/>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669" name="">
            <a:extLst xmlns:a="http://schemas.openxmlformats.org/drawingml/2006/main">
              <a:ext uri="{FF2B5EF4-FFF2-40B4-BE49-F238E27FC236}">
                <a16:creationId xmlns:a16="http://schemas.microsoft.com/office/drawing/2014/main" id="{12F4B15B-FCDC-4D2E-B053-6F84C2CAFA71}"/>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例子11</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11</a:t>
            </a:r>
          </a:p>
        </p:txBody>
      </p:sp>
      <p:sp>
        <p:nvSpPr>
          <p:cNvPr id="670" name="">
            <a:extLst xmlns:a="http://schemas.openxmlformats.org/drawingml/2006/main">
              <a:ext uri="{FF2B5EF4-FFF2-40B4-BE49-F238E27FC236}">
                <a16:creationId xmlns:a16="http://schemas.microsoft.com/office/drawing/2014/main" id="{14B3CD58-A845-40A0-A928-B4C1A3A7D65F}"/>
              </a:ext>
            </a:extLst>
          </p:cNvPr>
          <p:cNvSpPr>
            <a:spLocks xmlns:a="http://schemas.openxmlformats.org/drawingml/2006/main" noGrp="1"/>
          </p:cNvSpPr>
          <p:nvPr/>
        </p:nvSpPr>
        <p:spPr>
          <a:xfrm xmlns:a="http://schemas.openxmlformats.org/drawingml/2006/main" rot="0" flipH="0" flipV="0">
            <a:off x="457200" y="1562100"/>
            <a:ext cx="36480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Example5_11（上）</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Example5_11 (Part 1)</a:t>
            </a:r>
          </a:p>
        </p:txBody>
      </p:sp>
      <p:sp>
        <p:nvSpPr>
          <p:cNvPr id="671" name="">
            <a:extLst xmlns:a="http://schemas.openxmlformats.org/drawingml/2006/main">
              <a:ext uri="{FF2B5EF4-FFF2-40B4-BE49-F238E27FC236}">
                <a16:creationId xmlns:a16="http://schemas.microsoft.com/office/drawing/2014/main" id="{00D699F2-CF0D-462F-AAE4-AC6C1B29B8D1}"/>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72" name="">
            <a:extLst xmlns:a="http://schemas.openxmlformats.org/drawingml/2006/main">
              <a:ext uri="{FF2B5EF4-FFF2-40B4-BE49-F238E27FC236}">
                <a16:creationId xmlns:a16="http://schemas.microsoft.com/office/drawing/2014/main" id="{59699BC1-D3B3-49E8-A56C-21F83E385F8B}"/>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56725"/>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动物、狗、猫三个类，狗和猫重写 cry()。</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There are three categories: animals, dogs, and cats. Dogs and cats override cry().</a:t>
            </a:r>
          </a:p>
        </p:txBody>
      </p:sp>
      <p:pic>
        <p:nvPicPr>
          <p:cNvPr id="683" name=""/>
          <p:cNvPicPr>
            <a:picLocks xmlns:a="http://schemas.openxmlformats.org/drawingml/2006/main" noChangeAspect="1"/>
          </p:cNvPicPr>
          <p:nvPr/>
        </p:nvPicPr>
        <p:blipFill>
          <a:blip xmlns:r="http://schemas.openxmlformats.org/officeDocument/2006/relationships" xmlns:a="http://schemas.openxmlformats.org/drawingml/2006/main" r:embed="Rc63173c057984f6e"/>
          <a:srcRect xmlns:a="http://schemas.openxmlformats.org/drawingml/2006/main" l="0" t="19" r="0" b="19"/>
          <a:stretch xmlns:a="http://schemas.openxmlformats.org/drawingml/2006/main">
            <a:fillRect l="0" t="0" r="0" b="0"/>
          </a:stretch>
        </p:blipFill>
        <p:spPr>
          <a:xfrm xmlns:a="http://schemas.openxmlformats.org/drawingml/2006/main" rot="0" flipH="0" flipV="0">
            <a:off x="5238750" y="1600200"/>
            <a:ext cx="5400675"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674" name="">
            <a:extLst xmlns:a="http://schemas.openxmlformats.org/drawingml/2006/main">
              <a:ext uri="{FF2B5EF4-FFF2-40B4-BE49-F238E27FC236}">
                <a16:creationId xmlns:a16="http://schemas.microsoft.com/office/drawing/2014/main" id="{9750D903-92C7-4EF2-B7A9-E73B4ACB52B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56 / 87</a:t>
            </a:r>
            <a:endParaRPr/>
          </a:p>
        </p:txBody>
      </p:sp>
    </p:spTree>
    <p:extLst>
      <p:ext uri="{BB962C8B-B14F-4D97-AF65-F5344CB8AC3E}">
        <p14:creationId xmlns:p14="http://schemas.microsoft.com/office/powerpoint/2010/main" val="281673948"/>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676" name="">
            <a:extLst xmlns:a="http://schemas.openxmlformats.org/drawingml/2006/main">
              <a:ext uri="{FF2B5EF4-FFF2-40B4-BE49-F238E27FC236}">
                <a16:creationId xmlns:a16="http://schemas.microsoft.com/office/drawing/2014/main" id="{8461DF86-6E7F-408C-B5E4-904CEE9A5F4D}"/>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77" name="">
            <a:extLst xmlns:a="http://schemas.openxmlformats.org/drawingml/2006/main">
              <a:ext uri="{FF2B5EF4-FFF2-40B4-BE49-F238E27FC236}">
                <a16:creationId xmlns:a16="http://schemas.microsoft.com/office/drawing/2014/main" id="{7345F759-E637-4337-B85A-201E98214B8B}"/>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78" name="">
            <a:extLst xmlns:a="http://schemas.openxmlformats.org/drawingml/2006/main">
              <a:ext uri="{FF2B5EF4-FFF2-40B4-BE49-F238E27FC236}">
                <a16:creationId xmlns:a16="http://schemas.microsoft.com/office/drawing/2014/main" id="{0AE06F79-A9A7-4820-9A50-A422129CC44B}"/>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679" name="">
            <a:extLst xmlns:a="http://schemas.openxmlformats.org/drawingml/2006/main">
              <a:ext uri="{FF2B5EF4-FFF2-40B4-BE49-F238E27FC236}">
                <a16:creationId xmlns:a16="http://schemas.microsoft.com/office/drawing/2014/main" id="{74DA05FE-10C3-41DE-BDAE-F8CFED1A3348}"/>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例子11</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11</a:t>
            </a:r>
          </a:p>
        </p:txBody>
      </p:sp>
      <p:sp>
        <p:nvSpPr>
          <p:cNvPr id="680" name="">
            <a:extLst xmlns:a="http://schemas.openxmlformats.org/drawingml/2006/main">
              <a:ext uri="{FF2B5EF4-FFF2-40B4-BE49-F238E27FC236}">
                <a16:creationId xmlns:a16="http://schemas.microsoft.com/office/drawing/2014/main" id="{1143B996-CD78-46D0-8850-66030F0C39CA}"/>
              </a:ext>
            </a:extLst>
          </p:cNvPr>
          <p:cNvSpPr>
            <a:spLocks xmlns:a="http://schemas.openxmlformats.org/drawingml/2006/main" noGrp="1"/>
          </p:cNvSpPr>
          <p:nvPr/>
        </p:nvSpPr>
        <p:spPr>
          <a:xfrm xmlns:a="http://schemas.openxmlformats.org/drawingml/2006/main" rot="0" flipH="0" flipV="0">
            <a:off x="457200" y="1562100"/>
            <a:ext cx="36480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Example5_11（下）</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Example5_11 (Part 2)</a:t>
            </a:r>
          </a:p>
        </p:txBody>
      </p:sp>
      <p:sp>
        <p:nvSpPr>
          <p:cNvPr id="681" name="">
            <a:extLst xmlns:a="http://schemas.openxmlformats.org/drawingml/2006/main">
              <a:ext uri="{FF2B5EF4-FFF2-40B4-BE49-F238E27FC236}">
                <a16:creationId xmlns:a16="http://schemas.microsoft.com/office/drawing/2014/main" id="{637DB94E-3E9C-4F5A-B772-82867C1AFF0C}"/>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82" name="">
            <a:extLst xmlns:a="http://schemas.openxmlformats.org/drawingml/2006/main">
              <a:ext uri="{FF2B5EF4-FFF2-40B4-BE49-F238E27FC236}">
                <a16:creationId xmlns:a16="http://schemas.microsoft.com/office/drawing/2014/main" id="{1E5E8DA9-6804-4299-815D-08EB853F1867}"/>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同一上转型对象 animal，先后指向狗与猫，cry() 呈现不同行为。</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same transformed object animal points to dog and cat successively, and cry() shows different behaviors.</a:t>
            </a:r>
          </a:p>
        </p:txBody>
      </p:sp>
      <p:pic>
        <p:nvPicPr>
          <p:cNvPr id="693" name=""/>
          <p:cNvPicPr>
            <a:picLocks xmlns:a="http://schemas.openxmlformats.org/drawingml/2006/main" noChangeAspect="1"/>
          </p:cNvPicPr>
          <p:nvPr/>
        </p:nvPicPr>
        <p:blipFill>
          <a:blip xmlns:r="http://schemas.openxmlformats.org/officeDocument/2006/relationships" xmlns:a="http://schemas.openxmlformats.org/drawingml/2006/main" r:embed="R56e59bbd81054708"/>
          <a:srcRect xmlns:a="http://schemas.openxmlformats.org/drawingml/2006/main" l="0" t="9" r="0" b="9"/>
          <a:stretch xmlns:a="http://schemas.openxmlformats.org/drawingml/2006/main">
            <a:fillRect l="0" t="0" r="0" b="0"/>
          </a:stretch>
        </p:blipFill>
        <p:spPr>
          <a:xfrm xmlns:a="http://schemas.openxmlformats.org/drawingml/2006/main" rot="0" flipH="0" flipV="0">
            <a:off x="4619625" y="1600200"/>
            <a:ext cx="6638925"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684" name="">
            <a:extLst xmlns:a="http://schemas.openxmlformats.org/drawingml/2006/main">
              <a:ext uri="{FF2B5EF4-FFF2-40B4-BE49-F238E27FC236}">
                <a16:creationId xmlns:a16="http://schemas.microsoft.com/office/drawing/2014/main" id="{F87B7B73-5583-43E2-B4BB-BCBF5E412AAC}"/>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57 / 87</a:t>
            </a:r>
            <a:endParaRPr/>
          </a:p>
        </p:txBody>
      </p:sp>
    </p:spTree>
    <p:extLst>
      <p:ext uri="{BB962C8B-B14F-4D97-AF65-F5344CB8AC3E}">
        <p14:creationId xmlns:p14="http://schemas.microsoft.com/office/powerpoint/2010/main" val="162234476"/>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686" name="">
            <a:extLst xmlns:a="http://schemas.openxmlformats.org/drawingml/2006/main">
              <a:ext uri="{FF2B5EF4-FFF2-40B4-BE49-F238E27FC236}">
                <a16:creationId xmlns:a16="http://schemas.microsoft.com/office/drawing/2014/main" id="{AC8A5515-6C60-47B3-965A-00302953198B}"/>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87" name="">
            <a:extLst xmlns:a="http://schemas.openxmlformats.org/drawingml/2006/main">
              <a:ext uri="{FF2B5EF4-FFF2-40B4-BE49-F238E27FC236}">
                <a16:creationId xmlns:a16="http://schemas.microsoft.com/office/drawing/2014/main" id="{C1DF5B01-4658-4DDA-90B3-495D510C9DEB}"/>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88" name="">
            <a:extLst xmlns:a="http://schemas.openxmlformats.org/drawingml/2006/main">
              <a:ext uri="{FF2B5EF4-FFF2-40B4-BE49-F238E27FC236}">
                <a16:creationId xmlns:a16="http://schemas.microsoft.com/office/drawing/2014/main" id="{C4F9F661-A355-49E1-8E36-D60C8963EEC7}"/>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689" name="">
            <a:extLst xmlns:a="http://schemas.openxmlformats.org/drawingml/2006/main">
              <a:ext uri="{FF2B5EF4-FFF2-40B4-BE49-F238E27FC236}">
                <a16:creationId xmlns:a16="http://schemas.microsoft.com/office/drawing/2014/main" id="{EE4B24F0-B25C-4537-9489-C7FC2BD94ABC}"/>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例子11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11 · Operation effect</a:t>
            </a:r>
          </a:p>
        </p:txBody>
      </p:sp>
      <p:sp>
        <p:nvSpPr>
          <p:cNvPr id="690" name="">
            <a:extLst xmlns:a="http://schemas.openxmlformats.org/drawingml/2006/main">
              <a:ext uri="{FF2B5EF4-FFF2-40B4-BE49-F238E27FC236}">
                <a16:creationId xmlns:a16="http://schemas.microsoft.com/office/drawing/2014/main" id="{206B072F-EB2A-4783-BEF2-C44B315F4CD3}"/>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运行效果（图5.11）</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Operation effect (Figure 5.11)</a:t>
            </a:r>
          </a:p>
        </p:txBody>
      </p:sp>
      <p:sp>
        <p:nvSpPr>
          <p:cNvPr id="691" name="">
            <a:extLst xmlns:a="http://schemas.openxmlformats.org/drawingml/2006/main">
              <a:ext uri="{FF2B5EF4-FFF2-40B4-BE49-F238E27FC236}">
                <a16:creationId xmlns:a16="http://schemas.microsoft.com/office/drawing/2014/main" id="{D459995F-48C6-46BA-85AB-4B6AE8D2B12F}"/>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92" name="">
            <a:extLst xmlns:a="http://schemas.openxmlformats.org/drawingml/2006/main">
              <a:ext uri="{FF2B5EF4-FFF2-40B4-BE49-F238E27FC236}">
                <a16:creationId xmlns:a16="http://schemas.microsoft.com/office/drawing/2014/main" id="{E43BEA53-346E-48EB-A52E-6FB6C96B5634}"/>
              </a:ext>
            </a:extLst>
          </p:cNvPr>
          <p:cNvSpPr>
            <a:spLocks xmlns:a="http://schemas.openxmlformats.org/drawingml/2006/main" noGrp="1"/>
          </p:cNvSpPr>
          <p:nvPr/>
        </p:nvSpPr>
        <p:spPr>
          <a:xfrm xmlns:a="http://schemas.openxmlformats.org/drawingml/2006/main" rot="0" flipH="0" flipV="0">
            <a:off x="457200" y="319087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同一上转型对象 animal 指向不同子类，调用重写方法呈现不同形态。</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same transformed object animal points to different subclasses, and the overridden method is called to take on different forms.</a:t>
            </a:r>
          </a:p>
        </p:txBody>
      </p:sp>
      <p:pic>
        <p:nvPicPr>
          <p:cNvPr id="703" name=""/>
          <p:cNvPicPr>
            <a:picLocks xmlns:a="http://schemas.openxmlformats.org/drawingml/2006/main" noChangeAspect="1"/>
          </p:cNvPicPr>
          <p:nvPr/>
        </p:nvPicPr>
        <p:blipFill>
          <a:blip xmlns:r="http://schemas.openxmlformats.org/officeDocument/2006/relationships" xmlns:a="http://schemas.openxmlformats.org/drawingml/2006/main" r:embed="R6ce0e391a3ea42c7"/>
          <a:srcRect xmlns:a="http://schemas.openxmlformats.org/drawingml/2006/main" l="0" t="71" r="0" b="71"/>
          <a:stretch xmlns:a="http://schemas.openxmlformats.org/drawingml/2006/main">
            <a:fillRect l="0" t="0" r="0" b="0"/>
          </a:stretch>
        </p:blipFill>
        <p:spPr>
          <a:xfrm xmlns:a="http://schemas.openxmlformats.org/drawingml/2006/main" rot="0" flipH="0" flipV="0">
            <a:off x="4343400" y="2381250"/>
            <a:ext cx="7239000" cy="2743200"/>
          </a:xfrm>
          <a:prstGeom xmlns:a="http://schemas.openxmlformats.org/drawingml/2006/main" prst="roundRect">
            <a:avLst>
              <a:gd name="adj" fmla="val 2778"/>
            </a:avLst>
          </a:prstGeom>
        </p:spPr>
      </p:pic>
      <p:sp>
        <p:nvSpPr>
          <p:cNvPr id="694" name="">
            <a:extLst xmlns:a="http://schemas.openxmlformats.org/drawingml/2006/main">
              <a:ext uri="{FF2B5EF4-FFF2-40B4-BE49-F238E27FC236}">
                <a16:creationId xmlns:a16="http://schemas.microsoft.com/office/drawing/2014/main" id="{99392A74-A867-408E-84D2-27F4078CBCB7}"/>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58 / 87</a:t>
            </a:r>
            <a:endParaRPr/>
          </a:p>
        </p:txBody>
      </p:sp>
    </p:spTree>
    <p:extLst>
      <p:ext uri="{BB962C8B-B14F-4D97-AF65-F5344CB8AC3E}">
        <p14:creationId xmlns:p14="http://schemas.microsoft.com/office/powerpoint/2010/main" val="1246782885"/>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696" name="">
            <a:extLst xmlns:a="http://schemas.openxmlformats.org/drawingml/2006/main">
              <a:ext uri="{FF2B5EF4-FFF2-40B4-BE49-F238E27FC236}">
                <a16:creationId xmlns:a16="http://schemas.microsoft.com/office/drawing/2014/main" id="{A4555681-B3E5-44D9-B9BA-5CF009FCCAD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97" name="">
            <a:extLst xmlns:a="http://schemas.openxmlformats.org/drawingml/2006/main">
              <a:ext uri="{FF2B5EF4-FFF2-40B4-BE49-F238E27FC236}">
                <a16:creationId xmlns:a16="http://schemas.microsoft.com/office/drawing/2014/main" id="{F0FD65B4-0AF3-4D81-B036-A6807299D0AA}"/>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98" name="">
            <a:extLst xmlns:a="http://schemas.openxmlformats.org/drawingml/2006/main">
              <a:ext uri="{FF2B5EF4-FFF2-40B4-BE49-F238E27FC236}">
                <a16:creationId xmlns:a16="http://schemas.microsoft.com/office/drawing/2014/main" id="{10FC4A9D-5764-4F1D-A243-6C2D951E024D}"/>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699" name="">
            <a:extLst xmlns:a="http://schemas.openxmlformats.org/drawingml/2006/main">
              <a:ext uri="{FF2B5EF4-FFF2-40B4-BE49-F238E27FC236}">
                <a16:creationId xmlns:a16="http://schemas.microsoft.com/office/drawing/2014/main" id="{2A9F5EE6-B880-48F0-81F1-B4EBB6270DF5}"/>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§5.9</a:t>
            </a:r>
            <a:endParaRPr/>
          </a:p>
        </p:txBody>
      </p:sp>
      <p:sp>
        <p:nvSpPr>
          <p:cNvPr id="700" name="">
            <a:extLst xmlns:a="http://schemas.openxmlformats.org/drawingml/2006/main">
              <a:ext uri="{FF2B5EF4-FFF2-40B4-BE49-F238E27FC236}">
                <a16:creationId xmlns:a16="http://schemas.microsoft.com/office/drawing/2014/main" id="{AEF7147A-8546-43C4-88C4-147F91752D70}"/>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43154"/>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abstract 类与 abstract 方法</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abstract classes and abstract methods</a:t>
            </a:r>
          </a:p>
        </p:txBody>
      </p:sp>
      <p:sp>
        <p:nvSpPr>
          <p:cNvPr id="701" name="">
            <a:extLst xmlns:a="http://schemas.openxmlformats.org/drawingml/2006/main">
              <a:ext uri="{FF2B5EF4-FFF2-40B4-BE49-F238E27FC236}">
                <a16:creationId xmlns:a16="http://schemas.microsoft.com/office/drawing/2014/main" id="{38B7B058-D98C-456C-A559-880419C47467}"/>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02" name="">
            <a:extLst xmlns:a="http://schemas.openxmlformats.org/drawingml/2006/main">
              <a:ext uri="{FF2B5EF4-FFF2-40B4-BE49-F238E27FC236}">
                <a16:creationId xmlns:a16="http://schemas.microsoft.com/office/drawing/2014/main" id="{BCB675BA-64E6-49C2-9BC7-F3B15DA075DF}"/>
              </a:ext>
            </a:extLst>
          </p:cNvPr>
          <p:cNvSpPr>
            <a:spLocks xmlns:a="http://schemas.openxmlformats.org/drawingml/2006/main" noGrp="1"/>
          </p:cNvSpPr>
          <p:nvPr/>
        </p:nvSpPr>
        <p:spPr>
          <a:xfrm xmlns:a="http://schemas.openxmlformats.org/drawingml/2006/main" rot="0" flipH="0" flipV="0">
            <a:off x="457200" y="3190875"/>
            <a:ext cx="3381375" cy="1171575"/>
          </a:xfrm>
          <a:prstGeom xmlns:a="http://schemas.openxmlformats.org/drawingml/2006/main" prst="rect">
            <a:avLst/>
          </a:prstGeom>
        </p:spPr>
        <p:txBody>
          <a:bodyPr xmlns:a="http://schemas.openxmlformats.org/drawingml/2006/main" wrap="square" lIns="0" tIns="0" rIns="0" bIns="0">
            <a:normAutofit fontScale="4653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用关键字 abstract 修饰的类称为 abstract 类（抽象类），修饰的方法称为 abstract 方法（抽象方法）。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 class modified with the keyword abstract is called an abstract class (abstract class), and the modified method is called an abstract method (abstract method).</a:t>
            </a:r>
          </a:p>
        </p:txBody>
      </p:sp>
      <p:sp>
        <p:nvSpPr>
          <p:cNvPr id="703" name="">
            <a:extLst xmlns:a="http://schemas.openxmlformats.org/drawingml/2006/main">
              <a:ext uri="{FF2B5EF4-FFF2-40B4-BE49-F238E27FC236}">
                <a16:creationId xmlns:a16="http://schemas.microsoft.com/office/drawing/2014/main" id="{CC635A4B-ACB1-4840-B4AA-C107EAD7014F}"/>
              </a:ext>
            </a:extLst>
          </p:cNvPr>
          <p:cNvSpPr>
            <a:spLocks xmlns:a="http://schemas.openxmlformats.org/drawingml/2006/main" noGrp="1"/>
          </p:cNvSpPr>
          <p:nvPr/>
        </p:nvSpPr>
        <p:spPr>
          <a:xfrm xmlns:a="http://schemas.openxmlformats.org/drawingml/2006/main" rot="0" flipH="0" flipV="0">
            <a:off x="4181475" y="22193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04" name="">
            <a:extLst xmlns:a="http://schemas.openxmlformats.org/drawingml/2006/main">
              <a:ext uri="{FF2B5EF4-FFF2-40B4-BE49-F238E27FC236}">
                <a16:creationId xmlns:a16="http://schemas.microsoft.com/office/drawing/2014/main" id="{2F26C629-D853-40A5-A6A6-95780D4F00A8}"/>
              </a:ext>
            </a:extLst>
          </p:cNvPr>
          <p:cNvSpPr>
            <a:spLocks xmlns:a="http://schemas.openxmlformats.org/drawingml/2006/main" noGrp="1"/>
          </p:cNvSpPr>
          <p:nvPr/>
        </p:nvSpPr>
        <p:spPr>
          <a:xfrm xmlns:a="http://schemas.openxmlformats.org/drawingml/2006/main" rot="0" flipH="0" flipV="0">
            <a:off x="4371975" y="210502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abstract 类里可以有 abstract 方法，也可以没有</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An abstract class may or may not have abstract methods.</a:t>
            </a:r>
          </a:p>
        </p:txBody>
      </p:sp>
      <p:sp>
        <p:nvSpPr>
          <p:cNvPr id="705" name="">
            <a:extLst xmlns:a="http://schemas.openxmlformats.org/drawingml/2006/main">
              <a:ext uri="{FF2B5EF4-FFF2-40B4-BE49-F238E27FC236}">
                <a16:creationId xmlns:a16="http://schemas.microsoft.com/office/drawing/2014/main" id="{809596D6-CAAB-481B-A783-ECFA13079790}"/>
              </a:ext>
            </a:extLst>
          </p:cNvPr>
          <p:cNvSpPr>
            <a:spLocks xmlns:a="http://schemas.openxmlformats.org/drawingml/2006/main" noGrp="1"/>
          </p:cNvSpPr>
          <p:nvPr/>
        </p:nvSpPr>
        <p:spPr>
          <a:xfrm xmlns:a="http://schemas.openxmlformats.org/drawingml/2006/main" rot="0" flipH="0" flipV="0">
            <a:off x="4181475" y="27813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06" name="">
            <a:extLst xmlns:a="http://schemas.openxmlformats.org/drawingml/2006/main">
              <a:ext uri="{FF2B5EF4-FFF2-40B4-BE49-F238E27FC236}">
                <a16:creationId xmlns:a16="http://schemas.microsoft.com/office/drawing/2014/main" id="{52E1EFB4-324F-43A8-BEA2-2B85E270DE50}"/>
              </a:ext>
            </a:extLst>
          </p:cNvPr>
          <p:cNvSpPr>
            <a:spLocks xmlns:a="http://schemas.openxmlformats.org/drawingml/2006/main" noGrp="1"/>
          </p:cNvSpPr>
          <p:nvPr/>
        </p:nvSpPr>
        <p:spPr>
          <a:xfrm xmlns:a="http://schemas.openxmlformats.org/drawingml/2006/main" rot="0" flipH="0" flipV="0">
            <a:off x="4371975" y="2667000"/>
            <a:ext cx="7362825" cy="390525"/>
          </a:xfrm>
          <a:prstGeom xmlns:a="http://schemas.openxmlformats.org/drawingml/2006/main" prst="rect">
            <a:avLst/>
          </a:prstGeom>
        </p:spPr>
        <p:txBody>
          <a:bodyPr xmlns:a="http://schemas.openxmlformats.org/drawingml/2006/main" wrap="none" lIns="0" tIns="0" rIns="0" bIns="0">
            <a:normAutofit fontScale="48377"/>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abstract 方法只允许声明，不允许实现，不允许使用 final 修饰</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Abstract methods are only allowed to be declared, not implemented, and final modification is not allowed.</a:t>
            </a:r>
          </a:p>
        </p:txBody>
      </p:sp>
      <p:sp>
        <p:nvSpPr>
          <p:cNvPr id="707" name="">
            <a:extLst xmlns:a="http://schemas.openxmlformats.org/drawingml/2006/main">
              <a:ext uri="{FF2B5EF4-FFF2-40B4-BE49-F238E27FC236}">
                <a16:creationId xmlns:a16="http://schemas.microsoft.com/office/drawing/2014/main" id="{1DA575BF-3D9D-4C27-A64C-64403E634C96}"/>
              </a:ext>
            </a:extLst>
          </p:cNvPr>
          <p:cNvSpPr>
            <a:spLocks xmlns:a="http://schemas.openxmlformats.org/drawingml/2006/main" noGrp="1"/>
          </p:cNvSpPr>
          <p:nvPr/>
        </p:nvSpPr>
        <p:spPr>
          <a:xfrm xmlns:a="http://schemas.openxmlformats.org/drawingml/2006/main" rot="0" flipH="0" flipV="0">
            <a:off x="4181475" y="33432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08" name="">
            <a:extLst xmlns:a="http://schemas.openxmlformats.org/drawingml/2006/main">
              <a:ext uri="{FF2B5EF4-FFF2-40B4-BE49-F238E27FC236}">
                <a16:creationId xmlns:a16="http://schemas.microsoft.com/office/drawing/2014/main" id="{5C9B9920-A3D9-4AE0-83BF-C31F877BED27}"/>
              </a:ext>
            </a:extLst>
          </p:cNvPr>
          <p:cNvSpPr>
            <a:spLocks xmlns:a="http://schemas.openxmlformats.org/drawingml/2006/main" noGrp="1"/>
          </p:cNvSpPr>
          <p:nvPr/>
        </p:nvSpPr>
        <p:spPr>
          <a:xfrm xmlns:a="http://schemas.openxmlformats.org/drawingml/2006/main" rot="0" flipH="0" flipV="0">
            <a:off x="4371975" y="3228975"/>
            <a:ext cx="7362825" cy="390525"/>
          </a:xfrm>
          <a:prstGeom xmlns:a="http://schemas.openxmlformats.org/drawingml/2006/main" prst="rect">
            <a:avLst/>
          </a:prstGeom>
        </p:spPr>
        <p:txBody>
          <a:bodyPr xmlns:a="http://schemas.openxmlformats.org/drawingml/2006/main" wrap="none" lIns="0" tIns="0" rIns="0" bIns="0">
            <a:normAutofit fontScale="34931"/>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abstract 类不能使用 new 运算符创建该类的对象，只能产生其子类，由子类创建对象</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An abstract class cannot use the new operator to create objects of this class. It can only generate its subclasses and create objects from subclasses.</a:t>
            </a:r>
          </a:p>
        </p:txBody>
      </p:sp>
      <p:sp>
        <p:nvSpPr>
          <p:cNvPr id="709" name="">
            <a:extLst xmlns:a="http://schemas.openxmlformats.org/drawingml/2006/main">
              <a:ext uri="{FF2B5EF4-FFF2-40B4-BE49-F238E27FC236}">
                <a16:creationId xmlns:a16="http://schemas.microsoft.com/office/drawing/2014/main" id="{EA215CFE-9FEC-488D-AFBB-CF7A88F86B09}"/>
              </a:ext>
            </a:extLst>
          </p:cNvPr>
          <p:cNvSpPr>
            <a:spLocks xmlns:a="http://schemas.openxmlformats.org/drawingml/2006/main" noGrp="1"/>
          </p:cNvSpPr>
          <p:nvPr/>
        </p:nvSpPr>
        <p:spPr>
          <a:xfrm xmlns:a="http://schemas.openxmlformats.org/drawingml/2006/main" rot="0" flipH="0" flipV="0">
            <a:off x="4181475" y="39052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10" name="">
            <a:extLst xmlns:a="http://schemas.openxmlformats.org/drawingml/2006/main">
              <a:ext uri="{FF2B5EF4-FFF2-40B4-BE49-F238E27FC236}">
                <a16:creationId xmlns:a16="http://schemas.microsoft.com/office/drawing/2014/main" id="{AEF6EF38-8277-43DB-B2B2-50163FD9F422}"/>
              </a:ext>
            </a:extLst>
          </p:cNvPr>
          <p:cNvSpPr>
            <a:spLocks xmlns:a="http://schemas.openxmlformats.org/drawingml/2006/main" noGrp="1"/>
          </p:cNvSpPr>
          <p:nvPr/>
        </p:nvSpPr>
        <p:spPr>
          <a:xfrm xmlns:a="http://schemas.openxmlformats.org/drawingml/2006/main" rot="0" flipH="0" flipV="0">
            <a:off x="4371975" y="3790950"/>
            <a:ext cx="7362825" cy="390525"/>
          </a:xfrm>
          <a:prstGeom xmlns:a="http://schemas.openxmlformats.org/drawingml/2006/main" prst="rect">
            <a:avLst/>
          </a:prstGeom>
        </p:spPr>
        <p:txBody>
          <a:bodyPr xmlns:a="http://schemas.openxmlformats.org/drawingml/2006/main" wrap="none" lIns="0" tIns="0" rIns="0" bIns="0">
            <a:normAutofit fontScale="461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如果一个类是 abstract 类的子类，它必须具体实现父类的所有 abstract 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If a class is a subclass of an abstract class, it must concretely implement all abstract methods of the parent class</a:t>
            </a:r>
          </a:p>
        </p:txBody>
      </p:sp>
      <p:sp>
        <p:nvSpPr>
          <p:cNvPr id="711" name="">
            <a:extLst xmlns:a="http://schemas.openxmlformats.org/drawingml/2006/main">
              <a:ext uri="{FF2B5EF4-FFF2-40B4-BE49-F238E27FC236}">
                <a16:creationId xmlns:a16="http://schemas.microsoft.com/office/drawing/2014/main" id="{83E8EF94-19F3-4129-97C1-29E39A59FED5}"/>
              </a:ext>
            </a:extLst>
          </p:cNvPr>
          <p:cNvSpPr>
            <a:spLocks xmlns:a="http://schemas.openxmlformats.org/drawingml/2006/main" noGrp="1"/>
          </p:cNvSpPr>
          <p:nvPr/>
        </p:nvSpPr>
        <p:spPr>
          <a:xfrm xmlns:a="http://schemas.openxmlformats.org/drawingml/2006/main" rot="0" flipH="0" flipV="0">
            <a:off x="4181475" y="4352925"/>
            <a:ext cx="7553325"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712" name="">
            <a:extLst xmlns:a="http://schemas.openxmlformats.org/drawingml/2006/main">
              <a:ext uri="{FF2B5EF4-FFF2-40B4-BE49-F238E27FC236}">
                <a16:creationId xmlns:a16="http://schemas.microsoft.com/office/drawing/2014/main" id="{B984C6D6-5AA6-4D95-825B-6F04431141E4}"/>
              </a:ext>
            </a:extLst>
          </p:cNvPr>
          <p:cNvSpPr>
            <a:spLocks xmlns:a="http://schemas.openxmlformats.org/drawingml/2006/main" noGrp="1"/>
          </p:cNvSpPr>
          <p:nvPr/>
        </p:nvSpPr>
        <p:spPr>
          <a:xfrm xmlns:a="http://schemas.openxmlformats.org/drawingml/2006/main" rot="0" flipH="0" flipV="0">
            <a:off x="4352925" y="44672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abstract class A { … }</a:t>
            </a:r>
            <a:endParaRPr/>
          </a:p>
        </p:txBody>
      </p:sp>
      <p:sp>
        <p:nvSpPr>
          <p:cNvPr id="713" name="">
            <a:extLst xmlns:a="http://schemas.openxmlformats.org/drawingml/2006/main">
              <a:ext uri="{FF2B5EF4-FFF2-40B4-BE49-F238E27FC236}">
                <a16:creationId xmlns:a16="http://schemas.microsoft.com/office/drawing/2014/main" id="{959F753E-24D4-4A9F-AD83-9C422DE8EFA4}"/>
              </a:ext>
            </a:extLst>
          </p:cNvPr>
          <p:cNvSpPr>
            <a:spLocks xmlns:a="http://schemas.openxmlformats.org/drawingml/2006/main" noGrp="1"/>
          </p:cNvSpPr>
          <p:nvPr/>
        </p:nvSpPr>
        <p:spPr>
          <a:xfrm xmlns:a="http://schemas.openxmlformats.org/drawingml/2006/main" rot="0" flipH="0" flipV="0">
            <a:off x="4352925" y="481965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abstract int min(int x,int y);</a:t>
            </a:r>
            <a:endParaRPr/>
          </a:p>
        </p:txBody>
      </p:sp>
      <p:sp>
        <p:nvSpPr>
          <p:cNvPr id="714" name="">
            <a:extLst xmlns:a="http://schemas.openxmlformats.org/drawingml/2006/main">
              <a:ext uri="{FF2B5EF4-FFF2-40B4-BE49-F238E27FC236}">
                <a16:creationId xmlns:a16="http://schemas.microsoft.com/office/drawing/2014/main" id="{60A4B2B3-F4C2-4E5C-982E-F5317EBC735C}"/>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59 / 87</a:t>
            </a:r>
            <a:endParaRPr/>
          </a:p>
        </p:txBody>
      </p:sp>
    </p:spTree>
    <p:extLst>
      <p:ext uri="{BB962C8B-B14F-4D97-AF65-F5344CB8AC3E}">
        <p14:creationId xmlns:p14="http://schemas.microsoft.com/office/powerpoint/2010/main" val="1843919963"/>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733" name="">
            <a:extLst xmlns:a="http://schemas.openxmlformats.org/drawingml/2006/main">
              <a:ext uri="{FF2B5EF4-FFF2-40B4-BE49-F238E27FC236}">
                <a16:creationId xmlns:a16="http://schemas.microsoft.com/office/drawing/2014/main" id="{A446EB36-3FCB-4E12-8C27-851892C3ED9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734" name="">
            <a:extLst xmlns:a="http://schemas.openxmlformats.org/drawingml/2006/main">
              <a:ext uri="{FF2B5EF4-FFF2-40B4-BE49-F238E27FC236}">
                <a16:creationId xmlns:a16="http://schemas.microsoft.com/office/drawing/2014/main" id="{7A0B1272-735D-4709-94CD-4B302840F2B2}"/>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735" name="">
            <a:extLst xmlns:a="http://schemas.openxmlformats.org/drawingml/2006/main">
              <a:ext uri="{FF2B5EF4-FFF2-40B4-BE49-F238E27FC236}">
                <a16:creationId xmlns:a16="http://schemas.microsoft.com/office/drawing/2014/main" id="{764420CF-2A73-488C-B584-21CD1D80E11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736" name="">
            <a:extLst xmlns:a="http://schemas.openxmlformats.org/drawingml/2006/main">
              <a:ext uri="{FF2B5EF4-FFF2-40B4-BE49-F238E27FC236}">
                <a16:creationId xmlns:a16="http://schemas.microsoft.com/office/drawing/2014/main" id="{C7FC0AE3-D349-4CC2-8AD1-ADFED9D2B2B8}"/>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§5.9</a:t>
            </a:r>
            <a:endParaRPr/>
          </a:p>
        </p:txBody>
      </p:sp>
      <p:sp>
        <p:nvSpPr>
          <p:cNvPr id="737" name="">
            <a:extLst xmlns:a="http://schemas.openxmlformats.org/drawingml/2006/main">
              <a:ext uri="{FF2B5EF4-FFF2-40B4-BE49-F238E27FC236}">
                <a16:creationId xmlns:a16="http://schemas.microsoft.com/office/drawing/2014/main" id="{A4966540-7831-4FCF-8327-BB324B37B6CA}"/>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理解抽象类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Understand abstract classes</a:t>
            </a:r>
          </a:p>
        </p:txBody>
      </p:sp>
      <p:sp>
        <p:nvSpPr>
          <p:cNvPr id="738" name="">
            <a:extLst xmlns:a="http://schemas.openxmlformats.org/drawingml/2006/main">
              <a:ext uri="{FF2B5EF4-FFF2-40B4-BE49-F238E27FC236}">
                <a16:creationId xmlns:a16="http://schemas.microsoft.com/office/drawing/2014/main" id="{9E9D5DB8-458D-4F2B-8DE0-2488F6F5649E}"/>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39" name="">
            <a:extLst xmlns:a="http://schemas.openxmlformats.org/drawingml/2006/main">
              <a:ext uri="{FF2B5EF4-FFF2-40B4-BE49-F238E27FC236}">
                <a16:creationId xmlns:a16="http://schemas.microsoft.com/office/drawing/2014/main" id="{30476909-C2ED-49AF-A7DB-012C5C4E87B8}"/>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50925"/>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理解抽象类的两个关键点。</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Two key points to understand abstract classes.</a:t>
            </a:r>
          </a:p>
        </p:txBody>
      </p:sp>
      <p:sp>
        <p:nvSpPr>
          <p:cNvPr id="740" name="">
            <a:extLst xmlns:a="http://schemas.openxmlformats.org/drawingml/2006/main">
              <a:ext uri="{FF2B5EF4-FFF2-40B4-BE49-F238E27FC236}">
                <a16:creationId xmlns:a16="http://schemas.microsoft.com/office/drawing/2014/main" id="{04202D3E-0FD5-4D68-BE23-4E7EFFA989DC}"/>
              </a:ext>
            </a:extLst>
          </p:cNvPr>
          <p:cNvSpPr>
            <a:spLocks xmlns:a="http://schemas.openxmlformats.org/drawingml/2006/main" noGrp="1"/>
          </p:cNvSpPr>
          <p:nvPr/>
        </p:nvSpPr>
        <p:spPr>
          <a:xfrm xmlns:a="http://schemas.openxmlformats.org/drawingml/2006/main" rot="0" flipH="0" flipV="0">
            <a:off x="4238625" y="2028825"/>
            <a:ext cx="3714750" cy="1685925"/>
          </a:xfrm>
          <a:prstGeom xmlns:a="http://schemas.openxmlformats.org/drawingml/2006/main" prst="roundRect">
            <a:avLst>
              <a:gd name="adj" fmla="val 5650"/>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741" name="">
            <a:extLst xmlns:a="http://schemas.openxmlformats.org/drawingml/2006/main">
              <a:ext uri="{FF2B5EF4-FFF2-40B4-BE49-F238E27FC236}">
                <a16:creationId xmlns:a16="http://schemas.microsoft.com/office/drawing/2014/main" id="{8F0D9E97-EE69-44A5-B4FE-03776471663D}"/>
              </a:ext>
            </a:extLst>
          </p:cNvPr>
          <p:cNvSpPr>
            <a:spLocks xmlns:a="http://schemas.openxmlformats.org/drawingml/2006/main" noGrp="1"/>
          </p:cNvSpPr>
          <p:nvPr/>
        </p:nvSpPr>
        <p:spPr>
          <a:xfrm xmlns:a="http://schemas.openxmlformats.org/drawingml/2006/main" rot="0" flipH="0" flipV="0">
            <a:off x="4238625" y="2028825"/>
            <a:ext cx="3714750" cy="1685925"/>
          </a:xfrm>
          <a:custGeom xmlns:a="http://schemas.openxmlformats.org/drawingml/2006/main">
            <a:pathLst>
              <a:path w="390" h="177">
                <a:moveTo>
                  <a:pt x="10" y="0"/>
                </a:moveTo>
                <a:cubicBezTo>
                  <a:pt x="8" y="0"/>
                  <a:pt x="6" y="2"/>
                  <a:pt x="6" y="4"/>
                </a:cubicBezTo>
                <a:lnTo>
                  <a:pt x="6" y="173"/>
                </a:lnTo>
                <a:cubicBezTo>
                  <a:pt x="6" y="175"/>
                  <a:pt x="8" y="177"/>
                  <a:pt x="10" y="177"/>
                </a:cubicBezTo>
                <a:cubicBezTo>
                  <a:pt x="4" y="177"/>
                  <a:pt x="0" y="172"/>
                  <a:pt x="0" y="167"/>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42" name="">
            <a:extLst xmlns:a="http://schemas.openxmlformats.org/drawingml/2006/main">
              <a:ext uri="{FF2B5EF4-FFF2-40B4-BE49-F238E27FC236}">
                <a16:creationId xmlns:a16="http://schemas.microsoft.com/office/drawing/2014/main" id="{3E906635-3864-49A2-B377-58293E43FB3B}"/>
              </a:ext>
            </a:extLst>
          </p:cNvPr>
          <p:cNvSpPr>
            <a:spLocks xmlns:a="http://schemas.openxmlformats.org/drawingml/2006/main" noGrp="1"/>
          </p:cNvSpPr>
          <p:nvPr/>
        </p:nvSpPr>
        <p:spPr>
          <a:xfrm xmlns:a="http://schemas.openxmlformats.org/drawingml/2006/main" rot="0" flipH="0" flipV="0">
            <a:off x="4429125" y="2181225"/>
            <a:ext cx="3276600"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关键点 1</a:t>
            </a:r>
          </a:p>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Key point 1</a:t>
            </a:r>
          </a:p>
        </p:txBody>
      </p:sp>
      <p:sp>
        <p:nvSpPr>
          <p:cNvPr id="743" name="">
            <a:extLst xmlns:a="http://schemas.openxmlformats.org/drawingml/2006/main">
              <a:ext uri="{FF2B5EF4-FFF2-40B4-BE49-F238E27FC236}">
                <a16:creationId xmlns:a16="http://schemas.microsoft.com/office/drawing/2014/main" id="{ADA223B0-CA30-492F-A2C0-73A32726125F}"/>
              </a:ext>
            </a:extLst>
          </p:cNvPr>
          <p:cNvSpPr>
            <a:spLocks xmlns:a="http://schemas.openxmlformats.org/drawingml/2006/main" noGrp="1"/>
          </p:cNvSpPr>
          <p:nvPr/>
        </p:nvSpPr>
        <p:spPr>
          <a:xfrm xmlns:a="http://schemas.openxmlformats.org/drawingml/2006/main" rot="0" flipH="0" flipV="0">
            <a:off x="4429125" y="2419350"/>
            <a:ext cx="3276600" cy="552450"/>
          </a:xfrm>
          <a:prstGeom xmlns:a="http://schemas.openxmlformats.org/drawingml/2006/main" prst="rect">
            <a:avLst/>
          </a:prstGeom>
        </p:spPr>
        <p:txBody>
          <a:bodyPr xmlns:a="http://schemas.openxmlformats.org/drawingml/2006/main" wrap="square" lIns="0" tIns="0" rIns="0" bIns="0">
            <a:normAutofit fontScale="48581"/>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抽象类可以抽象出重要的行为标准，该行为标准用抽象方法表示</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Abstract classes can abstract important behavioral standards, which are represented by abstract methods</a:t>
            </a:r>
          </a:p>
        </p:txBody>
      </p:sp>
      <p:sp>
        <p:nvSpPr>
          <p:cNvPr id="744" name="">
            <a:extLst xmlns:a="http://schemas.openxmlformats.org/drawingml/2006/main">
              <a:ext uri="{FF2B5EF4-FFF2-40B4-BE49-F238E27FC236}">
                <a16:creationId xmlns:a16="http://schemas.microsoft.com/office/drawing/2014/main" id="{20311789-B8A7-4860-966F-A825C01CD46D}"/>
              </a:ext>
            </a:extLst>
          </p:cNvPr>
          <p:cNvSpPr>
            <a:spLocks xmlns:a="http://schemas.openxmlformats.org/drawingml/2006/main" noGrp="1"/>
          </p:cNvSpPr>
          <p:nvPr/>
        </p:nvSpPr>
        <p:spPr>
          <a:xfrm xmlns:a="http://schemas.openxmlformats.org/drawingml/2006/main" rot="0" flipH="0" flipV="0">
            <a:off x="4429125" y="3009900"/>
            <a:ext cx="3276600" cy="276225"/>
          </a:xfrm>
          <a:prstGeom xmlns:a="http://schemas.openxmlformats.org/drawingml/2006/main" prst="rect">
            <a:avLst/>
          </a:prstGeom>
        </p:spPr>
        <p:txBody>
          <a:bodyPr xmlns:a="http://schemas.openxmlformats.org/drawingml/2006/main" wrap="none" lIns="0" tIns="0" rIns="0" bIns="0">
            <a:normAutofit fontScale="35561"/>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抽象类封装了子类必须要有的行为标准</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Abstract classes encapsulate the behavioral standards that subclasses must have</a:t>
            </a:r>
          </a:p>
        </p:txBody>
      </p:sp>
      <p:sp>
        <p:nvSpPr>
          <p:cNvPr id="745" name="">
            <a:extLst xmlns:a="http://schemas.openxmlformats.org/drawingml/2006/main">
              <a:ext uri="{FF2B5EF4-FFF2-40B4-BE49-F238E27FC236}">
                <a16:creationId xmlns:a16="http://schemas.microsoft.com/office/drawing/2014/main" id="{6FF73438-BFCB-468E-91E9-94C2412EFED4}"/>
              </a:ext>
            </a:extLst>
          </p:cNvPr>
          <p:cNvSpPr>
            <a:spLocks xmlns:a="http://schemas.openxmlformats.org/drawingml/2006/main" noGrp="1"/>
          </p:cNvSpPr>
          <p:nvPr/>
        </p:nvSpPr>
        <p:spPr>
          <a:xfrm xmlns:a="http://schemas.openxmlformats.org/drawingml/2006/main" rot="0" flipH="0" flipV="0">
            <a:off x="8086725" y="2028825"/>
            <a:ext cx="3705225" cy="1685925"/>
          </a:xfrm>
          <a:prstGeom xmlns:a="http://schemas.openxmlformats.org/drawingml/2006/main" prst="roundRect">
            <a:avLst>
              <a:gd name="adj" fmla="val 5650"/>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746" name="">
            <a:extLst xmlns:a="http://schemas.openxmlformats.org/drawingml/2006/main">
              <a:ext uri="{FF2B5EF4-FFF2-40B4-BE49-F238E27FC236}">
                <a16:creationId xmlns:a16="http://schemas.microsoft.com/office/drawing/2014/main" id="{D1BA59A2-7088-442A-B3D5-217AC34F59B9}"/>
              </a:ext>
            </a:extLst>
          </p:cNvPr>
          <p:cNvSpPr>
            <a:spLocks xmlns:a="http://schemas.openxmlformats.org/drawingml/2006/main" noGrp="1"/>
          </p:cNvSpPr>
          <p:nvPr/>
        </p:nvSpPr>
        <p:spPr>
          <a:xfrm xmlns:a="http://schemas.openxmlformats.org/drawingml/2006/main" rot="0" flipH="0" flipV="0">
            <a:off x="8086725" y="2028825"/>
            <a:ext cx="3705225" cy="1685925"/>
          </a:xfrm>
          <a:custGeom xmlns:a="http://schemas.openxmlformats.org/drawingml/2006/main">
            <a:pathLst>
              <a:path w="389" h="177">
                <a:moveTo>
                  <a:pt x="10" y="0"/>
                </a:moveTo>
                <a:cubicBezTo>
                  <a:pt x="8" y="0"/>
                  <a:pt x="6" y="2"/>
                  <a:pt x="6" y="4"/>
                </a:cubicBezTo>
                <a:lnTo>
                  <a:pt x="6" y="173"/>
                </a:lnTo>
                <a:cubicBezTo>
                  <a:pt x="6" y="175"/>
                  <a:pt x="8" y="177"/>
                  <a:pt x="10" y="177"/>
                </a:cubicBezTo>
                <a:cubicBezTo>
                  <a:pt x="4" y="177"/>
                  <a:pt x="0" y="172"/>
                  <a:pt x="0" y="167"/>
                </a:cubicBezTo>
                <a:lnTo>
                  <a:pt x="0" y="10"/>
                </a:lnTo>
                <a:cubicBezTo>
                  <a:pt x="0" y="5"/>
                  <a:pt x="4" y="0"/>
                  <a:pt x="10" y="0"/>
                </a:cubicBezTo>
                <a:close/>
              </a:path>
            </a:pathLst>
          </a:custGeom>
          <a:solidFill xmlns:a="http://schemas.openxmlformats.org/drawingml/2006/main">
            <a:srgbClr val="3D7BD9"/>
          </a:solidFill>
        </p:spPr>
        <p:txBody>
          <a:bodyPr xmlns:a="http://schemas.openxmlformats.org/drawingml/2006/main"/>
          <a:lstStyle xmlns:a="http://schemas.openxmlformats.org/drawingml/2006/main"/>
          <a:p xmlns:a="http://schemas.openxmlformats.org/drawingml/2006/main"/>
        </p:txBody>
      </p:sp>
      <p:sp>
        <p:nvSpPr>
          <p:cNvPr id="747" name="">
            <a:extLst xmlns:a="http://schemas.openxmlformats.org/drawingml/2006/main">
              <a:ext uri="{FF2B5EF4-FFF2-40B4-BE49-F238E27FC236}">
                <a16:creationId xmlns:a16="http://schemas.microsoft.com/office/drawing/2014/main" id="{2550C7DA-F5E6-4B26-A0E4-A372CFB69DE3}"/>
              </a:ext>
            </a:extLst>
          </p:cNvPr>
          <p:cNvSpPr>
            <a:spLocks xmlns:a="http://schemas.openxmlformats.org/drawingml/2006/main" noGrp="1"/>
          </p:cNvSpPr>
          <p:nvPr/>
        </p:nvSpPr>
        <p:spPr>
          <a:xfrm xmlns:a="http://schemas.openxmlformats.org/drawingml/2006/main" rot="0" flipH="0" flipV="0">
            <a:off x="8277225" y="2181225"/>
            <a:ext cx="326707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3D7BD9"/>
                </a:solidFill>
                <a:latin typeface="Microsoft YaHei"/>
                <a:ea typeface="Microsoft YaHei"/>
                <a:cs typeface="Microsoft YaHei"/>
              </a:rPr>
              <a:t>关键点 2</a:t>
            </a:r>
          </a:p>
          <a:p xmlns:a="http://schemas.openxmlformats.org/drawingml/2006/main">
            <a:pPr marL="0">
              <a:lnSpc>
                <a:spcPct val="100000"/>
              </a:lnSpc>
              <a:spcBef>
                <a:spcPts val="0"/>
              </a:spcBef>
              <a:spcAft>
                <a:spcPts val="0"/>
              </a:spcAft>
              <a:buNone/>
            </a:pPr>
            <a:r>
              <a:rPr sz="2010" b="1">
                <a:solidFill>
                  <a:srgbClr val="3D7BD9"/>
                </a:solidFill>
                <a:latin typeface="Microsoft YaHei"/>
                <a:ea typeface="Microsoft YaHei"/>
                <a:cs typeface="Microsoft YaHei"/>
              </a:rPr>
              <a:t>Key point 2</a:t>
            </a:r>
          </a:p>
        </p:txBody>
      </p:sp>
      <p:sp>
        <p:nvSpPr>
          <p:cNvPr id="748" name="">
            <a:extLst xmlns:a="http://schemas.openxmlformats.org/drawingml/2006/main">
              <a:ext uri="{FF2B5EF4-FFF2-40B4-BE49-F238E27FC236}">
                <a16:creationId xmlns:a16="http://schemas.microsoft.com/office/drawing/2014/main" id="{CE235760-CA8E-476C-AA72-12D22B56FF22}"/>
              </a:ext>
            </a:extLst>
          </p:cNvPr>
          <p:cNvSpPr>
            <a:spLocks xmlns:a="http://schemas.openxmlformats.org/drawingml/2006/main" noGrp="1"/>
          </p:cNvSpPr>
          <p:nvPr/>
        </p:nvSpPr>
        <p:spPr>
          <a:xfrm xmlns:a="http://schemas.openxmlformats.org/drawingml/2006/main" rot="0" flipH="0" flipV="0">
            <a:off x="8277225" y="2419350"/>
            <a:ext cx="3267075" cy="552450"/>
          </a:xfrm>
          <a:prstGeom xmlns:a="http://schemas.openxmlformats.org/drawingml/2006/main" prst="rect">
            <a:avLst/>
          </a:prstGeom>
        </p:spPr>
        <p:txBody>
          <a:bodyPr xmlns:a="http://schemas.openxmlformats.org/drawingml/2006/main" wrap="square" lIns="0" tIns="0" rIns="0" bIns="0">
            <a:normAutofit fontScale="59177"/>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抽象类声明的对象可以成为其子类对象的上转型对象</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Objects declared by abstract classes can become upcast objects of their subclass objects.</a:t>
            </a:r>
          </a:p>
        </p:txBody>
      </p:sp>
      <p:sp>
        <p:nvSpPr>
          <p:cNvPr id="749" name="">
            <a:extLst xmlns:a="http://schemas.openxmlformats.org/drawingml/2006/main">
              <a:ext uri="{FF2B5EF4-FFF2-40B4-BE49-F238E27FC236}">
                <a16:creationId xmlns:a16="http://schemas.microsoft.com/office/drawing/2014/main" id="{C7D94873-1C26-4B5B-AFF4-61A6E37E6E23}"/>
              </a:ext>
            </a:extLst>
          </p:cNvPr>
          <p:cNvSpPr>
            <a:spLocks xmlns:a="http://schemas.openxmlformats.org/drawingml/2006/main" noGrp="1"/>
          </p:cNvSpPr>
          <p:nvPr/>
        </p:nvSpPr>
        <p:spPr>
          <a:xfrm xmlns:a="http://schemas.openxmlformats.org/drawingml/2006/main" rot="0" flipH="0" flipV="0">
            <a:off x="8277225" y="3009900"/>
            <a:ext cx="3267075" cy="552450"/>
          </a:xfrm>
          <a:prstGeom xmlns:a="http://schemas.openxmlformats.org/drawingml/2006/main" prst="rect">
            <a:avLst/>
          </a:prstGeom>
        </p:spPr>
        <p:txBody>
          <a:bodyPr xmlns:a="http://schemas.openxmlformats.org/drawingml/2006/main" wrap="square" lIns="0" tIns="0" rIns="0" bIns="0">
            <a:normAutofit fontScale="42629"/>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调用子类重写的方法，体现子类根据抽象类里的行为标准给出的具体行为</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Call the method overridden by the subclass to reflect the specific behavior given by the subclass according to the behavioral standards in the abstract class</a:t>
            </a:r>
          </a:p>
        </p:txBody>
      </p:sp>
      <p:sp>
        <p:nvSpPr>
          <p:cNvPr id="750" name="">
            <a:extLst xmlns:a="http://schemas.openxmlformats.org/drawingml/2006/main">
              <a:ext uri="{FF2B5EF4-FFF2-40B4-BE49-F238E27FC236}">
                <a16:creationId xmlns:a16="http://schemas.microsoft.com/office/drawing/2014/main" id="{D1030359-3B00-49CE-B213-9C8B9030CB62}"/>
              </a:ext>
            </a:extLst>
          </p:cNvPr>
          <p:cNvSpPr>
            <a:spLocks xmlns:a="http://schemas.openxmlformats.org/drawingml/2006/main" noGrp="1"/>
          </p:cNvSpPr>
          <p:nvPr/>
        </p:nvSpPr>
        <p:spPr>
          <a:xfrm xmlns:a="http://schemas.openxmlformats.org/drawingml/2006/main" rot="0" flipH="0" flipV="0">
            <a:off x="4181475" y="3886200"/>
            <a:ext cx="7553325" cy="1438275"/>
          </a:xfrm>
          <a:prstGeom xmlns:a="http://schemas.openxmlformats.org/drawingml/2006/main" prst="roundRect">
            <a:avLst>
              <a:gd name="adj" fmla="val 6623"/>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751" name="">
            <a:extLst xmlns:a="http://schemas.openxmlformats.org/drawingml/2006/main">
              <a:ext uri="{FF2B5EF4-FFF2-40B4-BE49-F238E27FC236}">
                <a16:creationId xmlns:a16="http://schemas.microsoft.com/office/drawing/2014/main" id="{21CB732B-68BE-4901-A681-EB0255898C6B}"/>
              </a:ext>
            </a:extLst>
          </p:cNvPr>
          <p:cNvSpPr>
            <a:spLocks xmlns:a="http://schemas.openxmlformats.org/drawingml/2006/main" noGrp="1"/>
          </p:cNvSpPr>
          <p:nvPr/>
        </p:nvSpPr>
        <p:spPr>
          <a:xfrm xmlns:a="http://schemas.openxmlformats.org/drawingml/2006/main" rot="0" flipH="0" flipV="0">
            <a:off x="4371975" y="4019550"/>
            <a:ext cx="7172325" cy="1171575"/>
          </a:xfrm>
          <a:prstGeom xmlns:a="http://schemas.openxmlformats.org/drawingml/2006/main" prst="rect">
            <a:avLst/>
          </a:prstGeom>
        </p:spPr>
        <p:txBody>
          <a:bodyPr xmlns:a="http://schemas.openxmlformats.org/drawingml/2006/main" wrap="square" lIns="0" tIns="0" rIns="0" bIns="0">
            <a:normAutofit fontScale="50843"/>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行为标准仅仅是方法的名字、方法的类型而已：人具有 run、speak 行为，但不要说 speak 是用英语还是中文说话。抽象方法的具体实现由子类完成。</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The behavioral standard is just the name of the method and the type of the method: people have the behavior of run and speak, but don't say whether speak is in English or Chinese. The specific implementation of abstract methods is completed by subclasses.</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开发者可以把主要精力放在行为标准上（不用关心行为细节），节省时间，利于设计易维护、易扩展的程序（见 §5.10 节）。</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Developers can focus on behavioral standards (without caring about behavioral details), save time, and help design programs that are easy to maintain and expand (see Section 5.10).</a:t>
            </a:r>
          </a:p>
        </p:txBody>
      </p:sp>
      <p:sp>
        <p:nvSpPr>
          <p:cNvPr id="752" name="">
            <a:extLst xmlns:a="http://schemas.openxmlformats.org/drawingml/2006/main">
              <a:ext uri="{FF2B5EF4-FFF2-40B4-BE49-F238E27FC236}">
                <a16:creationId xmlns:a16="http://schemas.microsoft.com/office/drawing/2014/main" id="{D9BD95DD-3930-46BA-9132-9A209C6FF8DF}"/>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60 / 87</a:t>
            </a:r>
            <a:endParaRPr/>
          </a:p>
        </p:txBody>
      </p:sp>
    </p:spTree>
    <p:extLst>
      <p:ext uri="{BB962C8B-B14F-4D97-AF65-F5344CB8AC3E}">
        <p14:creationId xmlns:p14="http://schemas.microsoft.com/office/powerpoint/2010/main" val="1294469844"/>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754" name="">
            <a:extLst xmlns:a="http://schemas.openxmlformats.org/drawingml/2006/main">
              <a:ext uri="{FF2B5EF4-FFF2-40B4-BE49-F238E27FC236}">
                <a16:creationId xmlns:a16="http://schemas.microsoft.com/office/drawing/2014/main" id="{0A0F3410-FE72-4D9B-BF1C-08A2A84C2056}"/>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755" name="">
            <a:extLst xmlns:a="http://schemas.openxmlformats.org/drawingml/2006/main">
              <a:ext uri="{FF2B5EF4-FFF2-40B4-BE49-F238E27FC236}">
                <a16:creationId xmlns:a16="http://schemas.microsoft.com/office/drawing/2014/main" id="{4BD7F340-9774-4C50-B1CC-B5974F3173B9}"/>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756" name="">
            <a:extLst xmlns:a="http://schemas.openxmlformats.org/drawingml/2006/main">
              <a:ext uri="{FF2B5EF4-FFF2-40B4-BE49-F238E27FC236}">
                <a16:creationId xmlns:a16="http://schemas.microsoft.com/office/drawing/2014/main" id="{594AD12E-F188-4B7D-99B5-BB5FDE0FE637}"/>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757" name="">
            <a:extLst xmlns:a="http://schemas.openxmlformats.org/drawingml/2006/main">
              <a:ext uri="{FF2B5EF4-FFF2-40B4-BE49-F238E27FC236}">
                <a16:creationId xmlns:a16="http://schemas.microsoft.com/office/drawing/2014/main" id="{DCE72F0A-9D5F-4D74-9C41-284E4E013432}"/>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例子12</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12</a:t>
            </a:r>
          </a:p>
        </p:txBody>
      </p:sp>
      <p:sp>
        <p:nvSpPr>
          <p:cNvPr id="758" name="">
            <a:extLst xmlns:a="http://schemas.openxmlformats.org/drawingml/2006/main">
              <a:ext uri="{FF2B5EF4-FFF2-40B4-BE49-F238E27FC236}">
                <a16:creationId xmlns:a16="http://schemas.microsoft.com/office/drawing/2014/main" id="{2C56B929-B706-41FC-BFE8-F191F7970B4D}"/>
              </a:ext>
            </a:extLst>
          </p:cNvPr>
          <p:cNvSpPr>
            <a:spLocks xmlns:a="http://schemas.openxmlformats.org/drawingml/2006/main" noGrp="1"/>
          </p:cNvSpPr>
          <p:nvPr/>
        </p:nvSpPr>
        <p:spPr>
          <a:xfrm xmlns:a="http://schemas.openxmlformats.org/drawingml/2006/main" rot="0" flipH="0" flipV="0">
            <a:off x="457200" y="1562100"/>
            <a:ext cx="36480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Example5_12（上）</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Example5_12 (Part 1)</a:t>
            </a:r>
          </a:p>
        </p:txBody>
      </p:sp>
      <p:sp>
        <p:nvSpPr>
          <p:cNvPr id="759" name="">
            <a:extLst xmlns:a="http://schemas.openxmlformats.org/drawingml/2006/main">
              <a:ext uri="{FF2B5EF4-FFF2-40B4-BE49-F238E27FC236}">
                <a16:creationId xmlns:a16="http://schemas.microsoft.com/office/drawing/2014/main" id="{48160A4E-2503-4C25-BA90-7BF1B8831AA9}"/>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60" name="">
            <a:extLst xmlns:a="http://schemas.openxmlformats.org/drawingml/2006/main">
              <a:ext uri="{FF2B5EF4-FFF2-40B4-BE49-F238E27FC236}">
                <a16:creationId xmlns:a16="http://schemas.microsoft.com/office/drawing/2014/main" id="{247D646C-5F1B-4C2D-AFB1-39A321EDDC54}"/>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5126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抽象类 GirlFriend 封装两个行为标准：speak()、cooking()。</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abstract class GirlFriend encapsulates two behavioral standards: speak() and cooking().</a:t>
            </a:r>
          </a:p>
        </p:txBody>
      </p:sp>
      <p:pic>
        <p:nvPicPr>
          <p:cNvPr id="771" name=""/>
          <p:cNvPicPr>
            <a:picLocks xmlns:a="http://schemas.openxmlformats.org/drawingml/2006/main" noChangeAspect="1"/>
          </p:cNvPicPr>
          <p:nvPr/>
        </p:nvPicPr>
        <p:blipFill>
          <a:blip xmlns:r="http://schemas.openxmlformats.org/officeDocument/2006/relationships" xmlns:a="http://schemas.openxmlformats.org/drawingml/2006/main" r:embed="Raf2d1d8132b34751"/>
          <a:srcRect xmlns:a="http://schemas.openxmlformats.org/drawingml/2006/main" l="3" t="0" r="3" b="0"/>
          <a:stretch xmlns:a="http://schemas.openxmlformats.org/drawingml/2006/main">
            <a:fillRect l="0" t="0" r="0" b="0"/>
          </a:stretch>
        </p:blipFill>
        <p:spPr>
          <a:xfrm xmlns:a="http://schemas.openxmlformats.org/drawingml/2006/main" rot="0" flipH="0" flipV="0">
            <a:off x="4695825" y="1600200"/>
            <a:ext cx="649605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762" name="">
            <a:extLst xmlns:a="http://schemas.openxmlformats.org/drawingml/2006/main">
              <a:ext uri="{FF2B5EF4-FFF2-40B4-BE49-F238E27FC236}">
                <a16:creationId xmlns:a16="http://schemas.microsoft.com/office/drawing/2014/main" id="{E2BFCC6D-EBA3-4C6E-AB81-0A3D126AF4F9}"/>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61 / 87</a:t>
            </a:r>
            <a:endParaRPr/>
          </a:p>
        </p:txBody>
      </p:sp>
    </p:spTree>
    <p:extLst>
      <p:ext uri="{BB962C8B-B14F-4D97-AF65-F5344CB8AC3E}">
        <p14:creationId xmlns:p14="http://schemas.microsoft.com/office/powerpoint/2010/main" val="262709342"/>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764" name="">
            <a:extLst xmlns:a="http://schemas.openxmlformats.org/drawingml/2006/main">
              <a:ext uri="{FF2B5EF4-FFF2-40B4-BE49-F238E27FC236}">
                <a16:creationId xmlns:a16="http://schemas.microsoft.com/office/drawing/2014/main" id="{ED7DC527-EE9D-4FE6-8A46-0AEC70169ED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765" name="">
            <a:extLst xmlns:a="http://schemas.openxmlformats.org/drawingml/2006/main">
              <a:ext uri="{FF2B5EF4-FFF2-40B4-BE49-F238E27FC236}">
                <a16:creationId xmlns:a16="http://schemas.microsoft.com/office/drawing/2014/main" id="{333012D0-9F2A-4C14-B186-5D9FB4385813}"/>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766" name="">
            <a:extLst xmlns:a="http://schemas.openxmlformats.org/drawingml/2006/main">
              <a:ext uri="{FF2B5EF4-FFF2-40B4-BE49-F238E27FC236}">
                <a16:creationId xmlns:a16="http://schemas.microsoft.com/office/drawing/2014/main" id="{73A1559C-6B77-4AEA-84BF-959807D6D93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767" name="">
            <a:extLst xmlns:a="http://schemas.openxmlformats.org/drawingml/2006/main">
              <a:ext uri="{FF2B5EF4-FFF2-40B4-BE49-F238E27FC236}">
                <a16:creationId xmlns:a16="http://schemas.microsoft.com/office/drawing/2014/main" id="{90906BF9-2D28-41FB-942F-D0BF5E40BE7D}"/>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例子12</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12</a:t>
            </a:r>
          </a:p>
        </p:txBody>
      </p:sp>
      <p:sp>
        <p:nvSpPr>
          <p:cNvPr id="768" name="">
            <a:extLst xmlns:a="http://schemas.openxmlformats.org/drawingml/2006/main">
              <a:ext uri="{FF2B5EF4-FFF2-40B4-BE49-F238E27FC236}">
                <a16:creationId xmlns:a16="http://schemas.microsoft.com/office/drawing/2014/main" id="{BAEF8C8B-FCE8-4EBB-A99E-F3766A3BFE58}"/>
              </a:ext>
            </a:extLst>
          </p:cNvPr>
          <p:cNvSpPr>
            <a:spLocks xmlns:a="http://schemas.openxmlformats.org/drawingml/2006/main" noGrp="1"/>
          </p:cNvSpPr>
          <p:nvPr/>
        </p:nvSpPr>
        <p:spPr>
          <a:xfrm xmlns:a="http://schemas.openxmlformats.org/drawingml/2006/main" rot="0" flipH="0" flipV="0">
            <a:off x="457200" y="1562100"/>
            <a:ext cx="36480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Example5_12（中）</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Example5_12 (middle)</a:t>
            </a:r>
          </a:p>
        </p:txBody>
      </p:sp>
      <p:sp>
        <p:nvSpPr>
          <p:cNvPr id="769" name="">
            <a:extLst xmlns:a="http://schemas.openxmlformats.org/drawingml/2006/main">
              <a:ext uri="{FF2B5EF4-FFF2-40B4-BE49-F238E27FC236}">
                <a16:creationId xmlns:a16="http://schemas.microsoft.com/office/drawing/2014/main" id="{FF5515F9-B147-4DF9-861F-A164D84F6C44}"/>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70" name="">
            <a:extLst xmlns:a="http://schemas.openxmlformats.org/drawingml/2006/main">
              <a:ext uri="{FF2B5EF4-FFF2-40B4-BE49-F238E27FC236}">
                <a16:creationId xmlns:a16="http://schemas.microsoft.com/office/drawing/2014/main" id="{F6DBEAF2-8273-4010-846E-1978587D471A}"/>
              </a:ext>
            </a:extLst>
          </p:cNvPr>
          <p:cNvSpPr>
            <a:spLocks xmlns:a="http://schemas.openxmlformats.org/drawingml/2006/main" noGrp="1"/>
          </p:cNvSpPr>
          <p:nvPr/>
        </p:nvSpPr>
        <p:spPr>
          <a:xfrm xmlns:a="http://schemas.openxmlformats.org/drawingml/2006/main" rot="0" flipH="0" flipV="0">
            <a:off x="457200" y="2600325"/>
            <a:ext cx="3381375" cy="1171575"/>
          </a:xfrm>
          <a:prstGeom xmlns:a="http://schemas.openxmlformats.org/drawingml/2006/main" prst="rect">
            <a:avLst/>
          </a:prstGeom>
        </p:spPr>
        <p:txBody>
          <a:bodyPr xmlns:a="http://schemas.openxmlformats.org/drawingml/2006/main" wrap="square" lIns="0" tIns="0" rIns="0" bIns="0">
            <a:normAutofit fontScale="62163"/>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ChinaGirlFriend 与 AmericanGirlFriend 具体实现行为标准。</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ChinaGirlFriend and AmericanGirlFriend implement behavioral standards specifically.</a:t>
            </a:r>
          </a:p>
        </p:txBody>
      </p:sp>
      <p:pic>
        <p:nvPicPr>
          <p:cNvPr id="781" name=""/>
          <p:cNvPicPr>
            <a:picLocks xmlns:a="http://schemas.openxmlformats.org/drawingml/2006/main" noChangeAspect="1"/>
          </p:cNvPicPr>
          <p:nvPr/>
        </p:nvPicPr>
        <p:blipFill>
          <a:blip xmlns:r="http://schemas.openxmlformats.org/officeDocument/2006/relationships" xmlns:a="http://schemas.openxmlformats.org/drawingml/2006/main" r:embed="R65edca1d4d9241bc"/>
          <a:srcRect xmlns:a="http://schemas.openxmlformats.org/drawingml/2006/main" l="0" t="41" r="0" b="41"/>
          <a:stretch xmlns:a="http://schemas.openxmlformats.org/drawingml/2006/main">
            <a:fillRect l="0" t="0" r="0" b="0"/>
          </a:stretch>
        </p:blipFill>
        <p:spPr>
          <a:xfrm xmlns:a="http://schemas.openxmlformats.org/drawingml/2006/main" rot="0" flipH="0" flipV="0">
            <a:off x="4143375" y="1628775"/>
            <a:ext cx="7591425" cy="4057650"/>
          </a:xfrm>
          <a:prstGeom xmlns:a="http://schemas.openxmlformats.org/drawingml/2006/main" prst="roundRect">
            <a:avLst>
              <a:gd name="adj" fmla="val 2817"/>
            </a:avLst>
          </a:prstGeom>
          <a:effectLst xmlns:a="http://schemas.openxmlformats.org/drawingml/2006/main">
            <a:outerShdw blurRad="152400" dist="38100" dir="5400000">
              <a:srgbClr val="0F1C2E">
                <a:alpha val="8000"/>
              </a:srgbClr>
            </a:outerShdw>
          </a:effectLst>
        </p:spPr>
      </p:pic>
      <p:sp>
        <p:nvSpPr>
          <p:cNvPr id="772" name="">
            <a:extLst xmlns:a="http://schemas.openxmlformats.org/drawingml/2006/main">
              <a:ext uri="{FF2B5EF4-FFF2-40B4-BE49-F238E27FC236}">
                <a16:creationId xmlns:a16="http://schemas.microsoft.com/office/drawing/2014/main" id="{4C10AFC8-259F-47DC-8499-5B83065C4F85}"/>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62 / 87</a:t>
            </a:r>
            <a:endParaRPr/>
          </a:p>
        </p:txBody>
      </p:sp>
    </p:spTree>
    <p:extLst>
      <p:ext uri="{BB962C8B-B14F-4D97-AF65-F5344CB8AC3E}">
        <p14:creationId xmlns:p14="http://schemas.microsoft.com/office/powerpoint/2010/main" val="249506712"/>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774" name="">
            <a:extLst xmlns:a="http://schemas.openxmlformats.org/drawingml/2006/main">
              <a:ext uri="{FF2B5EF4-FFF2-40B4-BE49-F238E27FC236}">
                <a16:creationId xmlns:a16="http://schemas.microsoft.com/office/drawing/2014/main" id="{E80316CE-959C-4FE7-B0D2-AD59F854FCEF}"/>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775" name="">
            <a:extLst xmlns:a="http://schemas.openxmlformats.org/drawingml/2006/main">
              <a:ext uri="{FF2B5EF4-FFF2-40B4-BE49-F238E27FC236}">
                <a16:creationId xmlns:a16="http://schemas.microsoft.com/office/drawing/2014/main" id="{0D23CBE4-F906-4635-91A6-ADAD1966CC71}"/>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776" name="">
            <a:extLst xmlns:a="http://schemas.openxmlformats.org/drawingml/2006/main">
              <a:ext uri="{FF2B5EF4-FFF2-40B4-BE49-F238E27FC236}">
                <a16:creationId xmlns:a16="http://schemas.microsoft.com/office/drawing/2014/main" id="{84CE7D8D-613A-4995-9E4E-649682A26FC9}"/>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777" name="">
            <a:extLst xmlns:a="http://schemas.openxmlformats.org/drawingml/2006/main">
              <a:ext uri="{FF2B5EF4-FFF2-40B4-BE49-F238E27FC236}">
                <a16:creationId xmlns:a16="http://schemas.microsoft.com/office/drawing/2014/main" id="{32D66919-9695-4BF7-95B7-51060D91EDC9}"/>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例子12</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12</a:t>
            </a:r>
          </a:p>
        </p:txBody>
      </p:sp>
      <p:sp>
        <p:nvSpPr>
          <p:cNvPr id="778" name="">
            <a:extLst xmlns:a="http://schemas.openxmlformats.org/drawingml/2006/main">
              <a:ext uri="{FF2B5EF4-FFF2-40B4-BE49-F238E27FC236}">
                <a16:creationId xmlns:a16="http://schemas.microsoft.com/office/drawing/2014/main" id="{8B9216FA-68C8-46EB-AD99-D183B86BD5E4}"/>
              </a:ext>
            </a:extLst>
          </p:cNvPr>
          <p:cNvSpPr>
            <a:spLocks xmlns:a="http://schemas.openxmlformats.org/drawingml/2006/main" noGrp="1"/>
          </p:cNvSpPr>
          <p:nvPr/>
        </p:nvSpPr>
        <p:spPr>
          <a:xfrm xmlns:a="http://schemas.openxmlformats.org/drawingml/2006/main" rot="0" flipH="0" flipV="0">
            <a:off x="457200" y="1562100"/>
            <a:ext cx="36480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Example5_12（下）</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Example5_12 (Part 2)</a:t>
            </a:r>
          </a:p>
        </p:txBody>
      </p:sp>
      <p:sp>
        <p:nvSpPr>
          <p:cNvPr id="779" name="">
            <a:extLst xmlns:a="http://schemas.openxmlformats.org/drawingml/2006/main">
              <a:ext uri="{FF2B5EF4-FFF2-40B4-BE49-F238E27FC236}">
                <a16:creationId xmlns:a16="http://schemas.microsoft.com/office/drawing/2014/main" id="{C1B982B6-FD2D-48FF-83B0-8A1334BBC040}"/>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80" name="">
            <a:extLst xmlns:a="http://schemas.openxmlformats.org/drawingml/2006/main">
              <a:ext uri="{FF2B5EF4-FFF2-40B4-BE49-F238E27FC236}">
                <a16:creationId xmlns:a16="http://schemas.microsoft.com/office/drawing/2014/main" id="{7BC769C2-4277-4C5B-AC1B-F96F259CD52C}"/>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Boy 面向抽象类 GirlFriend 编程，girl 是上转型对象。</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Boy is programmed for the abstract class GirlFriend, and girl is an upcast object.</a:t>
            </a:r>
          </a:p>
        </p:txBody>
      </p:sp>
      <p:pic>
        <p:nvPicPr>
          <p:cNvPr id="791" name=""/>
          <p:cNvPicPr>
            <a:picLocks xmlns:a="http://schemas.openxmlformats.org/drawingml/2006/main" noChangeAspect="1"/>
          </p:cNvPicPr>
          <p:nvPr/>
        </p:nvPicPr>
        <p:blipFill>
          <a:blip xmlns:r="http://schemas.openxmlformats.org/officeDocument/2006/relationships" xmlns:a="http://schemas.openxmlformats.org/drawingml/2006/main" r:embed="R8a89a3fafa174861"/>
          <a:srcRect xmlns:a="http://schemas.openxmlformats.org/drawingml/2006/main" l="0" t="8" r="0" b="8"/>
          <a:stretch xmlns:a="http://schemas.openxmlformats.org/drawingml/2006/main">
            <a:fillRect l="0" t="0" r="0" b="0"/>
          </a:stretch>
        </p:blipFill>
        <p:spPr>
          <a:xfrm xmlns:a="http://schemas.openxmlformats.org/drawingml/2006/main" rot="0" flipH="0" flipV="0">
            <a:off x="4143375" y="1752600"/>
            <a:ext cx="7591425" cy="3800475"/>
          </a:xfrm>
          <a:prstGeom xmlns:a="http://schemas.openxmlformats.org/drawingml/2006/main" prst="roundRect">
            <a:avLst>
              <a:gd name="adj" fmla="val 3008"/>
            </a:avLst>
          </a:prstGeom>
          <a:effectLst xmlns:a="http://schemas.openxmlformats.org/drawingml/2006/main">
            <a:outerShdw blurRad="152400" dist="38100" dir="5400000">
              <a:srgbClr val="0F1C2E">
                <a:alpha val="8000"/>
              </a:srgbClr>
            </a:outerShdw>
          </a:effectLst>
        </p:spPr>
      </p:pic>
      <p:sp>
        <p:nvSpPr>
          <p:cNvPr id="782" name="">
            <a:extLst xmlns:a="http://schemas.openxmlformats.org/drawingml/2006/main">
              <a:ext uri="{FF2B5EF4-FFF2-40B4-BE49-F238E27FC236}">
                <a16:creationId xmlns:a16="http://schemas.microsoft.com/office/drawing/2014/main" id="{3692F113-F4F9-4133-9033-85AB73ADE5DF}"/>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63 / 87</a:t>
            </a:r>
            <a:endParaRPr/>
          </a:p>
        </p:txBody>
      </p:sp>
    </p:spTree>
    <p:extLst>
      <p:ext uri="{BB962C8B-B14F-4D97-AF65-F5344CB8AC3E}">
        <p14:creationId xmlns:p14="http://schemas.microsoft.com/office/powerpoint/2010/main" val="1044543357"/>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784" name="">
            <a:extLst xmlns:a="http://schemas.openxmlformats.org/drawingml/2006/main">
              <a:ext uri="{FF2B5EF4-FFF2-40B4-BE49-F238E27FC236}">
                <a16:creationId xmlns:a16="http://schemas.microsoft.com/office/drawing/2014/main" id="{C406BDC0-3C64-4CA5-8C76-62202557919F}"/>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785" name="">
            <a:extLst xmlns:a="http://schemas.openxmlformats.org/drawingml/2006/main">
              <a:ext uri="{FF2B5EF4-FFF2-40B4-BE49-F238E27FC236}">
                <a16:creationId xmlns:a16="http://schemas.microsoft.com/office/drawing/2014/main" id="{C15704C3-BEF5-4F07-ACB5-ED48749ADD0C}"/>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786" name="">
            <a:extLst xmlns:a="http://schemas.openxmlformats.org/drawingml/2006/main">
              <a:ext uri="{FF2B5EF4-FFF2-40B4-BE49-F238E27FC236}">
                <a16:creationId xmlns:a16="http://schemas.microsoft.com/office/drawing/2014/main" id="{69B6D5ED-1FD7-4D78-9CD9-2D4C92550BBB}"/>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787" name="">
            <a:extLst xmlns:a="http://schemas.openxmlformats.org/drawingml/2006/main">
              <a:ext uri="{FF2B5EF4-FFF2-40B4-BE49-F238E27FC236}">
                <a16:creationId xmlns:a16="http://schemas.microsoft.com/office/drawing/2014/main" id="{04C31555-97BC-4CA8-ABAF-542D704FC0AB}"/>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例子12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12 · Operation effect</a:t>
            </a:r>
          </a:p>
        </p:txBody>
      </p:sp>
      <p:sp>
        <p:nvSpPr>
          <p:cNvPr id="788" name="">
            <a:extLst xmlns:a="http://schemas.openxmlformats.org/drawingml/2006/main">
              <a:ext uri="{FF2B5EF4-FFF2-40B4-BE49-F238E27FC236}">
                <a16:creationId xmlns:a16="http://schemas.microsoft.com/office/drawing/2014/main" id="{1FA3BBC4-3EE3-4269-A47D-D6A1721D150B}"/>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运行效果（图5.12）</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Operation effect (Figure 5.12)</a:t>
            </a:r>
          </a:p>
        </p:txBody>
      </p:sp>
      <p:sp>
        <p:nvSpPr>
          <p:cNvPr id="789" name="">
            <a:extLst xmlns:a="http://schemas.openxmlformats.org/drawingml/2006/main">
              <a:ext uri="{FF2B5EF4-FFF2-40B4-BE49-F238E27FC236}">
                <a16:creationId xmlns:a16="http://schemas.microsoft.com/office/drawing/2014/main" id="{6ED86452-F5C1-4D6A-A0AF-17C6A4B20D1B}"/>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90" name="">
            <a:extLst xmlns:a="http://schemas.openxmlformats.org/drawingml/2006/main">
              <a:ext uri="{FF2B5EF4-FFF2-40B4-BE49-F238E27FC236}">
                <a16:creationId xmlns:a16="http://schemas.microsoft.com/office/drawing/2014/main" id="{5D7B56C0-A6D9-4E87-8B4D-A96EB14E5FA1}"/>
              </a:ext>
            </a:extLst>
          </p:cNvPr>
          <p:cNvSpPr>
            <a:spLocks xmlns:a="http://schemas.openxmlformats.org/drawingml/2006/main" noGrp="1"/>
          </p:cNvSpPr>
          <p:nvPr/>
        </p:nvSpPr>
        <p:spPr>
          <a:xfrm xmlns:a="http://schemas.openxmlformats.org/drawingml/2006/main" rot="0" flipH="0" flipV="0">
            <a:off x="457200" y="319087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同一个 girl 引用指向不同的具体类，调用行为标准产生不同实现。</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same girl reference points to different concrete classes, and calling behavioral standards produces different implementations.</a:t>
            </a:r>
          </a:p>
        </p:txBody>
      </p:sp>
      <p:pic>
        <p:nvPicPr>
          <p:cNvPr id="801" name=""/>
          <p:cNvPicPr>
            <a:picLocks xmlns:a="http://schemas.openxmlformats.org/drawingml/2006/main" noChangeAspect="1"/>
          </p:cNvPicPr>
          <p:nvPr/>
        </p:nvPicPr>
        <p:blipFill>
          <a:blip xmlns:r="http://schemas.openxmlformats.org/officeDocument/2006/relationships" xmlns:a="http://schemas.openxmlformats.org/drawingml/2006/main" r:embed="R0898a4d8e2d14597"/>
          <a:srcRect xmlns:a="http://schemas.openxmlformats.org/drawingml/2006/main" l="22" t="0" r="22" b="0"/>
          <a:stretch xmlns:a="http://schemas.openxmlformats.org/drawingml/2006/main">
            <a:fillRect l="0" t="0" r="0" b="0"/>
          </a:stretch>
        </p:blipFill>
        <p:spPr>
          <a:xfrm xmlns:a="http://schemas.openxmlformats.org/drawingml/2006/main" rot="0" flipH="0" flipV="0">
            <a:off x="4467225" y="1657350"/>
            <a:ext cx="6981825" cy="4191000"/>
          </a:xfrm>
          <a:prstGeom xmlns:a="http://schemas.openxmlformats.org/drawingml/2006/main" prst="roundRect">
            <a:avLst>
              <a:gd name="adj" fmla="val 1818"/>
            </a:avLst>
          </a:prstGeom>
        </p:spPr>
      </p:pic>
      <p:sp>
        <p:nvSpPr>
          <p:cNvPr id="792" name="">
            <a:extLst xmlns:a="http://schemas.openxmlformats.org/drawingml/2006/main">
              <a:ext uri="{FF2B5EF4-FFF2-40B4-BE49-F238E27FC236}">
                <a16:creationId xmlns:a16="http://schemas.microsoft.com/office/drawing/2014/main" id="{0924C5DF-B66A-4471-B5B1-6258DD504EB6}"/>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64 / 87</a:t>
            </a:r>
            <a:endParaRPr/>
          </a:p>
        </p:txBody>
      </p:sp>
    </p:spTree>
    <p:extLst>
      <p:ext uri="{BB962C8B-B14F-4D97-AF65-F5344CB8AC3E}">
        <p14:creationId xmlns:p14="http://schemas.microsoft.com/office/powerpoint/2010/main" val="1073922016"/>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794" name="">
            <a:extLst xmlns:a="http://schemas.openxmlformats.org/drawingml/2006/main">
              <a:ext uri="{FF2B5EF4-FFF2-40B4-BE49-F238E27FC236}">
                <a16:creationId xmlns:a16="http://schemas.microsoft.com/office/drawing/2014/main" id="{071867F1-AFFC-4C3F-87E4-2E07D8478E54}"/>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795" name="">
            <a:extLst xmlns:a="http://schemas.openxmlformats.org/drawingml/2006/main">
              <a:ext uri="{FF2B5EF4-FFF2-40B4-BE49-F238E27FC236}">
                <a16:creationId xmlns:a16="http://schemas.microsoft.com/office/drawing/2014/main" id="{7E282D73-AD0F-43CC-A9B5-F15D88ACFCF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796" name="">
            <a:extLst xmlns:a="http://schemas.openxmlformats.org/drawingml/2006/main">
              <a:ext uri="{FF2B5EF4-FFF2-40B4-BE49-F238E27FC236}">
                <a16:creationId xmlns:a16="http://schemas.microsoft.com/office/drawing/2014/main" id="{CB59D17B-D461-4456-AE4C-3F1E1EB2A6E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797" name="">
            <a:extLst xmlns:a="http://schemas.openxmlformats.org/drawingml/2006/main">
              <a:ext uri="{FF2B5EF4-FFF2-40B4-BE49-F238E27FC236}">
                <a16:creationId xmlns:a16="http://schemas.microsoft.com/office/drawing/2014/main" id="{B87A46ED-CD83-4B1D-997E-71CFFDE04A75}"/>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§5.10</a:t>
            </a:r>
            <a:endParaRPr/>
          </a:p>
        </p:txBody>
      </p:sp>
      <p:sp>
        <p:nvSpPr>
          <p:cNvPr id="798" name="">
            <a:extLst xmlns:a="http://schemas.openxmlformats.org/drawingml/2006/main">
              <a:ext uri="{FF2B5EF4-FFF2-40B4-BE49-F238E27FC236}">
                <a16:creationId xmlns:a16="http://schemas.microsoft.com/office/drawing/2014/main" id="{035832FE-EA38-456E-920A-4DA39F8AA5C5}"/>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2495"/>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面向抽象编程</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Programming towards abstraction</a:t>
            </a:r>
          </a:p>
        </p:txBody>
      </p:sp>
      <p:sp>
        <p:nvSpPr>
          <p:cNvPr id="799" name="">
            <a:extLst xmlns:a="http://schemas.openxmlformats.org/drawingml/2006/main">
              <a:ext uri="{FF2B5EF4-FFF2-40B4-BE49-F238E27FC236}">
                <a16:creationId xmlns:a16="http://schemas.microsoft.com/office/drawing/2014/main" id="{F39C22B7-D3A4-44F6-AD44-7EDB805DE5F6}"/>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00" name="">
            <a:extLst xmlns:a="http://schemas.openxmlformats.org/drawingml/2006/main">
              <a:ext uri="{FF2B5EF4-FFF2-40B4-BE49-F238E27FC236}">
                <a16:creationId xmlns:a16="http://schemas.microsoft.com/office/drawing/2014/main" id="{FBA9BA0D-64EA-4253-8F8D-1994197C510F}"/>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设计重要类时，不让该类面向具体的类，而是面向抽象类。</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When designing an important class, make the class not oriented toward concrete classes, but toward abstract classes.</a:t>
            </a:r>
          </a:p>
        </p:txBody>
      </p:sp>
      <p:sp>
        <p:nvSpPr>
          <p:cNvPr id="801" name="">
            <a:extLst xmlns:a="http://schemas.openxmlformats.org/drawingml/2006/main">
              <a:ext uri="{FF2B5EF4-FFF2-40B4-BE49-F238E27FC236}">
                <a16:creationId xmlns:a16="http://schemas.microsoft.com/office/drawing/2014/main" id="{CA7BA642-E213-4E3C-930E-9BB679C6F8DB}"/>
              </a:ext>
            </a:extLst>
          </p:cNvPr>
          <p:cNvSpPr>
            <a:spLocks xmlns:a="http://schemas.openxmlformats.org/drawingml/2006/main" noGrp="1"/>
          </p:cNvSpPr>
          <p:nvPr/>
        </p:nvSpPr>
        <p:spPr>
          <a:xfrm xmlns:a="http://schemas.openxmlformats.org/drawingml/2006/main" rot="0" flipH="0" flipV="0">
            <a:off x="4181475" y="21240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02" name="">
            <a:extLst xmlns:a="http://schemas.openxmlformats.org/drawingml/2006/main">
              <a:ext uri="{FF2B5EF4-FFF2-40B4-BE49-F238E27FC236}">
                <a16:creationId xmlns:a16="http://schemas.microsoft.com/office/drawing/2014/main" id="{99F57E18-BCA4-4E19-838A-3C294E3A80C4}"/>
              </a:ext>
            </a:extLst>
          </p:cNvPr>
          <p:cNvSpPr>
            <a:spLocks xmlns:a="http://schemas.openxmlformats.org/drawingml/2006/main" noGrp="1"/>
          </p:cNvSpPr>
          <p:nvPr/>
        </p:nvSpPr>
        <p:spPr>
          <a:xfrm xmlns:a="http://schemas.openxmlformats.org/drawingml/2006/main" rot="0" flipH="0" flipV="0">
            <a:off x="4371975" y="2009775"/>
            <a:ext cx="7362825" cy="781050"/>
          </a:xfrm>
          <a:prstGeom xmlns:a="http://schemas.openxmlformats.org/drawingml/2006/main" prst="rect">
            <a:avLst/>
          </a:prstGeom>
        </p:spPr>
        <p:txBody>
          <a:bodyPr xmlns:a="http://schemas.openxmlformats.org/drawingml/2006/main" wrap="square" lIns="0" tIns="0" rIns="0" bIns="0">
            <a:normAutofit fontScale="49241"/>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先声明一个 abstract 类，声明若干个 abstract 方法，表明这些方法在系统设计中的重要性，方法体内容细节由非 abstract 子类完成</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First declare an abstract class and several abstract methods to indicate the importance of these methods in system design. The details of the method body content are completed by non-abstract subclasses.</a:t>
            </a:r>
          </a:p>
        </p:txBody>
      </p:sp>
      <p:sp>
        <p:nvSpPr>
          <p:cNvPr id="803" name="">
            <a:extLst xmlns:a="http://schemas.openxmlformats.org/drawingml/2006/main">
              <a:ext uri="{FF2B5EF4-FFF2-40B4-BE49-F238E27FC236}">
                <a16:creationId xmlns:a16="http://schemas.microsoft.com/office/drawing/2014/main" id="{FD324E85-0E32-4218-BC07-F42D4B1A0FE0}"/>
              </a:ext>
            </a:extLst>
          </p:cNvPr>
          <p:cNvSpPr>
            <a:spLocks xmlns:a="http://schemas.openxmlformats.org/drawingml/2006/main" noGrp="1"/>
          </p:cNvSpPr>
          <p:nvPr/>
        </p:nvSpPr>
        <p:spPr>
          <a:xfrm xmlns:a="http://schemas.openxmlformats.org/drawingml/2006/main" rot="0" flipH="0" flipV="0">
            <a:off x="4181475" y="30765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04" name="">
            <a:extLst xmlns:a="http://schemas.openxmlformats.org/drawingml/2006/main">
              <a:ext uri="{FF2B5EF4-FFF2-40B4-BE49-F238E27FC236}">
                <a16:creationId xmlns:a16="http://schemas.microsoft.com/office/drawing/2014/main" id="{31F0E94C-C30F-4B69-A4E2-55BCBB02668F}"/>
              </a:ext>
            </a:extLst>
          </p:cNvPr>
          <p:cNvSpPr>
            <a:spLocks xmlns:a="http://schemas.openxmlformats.org/drawingml/2006/main" noGrp="1"/>
          </p:cNvSpPr>
          <p:nvPr/>
        </p:nvSpPr>
        <p:spPr>
          <a:xfrm xmlns:a="http://schemas.openxmlformats.org/drawingml/2006/main" rot="0" flipH="0" flipV="0">
            <a:off x="4371975" y="2962275"/>
            <a:ext cx="7362825" cy="781050"/>
          </a:xfrm>
          <a:prstGeom xmlns:a="http://schemas.openxmlformats.org/drawingml/2006/main" prst="rect">
            <a:avLst/>
          </a:prstGeom>
        </p:spPr>
        <p:txBody>
          <a:bodyPr xmlns:a="http://schemas.openxmlformats.org/drawingml/2006/main" wrap="square" lIns="0" tIns="0" rIns="0" bIns="0">
            <a:normAutofit fontScale="4490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然后利用多态实现编程：使用方法重写和上转型对象，将 abstract 类声明的对象作为其子类的上转型对象，调用子类重写的方法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Then use polymorphism to implement programming: use method rewriting and upcasting objects, use the object declared by the abstract class as the upcasting object of its subclass, and call the method rewritten by the subclass</a:t>
            </a:r>
          </a:p>
        </p:txBody>
      </p:sp>
      <p:sp>
        <p:nvSpPr>
          <p:cNvPr id="805" name="">
            <a:extLst xmlns:a="http://schemas.openxmlformats.org/drawingml/2006/main">
              <a:ext uri="{FF2B5EF4-FFF2-40B4-BE49-F238E27FC236}">
                <a16:creationId xmlns:a16="http://schemas.microsoft.com/office/drawing/2014/main" id="{F656795E-8D92-4026-B1C9-B2B3ACEDB6F7}"/>
              </a:ext>
            </a:extLst>
          </p:cNvPr>
          <p:cNvSpPr>
            <a:spLocks xmlns:a="http://schemas.openxmlformats.org/drawingml/2006/main" noGrp="1"/>
          </p:cNvSpPr>
          <p:nvPr/>
        </p:nvSpPr>
        <p:spPr>
          <a:xfrm xmlns:a="http://schemas.openxmlformats.org/drawingml/2006/main" rot="0" flipH="0" flipV="0">
            <a:off x="4181475" y="40290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06" name="">
            <a:extLst xmlns:a="http://schemas.openxmlformats.org/drawingml/2006/main">
              <a:ext uri="{FF2B5EF4-FFF2-40B4-BE49-F238E27FC236}">
                <a16:creationId xmlns:a16="http://schemas.microsoft.com/office/drawing/2014/main" id="{62798B75-1199-47C0-B7B2-4C84362AA154}"/>
              </a:ext>
            </a:extLst>
          </p:cNvPr>
          <p:cNvSpPr>
            <a:spLocks xmlns:a="http://schemas.openxmlformats.org/drawingml/2006/main" noGrp="1"/>
          </p:cNvSpPr>
          <p:nvPr/>
        </p:nvSpPr>
        <p:spPr>
          <a:xfrm xmlns:a="http://schemas.openxmlformats.org/drawingml/2006/main" rot="0" flipH="0" flipV="0">
            <a:off x="4371975" y="3914775"/>
            <a:ext cx="7362825" cy="390525"/>
          </a:xfrm>
          <a:prstGeom xmlns:a="http://schemas.openxmlformats.org/drawingml/2006/main" prst="rect">
            <a:avLst/>
          </a:prstGeom>
        </p:spPr>
        <p:txBody>
          <a:bodyPr xmlns:a="http://schemas.openxmlformats.org/drawingml/2006/main" wrap="none" lIns="0" tIns="0" rIns="0" bIns="0">
            <a:normAutofit fontScale="31028"/>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面向抽象编程：所设计类中的重要数据是抽象类声明的对象，而不是具体类声明的对象</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Abstraction-oriented programming: The important data in the designed class is the object declared by the abstract class, not the object declared by the concrete class</a:t>
            </a:r>
          </a:p>
        </p:txBody>
      </p:sp>
      <p:sp>
        <p:nvSpPr>
          <p:cNvPr id="807" name="">
            <a:extLst xmlns:a="http://schemas.openxmlformats.org/drawingml/2006/main">
              <a:ext uri="{FF2B5EF4-FFF2-40B4-BE49-F238E27FC236}">
                <a16:creationId xmlns:a16="http://schemas.microsoft.com/office/drawing/2014/main" id="{234EBC84-E801-4FFB-9CF3-E90388658FC2}"/>
              </a:ext>
            </a:extLst>
          </p:cNvPr>
          <p:cNvSpPr>
            <a:spLocks xmlns:a="http://schemas.openxmlformats.org/drawingml/2006/main" noGrp="1"/>
          </p:cNvSpPr>
          <p:nvPr/>
        </p:nvSpPr>
        <p:spPr>
          <a:xfrm xmlns:a="http://schemas.openxmlformats.org/drawingml/2006/main" rot="0" flipH="0" flipV="0">
            <a:off x="4181475" y="4476750"/>
            <a:ext cx="7553325" cy="857250"/>
          </a:xfrm>
          <a:prstGeom xmlns:a="http://schemas.openxmlformats.org/drawingml/2006/main" prst="roundRect">
            <a:avLst>
              <a:gd name="adj" fmla="val 11111"/>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808" name="">
            <a:extLst xmlns:a="http://schemas.openxmlformats.org/drawingml/2006/main">
              <a:ext uri="{FF2B5EF4-FFF2-40B4-BE49-F238E27FC236}">
                <a16:creationId xmlns:a16="http://schemas.microsoft.com/office/drawing/2014/main" id="{2BDAE959-79FA-4F03-972C-992060D9EBB3}"/>
              </a:ext>
            </a:extLst>
          </p:cNvPr>
          <p:cNvSpPr>
            <a:spLocks xmlns:a="http://schemas.openxmlformats.org/drawingml/2006/main" noGrp="1"/>
          </p:cNvSpPr>
          <p:nvPr/>
        </p:nvSpPr>
        <p:spPr>
          <a:xfrm xmlns:a="http://schemas.openxmlformats.org/drawingml/2006/main" rot="0" flipH="0" flipV="0">
            <a:off x="4371975" y="4610100"/>
            <a:ext cx="7172325" cy="590550"/>
          </a:xfrm>
          <a:prstGeom xmlns:a="http://schemas.openxmlformats.org/drawingml/2006/main" prst="rect">
            <a:avLst/>
          </a:prstGeom>
        </p:spPr>
        <p:txBody>
          <a:bodyPr xmlns:a="http://schemas.openxmlformats.org/drawingml/2006/main" wrap="squar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例题：Pillar 类面向抽象类 Geometry，Circle 和 Rectangle 都是 Geometry 的子类，Application 可以用 Pillar 创建出矩形底或圆形底的柱体。</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Example: The Pillar class faces the abstract class Geometry. Circle and Rectangle are both subclasses of Geometry. Application can use Pillar to create a cylinder with a rectangular base or a circular base.</a:t>
            </a:r>
          </a:p>
        </p:txBody>
      </p:sp>
      <p:sp>
        <p:nvSpPr>
          <p:cNvPr id="809" name="">
            <a:extLst xmlns:a="http://schemas.openxmlformats.org/drawingml/2006/main">
              <a:ext uri="{FF2B5EF4-FFF2-40B4-BE49-F238E27FC236}">
                <a16:creationId xmlns:a16="http://schemas.microsoft.com/office/drawing/2014/main" id="{11AB5BEE-3A34-4485-85EC-6A421B23AB5E}"/>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65 / 87</a:t>
            </a:r>
            <a:endParaRPr/>
          </a:p>
        </p:txBody>
      </p:sp>
    </p:spTree>
    <p:extLst>
      <p:ext uri="{BB962C8B-B14F-4D97-AF65-F5344CB8AC3E}">
        <p14:creationId xmlns:p14="http://schemas.microsoft.com/office/powerpoint/2010/main" val="292719838"/>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811" name="">
            <a:extLst xmlns:a="http://schemas.openxmlformats.org/drawingml/2006/main">
              <a:ext uri="{FF2B5EF4-FFF2-40B4-BE49-F238E27FC236}">
                <a16:creationId xmlns:a16="http://schemas.microsoft.com/office/drawing/2014/main" id="{F0CD50E0-38AA-4AB4-A893-6F6243058DF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812" name="">
            <a:extLst xmlns:a="http://schemas.openxmlformats.org/drawingml/2006/main">
              <a:ext uri="{FF2B5EF4-FFF2-40B4-BE49-F238E27FC236}">
                <a16:creationId xmlns:a16="http://schemas.microsoft.com/office/drawing/2014/main" id="{5CF59F23-97B9-4929-9510-AF8B7F04F82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813" name="">
            <a:extLst xmlns:a="http://schemas.openxmlformats.org/drawingml/2006/main">
              <a:ext uri="{FF2B5EF4-FFF2-40B4-BE49-F238E27FC236}">
                <a16:creationId xmlns:a16="http://schemas.microsoft.com/office/drawing/2014/main" id="{0D47AB27-B807-404B-94EF-68EF3A970D87}"/>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814" name="">
            <a:extLst xmlns:a="http://schemas.openxmlformats.org/drawingml/2006/main">
              <a:ext uri="{FF2B5EF4-FFF2-40B4-BE49-F238E27FC236}">
                <a16:creationId xmlns:a16="http://schemas.microsoft.com/office/drawing/2014/main" id="{9B641D7E-8C0B-40A3-938E-275125B2344A}"/>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§5.10 例题</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§5.10 Example questions</a:t>
            </a:r>
          </a:p>
        </p:txBody>
      </p:sp>
      <p:sp>
        <p:nvSpPr>
          <p:cNvPr id="815" name="">
            <a:extLst xmlns:a="http://schemas.openxmlformats.org/drawingml/2006/main">
              <a:ext uri="{FF2B5EF4-FFF2-40B4-BE49-F238E27FC236}">
                <a16:creationId xmlns:a16="http://schemas.microsoft.com/office/drawing/2014/main" id="{5D6BC849-AEFE-4E88-BA01-2F2CD3056F2B}"/>
              </a:ext>
            </a:extLst>
          </p:cNvPr>
          <p:cNvSpPr>
            <a:spLocks xmlns:a="http://schemas.openxmlformats.org/drawingml/2006/main" noGrp="1"/>
          </p:cNvSpPr>
          <p:nvPr/>
        </p:nvSpPr>
        <p:spPr>
          <a:xfrm xmlns:a="http://schemas.openxmlformats.org/drawingml/2006/main" rot="0" flipH="0" flipV="0">
            <a:off x="457200" y="15621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Geometry 抽象类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Geometry abstract class</a:t>
            </a:r>
          </a:p>
        </p:txBody>
      </p:sp>
      <p:sp>
        <p:nvSpPr>
          <p:cNvPr id="816" name="">
            <a:extLst xmlns:a="http://schemas.openxmlformats.org/drawingml/2006/main">
              <a:ext uri="{FF2B5EF4-FFF2-40B4-BE49-F238E27FC236}">
                <a16:creationId xmlns:a16="http://schemas.microsoft.com/office/drawing/2014/main" id="{B0C3ED61-AF43-475D-BAB8-54F65B43DF10}"/>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17" name="">
            <a:extLst xmlns:a="http://schemas.openxmlformats.org/drawingml/2006/main">
              <a:ext uri="{FF2B5EF4-FFF2-40B4-BE49-F238E27FC236}">
                <a16:creationId xmlns:a16="http://schemas.microsoft.com/office/drawing/2014/main" id="{67907265-6716-45E2-BA25-803229063A4A}"/>
              </a:ext>
            </a:extLst>
          </p:cNvPr>
          <p:cNvSpPr>
            <a:spLocks xmlns:a="http://schemas.openxmlformats.org/drawingml/2006/main" noGrp="1"/>
          </p:cNvSpPr>
          <p:nvPr/>
        </p:nvSpPr>
        <p:spPr>
          <a:xfrm xmlns:a="http://schemas.openxmlformats.org/drawingml/2006/main" rot="0" flipH="0" flipV="0">
            <a:off x="457200" y="2600325"/>
            <a:ext cx="3381375" cy="390525"/>
          </a:xfrm>
          <a:prstGeom xmlns:a="http://schemas.openxmlformats.org/drawingml/2006/main" prst="rect">
            <a:avLst/>
          </a:prstGeom>
        </p:spPr>
        <p:txBody>
          <a:bodyPr xmlns:a="http://schemas.openxmlformats.org/drawingml/2006/main" wrap="none" lIns="0" tIns="0" rIns="0" bIns="0">
            <a:normAutofit fontScale="40737"/>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声明行为标准 getArea()，不实现。</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Declares behavioral standard getArea(), not implemented.</a:t>
            </a:r>
          </a:p>
        </p:txBody>
      </p:sp>
      <p:pic>
        <p:nvPicPr>
          <p:cNvPr id="828" name=""/>
          <p:cNvPicPr>
            <a:picLocks xmlns:a="http://schemas.openxmlformats.org/drawingml/2006/main" noChangeAspect="1"/>
          </p:cNvPicPr>
          <p:nvPr/>
        </p:nvPicPr>
        <p:blipFill>
          <a:blip xmlns:r="http://schemas.openxmlformats.org/officeDocument/2006/relationships" xmlns:a="http://schemas.openxmlformats.org/drawingml/2006/main" r:embed="Re8a1dd8cfd6741d1"/>
          <a:srcRect xmlns:a="http://schemas.openxmlformats.org/drawingml/2006/main" l="0" t="147" r="0" b="147"/>
          <a:stretch xmlns:a="http://schemas.openxmlformats.org/drawingml/2006/main">
            <a:fillRect l="0" t="0" r="0" b="0"/>
          </a:stretch>
        </p:blipFill>
        <p:spPr>
          <a:xfrm xmlns:a="http://schemas.openxmlformats.org/drawingml/2006/main" rot="0" flipH="0" flipV="0">
            <a:off x="4143375" y="2990850"/>
            <a:ext cx="7591425" cy="1333500"/>
          </a:xfrm>
          <a:prstGeom xmlns:a="http://schemas.openxmlformats.org/drawingml/2006/main" prst="roundRect">
            <a:avLst>
              <a:gd name="adj" fmla="val 8571"/>
            </a:avLst>
          </a:prstGeom>
          <a:effectLst xmlns:a="http://schemas.openxmlformats.org/drawingml/2006/main">
            <a:outerShdw blurRad="152400" dist="38100" dir="5400000">
              <a:srgbClr val="0F1C2E">
                <a:alpha val="8000"/>
              </a:srgbClr>
            </a:outerShdw>
          </a:effectLst>
        </p:spPr>
      </p:pic>
      <p:sp>
        <p:nvSpPr>
          <p:cNvPr id="819" name="">
            <a:extLst xmlns:a="http://schemas.openxmlformats.org/drawingml/2006/main">
              <a:ext uri="{FF2B5EF4-FFF2-40B4-BE49-F238E27FC236}">
                <a16:creationId xmlns:a16="http://schemas.microsoft.com/office/drawing/2014/main" id="{73223672-078D-4ACB-AC19-827497CC6953}"/>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66 / 87</a:t>
            </a:r>
            <a:endParaRPr/>
          </a:p>
        </p:txBody>
      </p:sp>
    </p:spTree>
    <p:extLst>
      <p:ext uri="{BB962C8B-B14F-4D97-AF65-F5344CB8AC3E}">
        <p14:creationId xmlns:p14="http://schemas.microsoft.com/office/powerpoint/2010/main" val="664152813"/>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821" name="">
            <a:extLst xmlns:a="http://schemas.openxmlformats.org/drawingml/2006/main">
              <a:ext uri="{FF2B5EF4-FFF2-40B4-BE49-F238E27FC236}">
                <a16:creationId xmlns:a16="http://schemas.microsoft.com/office/drawing/2014/main" id="{C89378FC-46CB-4382-BEB6-DD433FAC253F}"/>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822" name="">
            <a:extLst xmlns:a="http://schemas.openxmlformats.org/drawingml/2006/main">
              <a:ext uri="{FF2B5EF4-FFF2-40B4-BE49-F238E27FC236}">
                <a16:creationId xmlns:a16="http://schemas.microsoft.com/office/drawing/2014/main" id="{09DAB1FF-E80C-43AC-AF8A-D05E1AE47455}"/>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823" name="">
            <a:extLst xmlns:a="http://schemas.openxmlformats.org/drawingml/2006/main">
              <a:ext uri="{FF2B5EF4-FFF2-40B4-BE49-F238E27FC236}">
                <a16:creationId xmlns:a16="http://schemas.microsoft.com/office/drawing/2014/main" id="{AB612807-8941-48BE-A2C2-86C620561669}"/>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824" name="">
            <a:extLst xmlns:a="http://schemas.openxmlformats.org/drawingml/2006/main">
              <a:ext uri="{FF2B5EF4-FFF2-40B4-BE49-F238E27FC236}">
                <a16:creationId xmlns:a16="http://schemas.microsoft.com/office/drawing/2014/main" id="{0D06D502-C992-4FBD-9666-2B9369DF510B}"/>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§5.10 例题</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§5.10 Example questions</a:t>
            </a:r>
          </a:p>
        </p:txBody>
      </p:sp>
      <p:sp>
        <p:nvSpPr>
          <p:cNvPr id="825" name="">
            <a:extLst xmlns:a="http://schemas.openxmlformats.org/drawingml/2006/main">
              <a:ext uri="{FF2B5EF4-FFF2-40B4-BE49-F238E27FC236}">
                <a16:creationId xmlns:a16="http://schemas.microsoft.com/office/drawing/2014/main" id="{6E06C24D-0EFE-46B5-BAB7-5349087763AD}"/>
              </a:ext>
            </a:extLst>
          </p:cNvPr>
          <p:cNvSpPr>
            <a:spLocks xmlns:a="http://schemas.openxmlformats.org/drawingml/2006/main" noGrp="1"/>
          </p:cNvSpPr>
          <p:nvPr/>
        </p:nvSpPr>
        <p:spPr>
          <a:xfrm xmlns:a="http://schemas.openxmlformats.org/drawingml/2006/main" rot="0" flipH="0" flipV="0">
            <a:off x="457200" y="15621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Pillar 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Pillar class</a:t>
            </a:r>
          </a:p>
        </p:txBody>
      </p:sp>
      <p:sp>
        <p:nvSpPr>
          <p:cNvPr id="826" name="">
            <a:extLst xmlns:a="http://schemas.openxmlformats.org/drawingml/2006/main">
              <a:ext uri="{FF2B5EF4-FFF2-40B4-BE49-F238E27FC236}">
                <a16:creationId xmlns:a16="http://schemas.microsoft.com/office/drawing/2014/main" id="{2CA4F5D7-3C68-42D8-899E-C6B3990E9668}"/>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27" name="">
            <a:extLst xmlns:a="http://schemas.openxmlformats.org/drawingml/2006/main">
              <a:ext uri="{FF2B5EF4-FFF2-40B4-BE49-F238E27FC236}">
                <a16:creationId xmlns:a16="http://schemas.microsoft.com/office/drawing/2014/main" id="{FE977508-2538-45E2-A7B9-65420EDDE4A1}"/>
              </a:ext>
            </a:extLst>
          </p:cNvPr>
          <p:cNvSpPr>
            <a:spLocks xmlns:a="http://schemas.openxmlformats.org/drawingml/2006/main" noGrp="1"/>
          </p:cNvSpPr>
          <p:nvPr/>
        </p:nvSpPr>
        <p:spPr>
          <a:xfrm xmlns:a="http://schemas.openxmlformats.org/drawingml/2006/main" rot="0" flipH="0" flipV="0">
            <a:off x="457200" y="2600325"/>
            <a:ext cx="3381375" cy="1171575"/>
          </a:xfrm>
          <a:prstGeom xmlns:a="http://schemas.openxmlformats.org/drawingml/2006/main" prst="rect">
            <a:avLst/>
          </a:prstGeom>
        </p:spPr>
        <p:txBody>
          <a:bodyPr xmlns:a="http://schemas.openxmlformats.org/drawingml/2006/main" wrap="square" lIns="0" tIns="0" rIns="0" bIns="0">
            <a:normAutofit fontScale="52629"/>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Pillar 面向抽象类 Geometry：bottom 是抽象类声明的变量，调用 bottom.getArea()。</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Pillar is oriented to the abstract class Geometry: bottom is a variable declared by the abstract class and calls bottom.getArea().</a:t>
            </a:r>
          </a:p>
        </p:txBody>
      </p:sp>
      <p:pic>
        <p:nvPicPr>
          <p:cNvPr id="838" name=""/>
          <p:cNvPicPr>
            <a:picLocks xmlns:a="http://schemas.openxmlformats.org/drawingml/2006/main" noChangeAspect="1"/>
          </p:cNvPicPr>
          <p:nvPr/>
        </p:nvPicPr>
        <p:blipFill>
          <a:blip xmlns:r="http://schemas.openxmlformats.org/officeDocument/2006/relationships" xmlns:a="http://schemas.openxmlformats.org/drawingml/2006/main" r:embed="R953778e409574ff7"/>
          <a:srcRect xmlns:a="http://schemas.openxmlformats.org/drawingml/2006/main" l="0" t="26" r="0" b="26"/>
          <a:stretch xmlns:a="http://schemas.openxmlformats.org/drawingml/2006/main">
            <a:fillRect l="0" t="0" r="0" b="0"/>
          </a:stretch>
        </p:blipFill>
        <p:spPr>
          <a:xfrm xmlns:a="http://schemas.openxmlformats.org/drawingml/2006/main" rot="0" flipH="0" flipV="0">
            <a:off x="4143375" y="1800225"/>
            <a:ext cx="7591425" cy="3705225"/>
          </a:xfrm>
          <a:prstGeom xmlns:a="http://schemas.openxmlformats.org/drawingml/2006/main" prst="roundRect">
            <a:avLst>
              <a:gd name="adj" fmla="val 3085"/>
            </a:avLst>
          </a:prstGeom>
          <a:effectLst xmlns:a="http://schemas.openxmlformats.org/drawingml/2006/main">
            <a:outerShdw blurRad="152400" dist="38100" dir="5400000">
              <a:srgbClr val="0F1C2E">
                <a:alpha val="8000"/>
              </a:srgbClr>
            </a:outerShdw>
          </a:effectLst>
        </p:spPr>
      </p:pic>
      <p:sp>
        <p:nvSpPr>
          <p:cNvPr id="829" name="">
            <a:extLst xmlns:a="http://schemas.openxmlformats.org/drawingml/2006/main">
              <a:ext uri="{FF2B5EF4-FFF2-40B4-BE49-F238E27FC236}">
                <a16:creationId xmlns:a16="http://schemas.microsoft.com/office/drawing/2014/main" id="{7969F5A8-74AC-44D1-A495-9ED05DEA64BF}"/>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67 / 87</a:t>
            </a:r>
            <a:endParaRPr/>
          </a:p>
        </p:txBody>
      </p:sp>
    </p:spTree>
    <p:extLst>
      <p:ext uri="{BB962C8B-B14F-4D97-AF65-F5344CB8AC3E}">
        <p14:creationId xmlns:p14="http://schemas.microsoft.com/office/powerpoint/2010/main" val="830480398"/>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831" name="">
            <a:extLst xmlns:a="http://schemas.openxmlformats.org/drawingml/2006/main">
              <a:ext uri="{FF2B5EF4-FFF2-40B4-BE49-F238E27FC236}">
                <a16:creationId xmlns:a16="http://schemas.microsoft.com/office/drawing/2014/main" id="{4FED55B4-AD3F-4229-96B2-CB62CF036579}"/>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832" name="">
            <a:extLst xmlns:a="http://schemas.openxmlformats.org/drawingml/2006/main">
              <a:ext uri="{FF2B5EF4-FFF2-40B4-BE49-F238E27FC236}">
                <a16:creationId xmlns:a16="http://schemas.microsoft.com/office/drawing/2014/main" id="{3DAE4CC5-EA3F-4F78-93E5-66697579BA5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833" name="">
            <a:extLst xmlns:a="http://schemas.openxmlformats.org/drawingml/2006/main">
              <a:ext uri="{FF2B5EF4-FFF2-40B4-BE49-F238E27FC236}">
                <a16:creationId xmlns:a16="http://schemas.microsoft.com/office/drawing/2014/main" id="{1E60B73B-AFC2-423A-9729-EB2FBC4A6E3D}"/>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834" name="">
            <a:extLst xmlns:a="http://schemas.openxmlformats.org/drawingml/2006/main">
              <a:ext uri="{FF2B5EF4-FFF2-40B4-BE49-F238E27FC236}">
                <a16:creationId xmlns:a16="http://schemas.microsoft.com/office/drawing/2014/main" id="{1EDA61D6-A9B1-42DD-A5A4-53BCFEB5040A}"/>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§5.10 例题</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§5.10 Example questions</a:t>
            </a:r>
          </a:p>
        </p:txBody>
      </p:sp>
      <p:sp>
        <p:nvSpPr>
          <p:cNvPr id="835" name="">
            <a:extLst xmlns:a="http://schemas.openxmlformats.org/drawingml/2006/main">
              <a:ext uri="{FF2B5EF4-FFF2-40B4-BE49-F238E27FC236}">
                <a16:creationId xmlns:a16="http://schemas.microsoft.com/office/drawing/2014/main" id="{48A2A3A7-1B80-484C-AEE0-59F95F74C166}"/>
              </a:ext>
            </a:extLst>
          </p:cNvPr>
          <p:cNvSpPr>
            <a:spLocks xmlns:a="http://schemas.openxmlformats.org/drawingml/2006/main" noGrp="1"/>
          </p:cNvSpPr>
          <p:nvPr/>
        </p:nvSpPr>
        <p:spPr>
          <a:xfrm xmlns:a="http://schemas.openxmlformats.org/drawingml/2006/main" rot="0" flipH="0" flipV="0">
            <a:off x="457200" y="15621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Circle 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Circle class</a:t>
            </a:r>
          </a:p>
        </p:txBody>
      </p:sp>
      <p:sp>
        <p:nvSpPr>
          <p:cNvPr id="836" name="">
            <a:extLst xmlns:a="http://schemas.openxmlformats.org/drawingml/2006/main">
              <a:ext uri="{FF2B5EF4-FFF2-40B4-BE49-F238E27FC236}">
                <a16:creationId xmlns:a16="http://schemas.microsoft.com/office/drawing/2014/main" id="{85286A1A-30EF-484C-9B19-323352461FEB}"/>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37" name="">
            <a:extLst xmlns:a="http://schemas.openxmlformats.org/drawingml/2006/main">
              <a:ext uri="{FF2B5EF4-FFF2-40B4-BE49-F238E27FC236}">
                <a16:creationId xmlns:a16="http://schemas.microsoft.com/office/drawing/2014/main" id="{CB251BFF-7FC0-4B80-B138-631EA948ACB1}"/>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4862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Circle 是 Geometry 的子类，实现 getArea() 计算圆面积。</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Circle is a subclass of Geometry that implements getArea() to calculate the area of ​​a circle.</a:t>
            </a:r>
          </a:p>
        </p:txBody>
      </p:sp>
      <p:pic>
        <p:nvPicPr>
          <p:cNvPr id="848" name=""/>
          <p:cNvPicPr>
            <a:picLocks xmlns:a="http://schemas.openxmlformats.org/drawingml/2006/main" noChangeAspect="1"/>
          </p:cNvPicPr>
          <p:nvPr/>
        </p:nvPicPr>
        <p:blipFill>
          <a:blip xmlns:r="http://schemas.openxmlformats.org/officeDocument/2006/relationships" xmlns:a="http://schemas.openxmlformats.org/drawingml/2006/main" r:embed="Rb41521aa7a9342d9"/>
          <a:srcRect xmlns:a="http://schemas.openxmlformats.org/drawingml/2006/main" l="0" t="21" r="0" b="21"/>
          <a:stretch xmlns:a="http://schemas.openxmlformats.org/drawingml/2006/main">
            <a:fillRect l="0" t="0" r="0" b="0"/>
          </a:stretch>
        </p:blipFill>
        <p:spPr>
          <a:xfrm xmlns:a="http://schemas.openxmlformats.org/drawingml/2006/main" rot="0" flipH="0" flipV="0">
            <a:off x="4695825" y="1600200"/>
            <a:ext cx="649605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839" name="">
            <a:extLst xmlns:a="http://schemas.openxmlformats.org/drawingml/2006/main">
              <a:ext uri="{FF2B5EF4-FFF2-40B4-BE49-F238E27FC236}">
                <a16:creationId xmlns:a16="http://schemas.microsoft.com/office/drawing/2014/main" id="{A3F2786C-A4AE-4021-8776-01622F9AF2FE}"/>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68 / 87</a:t>
            </a:r>
            <a:endParaRPr/>
          </a:p>
        </p:txBody>
      </p:sp>
    </p:spTree>
    <p:extLst>
      <p:ext uri="{BB962C8B-B14F-4D97-AF65-F5344CB8AC3E}">
        <p14:creationId xmlns:p14="http://schemas.microsoft.com/office/powerpoint/2010/main" val="2087866579"/>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841" name="">
            <a:extLst xmlns:a="http://schemas.openxmlformats.org/drawingml/2006/main">
              <a:ext uri="{FF2B5EF4-FFF2-40B4-BE49-F238E27FC236}">
                <a16:creationId xmlns:a16="http://schemas.microsoft.com/office/drawing/2014/main" id="{02A487D7-A862-4760-AC68-049D6DCFD618}"/>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842" name="">
            <a:extLst xmlns:a="http://schemas.openxmlformats.org/drawingml/2006/main">
              <a:ext uri="{FF2B5EF4-FFF2-40B4-BE49-F238E27FC236}">
                <a16:creationId xmlns:a16="http://schemas.microsoft.com/office/drawing/2014/main" id="{D0169EFF-7C1F-4B71-A77F-C6B649C92823}"/>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843" name="">
            <a:extLst xmlns:a="http://schemas.openxmlformats.org/drawingml/2006/main">
              <a:ext uri="{FF2B5EF4-FFF2-40B4-BE49-F238E27FC236}">
                <a16:creationId xmlns:a16="http://schemas.microsoft.com/office/drawing/2014/main" id="{DE71A303-410A-4405-8376-D45B49DEB1EA}"/>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844" name="">
            <a:extLst xmlns:a="http://schemas.openxmlformats.org/drawingml/2006/main">
              <a:ext uri="{FF2B5EF4-FFF2-40B4-BE49-F238E27FC236}">
                <a16:creationId xmlns:a16="http://schemas.microsoft.com/office/drawing/2014/main" id="{501D9F73-45A6-4B9F-80DF-7353F2988914}"/>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§5.10 例题</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§5.10 Example questions</a:t>
            </a:r>
          </a:p>
        </p:txBody>
      </p:sp>
      <p:sp>
        <p:nvSpPr>
          <p:cNvPr id="845" name="">
            <a:extLst xmlns:a="http://schemas.openxmlformats.org/drawingml/2006/main">
              <a:ext uri="{FF2B5EF4-FFF2-40B4-BE49-F238E27FC236}">
                <a16:creationId xmlns:a16="http://schemas.microsoft.com/office/drawing/2014/main" id="{AE12A524-BDB6-4094-8EA2-1FD5D9F0B236}"/>
              </a:ext>
            </a:extLst>
          </p:cNvPr>
          <p:cNvSpPr>
            <a:spLocks xmlns:a="http://schemas.openxmlformats.org/drawingml/2006/main" noGrp="1"/>
          </p:cNvSpPr>
          <p:nvPr/>
        </p:nvSpPr>
        <p:spPr>
          <a:xfrm xmlns:a="http://schemas.openxmlformats.org/drawingml/2006/main" rot="0" flipH="0" flipV="0">
            <a:off x="457200" y="15621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Rectangle 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Rectangle class</a:t>
            </a:r>
          </a:p>
        </p:txBody>
      </p:sp>
      <p:sp>
        <p:nvSpPr>
          <p:cNvPr id="846" name="">
            <a:extLst xmlns:a="http://schemas.openxmlformats.org/drawingml/2006/main">
              <a:ext uri="{FF2B5EF4-FFF2-40B4-BE49-F238E27FC236}">
                <a16:creationId xmlns:a16="http://schemas.microsoft.com/office/drawing/2014/main" id="{3EA2D7A0-2AC5-410B-B5DE-D70D95D3EBF2}"/>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47" name="">
            <a:extLst xmlns:a="http://schemas.openxmlformats.org/drawingml/2006/main">
              <a:ext uri="{FF2B5EF4-FFF2-40B4-BE49-F238E27FC236}">
                <a16:creationId xmlns:a16="http://schemas.microsoft.com/office/drawing/2014/main" id="{65001CFD-AB94-492F-ABB9-3516A6C1B380}"/>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4454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Rectangle 是 Geometry 的子类，实现 getArea() 计算矩形面积。</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Rectangle is a subclass of Geometry that implements getArea() to calculate the area of ​​a rectangle.</a:t>
            </a:r>
          </a:p>
        </p:txBody>
      </p:sp>
      <p:pic>
        <p:nvPicPr>
          <p:cNvPr id="858" name=""/>
          <p:cNvPicPr>
            <a:picLocks xmlns:a="http://schemas.openxmlformats.org/drawingml/2006/main" noChangeAspect="1"/>
          </p:cNvPicPr>
          <p:nvPr/>
        </p:nvPicPr>
        <p:blipFill>
          <a:blip xmlns:r="http://schemas.openxmlformats.org/officeDocument/2006/relationships" xmlns:a="http://schemas.openxmlformats.org/drawingml/2006/main" r:embed="Rdf549d05fb4d4f37"/>
          <a:srcRect xmlns:a="http://schemas.openxmlformats.org/drawingml/2006/main" l="0" t="27" r="0" b="27"/>
          <a:stretch xmlns:a="http://schemas.openxmlformats.org/drawingml/2006/main">
            <a:fillRect l="0" t="0" r="0" b="0"/>
          </a:stretch>
        </p:blipFill>
        <p:spPr>
          <a:xfrm xmlns:a="http://schemas.openxmlformats.org/drawingml/2006/main" rot="0" flipH="0" flipV="0">
            <a:off x="4486275" y="1600200"/>
            <a:ext cx="6905625"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849" name="">
            <a:extLst xmlns:a="http://schemas.openxmlformats.org/drawingml/2006/main">
              <a:ext uri="{FF2B5EF4-FFF2-40B4-BE49-F238E27FC236}">
                <a16:creationId xmlns:a16="http://schemas.microsoft.com/office/drawing/2014/main" id="{CAC5B948-5C1B-4791-9657-E3C577CB70E5}"/>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69 / 87</a:t>
            </a:r>
            <a:endParaRPr/>
          </a:p>
        </p:txBody>
      </p:sp>
    </p:spTree>
    <p:extLst>
      <p:ext uri="{BB962C8B-B14F-4D97-AF65-F5344CB8AC3E}">
        <p14:creationId xmlns:p14="http://schemas.microsoft.com/office/powerpoint/2010/main" val="1666998108"/>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864" name="">
            <a:extLst xmlns:a="http://schemas.openxmlformats.org/drawingml/2006/main">
              <a:ext uri="{FF2B5EF4-FFF2-40B4-BE49-F238E27FC236}">
                <a16:creationId xmlns:a16="http://schemas.microsoft.com/office/drawing/2014/main" id="{06F77459-3C61-44F4-98F6-1DEEBC48F834}"/>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865" name="">
            <a:extLst xmlns:a="http://schemas.openxmlformats.org/drawingml/2006/main">
              <a:ext uri="{FF2B5EF4-FFF2-40B4-BE49-F238E27FC236}">
                <a16:creationId xmlns:a16="http://schemas.microsoft.com/office/drawing/2014/main" id="{C35E752C-F9A6-4006-A708-1DCC152C9C52}"/>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866" name="">
            <a:extLst xmlns:a="http://schemas.openxmlformats.org/drawingml/2006/main">
              <a:ext uri="{FF2B5EF4-FFF2-40B4-BE49-F238E27FC236}">
                <a16:creationId xmlns:a16="http://schemas.microsoft.com/office/drawing/2014/main" id="{0C65FBE3-31C4-4C07-9858-E325139711ED}"/>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867" name="">
            <a:extLst xmlns:a="http://schemas.openxmlformats.org/drawingml/2006/main">
              <a:ext uri="{FF2B5EF4-FFF2-40B4-BE49-F238E27FC236}">
                <a16:creationId xmlns:a16="http://schemas.microsoft.com/office/drawing/2014/main" id="{BA9F3698-7981-4FAA-87AB-27E6C5E8C5DC}"/>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§5.10 例题</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§5.10 Example questions</a:t>
            </a:r>
          </a:p>
        </p:txBody>
      </p:sp>
      <p:sp>
        <p:nvSpPr>
          <p:cNvPr id="868" name="">
            <a:extLst xmlns:a="http://schemas.openxmlformats.org/drawingml/2006/main">
              <a:ext uri="{FF2B5EF4-FFF2-40B4-BE49-F238E27FC236}">
                <a16:creationId xmlns:a16="http://schemas.microsoft.com/office/drawing/2014/main" id="{2EC16590-7DD8-4D26-8559-9E10D9D1111F}"/>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Application（主类）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Application (main class)</a:t>
            </a:r>
          </a:p>
        </p:txBody>
      </p:sp>
      <p:sp>
        <p:nvSpPr>
          <p:cNvPr id="869" name="">
            <a:extLst xmlns:a="http://schemas.openxmlformats.org/drawingml/2006/main">
              <a:ext uri="{FF2B5EF4-FFF2-40B4-BE49-F238E27FC236}">
                <a16:creationId xmlns:a16="http://schemas.microsoft.com/office/drawing/2014/main" id="{A42AA832-D4A2-44B4-9FD4-207699B7435A}"/>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70" name="">
            <a:extLst xmlns:a="http://schemas.openxmlformats.org/drawingml/2006/main">
              <a:ext uri="{FF2B5EF4-FFF2-40B4-BE49-F238E27FC236}">
                <a16:creationId xmlns:a16="http://schemas.microsoft.com/office/drawing/2014/main" id="{8AF2967C-CD56-4CFE-810A-EEE23C43F697}"/>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52235"/>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用 Pillar 创建 null 底、矩形底、圆形底三种柱体。</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Use Pillar to create three types of cylinders: null base, rectangular base, and circular base.</a:t>
            </a:r>
          </a:p>
        </p:txBody>
      </p:sp>
      <p:pic>
        <p:nvPicPr>
          <p:cNvPr id="881" name=""/>
          <p:cNvPicPr>
            <a:picLocks xmlns:a="http://schemas.openxmlformats.org/drawingml/2006/main" noChangeAspect="1"/>
          </p:cNvPicPr>
          <p:nvPr/>
        </p:nvPicPr>
        <p:blipFill>
          <a:blip xmlns:r="http://schemas.openxmlformats.org/officeDocument/2006/relationships" xmlns:a="http://schemas.openxmlformats.org/drawingml/2006/main" r:embed="Rf5b9426880b84312"/>
          <a:srcRect xmlns:a="http://schemas.openxmlformats.org/drawingml/2006/main" l="0" t="31" r="0" b="31"/>
          <a:stretch xmlns:a="http://schemas.openxmlformats.org/drawingml/2006/main">
            <a:fillRect l="0" t="0" r="0" b="0"/>
          </a:stretch>
        </p:blipFill>
        <p:spPr>
          <a:xfrm xmlns:a="http://schemas.openxmlformats.org/drawingml/2006/main" rot="0" flipH="0" flipV="0">
            <a:off x="4219575" y="1600200"/>
            <a:ext cx="744855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872" name="">
            <a:extLst xmlns:a="http://schemas.openxmlformats.org/drawingml/2006/main">
              <a:ext uri="{FF2B5EF4-FFF2-40B4-BE49-F238E27FC236}">
                <a16:creationId xmlns:a16="http://schemas.microsoft.com/office/drawing/2014/main" id="{92ACA8E7-63B1-4E74-9FF9-75F8274C21AC}"/>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70 / 87</a:t>
            </a:r>
            <a:endParaRPr/>
          </a:p>
        </p:txBody>
      </p:sp>
    </p:spTree>
    <p:extLst>
      <p:ext uri="{BB962C8B-B14F-4D97-AF65-F5344CB8AC3E}">
        <p14:creationId xmlns:p14="http://schemas.microsoft.com/office/powerpoint/2010/main" val="156045868"/>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874" name="">
            <a:extLst xmlns:a="http://schemas.openxmlformats.org/drawingml/2006/main">
              <a:ext uri="{FF2B5EF4-FFF2-40B4-BE49-F238E27FC236}">
                <a16:creationId xmlns:a16="http://schemas.microsoft.com/office/drawing/2014/main" id="{FD85E390-6293-4F5A-B54E-86CE39186941}"/>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875" name="">
            <a:extLst xmlns:a="http://schemas.openxmlformats.org/drawingml/2006/main">
              <a:ext uri="{FF2B5EF4-FFF2-40B4-BE49-F238E27FC236}">
                <a16:creationId xmlns:a16="http://schemas.microsoft.com/office/drawing/2014/main" id="{8849954E-7DA7-4A60-AC9E-5472C9DE2CD5}"/>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876" name="">
            <a:extLst xmlns:a="http://schemas.openxmlformats.org/drawingml/2006/main">
              <a:ext uri="{FF2B5EF4-FFF2-40B4-BE49-F238E27FC236}">
                <a16:creationId xmlns:a16="http://schemas.microsoft.com/office/drawing/2014/main" id="{43230C9F-19E6-401F-A2FA-5FAA08501A62}"/>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877" name="">
            <a:extLst xmlns:a="http://schemas.openxmlformats.org/drawingml/2006/main">
              <a:ext uri="{FF2B5EF4-FFF2-40B4-BE49-F238E27FC236}">
                <a16:creationId xmlns:a16="http://schemas.microsoft.com/office/drawing/2014/main" id="{728B0D6C-42F6-4A40-98EE-D83C1489B83F}"/>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§5.11</a:t>
            </a:r>
            <a:endParaRPr/>
          </a:p>
        </p:txBody>
      </p:sp>
      <p:sp>
        <p:nvSpPr>
          <p:cNvPr id="878" name="">
            <a:extLst xmlns:a="http://schemas.openxmlformats.org/drawingml/2006/main">
              <a:ext uri="{FF2B5EF4-FFF2-40B4-BE49-F238E27FC236}">
                <a16:creationId xmlns:a16="http://schemas.microsoft.com/office/drawing/2014/main" id="{FC38384A-380B-47DF-A1B0-B25E50568B72}"/>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开-闭原则</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open-closed principle</a:t>
            </a:r>
          </a:p>
        </p:txBody>
      </p:sp>
      <p:sp>
        <p:nvSpPr>
          <p:cNvPr id="879" name="">
            <a:extLst xmlns:a="http://schemas.openxmlformats.org/drawingml/2006/main">
              <a:ext uri="{FF2B5EF4-FFF2-40B4-BE49-F238E27FC236}">
                <a16:creationId xmlns:a16="http://schemas.microsoft.com/office/drawing/2014/main" id="{CB2F578E-B57D-43B6-9928-779A12B2E821}"/>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80" name="">
            <a:extLst xmlns:a="http://schemas.openxmlformats.org/drawingml/2006/main">
              <a:ext uri="{FF2B5EF4-FFF2-40B4-BE49-F238E27FC236}">
                <a16:creationId xmlns:a16="http://schemas.microsoft.com/office/drawing/2014/main" id="{385DECDA-EC79-416F-AA0A-0FFCFF3E6300}"/>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9565"/>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Open-Closed Principle：系统应当对扩展开放，对修改关闭。</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Open-Closed Principle: The system should be open for extension and closed for modification.</a:t>
            </a:r>
          </a:p>
        </p:txBody>
      </p:sp>
      <p:sp>
        <p:nvSpPr>
          <p:cNvPr id="881" name="">
            <a:extLst xmlns:a="http://schemas.openxmlformats.org/drawingml/2006/main">
              <a:ext uri="{FF2B5EF4-FFF2-40B4-BE49-F238E27FC236}">
                <a16:creationId xmlns:a16="http://schemas.microsoft.com/office/drawing/2014/main" id="{D8D69FBE-DED1-41DA-A396-1CE8925C70E3}"/>
              </a:ext>
            </a:extLst>
          </p:cNvPr>
          <p:cNvSpPr>
            <a:spLocks xmlns:a="http://schemas.openxmlformats.org/drawingml/2006/main" noGrp="1"/>
          </p:cNvSpPr>
          <p:nvPr/>
        </p:nvSpPr>
        <p:spPr>
          <a:xfrm xmlns:a="http://schemas.openxmlformats.org/drawingml/2006/main" rot="0" flipH="0" flipV="0">
            <a:off x="4181475" y="26384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82" name="">
            <a:extLst xmlns:a="http://schemas.openxmlformats.org/drawingml/2006/main">
              <a:ext uri="{FF2B5EF4-FFF2-40B4-BE49-F238E27FC236}">
                <a16:creationId xmlns:a16="http://schemas.microsoft.com/office/drawing/2014/main" id="{A3A38777-FECA-4B96-BF25-942AE0D953B1}"/>
              </a:ext>
            </a:extLst>
          </p:cNvPr>
          <p:cNvSpPr>
            <a:spLocks xmlns:a="http://schemas.openxmlformats.org/drawingml/2006/main" noGrp="1"/>
          </p:cNvSpPr>
          <p:nvPr/>
        </p:nvSpPr>
        <p:spPr>
          <a:xfrm xmlns:a="http://schemas.openxmlformats.org/drawingml/2006/main" rot="0" flipH="0" flipV="0">
            <a:off x="4371975" y="2524125"/>
            <a:ext cx="7362825" cy="390525"/>
          </a:xfrm>
          <a:prstGeom xmlns:a="http://schemas.openxmlformats.org/drawingml/2006/main" prst="rect">
            <a:avLst/>
          </a:prstGeom>
        </p:spPr>
        <p:txBody>
          <a:bodyPr xmlns:a="http://schemas.openxmlformats.org/drawingml/2006/main" wrap="none" lIns="0" tIns="0" rIns="0" bIns="0">
            <a:normAutofit fontScale="35004"/>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在设计系统时，首先考虑用户需求的变化，将应对用户变化的部分设计为对扩展开放</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When designing the system, first consider the changes in user needs, and design the parts that respond to user changes to be open to expansion.</a:t>
            </a:r>
          </a:p>
        </p:txBody>
      </p:sp>
      <p:sp>
        <p:nvSpPr>
          <p:cNvPr id="883" name="">
            <a:extLst xmlns:a="http://schemas.openxmlformats.org/drawingml/2006/main">
              <a:ext uri="{FF2B5EF4-FFF2-40B4-BE49-F238E27FC236}">
                <a16:creationId xmlns:a16="http://schemas.microsoft.com/office/drawing/2014/main" id="{24DA725F-073E-4051-98D7-DFDB811438B4}"/>
              </a:ext>
            </a:extLst>
          </p:cNvPr>
          <p:cNvSpPr>
            <a:spLocks xmlns:a="http://schemas.openxmlformats.org/drawingml/2006/main" noGrp="1"/>
          </p:cNvSpPr>
          <p:nvPr/>
        </p:nvSpPr>
        <p:spPr>
          <a:xfrm xmlns:a="http://schemas.openxmlformats.org/drawingml/2006/main" rot="0" flipH="0" flipV="0">
            <a:off x="4181475" y="32004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84" name="">
            <a:extLst xmlns:a="http://schemas.openxmlformats.org/drawingml/2006/main">
              <a:ext uri="{FF2B5EF4-FFF2-40B4-BE49-F238E27FC236}">
                <a16:creationId xmlns:a16="http://schemas.microsoft.com/office/drawing/2014/main" id="{05B08F31-A2C2-4036-87A0-58479809DD70}"/>
              </a:ext>
            </a:extLst>
          </p:cNvPr>
          <p:cNvSpPr>
            <a:spLocks xmlns:a="http://schemas.openxmlformats.org/drawingml/2006/main" noGrp="1"/>
          </p:cNvSpPr>
          <p:nvPr/>
        </p:nvSpPr>
        <p:spPr>
          <a:xfrm xmlns:a="http://schemas.openxmlformats.org/drawingml/2006/main" rot="0" flipH="0" flipV="0">
            <a:off x="4371975" y="3086100"/>
            <a:ext cx="736282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设计的核心部分是经过精心考虑后确定下来的基本结构，这部分应当是对修改关闭的，不能因为用户需求的变化而再发生变化</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core part of the design is the basic structure determined after careful consideration. This part should be closed to modification and cannot be changed due to changes in user needs.</a:t>
            </a:r>
          </a:p>
        </p:txBody>
      </p:sp>
      <p:sp>
        <p:nvSpPr>
          <p:cNvPr id="885" name="">
            <a:extLst xmlns:a="http://schemas.openxmlformats.org/drawingml/2006/main">
              <a:ext uri="{FF2B5EF4-FFF2-40B4-BE49-F238E27FC236}">
                <a16:creationId xmlns:a16="http://schemas.microsoft.com/office/drawing/2014/main" id="{E418B1FB-7B1E-46FF-A7A6-B105B5511E84}"/>
              </a:ext>
            </a:extLst>
          </p:cNvPr>
          <p:cNvSpPr>
            <a:spLocks xmlns:a="http://schemas.openxmlformats.org/drawingml/2006/main" noGrp="1"/>
          </p:cNvSpPr>
          <p:nvPr/>
        </p:nvSpPr>
        <p:spPr>
          <a:xfrm xmlns:a="http://schemas.openxmlformats.org/drawingml/2006/main" rot="0" flipH="0" flipV="0">
            <a:off x="4181475" y="41529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86" name="">
            <a:extLst xmlns:a="http://schemas.openxmlformats.org/drawingml/2006/main">
              <a:ext uri="{FF2B5EF4-FFF2-40B4-BE49-F238E27FC236}">
                <a16:creationId xmlns:a16="http://schemas.microsoft.com/office/drawing/2014/main" id="{8D2BD6AD-47DB-4BF6-82C6-E4B1236CCD06}"/>
              </a:ext>
            </a:extLst>
          </p:cNvPr>
          <p:cNvSpPr>
            <a:spLocks xmlns:a="http://schemas.openxmlformats.org/drawingml/2006/main" noGrp="1"/>
          </p:cNvSpPr>
          <p:nvPr/>
        </p:nvSpPr>
        <p:spPr>
          <a:xfrm xmlns:a="http://schemas.openxmlformats.org/drawingml/2006/main" rot="0" flipH="0" flipV="0">
            <a:off x="4371975" y="4038600"/>
            <a:ext cx="736282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如果系统的设计遵守了 “开-闭原则”，系统一定易维护：增加新模块时，不必修改系统中的核心模块</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If the design of the system follows the "open-close principle", the system must be easy to maintain: when adding new modules, there is no need to modify the core modules in the system</a:t>
            </a:r>
          </a:p>
        </p:txBody>
      </p:sp>
      <p:sp>
        <p:nvSpPr>
          <p:cNvPr id="887" name="">
            <a:extLst xmlns:a="http://schemas.openxmlformats.org/drawingml/2006/main">
              <a:ext uri="{FF2B5EF4-FFF2-40B4-BE49-F238E27FC236}">
                <a16:creationId xmlns:a16="http://schemas.microsoft.com/office/drawing/2014/main" id="{79D8727A-9172-49E7-B088-29C56A3E7673}"/>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71 / 87</a:t>
            </a:r>
            <a:endParaRPr/>
          </a:p>
        </p:txBody>
      </p:sp>
    </p:spTree>
    <p:extLst>
      <p:ext uri="{BB962C8B-B14F-4D97-AF65-F5344CB8AC3E}">
        <p14:creationId xmlns:p14="http://schemas.microsoft.com/office/powerpoint/2010/main" val="1043963815"/>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889" name="">
            <a:extLst xmlns:a="http://schemas.openxmlformats.org/drawingml/2006/main">
              <a:ext uri="{FF2B5EF4-FFF2-40B4-BE49-F238E27FC236}">
                <a16:creationId xmlns:a16="http://schemas.microsoft.com/office/drawing/2014/main" id="{EDC98A84-A55A-4BAE-91D8-2E722D402B24}"/>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890" name="">
            <a:extLst xmlns:a="http://schemas.openxmlformats.org/drawingml/2006/main">
              <a:ext uri="{FF2B5EF4-FFF2-40B4-BE49-F238E27FC236}">
                <a16:creationId xmlns:a16="http://schemas.microsoft.com/office/drawing/2014/main" id="{4D4FD15F-896E-4176-982A-4D0A9DB0C984}"/>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891" name="">
            <a:extLst xmlns:a="http://schemas.openxmlformats.org/drawingml/2006/main">
              <a:ext uri="{FF2B5EF4-FFF2-40B4-BE49-F238E27FC236}">
                <a16:creationId xmlns:a16="http://schemas.microsoft.com/office/drawing/2014/main" id="{8BABB73A-10AD-488F-AA55-27577BC56561}"/>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892" name="">
            <a:extLst xmlns:a="http://schemas.openxmlformats.org/drawingml/2006/main">
              <a:ext uri="{FF2B5EF4-FFF2-40B4-BE49-F238E27FC236}">
                <a16:creationId xmlns:a16="http://schemas.microsoft.com/office/drawing/2014/main" id="{7D74FBFC-0110-4186-AB42-986934E2F90D}"/>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§5.11</a:t>
            </a:r>
            <a:endParaRPr/>
          </a:p>
        </p:txBody>
      </p:sp>
      <p:sp>
        <p:nvSpPr>
          <p:cNvPr id="893" name="">
            <a:extLst xmlns:a="http://schemas.openxmlformats.org/drawingml/2006/main">
              <a:ext uri="{FF2B5EF4-FFF2-40B4-BE49-F238E27FC236}">
                <a16:creationId xmlns:a16="http://schemas.microsoft.com/office/drawing/2014/main" id="{EB6B2671-5925-4340-B64A-60F305F0EEBA}"/>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结合 5.10 例题说明开-闭原则</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Explain the open-closed principle with examples from 5.10</a:t>
            </a:r>
          </a:p>
        </p:txBody>
      </p:sp>
      <p:sp>
        <p:nvSpPr>
          <p:cNvPr id="894" name="">
            <a:extLst xmlns:a="http://schemas.openxmlformats.org/drawingml/2006/main">
              <a:ext uri="{FF2B5EF4-FFF2-40B4-BE49-F238E27FC236}">
                <a16:creationId xmlns:a16="http://schemas.microsoft.com/office/drawing/2014/main" id="{8D271981-E22C-418E-BACF-07CD56ACEC41}"/>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95" name="">
            <a:extLst xmlns:a="http://schemas.openxmlformats.org/drawingml/2006/main">
              <a:ext uri="{FF2B5EF4-FFF2-40B4-BE49-F238E27FC236}">
                <a16:creationId xmlns:a16="http://schemas.microsoft.com/office/drawing/2014/main" id="{DDB684FC-92FF-4C3A-86CF-5F13C1FB99EE}"/>
              </a:ext>
            </a:extLst>
          </p:cNvPr>
          <p:cNvSpPr>
            <a:spLocks xmlns:a="http://schemas.openxmlformats.org/drawingml/2006/main" noGrp="1"/>
          </p:cNvSpPr>
          <p:nvPr/>
        </p:nvSpPr>
        <p:spPr>
          <a:xfrm xmlns:a="http://schemas.openxmlformats.org/drawingml/2006/main" rot="0" flipH="0" flipV="0">
            <a:off x="457200" y="3190875"/>
            <a:ext cx="3381375" cy="1171575"/>
          </a:xfrm>
          <a:prstGeom xmlns:a="http://schemas.openxmlformats.org/drawingml/2006/main" prst="rect">
            <a:avLst/>
          </a:prstGeom>
        </p:spPr>
        <p:txBody>
          <a:bodyPr xmlns:a="http://schemas.openxmlformats.org/drawingml/2006/main" wrap="square" lIns="0" tIns="0" rIns="0" bIns="0">
            <a:normAutofit fontScale="47843"/>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Pillar、Geometry、Circle、Rectangle 构成一个小开发框架，Application 是使用框架的用户程序。</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Pillar, Geometry, Circle, and Rectangle constitute a small development framework, and Application is the user program that uses the framework.</a:t>
            </a:r>
          </a:p>
        </p:txBody>
      </p:sp>
      <p:sp>
        <p:nvSpPr>
          <p:cNvPr id="896" name="">
            <a:extLst xmlns:a="http://schemas.openxmlformats.org/drawingml/2006/main">
              <a:ext uri="{FF2B5EF4-FFF2-40B4-BE49-F238E27FC236}">
                <a16:creationId xmlns:a16="http://schemas.microsoft.com/office/drawing/2014/main" id="{0AE6759F-D2E8-4A98-975C-A98FF33642CF}"/>
              </a:ext>
            </a:extLst>
          </p:cNvPr>
          <p:cNvSpPr>
            <a:spLocks xmlns:a="http://schemas.openxmlformats.org/drawingml/2006/main" noGrp="1"/>
          </p:cNvSpPr>
          <p:nvPr/>
        </p:nvSpPr>
        <p:spPr>
          <a:xfrm xmlns:a="http://schemas.openxmlformats.org/drawingml/2006/main" rot="0" flipH="0" flipV="0">
            <a:off x="4181475" y="15144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97" name="">
            <a:extLst xmlns:a="http://schemas.openxmlformats.org/drawingml/2006/main">
              <a:ext uri="{FF2B5EF4-FFF2-40B4-BE49-F238E27FC236}">
                <a16:creationId xmlns:a16="http://schemas.microsoft.com/office/drawing/2014/main" id="{CF54E58B-4456-4522-8709-91D3562BAA52}"/>
              </a:ext>
            </a:extLst>
          </p:cNvPr>
          <p:cNvSpPr>
            <a:spLocks xmlns:a="http://schemas.openxmlformats.org/drawingml/2006/main" noGrp="1"/>
          </p:cNvSpPr>
          <p:nvPr/>
        </p:nvSpPr>
        <p:spPr>
          <a:xfrm xmlns:a="http://schemas.openxmlformats.org/drawingml/2006/main" rot="0" flipH="0" flipV="0">
            <a:off x="4371975" y="1400175"/>
            <a:ext cx="7362825" cy="390525"/>
          </a:xfrm>
          <a:prstGeom xmlns:a="http://schemas.openxmlformats.org/drawingml/2006/main" prst="rect">
            <a:avLst/>
          </a:prstGeom>
        </p:spPr>
        <p:txBody>
          <a:bodyPr xmlns:a="http://schemas.openxmlformats.org/drawingml/2006/main" wrap="none" lIns="0" tIns="0" rIns="0" bIns="0">
            <a:normAutofit fontScale="5345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框架满足 “开-闭” 原则，相对用户需求容易维护</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framework meets the "open-closed" principle and is easy to maintain relative to user needs.</a:t>
            </a:r>
          </a:p>
        </p:txBody>
      </p:sp>
      <p:sp>
        <p:nvSpPr>
          <p:cNvPr id="898" name="">
            <a:extLst xmlns:a="http://schemas.openxmlformats.org/drawingml/2006/main">
              <a:ext uri="{FF2B5EF4-FFF2-40B4-BE49-F238E27FC236}">
                <a16:creationId xmlns:a16="http://schemas.microsoft.com/office/drawing/2014/main" id="{16CF65FE-D052-4837-8173-6F548EAFE22C}"/>
              </a:ext>
            </a:extLst>
          </p:cNvPr>
          <p:cNvSpPr>
            <a:spLocks xmlns:a="http://schemas.openxmlformats.org/drawingml/2006/main" noGrp="1"/>
          </p:cNvSpPr>
          <p:nvPr/>
        </p:nvSpPr>
        <p:spPr>
          <a:xfrm xmlns:a="http://schemas.openxmlformats.org/drawingml/2006/main" rot="0" flipH="0" flipV="0">
            <a:off x="4181475" y="20764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99" name="">
            <a:extLst xmlns:a="http://schemas.openxmlformats.org/drawingml/2006/main">
              <a:ext uri="{FF2B5EF4-FFF2-40B4-BE49-F238E27FC236}">
                <a16:creationId xmlns:a16="http://schemas.microsoft.com/office/drawing/2014/main" id="{22130A3B-2DA5-474C-A909-77743A348B17}"/>
              </a:ext>
            </a:extLst>
          </p:cNvPr>
          <p:cNvSpPr>
            <a:spLocks xmlns:a="http://schemas.openxmlformats.org/drawingml/2006/main" noGrp="1"/>
          </p:cNvSpPr>
          <p:nvPr/>
        </p:nvSpPr>
        <p:spPr>
          <a:xfrm xmlns:a="http://schemas.openxmlformats.org/drawingml/2006/main" rot="0" flipH="0" flipV="0">
            <a:off x="4371975" y="1962150"/>
            <a:ext cx="736282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当用户程序需要使用 Pillar 创建三角形底的柱体时，只需在框架中增加一个 Geometry 的 Triangle 子类</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When the user program needs to use Pillar to create a cylinder with a triangular base, it only needs to add a Triangle subclass of Geometry to the framework.</a:t>
            </a:r>
          </a:p>
        </p:txBody>
      </p:sp>
      <p:sp>
        <p:nvSpPr>
          <p:cNvPr id="900" name="">
            <a:extLst xmlns:a="http://schemas.openxmlformats.org/drawingml/2006/main">
              <a:ext uri="{FF2B5EF4-FFF2-40B4-BE49-F238E27FC236}">
                <a16:creationId xmlns:a16="http://schemas.microsoft.com/office/drawing/2014/main" id="{160C9BC6-4DB9-4293-BEC3-D25792A52B0D}"/>
              </a:ext>
            </a:extLst>
          </p:cNvPr>
          <p:cNvSpPr>
            <a:spLocks xmlns:a="http://schemas.openxmlformats.org/drawingml/2006/main" noGrp="1"/>
          </p:cNvSpPr>
          <p:nvPr/>
        </p:nvSpPr>
        <p:spPr>
          <a:xfrm xmlns:a="http://schemas.openxmlformats.org/drawingml/2006/main" rot="0" flipH="0" flipV="0">
            <a:off x="4181475" y="30289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901" name="">
            <a:extLst xmlns:a="http://schemas.openxmlformats.org/drawingml/2006/main">
              <a:ext uri="{FF2B5EF4-FFF2-40B4-BE49-F238E27FC236}">
                <a16:creationId xmlns:a16="http://schemas.microsoft.com/office/drawing/2014/main" id="{880E6866-B35C-4414-9EDE-BA04879F4880}"/>
              </a:ext>
            </a:extLst>
          </p:cNvPr>
          <p:cNvSpPr>
            <a:spLocks xmlns:a="http://schemas.openxmlformats.org/drawingml/2006/main" noGrp="1"/>
          </p:cNvSpPr>
          <p:nvPr/>
        </p:nvSpPr>
        <p:spPr>
          <a:xfrm xmlns:a="http://schemas.openxmlformats.org/drawingml/2006/main" rot="0" flipH="0" flipV="0">
            <a:off x="4371975" y="291465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无需修改框架中的其他类</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No need to modify other classes in the framework</a:t>
            </a:r>
          </a:p>
        </p:txBody>
      </p:sp>
      <p:pic>
        <p:nvPicPr>
          <p:cNvPr id="918" name=""/>
          <p:cNvPicPr>
            <a:picLocks xmlns:a="http://schemas.openxmlformats.org/drawingml/2006/main" noChangeAspect="1"/>
          </p:cNvPicPr>
          <p:nvPr/>
        </p:nvPicPr>
        <p:blipFill>
          <a:blip xmlns:r="http://schemas.openxmlformats.org/officeDocument/2006/relationships" xmlns:a="http://schemas.openxmlformats.org/drawingml/2006/main" r:embed="R9fa7de4822e04ece"/>
          <a:srcRect xmlns:a="http://schemas.openxmlformats.org/drawingml/2006/main" l="15" t="0" r="15" b="0"/>
          <a:stretch xmlns:a="http://schemas.openxmlformats.org/drawingml/2006/main">
            <a:fillRect l="0" t="0" r="0" b="0"/>
          </a:stretch>
        </p:blipFill>
        <p:spPr>
          <a:xfrm xmlns:a="http://schemas.openxmlformats.org/drawingml/2006/main" rot="0" flipH="0" flipV="0">
            <a:off x="5295900" y="3629025"/>
            <a:ext cx="5334000" cy="2324100"/>
          </a:xfrm>
          <a:prstGeom xmlns:a="http://schemas.openxmlformats.org/drawingml/2006/main" prst="roundRect">
            <a:avLst>
              <a:gd name="adj" fmla="val 3279"/>
            </a:avLst>
          </a:prstGeom>
        </p:spPr>
      </p:pic>
      <p:sp>
        <p:nvSpPr>
          <p:cNvPr id="903" name="">
            <a:extLst xmlns:a="http://schemas.openxmlformats.org/drawingml/2006/main">
              <a:ext uri="{FF2B5EF4-FFF2-40B4-BE49-F238E27FC236}">
                <a16:creationId xmlns:a16="http://schemas.microsoft.com/office/drawing/2014/main" id="{CE6C6938-684C-4AA2-AA56-72270A11264C}"/>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72 / 87</a:t>
            </a:r>
            <a:endParaRPr/>
          </a:p>
        </p:txBody>
      </p:sp>
    </p:spTree>
    <p:extLst>
      <p:ext uri="{BB962C8B-B14F-4D97-AF65-F5344CB8AC3E}">
        <p14:creationId xmlns:p14="http://schemas.microsoft.com/office/powerpoint/2010/main" val="64674921"/>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905" name="">
            <a:extLst xmlns:a="http://schemas.openxmlformats.org/drawingml/2006/main">
              <a:ext uri="{FF2B5EF4-FFF2-40B4-BE49-F238E27FC236}">
                <a16:creationId xmlns:a16="http://schemas.microsoft.com/office/drawing/2014/main" id="{6C8D4D1D-9F7C-4BDB-A64A-A1D05A73440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906" name="">
            <a:extLst xmlns:a="http://schemas.openxmlformats.org/drawingml/2006/main">
              <a:ext uri="{FF2B5EF4-FFF2-40B4-BE49-F238E27FC236}">
                <a16:creationId xmlns:a16="http://schemas.microsoft.com/office/drawing/2014/main" id="{8A892B30-DA00-47CE-801B-A5256577F4C9}"/>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907" name="">
            <a:extLst xmlns:a="http://schemas.openxmlformats.org/drawingml/2006/main">
              <a:ext uri="{FF2B5EF4-FFF2-40B4-BE49-F238E27FC236}">
                <a16:creationId xmlns:a16="http://schemas.microsoft.com/office/drawing/2014/main" id="{E64DE73C-B08A-4332-99F8-07407ECC1AAC}"/>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908" name="">
            <a:extLst xmlns:a="http://schemas.openxmlformats.org/drawingml/2006/main">
              <a:ext uri="{FF2B5EF4-FFF2-40B4-BE49-F238E27FC236}">
                <a16:creationId xmlns:a16="http://schemas.microsoft.com/office/drawing/2014/main" id="{D1ABED31-499B-4602-99B5-58FCDDFEBFAA}"/>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§5.12</a:t>
            </a:r>
            <a:endParaRPr/>
          </a:p>
        </p:txBody>
      </p:sp>
      <p:sp>
        <p:nvSpPr>
          <p:cNvPr id="909" name="">
            <a:extLst xmlns:a="http://schemas.openxmlformats.org/drawingml/2006/main">
              <a:ext uri="{FF2B5EF4-FFF2-40B4-BE49-F238E27FC236}">
                <a16:creationId xmlns:a16="http://schemas.microsoft.com/office/drawing/2014/main" id="{F3D3715D-1848-4E84-A87A-22DEED0351CD}"/>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应用举例：手机与 SIM 卡</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Application examples: mobile phones and SIM cards</a:t>
            </a:r>
          </a:p>
        </p:txBody>
      </p:sp>
      <p:sp>
        <p:nvSpPr>
          <p:cNvPr id="910" name="">
            <a:extLst xmlns:a="http://schemas.openxmlformats.org/drawingml/2006/main">
              <a:ext uri="{FF2B5EF4-FFF2-40B4-BE49-F238E27FC236}">
                <a16:creationId xmlns:a16="http://schemas.microsoft.com/office/drawing/2014/main" id="{88946302-84A7-4F91-A6AB-F962FC152667}"/>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911" name="">
            <a:extLst xmlns:a="http://schemas.openxmlformats.org/drawingml/2006/main">
              <a:ext uri="{FF2B5EF4-FFF2-40B4-BE49-F238E27FC236}">
                <a16:creationId xmlns:a16="http://schemas.microsoft.com/office/drawing/2014/main" id="{2CE610FC-EB77-40AF-8639-D5F08243CFF1}"/>
              </a:ext>
            </a:extLst>
          </p:cNvPr>
          <p:cNvSpPr>
            <a:spLocks xmlns:a="http://schemas.openxmlformats.org/drawingml/2006/main" noGrp="1"/>
          </p:cNvSpPr>
          <p:nvPr/>
        </p:nvSpPr>
        <p:spPr>
          <a:xfrm xmlns:a="http://schemas.openxmlformats.org/drawingml/2006/main" rot="0" flipH="0" flipV="0">
            <a:off x="457200" y="3190875"/>
            <a:ext cx="3381375" cy="1562100"/>
          </a:xfrm>
          <a:prstGeom xmlns:a="http://schemas.openxmlformats.org/drawingml/2006/main" prst="rect">
            <a:avLst/>
          </a:prstGeom>
        </p:spPr>
        <p:txBody>
          <a:bodyPr xmlns:a="http://schemas.openxmlformats.org/drawingml/2006/main" wrap="square" lIns="0" tIns="0" rIns="0" bIns="0">
            <a:normAutofit fontScale="48258"/>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用类封装手机的基本属性和功能，要求手机既可以使用移动公司的 SIM 卡，也可以使用联通公司的 SIM 卡（可以使用任何公司提供的 SIM 卡）。</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Use classes to encapsulate the basic attributes and functions of mobile phones, requiring that the mobile phones can use either the SIM card of China Mobile or the SIM card of China Unicom (the SIM card provided by any company can be used).</a:t>
            </a:r>
          </a:p>
        </p:txBody>
      </p:sp>
      <p:sp>
        <p:nvSpPr>
          <p:cNvPr id="912" name="">
            <a:extLst xmlns:a="http://schemas.openxmlformats.org/drawingml/2006/main">
              <a:ext uri="{FF2B5EF4-FFF2-40B4-BE49-F238E27FC236}">
                <a16:creationId xmlns:a16="http://schemas.microsoft.com/office/drawing/2014/main" id="{BE45D2DD-B9A0-4935-98B5-E158577C7977}"/>
              </a:ext>
            </a:extLst>
          </p:cNvPr>
          <p:cNvSpPr>
            <a:spLocks xmlns:a="http://schemas.openxmlformats.org/drawingml/2006/main" noGrp="1"/>
          </p:cNvSpPr>
          <p:nvPr/>
        </p:nvSpPr>
        <p:spPr>
          <a:xfrm xmlns:a="http://schemas.openxmlformats.org/drawingml/2006/main" rot="0" flipH="0" flipV="0">
            <a:off x="4238625" y="1914525"/>
            <a:ext cx="2428875" cy="2781300"/>
          </a:xfrm>
          <a:prstGeom xmlns:a="http://schemas.openxmlformats.org/drawingml/2006/main" prst="roundRect">
            <a:avLst>
              <a:gd name="adj" fmla="val 392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913" name="">
            <a:extLst xmlns:a="http://schemas.openxmlformats.org/drawingml/2006/main">
              <a:ext uri="{FF2B5EF4-FFF2-40B4-BE49-F238E27FC236}">
                <a16:creationId xmlns:a16="http://schemas.microsoft.com/office/drawing/2014/main" id="{E1A89896-9B6E-46E8-B12C-4FFFCEC18D43}"/>
              </a:ext>
            </a:extLst>
          </p:cNvPr>
          <p:cNvSpPr>
            <a:spLocks xmlns:a="http://schemas.openxmlformats.org/drawingml/2006/main" noGrp="1"/>
          </p:cNvSpPr>
          <p:nvPr/>
        </p:nvSpPr>
        <p:spPr>
          <a:xfrm xmlns:a="http://schemas.openxmlformats.org/drawingml/2006/main" rot="0" flipH="0" flipV="0">
            <a:off x="4238625" y="1914525"/>
            <a:ext cx="2428875" cy="2781300"/>
          </a:xfrm>
          <a:custGeom xmlns:a="http://schemas.openxmlformats.org/drawingml/2006/main">
            <a:pathLst>
              <a:path w="255" h="292">
                <a:moveTo>
                  <a:pt x="10" y="0"/>
                </a:moveTo>
                <a:cubicBezTo>
                  <a:pt x="8" y="0"/>
                  <a:pt x="6" y="2"/>
                  <a:pt x="6" y="4"/>
                </a:cubicBezTo>
                <a:lnTo>
                  <a:pt x="6" y="288"/>
                </a:lnTo>
                <a:cubicBezTo>
                  <a:pt x="6" y="290"/>
                  <a:pt x="8" y="292"/>
                  <a:pt x="10" y="292"/>
                </a:cubicBezTo>
                <a:cubicBezTo>
                  <a:pt x="4" y="292"/>
                  <a:pt x="0" y="287"/>
                  <a:pt x="0" y="282"/>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914" name="">
            <a:extLst xmlns:a="http://schemas.openxmlformats.org/drawingml/2006/main">
              <a:ext uri="{FF2B5EF4-FFF2-40B4-BE49-F238E27FC236}">
                <a16:creationId xmlns:a16="http://schemas.microsoft.com/office/drawing/2014/main" id="{21FE4A3A-CEA8-4B91-8509-1A175A4501F1}"/>
              </a:ext>
            </a:extLst>
          </p:cNvPr>
          <p:cNvSpPr>
            <a:spLocks xmlns:a="http://schemas.openxmlformats.org/drawingml/2006/main" noGrp="1"/>
          </p:cNvSpPr>
          <p:nvPr/>
        </p:nvSpPr>
        <p:spPr>
          <a:xfrm xmlns:a="http://schemas.openxmlformats.org/drawingml/2006/main" rot="0" flipH="0" flipV="0">
            <a:off x="4429125" y="2066925"/>
            <a:ext cx="199072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1．问题的分析</a:t>
            </a:r>
          </a:p>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1. Analysis of the problem</a:t>
            </a:r>
          </a:p>
        </p:txBody>
      </p:sp>
      <p:sp>
        <p:nvSpPr>
          <p:cNvPr id="915" name="">
            <a:extLst xmlns:a="http://schemas.openxmlformats.org/drawingml/2006/main">
              <a:ext uri="{FF2B5EF4-FFF2-40B4-BE49-F238E27FC236}">
                <a16:creationId xmlns:a16="http://schemas.microsoft.com/office/drawing/2014/main" id="{C4973386-7B1C-43AC-8FA6-56429D3C311F}"/>
              </a:ext>
            </a:extLst>
          </p:cNvPr>
          <p:cNvSpPr>
            <a:spLocks xmlns:a="http://schemas.openxmlformats.org/drawingml/2006/main" noGrp="1"/>
          </p:cNvSpPr>
          <p:nvPr/>
        </p:nvSpPr>
        <p:spPr>
          <a:xfrm xmlns:a="http://schemas.openxmlformats.org/drawingml/2006/main" rot="0" flipH="0" flipV="0">
            <a:off x="4429125" y="2305050"/>
            <a:ext cx="1990725" cy="552450"/>
          </a:xfrm>
          <a:prstGeom xmlns:a="http://schemas.openxmlformats.org/drawingml/2006/main" prst="rect">
            <a:avLst/>
          </a:prstGeom>
        </p:spPr>
        <p:txBody>
          <a:bodyPr xmlns:a="http://schemas.openxmlformats.org/drawingml/2006/main" wrap="square" lIns="0" tIns="0" rIns="0" bIns="0">
            <a:normAutofit fontScale="39847"/>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手机不固定绑定某一家运营商，而是可以更换 SIM 卡</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mobile phone is not bound to a certain operator, but the SIM card can be changed</a:t>
            </a:r>
          </a:p>
        </p:txBody>
      </p:sp>
      <p:sp>
        <p:nvSpPr>
          <p:cNvPr id="916" name="">
            <a:extLst xmlns:a="http://schemas.openxmlformats.org/drawingml/2006/main">
              <a:ext uri="{FF2B5EF4-FFF2-40B4-BE49-F238E27FC236}">
                <a16:creationId xmlns:a16="http://schemas.microsoft.com/office/drawing/2014/main" id="{EEADE184-5525-4A6F-9325-E2923082E3BD}"/>
              </a:ext>
            </a:extLst>
          </p:cNvPr>
          <p:cNvSpPr>
            <a:spLocks xmlns:a="http://schemas.openxmlformats.org/drawingml/2006/main" noGrp="1"/>
          </p:cNvSpPr>
          <p:nvPr/>
        </p:nvSpPr>
        <p:spPr>
          <a:xfrm xmlns:a="http://schemas.openxmlformats.org/drawingml/2006/main" rot="0" flipH="0" flipV="0">
            <a:off x="4429125" y="2895600"/>
            <a:ext cx="1990725" cy="552450"/>
          </a:xfrm>
          <a:prstGeom xmlns:a="http://schemas.openxmlformats.org/drawingml/2006/main" prst="rect">
            <a:avLst/>
          </a:prstGeom>
        </p:spPr>
        <p:txBody>
          <a:bodyPr xmlns:a="http://schemas.openxmlformats.org/drawingml/2006/main" wrap="square" lIns="0" tIns="0" rIns="0" bIns="0">
            <a:normAutofit fontScale="43998"/>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手机类面向 “SIM 卡” 这个抽象概念编程</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mobile phone class is programmed for the abstract concept of "SIM card"</a:t>
            </a:r>
          </a:p>
        </p:txBody>
      </p:sp>
      <p:sp>
        <p:nvSpPr>
          <p:cNvPr id="917" name="">
            <a:extLst xmlns:a="http://schemas.openxmlformats.org/drawingml/2006/main">
              <a:ext uri="{FF2B5EF4-FFF2-40B4-BE49-F238E27FC236}">
                <a16:creationId xmlns:a16="http://schemas.microsoft.com/office/drawing/2014/main" id="{0A45FE00-6C69-414C-84A5-66579E71CF89}"/>
              </a:ext>
            </a:extLst>
          </p:cNvPr>
          <p:cNvSpPr>
            <a:spLocks xmlns:a="http://schemas.openxmlformats.org/drawingml/2006/main" noGrp="1"/>
          </p:cNvSpPr>
          <p:nvPr/>
        </p:nvSpPr>
        <p:spPr>
          <a:xfrm xmlns:a="http://schemas.openxmlformats.org/drawingml/2006/main" rot="0" flipH="0" flipV="0">
            <a:off x="6800850" y="1914525"/>
            <a:ext cx="2428875" cy="2781300"/>
          </a:xfrm>
          <a:prstGeom xmlns:a="http://schemas.openxmlformats.org/drawingml/2006/main" prst="roundRect">
            <a:avLst>
              <a:gd name="adj" fmla="val 392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918" name="">
            <a:extLst xmlns:a="http://schemas.openxmlformats.org/drawingml/2006/main">
              <a:ext uri="{FF2B5EF4-FFF2-40B4-BE49-F238E27FC236}">
                <a16:creationId xmlns:a16="http://schemas.microsoft.com/office/drawing/2014/main" id="{D177F6EC-4E31-43BB-AD11-C1D434BF6D97}"/>
              </a:ext>
            </a:extLst>
          </p:cNvPr>
          <p:cNvSpPr>
            <a:spLocks xmlns:a="http://schemas.openxmlformats.org/drawingml/2006/main" noGrp="1"/>
          </p:cNvSpPr>
          <p:nvPr/>
        </p:nvSpPr>
        <p:spPr>
          <a:xfrm xmlns:a="http://schemas.openxmlformats.org/drawingml/2006/main" rot="0" flipH="0" flipV="0">
            <a:off x="6800850" y="1914525"/>
            <a:ext cx="2428875" cy="2781300"/>
          </a:xfrm>
          <a:custGeom xmlns:a="http://schemas.openxmlformats.org/drawingml/2006/main">
            <a:pathLst>
              <a:path w="255" h="292">
                <a:moveTo>
                  <a:pt x="10" y="0"/>
                </a:moveTo>
                <a:cubicBezTo>
                  <a:pt x="8" y="0"/>
                  <a:pt x="6" y="2"/>
                  <a:pt x="6" y="4"/>
                </a:cubicBezTo>
                <a:lnTo>
                  <a:pt x="6" y="288"/>
                </a:lnTo>
                <a:cubicBezTo>
                  <a:pt x="6" y="290"/>
                  <a:pt x="8" y="292"/>
                  <a:pt x="10" y="292"/>
                </a:cubicBezTo>
                <a:cubicBezTo>
                  <a:pt x="4" y="292"/>
                  <a:pt x="0" y="287"/>
                  <a:pt x="0" y="282"/>
                </a:cubicBezTo>
                <a:lnTo>
                  <a:pt x="0" y="10"/>
                </a:lnTo>
                <a:cubicBezTo>
                  <a:pt x="0" y="5"/>
                  <a:pt x="4" y="0"/>
                  <a:pt x="10" y="0"/>
                </a:cubicBezTo>
                <a:close/>
              </a:path>
            </a:pathLst>
          </a:custGeom>
          <a:solidFill xmlns:a="http://schemas.openxmlformats.org/drawingml/2006/main">
            <a:srgbClr val="3D7BD9"/>
          </a:solidFill>
        </p:spPr>
        <p:txBody>
          <a:bodyPr xmlns:a="http://schemas.openxmlformats.org/drawingml/2006/main"/>
          <a:lstStyle xmlns:a="http://schemas.openxmlformats.org/drawingml/2006/main"/>
          <a:p xmlns:a="http://schemas.openxmlformats.org/drawingml/2006/main"/>
        </p:txBody>
      </p:sp>
      <p:sp>
        <p:nvSpPr>
          <p:cNvPr id="919" name="">
            <a:extLst xmlns:a="http://schemas.openxmlformats.org/drawingml/2006/main">
              <a:ext uri="{FF2B5EF4-FFF2-40B4-BE49-F238E27FC236}">
                <a16:creationId xmlns:a16="http://schemas.microsoft.com/office/drawing/2014/main" id="{267A02F9-D875-4CAE-AC56-80D8F6544359}"/>
              </a:ext>
            </a:extLst>
          </p:cNvPr>
          <p:cNvSpPr>
            <a:spLocks xmlns:a="http://schemas.openxmlformats.org/drawingml/2006/main" noGrp="1"/>
          </p:cNvSpPr>
          <p:nvPr/>
        </p:nvSpPr>
        <p:spPr>
          <a:xfrm xmlns:a="http://schemas.openxmlformats.org/drawingml/2006/main" rot="0" flipH="0" flipV="0">
            <a:off x="6991350" y="2066925"/>
            <a:ext cx="199072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3D7BD9"/>
                </a:solidFill>
                <a:latin typeface="Microsoft YaHei"/>
                <a:ea typeface="Microsoft YaHei"/>
                <a:cs typeface="Microsoft YaHei"/>
              </a:rPr>
              <a:t>2．设计抽象类</a:t>
            </a:r>
          </a:p>
          <a:p xmlns:a="http://schemas.openxmlformats.org/drawingml/2006/main">
            <a:pPr marL="0">
              <a:lnSpc>
                <a:spcPct val="100000"/>
              </a:lnSpc>
              <a:spcBef>
                <a:spcPts val="0"/>
              </a:spcBef>
              <a:spcAft>
                <a:spcPts val="0"/>
              </a:spcAft>
              <a:buNone/>
            </a:pPr>
            <a:r>
              <a:rPr sz="2010" b="1">
                <a:solidFill>
                  <a:srgbClr val="3D7BD9"/>
                </a:solidFill>
                <a:latin typeface="Microsoft YaHei"/>
                <a:ea typeface="Microsoft YaHei"/>
                <a:cs typeface="Microsoft YaHei"/>
              </a:rPr>
              <a:t>2. Design abstract class</a:t>
            </a:r>
          </a:p>
        </p:txBody>
      </p:sp>
      <p:sp>
        <p:nvSpPr>
          <p:cNvPr id="920" name="">
            <a:extLst xmlns:a="http://schemas.openxmlformats.org/drawingml/2006/main">
              <a:ext uri="{FF2B5EF4-FFF2-40B4-BE49-F238E27FC236}">
                <a16:creationId xmlns:a16="http://schemas.microsoft.com/office/drawing/2014/main" id="{81C69F08-C05B-4DFE-856F-85B1DFA22892}"/>
              </a:ext>
            </a:extLst>
          </p:cNvPr>
          <p:cNvSpPr>
            <a:spLocks xmlns:a="http://schemas.openxmlformats.org/drawingml/2006/main" noGrp="1"/>
          </p:cNvSpPr>
          <p:nvPr/>
        </p:nvSpPr>
        <p:spPr>
          <a:xfrm xmlns:a="http://schemas.openxmlformats.org/drawingml/2006/main" rot="0" flipH="0" flipV="0">
            <a:off x="6991350" y="2305050"/>
            <a:ext cx="1990725" cy="1371600"/>
          </a:xfrm>
          <a:prstGeom xmlns:a="http://schemas.openxmlformats.org/drawingml/2006/main" prst="rect">
            <a:avLst/>
          </a:prstGeom>
        </p:spPr>
        <p:txBody>
          <a:bodyPr xmlns:a="http://schemas.openxmlformats.org/drawingml/2006/main" wrap="square" lIns="0" tIns="0" rIns="0" bIns="0">
            <a:normAutofit fontScale="5653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SIM 是抽象类，声明 setNumber()、giveNumber()、giveCorpName() 三个行为标准</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SIM is an abstract class that declares three behavioral standards: setNumber(), giveNumber(), and giveCorpName()</a:t>
            </a:r>
          </a:p>
        </p:txBody>
      </p:sp>
      <p:sp>
        <p:nvSpPr>
          <p:cNvPr id="921" name="">
            <a:extLst xmlns:a="http://schemas.openxmlformats.org/drawingml/2006/main">
              <a:ext uri="{FF2B5EF4-FFF2-40B4-BE49-F238E27FC236}">
                <a16:creationId xmlns:a16="http://schemas.microsoft.com/office/drawing/2014/main" id="{66174410-FED9-4570-81D3-45FDEC20D8B6}"/>
              </a:ext>
            </a:extLst>
          </p:cNvPr>
          <p:cNvSpPr>
            <a:spLocks xmlns:a="http://schemas.openxmlformats.org/drawingml/2006/main" noGrp="1"/>
          </p:cNvSpPr>
          <p:nvPr/>
        </p:nvSpPr>
        <p:spPr>
          <a:xfrm xmlns:a="http://schemas.openxmlformats.org/drawingml/2006/main" rot="0" flipH="0" flipV="0">
            <a:off x="6991350" y="3714750"/>
            <a:ext cx="1990725" cy="828675"/>
          </a:xfrm>
          <a:prstGeom xmlns:a="http://schemas.openxmlformats.org/drawingml/2006/main" prst="rect">
            <a:avLst/>
          </a:prstGeom>
        </p:spPr>
        <p:txBody>
          <a:bodyPr xmlns:a="http://schemas.openxmlformats.org/drawingml/2006/main" wrap="square" lIns="0" tIns="0" rIns="0" bIns="0">
            <a:normAutofit fontScale="5754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SIMOfChinaMobile、SIMOfChinaUnicom 分别实现</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SIMOfChinaMobile and SIMOfChinaUnicom are implemented respectively</a:t>
            </a:r>
          </a:p>
        </p:txBody>
      </p:sp>
      <p:sp>
        <p:nvSpPr>
          <p:cNvPr id="922" name="">
            <a:extLst xmlns:a="http://schemas.openxmlformats.org/drawingml/2006/main">
              <a:ext uri="{FF2B5EF4-FFF2-40B4-BE49-F238E27FC236}">
                <a16:creationId xmlns:a16="http://schemas.microsoft.com/office/drawing/2014/main" id="{A5CE0C31-4670-4E28-B0E6-6F559C3D8926}"/>
              </a:ext>
            </a:extLst>
          </p:cNvPr>
          <p:cNvSpPr>
            <a:spLocks xmlns:a="http://schemas.openxmlformats.org/drawingml/2006/main" noGrp="1"/>
          </p:cNvSpPr>
          <p:nvPr/>
        </p:nvSpPr>
        <p:spPr>
          <a:xfrm xmlns:a="http://schemas.openxmlformats.org/drawingml/2006/main" rot="0" flipH="0" flipV="0">
            <a:off x="9363075" y="1914525"/>
            <a:ext cx="2428875" cy="2781300"/>
          </a:xfrm>
          <a:prstGeom xmlns:a="http://schemas.openxmlformats.org/drawingml/2006/main" prst="roundRect">
            <a:avLst>
              <a:gd name="adj" fmla="val 392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923" name="">
            <a:extLst xmlns:a="http://schemas.openxmlformats.org/drawingml/2006/main">
              <a:ext uri="{FF2B5EF4-FFF2-40B4-BE49-F238E27FC236}">
                <a16:creationId xmlns:a16="http://schemas.microsoft.com/office/drawing/2014/main" id="{16B68A23-B964-423A-BF54-E439FA7B0CA9}"/>
              </a:ext>
            </a:extLst>
          </p:cNvPr>
          <p:cNvSpPr>
            <a:spLocks xmlns:a="http://schemas.openxmlformats.org/drawingml/2006/main" noGrp="1"/>
          </p:cNvSpPr>
          <p:nvPr/>
        </p:nvSpPr>
        <p:spPr>
          <a:xfrm xmlns:a="http://schemas.openxmlformats.org/drawingml/2006/main" rot="0" flipH="0" flipV="0">
            <a:off x="9363075" y="1914525"/>
            <a:ext cx="2428875" cy="2781300"/>
          </a:xfrm>
          <a:custGeom xmlns:a="http://schemas.openxmlformats.org/drawingml/2006/main">
            <a:pathLst>
              <a:path w="255" h="292">
                <a:moveTo>
                  <a:pt x="10" y="0"/>
                </a:moveTo>
                <a:cubicBezTo>
                  <a:pt x="8" y="0"/>
                  <a:pt x="6" y="2"/>
                  <a:pt x="6" y="4"/>
                </a:cubicBezTo>
                <a:lnTo>
                  <a:pt x="6" y="288"/>
                </a:lnTo>
                <a:cubicBezTo>
                  <a:pt x="6" y="290"/>
                  <a:pt x="8" y="292"/>
                  <a:pt x="10" y="292"/>
                </a:cubicBezTo>
                <a:cubicBezTo>
                  <a:pt x="4" y="292"/>
                  <a:pt x="0" y="287"/>
                  <a:pt x="0" y="282"/>
                </a:cubicBezTo>
                <a:lnTo>
                  <a:pt x="0" y="10"/>
                </a:lnTo>
                <a:cubicBezTo>
                  <a:pt x="0" y="5"/>
                  <a:pt x="4" y="0"/>
                  <a:pt x="10"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924" name="">
            <a:extLst xmlns:a="http://schemas.openxmlformats.org/drawingml/2006/main">
              <a:ext uri="{FF2B5EF4-FFF2-40B4-BE49-F238E27FC236}">
                <a16:creationId xmlns:a16="http://schemas.microsoft.com/office/drawing/2014/main" id="{BCFBFB85-9C84-4009-89FF-22B7FCC5ECC3}"/>
              </a:ext>
            </a:extLst>
          </p:cNvPr>
          <p:cNvSpPr>
            <a:spLocks xmlns:a="http://schemas.openxmlformats.org/drawingml/2006/main" noGrp="1"/>
          </p:cNvSpPr>
          <p:nvPr/>
        </p:nvSpPr>
        <p:spPr>
          <a:xfrm xmlns:a="http://schemas.openxmlformats.org/drawingml/2006/main" rot="0" flipH="0" flipV="0">
            <a:off x="9553575" y="2066925"/>
            <a:ext cx="199072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3．设计手机类</a:t>
            </a:r>
          </a:p>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3． Design mobile phones</a:t>
            </a:r>
          </a:p>
        </p:txBody>
      </p:sp>
      <p:sp>
        <p:nvSpPr>
          <p:cNvPr id="925" name="">
            <a:extLst xmlns:a="http://schemas.openxmlformats.org/drawingml/2006/main">
              <a:ext uri="{FF2B5EF4-FFF2-40B4-BE49-F238E27FC236}">
                <a16:creationId xmlns:a16="http://schemas.microsoft.com/office/drawing/2014/main" id="{E9E84646-B6EA-4EE4-910B-9D05636BE39D}"/>
              </a:ext>
            </a:extLst>
          </p:cNvPr>
          <p:cNvSpPr>
            <a:spLocks xmlns:a="http://schemas.openxmlformats.org/drawingml/2006/main" noGrp="1"/>
          </p:cNvSpPr>
          <p:nvPr/>
        </p:nvSpPr>
        <p:spPr>
          <a:xfrm xmlns:a="http://schemas.openxmlformats.org/drawingml/2006/main" rot="0" flipH="0" flipV="0">
            <a:off x="9553575" y="2305050"/>
            <a:ext cx="1990725" cy="828675"/>
          </a:xfrm>
          <a:prstGeom xmlns:a="http://schemas.openxmlformats.org/drawingml/2006/main" prst="rect">
            <a:avLst/>
          </a:prstGeom>
        </p:spPr>
        <p:txBody>
          <a:bodyPr xmlns:a="http://schemas.openxmlformats.org/drawingml/2006/main" wrap="square" lIns="0" tIns="0" rIns="0" bIns="0">
            <a:normAutofit fontScale="53014"/>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MobileTelephone 面向抽象类 SIM 编程：card 是 SIM 类型变量</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MobileTelephone is oriented to abstract class SIM programming: card is a SIM type variable</a:t>
            </a:r>
          </a:p>
        </p:txBody>
      </p:sp>
      <p:sp>
        <p:nvSpPr>
          <p:cNvPr id="926" name="">
            <a:extLst xmlns:a="http://schemas.openxmlformats.org/drawingml/2006/main">
              <a:ext uri="{FF2B5EF4-FFF2-40B4-BE49-F238E27FC236}">
                <a16:creationId xmlns:a16="http://schemas.microsoft.com/office/drawing/2014/main" id="{146C26CE-5376-4C5E-A28A-0D5AD4ABC25C}"/>
              </a:ext>
            </a:extLst>
          </p:cNvPr>
          <p:cNvSpPr>
            <a:spLocks xmlns:a="http://schemas.openxmlformats.org/drawingml/2006/main" noGrp="1"/>
          </p:cNvSpPr>
          <p:nvPr/>
        </p:nvSpPr>
        <p:spPr>
          <a:xfrm xmlns:a="http://schemas.openxmlformats.org/drawingml/2006/main" rot="0" flipH="0" flipV="0">
            <a:off x="9553575" y="3171825"/>
            <a:ext cx="1990725" cy="552450"/>
          </a:xfrm>
          <a:prstGeom xmlns:a="http://schemas.openxmlformats.org/drawingml/2006/main" prst="rect">
            <a:avLst/>
          </a:prstGeom>
        </p:spPr>
        <p:txBody>
          <a:bodyPr xmlns:a="http://schemas.openxmlformats.org/drawingml/2006/main" wrap="square" lIns="0" tIns="0" rIns="0" bIns="0">
            <a:normAutofit fontScale="4603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useSIM() 更换 SIM 卡，showMess() 显示卡的信息</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useSIM() replaces the SIM card, showMess() displays card information</a:t>
            </a:r>
          </a:p>
        </p:txBody>
      </p:sp>
      <p:sp>
        <p:nvSpPr>
          <p:cNvPr id="927" name="">
            <a:extLst xmlns:a="http://schemas.openxmlformats.org/drawingml/2006/main">
              <a:ext uri="{FF2B5EF4-FFF2-40B4-BE49-F238E27FC236}">
                <a16:creationId xmlns:a16="http://schemas.microsoft.com/office/drawing/2014/main" id="{3CBE3A7A-42C4-4AAD-BAA0-107EF91BF033}"/>
              </a:ext>
            </a:extLst>
          </p:cNvPr>
          <p:cNvSpPr>
            <a:spLocks xmlns:a="http://schemas.openxmlformats.org/drawingml/2006/main" noGrp="1"/>
          </p:cNvSpPr>
          <p:nvPr/>
        </p:nvSpPr>
        <p:spPr>
          <a:xfrm xmlns:a="http://schemas.openxmlformats.org/drawingml/2006/main" rot="0" flipH="0" flipV="0">
            <a:off x="4181475" y="4867275"/>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928" name="">
            <a:extLst xmlns:a="http://schemas.openxmlformats.org/drawingml/2006/main">
              <a:ext uri="{FF2B5EF4-FFF2-40B4-BE49-F238E27FC236}">
                <a16:creationId xmlns:a16="http://schemas.microsoft.com/office/drawing/2014/main" id="{84B14F80-77CA-41F7-8A16-669E276A40F7}"/>
              </a:ext>
            </a:extLst>
          </p:cNvPr>
          <p:cNvSpPr>
            <a:spLocks xmlns:a="http://schemas.openxmlformats.org/drawingml/2006/main" noGrp="1"/>
          </p:cNvSpPr>
          <p:nvPr/>
        </p:nvSpPr>
        <p:spPr>
          <a:xfrm xmlns:a="http://schemas.openxmlformats.org/drawingml/2006/main" rot="0" flipH="0" flipV="0">
            <a:off x="4371975" y="5000625"/>
            <a:ext cx="7172325" cy="295275"/>
          </a:xfrm>
          <a:prstGeom xmlns:a="http://schemas.openxmlformats.org/drawingml/2006/main" prst="rect">
            <a:avLst/>
          </a:prstGeom>
        </p:spPr>
        <p:txBody>
          <a:bodyPr xmlns:a="http://schemas.openxmlformats.org/drawingml/2006/main" wrap="non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例子13 中的类：MobileTelephone、SIM、SIMOfChinaMobile、SIMOfChinaUnicom、Application。</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Classes in Example 13: MobileTelephone, SIM, SIMOfChinaMobile, SIMOfChinaUnicom, Application.</a:t>
            </a:r>
          </a:p>
        </p:txBody>
      </p:sp>
      <p:sp>
        <p:nvSpPr>
          <p:cNvPr id="929" name="">
            <a:extLst xmlns:a="http://schemas.openxmlformats.org/drawingml/2006/main">
              <a:ext uri="{FF2B5EF4-FFF2-40B4-BE49-F238E27FC236}">
                <a16:creationId xmlns:a16="http://schemas.microsoft.com/office/drawing/2014/main" id="{586074F1-8624-4228-A99D-2A3956A36958}"/>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73 / 87</a:t>
            </a:r>
            <a:endParaRPr/>
          </a:p>
        </p:txBody>
      </p:sp>
    </p:spTree>
    <p:extLst>
      <p:ext uri="{BB962C8B-B14F-4D97-AF65-F5344CB8AC3E}">
        <p14:creationId xmlns:p14="http://schemas.microsoft.com/office/powerpoint/2010/main" val="745006882"/>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931" name="">
            <a:extLst xmlns:a="http://schemas.openxmlformats.org/drawingml/2006/main">
              <a:ext uri="{FF2B5EF4-FFF2-40B4-BE49-F238E27FC236}">
                <a16:creationId xmlns:a16="http://schemas.microsoft.com/office/drawing/2014/main" id="{4306FFDA-170A-4873-8296-63C86C746618}"/>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932" name="">
            <a:extLst xmlns:a="http://schemas.openxmlformats.org/drawingml/2006/main">
              <a:ext uri="{FF2B5EF4-FFF2-40B4-BE49-F238E27FC236}">
                <a16:creationId xmlns:a16="http://schemas.microsoft.com/office/drawing/2014/main" id="{A20F4014-B28D-4162-983B-60D7C83A1DC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933" name="">
            <a:extLst xmlns:a="http://schemas.openxmlformats.org/drawingml/2006/main">
              <a:ext uri="{FF2B5EF4-FFF2-40B4-BE49-F238E27FC236}">
                <a16:creationId xmlns:a16="http://schemas.microsoft.com/office/drawing/2014/main" id="{37D504E3-9183-4DCE-8F34-96E6D4D501A0}"/>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934" name="">
            <a:extLst xmlns:a="http://schemas.openxmlformats.org/drawingml/2006/main">
              <a:ext uri="{FF2B5EF4-FFF2-40B4-BE49-F238E27FC236}">
                <a16:creationId xmlns:a16="http://schemas.microsoft.com/office/drawing/2014/main" id="{2A50535D-A7D5-4944-8D16-6EA46AC66368}"/>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例子13</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13</a:t>
            </a:r>
          </a:p>
        </p:txBody>
      </p:sp>
      <p:sp>
        <p:nvSpPr>
          <p:cNvPr id="935" name="">
            <a:extLst xmlns:a="http://schemas.openxmlformats.org/drawingml/2006/main">
              <a:ext uri="{FF2B5EF4-FFF2-40B4-BE49-F238E27FC236}">
                <a16:creationId xmlns:a16="http://schemas.microsoft.com/office/drawing/2014/main" id="{21F99581-D867-44DC-838C-9B1FFD8B8AF7}"/>
              </a:ext>
            </a:extLst>
          </p:cNvPr>
          <p:cNvSpPr>
            <a:spLocks xmlns:a="http://schemas.openxmlformats.org/drawingml/2006/main" noGrp="1"/>
          </p:cNvSpPr>
          <p:nvPr/>
        </p:nvSpPr>
        <p:spPr>
          <a:xfrm xmlns:a="http://schemas.openxmlformats.org/drawingml/2006/main" rot="0" flipH="0" flipV="0">
            <a:off x="457200" y="15621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SIM 抽象类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SIM abstract class</a:t>
            </a:r>
          </a:p>
        </p:txBody>
      </p:sp>
      <p:sp>
        <p:nvSpPr>
          <p:cNvPr id="936" name="">
            <a:extLst xmlns:a="http://schemas.openxmlformats.org/drawingml/2006/main">
              <a:ext uri="{FF2B5EF4-FFF2-40B4-BE49-F238E27FC236}">
                <a16:creationId xmlns:a16="http://schemas.microsoft.com/office/drawing/2014/main" id="{8C387931-5267-4DD6-86E6-E73E34380792}"/>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937" name="">
            <a:extLst xmlns:a="http://schemas.openxmlformats.org/drawingml/2006/main">
              <a:ext uri="{FF2B5EF4-FFF2-40B4-BE49-F238E27FC236}">
                <a16:creationId xmlns:a16="http://schemas.microsoft.com/office/drawing/2014/main" id="{455E3B83-18EA-4582-B690-976EE63760EF}"/>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声明三个行为标准，定义 “任何公司提供的 SIM 卡”。</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State three standards of conduct that define "any company-provided SIM card."</a:t>
            </a:r>
          </a:p>
        </p:txBody>
      </p:sp>
      <p:pic>
        <p:nvPicPr>
          <p:cNvPr id="948" name=""/>
          <p:cNvPicPr>
            <a:picLocks xmlns:a="http://schemas.openxmlformats.org/drawingml/2006/main" noChangeAspect="1"/>
          </p:cNvPicPr>
          <p:nvPr/>
        </p:nvPicPr>
        <p:blipFill>
          <a:blip xmlns:r="http://schemas.openxmlformats.org/officeDocument/2006/relationships" xmlns:a="http://schemas.openxmlformats.org/drawingml/2006/main" r:embed="Ra65d1e3193494885"/>
          <a:srcRect xmlns:a="http://schemas.openxmlformats.org/drawingml/2006/main" l="37" t="0" r="37" b="0"/>
          <a:stretch xmlns:a="http://schemas.openxmlformats.org/drawingml/2006/main">
            <a:fillRect l="0" t="0" r="0" b="0"/>
          </a:stretch>
        </p:blipFill>
        <p:spPr>
          <a:xfrm xmlns:a="http://schemas.openxmlformats.org/drawingml/2006/main" rot="0" flipH="0" flipV="0">
            <a:off x="4143375" y="2247900"/>
            <a:ext cx="7591425" cy="2809875"/>
          </a:xfrm>
          <a:prstGeom xmlns:a="http://schemas.openxmlformats.org/drawingml/2006/main" prst="roundRect">
            <a:avLst>
              <a:gd name="adj" fmla="val 4068"/>
            </a:avLst>
          </a:prstGeom>
          <a:effectLst xmlns:a="http://schemas.openxmlformats.org/drawingml/2006/main">
            <a:outerShdw blurRad="152400" dist="38100" dir="5400000">
              <a:srgbClr val="0F1C2E">
                <a:alpha val="8000"/>
              </a:srgbClr>
            </a:outerShdw>
          </a:effectLst>
        </p:spPr>
      </p:pic>
      <p:sp>
        <p:nvSpPr>
          <p:cNvPr id="939" name="">
            <a:extLst xmlns:a="http://schemas.openxmlformats.org/drawingml/2006/main">
              <a:ext uri="{FF2B5EF4-FFF2-40B4-BE49-F238E27FC236}">
                <a16:creationId xmlns:a16="http://schemas.microsoft.com/office/drawing/2014/main" id="{BA0F9DDA-1EED-40C9-9FEF-299DFDB43C69}"/>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74 / 87</a:t>
            </a:r>
            <a:endParaRPr/>
          </a:p>
        </p:txBody>
      </p:sp>
    </p:spTree>
    <p:extLst>
      <p:ext uri="{BB962C8B-B14F-4D97-AF65-F5344CB8AC3E}">
        <p14:creationId xmlns:p14="http://schemas.microsoft.com/office/powerpoint/2010/main" val="1283672005"/>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941" name="">
            <a:extLst xmlns:a="http://schemas.openxmlformats.org/drawingml/2006/main">
              <a:ext uri="{FF2B5EF4-FFF2-40B4-BE49-F238E27FC236}">
                <a16:creationId xmlns:a16="http://schemas.microsoft.com/office/drawing/2014/main" id="{65AC8E35-AF80-4D0C-B7FA-FB6D15E2ADBF}"/>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942" name="">
            <a:extLst xmlns:a="http://schemas.openxmlformats.org/drawingml/2006/main">
              <a:ext uri="{FF2B5EF4-FFF2-40B4-BE49-F238E27FC236}">
                <a16:creationId xmlns:a16="http://schemas.microsoft.com/office/drawing/2014/main" id="{5E473AE7-6F52-4E94-829D-1505A49F5AB7}"/>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943" name="">
            <a:extLst xmlns:a="http://schemas.openxmlformats.org/drawingml/2006/main">
              <a:ext uri="{FF2B5EF4-FFF2-40B4-BE49-F238E27FC236}">
                <a16:creationId xmlns:a16="http://schemas.microsoft.com/office/drawing/2014/main" id="{FF8B0A4D-C1BC-4836-A94F-BBF11FF3521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944" name="">
            <a:extLst xmlns:a="http://schemas.openxmlformats.org/drawingml/2006/main">
              <a:ext uri="{FF2B5EF4-FFF2-40B4-BE49-F238E27FC236}">
                <a16:creationId xmlns:a16="http://schemas.microsoft.com/office/drawing/2014/main" id="{9E6DBC6B-A376-49A7-A3BB-3380BEF9A274}"/>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例子13</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13</a:t>
            </a:r>
          </a:p>
        </p:txBody>
      </p:sp>
      <p:sp>
        <p:nvSpPr>
          <p:cNvPr id="945" name="">
            <a:extLst xmlns:a="http://schemas.openxmlformats.org/drawingml/2006/main">
              <a:ext uri="{FF2B5EF4-FFF2-40B4-BE49-F238E27FC236}">
                <a16:creationId xmlns:a16="http://schemas.microsoft.com/office/drawing/2014/main" id="{39CA174B-6505-450C-8560-17A9A306B948}"/>
              </a:ext>
            </a:extLst>
          </p:cNvPr>
          <p:cNvSpPr>
            <a:spLocks xmlns:a="http://schemas.openxmlformats.org/drawingml/2006/main" noGrp="1"/>
          </p:cNvSpPr>
          <p:nvPr/>
        </p:nvSpPr>
        <p:spPr>
          <a:xfrm xmlns:a="http://schemas.openxmlformats.org/drawingml/2006/main" rot="0" flipH="0" flipV="0">
            <a:off x="457200" y="1562100"/>
            <a:ext cx="36480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SIMOfChinaMobile 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SIMOfChinaMobile class</a:t>
            </a:r>
          </a:p>
        </p:txBody>
      </p:sp>
      <p:sp>
        <p:nvSpPr>
          <p:cNvPr id="946" name="">
            <a:extLst xmlns:a="http://schemas.openxmlformats.org/drawingml/2006/main">
              <a:ext uri="{FF2B5EF4-FFF2-40B4-BE49-F238E27FC236}">
                <a16:creationId xmlns:a16="http://schemas.microsoft.com/office/drawing/2014/main" id="{13FB0696-F87C-48AB-8305-6D45803E3424}"/>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947" name="">
            <a:extLst xmlns:a="http://schemas.openxmlformats.org/drawingml/2006/main">
              <a:ext uri="{FF2B5EF4-FFF2-40B4-BE49-F238E27FC236}">
                <a16:creationId xmlns:a16="http://schemas.microsoft.com/office/drawing/2014/main" id="{8D2C3E33-773A-4281-80FF-95CD51E25826}"/>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46168"/>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中国移动 SIM 卡，实现行为标准，giveCorpName() 返回 “中国移动”。</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China Mobile SIM card, implements behavioral standards, giveCorpName() returns "China Mobile".</a:t>
            </a:r>
          </a:p>
        </p:txBody>
      </p:sp>
      <p:pic>
        <p:nvPicPr>
          <p:cNvPr id="958" name=""/>
          <p:cNvPicPr>
            <a:picLocks xmlns:a="http://schemas.openxmlformats.org/drawingml/2006/main" noChangeAspect="1"/>
          </p:cNvPicPr>
          <p:nvPr/>
        </p:nvPicPr>
        <p:blipFill>
          <a:blip xmlns:r="http://schemas.openxmlformats.org/officeDocument/2006/relationships" xmlns:a="http://schemas.openxmlformats.org/drawingml/2006/main" r:embed="R5af15e38aff34de7"/>
          <a:srcRect xmlns:a="http://schemas.openxmlformats.org/drawingml/2006/main" l="0" t="38" r="0" b="38"/>
          <a:stretch xmlns:a="http://schemas.openxmlformats.org/drawingml/2006/main">
            <a:fillRect l="0" t="0" r="0" b="0"/>
          </a:stretch>
        </p:blipFill>
        <p:spPr>
          <a:xfrm xmlns:a="http://schemas.openxmlformats.org/drawingml/2006/main" rot="0" flipH="0" flipV="0">
            <a:off x="5057775" y="1600200"/>
            <a:ext cx="577215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949" name="">
            <a:extLst xmlns:a="http://schemas.openxmlformats.org/drawingml/2006/main">
              <a:ext uri="{FF2B5EF4-FFF2-40B4-BE49-F238E27FC236}">
                <a16:creationId xmlns:a16="http://schemas.microsoft.com/office/drawing/2014/main" id="{AF99A507-BEFE-4807-8A10-ED3B975C105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75 / 87</a:t>
            </a:r>
            <a:endParaRPr/>
          </a:p>
        </p:txBody>
      </p:sp>
    </p:spTree>
    <p:extLst>
      <p:ext uri="{BB962C8B-B14F-4D97-AF65-F5344CB8AC3E}">
        <p14:creationId xmlns:p14="http://schemas.microsoft.com/office/powerpoint/2010/main" val="2018945072"/>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951" name="">
            <a:extLst xmlns:a="http://schemas.openxmlformats.org/drawingml/2006/main">
              <a:ext uri="{FF2B5EF4-FFF2-40B4-BE49-F238E27FC236}">
                <a16:creationId xmlns:a16="http://schemas.microsoft.com/office/drawing/2014/main" id="{391EB1FB-A365-40DE-994A-D5895968C7D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952" name="">
            <a:extLst xmlns:a="http://schemas.openxmlformats.org/drawingml/2006/main">
              <a:ext uri="{FF2B5EF4-FFF2-40B4-BE49-F238E27FC236}">
                <a16:creationId xmlns:a16="http://schemas.microsoft.com/office/drawing/2014/main" id="{A01552F8-1658-4BD4-A90F-97CE0D68AB10}"/>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953" name="">
            <a:extLst xmlns:a="http://schemas.openxmlformats.org/drawingml/2006/main">
              <a:ext uri="{FF2B5EF4-FFF2-40B4-BE49-F238E27FC236}">
                <a16:creationId xmlns:a16="http://schemas.microsoft.com/office/drawing/2014/main" id="{4AAAD7A1-241C-4F87-B35C-D8C2EDBC15F3}"/>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954" name="">
            <a:extLst xmlns:a="http://schemas.openxmlformats.org/drawingml/2006/main">
              <a:ext uri="{FF2B5EF4-FFF2-40B4-BE49-F238E27FC236}">
                <a16:creationId xmlns:a16="http://schemas.microsoft.com/office/drawing/2014/main" id="{26952B13-ABF2-4D4A-9C60-6EBD5C9191FC}"/>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例子13</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13</a:t>
            </a:r>
          </a:p>
        </p:txBody>
      </p:sp>
      <p:sp>
        <p:nvSpPr>
          <p:cNvPr id="955" name="">
            <a:extLst xmlns:a="http://schemas.openxmlformats.org/drawingml/2006/main">
              <a:ext uri="{FF2B5EF4-FFF2-40B4-BE49-F238E27FC236}">
                <a16:creationId xmlns:a16="http://schemas.microsoft.com/office/drawing/2014/main" id="{E3CA9576-6757-457B-B532-476376888AF3}"/>
              </a:ext>
            </a:extLst>
          </p:cNvPr>
          <p:cNvSpPr>
            <a:spLocks xmlns:a="http://schemas.openxmlformats.org/drawingml/2006/main" noGrp="1"/>
          </p:cNvSpPr>
          <p:nvPr/>
        </p:nvSpPr>
        <p:spPr>
          <a:xfrm xmlns:a="http://schemas.openxmlformats.org/drawingml/2006/main" rot="0" flipH="0" flipV="0">
            <a:off x="457200" y="1562100"/>
            <a:ext cx="378142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SIMOfChinaUnicom 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SIMOfChinaUnicom class</a:t>
            </a:r>
          </a:p>
        </p:txBody>
      </p:sp>
      <p:sp>
        <p:nvSpPr>
          <p:cNvPr id="956" name="">
            <a:extLst xmlns:a="http://schemas.openxmlformats.org/drawingml/2006/main">
              <a:ext uri="{FF2B5EF4-FFF2-40B4-BE49-F238E27FC236}">
                <a16:creationId xmlns:a16="http://schemas.microsoft.com/office/drawing/2014/main" id="{9558906C-DC48-4DCE-A10F-9AFA76C317C5}"/>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957" name="">
            <a:extLst xmlns:a="http://schemas.openxmlformats.org/drawingml/2006/main">
              <a:ext uri="{FF2B5EF4-FFF2-40B4-BE49-F238E27FC236}">
                <a16:creationId xmlns:a16="http://schemas.microsoft.com/office/drawing/2014/main" id="{97FA8589-540F-4EF9-8238-BF0F946A858B}"/>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45319"/>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中国联通 SIM 卡，实现行为标准，giveCorpName() 返回 “中国联通”。</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China Unicom SIM card, implements behavioral standards, giveCorpName() returns "China Unicom".</a:t>
            </a:r>
          </a:p>
        </p:txBody>
      </p:sp>
      <p:pic>
        <p:nvPicPr>
          <p:cNvPr id="968" name=""/>
          <p:cNvPicPr>
            <a:picLocks xmlns:a="http://schemas.openxmlformats.org/drawingml/2006/main" noChangeAspect="1"/>
          </p:cNvPicPr>
          <p:nvPr/>
        </p:nvPicPr>
        <p:blipFill>
          <a:blip xmlns:r="http://schemas.openxmlformats.org/officeDocument/2006/relationships" xmlns:a="http://schemas.openxmlformats.org/drawingml/2006/main" r:embed="Rbd93c6e21eee444d"/>
          <a:srcRect xmlns:a="http://schemas.openxmlformats.org/drawingml/2006/main" l="0" t="38" r="0" b="38"/>
          <a:stretch xmlns:a="http://schemas.openxmlformats.org/drawingml/2006/main">
            <a:fillRect l="0" t="0" r="0" b="0"/>
          </a:stretch>
        </p:blipFill>
        <p:spPr>
          <a:xfrm xmlns:a="http://schemas.openxmlformats.org/drawingml/2006/main" rot="0" flipH="0" flipV="0">
            <a:off x="5057775" y="1600200"/>
            <a:ext cx="577215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959" name="">
            <a:extLst xmlns:a="http://schemas.openxmlformats.org/drawingml/2006/main">
              <a:ext uri="{FF2B5EF4-FFF2-40B4-BE49-F238E27FC236}">
                <a16:creationId xmlns:a16="http://schemas.microsoft.com/office/drawing/2014/main" id="{07275529-3D6F-4C11-9293-BB19C0E39C38}"/>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76 / 87</a:t>
            </a:r>
            <a:endParaRPr/>
          </a:p>
        </p:txBody>
      </p:sp>
    </p:spTree>
    <p:extLst>
      <p:ext uri="{BB962C8B-B14F-4D97-AF65-F5344CB8AC3E}">
        <p14:creationId xmlns:p14="http://schemas.microsoft.com/office/powerpoint/2010/main" val="2125345683"/>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961" name="">
            <a:extLst xmlns:a="http://schemas.openxmlformats.org/drawingml/2006/main">
              <a:ext uri="{FF2B5EF4-FFF2-40B4-BE49-F238E27FC236}">
                <a16:creationId xmlns:a16="http://schemas.microsoft.com/office/drawing/2014/main" id="{9A9B4025-1B40-4820-AEF2-460F3941B004}"/>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962" name="">
            <a:extLst xmlns:a="http://schemas.openxmlformats.org/drawingml/2006/main">
              <a:ext uri="{FF2B5EF4-FFF2-40B4-BE49-F238E27FC236}">
                <a16:creationId xmlns:a16="http://schemas.microsoft.com/office/drawing/2014/main" id="{FBE3C47F-302C-4B74-939E-A1CBADCA4463}"/>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963" name="">
            <a:extLst xmlns:a="http://schemas.openxmlformats.org/drawingml/2006/main">
              <a:ext uri="{FF2B5EF4-FFF2-40B4-BE49-F238E27FC236}">
                <a16:creationId xmlns:a16="http://schemas.microsoft.com/office/drawing/2014/main" id="{36A0ED3E-744A-43DB-A8DA-12A0332B4A6C}"/>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964" name="">
            <a:extLst xmlns:a="http://schemas.openxmlformats.org/drawingml/2006/main">
              <a:ext uri="{FF2B5EF4-FFF2-40B4-BE49-F238E27FC236}">
                <a16:creationId xmlns:a16="http://schemas.microsoft.com/office/drawing/2014/main" id="{1C5B2B4E-BC1A-4EB3-A58C-5FCD3F19BB20}"/>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例子13</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13</a:t>
            </a:r>
          </a:p>
        </p:txBody>
      </p:sp>
      <p:sp>
        <p:nvSpPr>
          <p:cNvPr id="965" name="">
            <a:extLst xmlns:a="http://schemas.openxmlformats.org/drawingml/2006/main">
              <a:ext uri="{FF2B5EF4-FFF2-40B4-BE49-F238E27FC236}">
                <a16:creationId xmlns:a16="http://schemas.microsoft.com/office/drawing/2014/main" id="{E66A27D0-8A8E-40AE-8279-D7A3A21D0DD5}"/>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MobileTelephone 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MobileTelephone class</a:t>
            </a:r>
          </a:p>
        </p:txBody>
      </p:sp>
      <p:sp>
        <p:nvSpPr>
          <p:cNvPr id="966" name="">
            <a:extLst xmlns:a="http://schemas.openxmlformats.org/drawingml/2006/main">
              <a:ext uri="{FF2B5EF4-FFF2-40B4-BE49-F238E27FC236}">
                <a16:creationId xmlns:a16="http://schemas.microsoft.com/office/drawing/2014/main" id="{FB2E9617-0A93-4448-97C9-35D7DB053D11}"/>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967" name="">
            <a:extLst xmlns:a="http://schemas.openxmlformats.org/drawingml/2006/main">
              <a:ext uri="{FF2B5EF4-FFF2-40B4-BE49-F238E27FC236}">
                <a16:creationId xmlns:a16="http://schemas.microsoft.com/office/drawing/2014/main" id="{56C4DA2E-1E3F-478A-8DA1-6E9C75FBEE4E}"/>
              </a:ext>
            </a:extLst>
          </p:cNvPr>
          <p:cNvSpPr>
            <a:spLocks xmlns:a="http://schemas.openxmlformats.org/drawingml/2006/main" noGrp="1"/>
          </p:cNvSpPr>
          <p:nvPr/>
        </p:nvSpPr>
        <p:spPr>
          <a:xfrm xmlns:a="http://schemas.openxmlformats.org/drawingml/2006/main" rot="0" flipH="0" flipV="0">
            <a:off x="457200" y="3152775"/>
            <a:ext cx="3381375" cy="1171575"/>
          </a:xfrm>
          <a:prstGeom xmlns:a="http://schemas.openxmlformats.org/drawingml/2006/main" prst="rect">
            <a:avLst/>
          </a:prstGeom>
        </p:spPr>
        <p:txBody>
          <a:bodyPr xmlns:a="http://schemas.openxmlformats.org/drawingml/2006/main" wrap="square" lIns="0" tIns="0" rIns="0" bIns="0">
            <a:normAutofit fontScale="50401"/>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手机面向抽象类 SIM 编程：card 是 SIM 类型，useSIM() 换卡，showMess() 显示卡信息。</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mobile phone is programmed for the abstract class SIM: card is the SIM type, useSIM() changes the card, and showMess() displays the card information.</a:t>
            </a:r>
          </a:p>
        </p:txBody>
      </p:sp>
      <p:pic>
        <p:nvPicPr>
          <p:cNvPr id="978" name=""/>
          <p:cNvPicPr>
            <a:picLocks xmlns:a="http://schemas.openxmlformats.org/drawingml/2006/main" noChangeAspect="1"/>
          </p:cNvPicPr>
          <p:nvPr/>
        </p:nvPicPr>
        <p:blipFill>
          <a:blip xmlns:r="http://schemas.openxmlformats.org/officeDocument/2006/relationships" xmlns:a="http://schemas.openxmlformats.org/drawingml/2006/main" r:embed="R72ac32272d744a67"/>
          <a:srcRect xmlns:a="http://schemas.openxmlformats.org/drawingml/2006/main" l="9" t="0" r="9" b="0"/>
          <a:stretch xmlns:a="http://schemas.openxmlformats.org/drawingml/2006/main">
            <a:fillRect l="0" t="0" r="0" b="0"/>
          </a:stretch>
        </p:blipFill>
        <p:spPr>
          <a:xfrm xmlns:a="http://schemas.openxmlformats.org/drawingml/2006/main" rot="0" flipH="0" flipV="0">
            <a:off x="4143375" y="2085975"/>
            <a:ext cx="7591425" cy="3133725"/>
          </a:xfrm>
          <a:prstGeom xmlns:a="http://schemas.openxmlformats.org/drawingml/2006/main" prst="roundRect">
            <a:avLst>
              <a:gd name="adj" fmla="val 3647"/>
            </a:avLst>
          </a:prstGeom>
          <a:effectLst xmlns:a="http://schemas.openxmlformats.org/drawingml/2006/main">
            <a:outerShdw blurRad="152400" dist="38100" dir="5400000">
              <a:srgbClr val="0F1C2E">
                <a:alpha val="8000"/>
              </a:srgbClr>
            </a:outerShdw>
          </a:effectLst>
        </p:spPr>
      </p:pic>
      <p:sp>
        <p:nvSpPr>
          <p:cNvPr id="969" name="">
            <a:extLst xmlns:a="http://schemas.openxmlformats.org/drawingml/2006/main">
              <a:ext uri="{FF2B5EF4-FFF2-40B4-BE49-F238E27FC236}">
                <a16:creationId xmlns:a16="http://schemas.microsoft.com/office/drawing/2014/main" id="{9BC54E76-612B-4A34-83B9-B2042BA38F67}"/>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77 / 87</a:t>
            </a:r>
            <a:endParaRPr/>
          </a:p>
        </p:txBody>
      </p:sp>
    </p:spTree>
    <p:extLst>
      <p:ext uri="{BB962C8B-B14F-4D97-AF65-F5344CB8AC3E}">
        <p14:creationId xmlns:p14="http://schemas.microsoft.com/office/powerpoint/2010/main" val="1127428491"/>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971" name="">
            <a:extLst xmlns:a="http://schemas.openxmlformats.org/drawingml/2006/main">
              <a:ext uri="{FF2B5EF4-FFF2-40B4-BE49-F238E27FC236}">
                <a16:creationId xmlns:a16="http://schemas.microsoft.com/office/drawing/2014/main" id="{2323C47C-ECA3-4B6F-9F19-CA2D835B922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972" name="">
            <a:extLst xmlns:a="http://schemas.openxmlformats.org/drawingml/2006/main">
              <a:ext uri="{FF2B5EF4-FFF2-40B4-BE49-F238E27FC236}">
                <a16:creationId xmlns:a16="http://schemas.microsoft.com/office/drawing/2014/main" id="{2F7BFDDC-C810-413E-B293-7FB80573869F}"/>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973" name="">
            <a:extLst xmlns:a="http://schemas.openxmlformats.org/drawingml/2006/main">
              <a:ext uri="{FF2B5EF4-FFF2-40B4-BE49-F238E27FC236}">
                <a16:creationId xmlns:a16="http://schemas.microsoft.com/office/drawing/2014/main" id="{A499AB26-A030-4D24-ADF9-C7D459B55FC9}"/>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974" name="">
            <a:extLst xmlns:a="http://schemas.openxmlformats.org/drawingml/2006/main">
              <a:ext uri="{FF2B5EF4-FFF2-40B4-BE49-F238E27FC236}">
                <a16:creationId xmlns:a16="http://schemas.microsoft.com/office/drawing/2014/main" id="{06891B89-E55C-4DB6-A61F-4D4E10738F81}"/>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例子13</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13</a:t>
            </a:r>
          </a:p>
        </p:txBody>
      </p:sp>
      <p:sp>
        <p:nvSpPr>
          <p:cNvPr id="975" name="">
            <a:extLst xmlns:a="http://schemas.openxmlformats.org/drawingml/2006/main">
              <a:ext uri="{FF2B5EF4-FFF2-40B4-BE49-F238E27FC236}">
                <a16:creationId xmlns:a16="http://schemas.microsoft.com/office/drawing/2014/main" id="{22965237-D312-484D-AFE2-25EB895C5623}"/>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Application（主类）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Application (main class)</a:t>
            </a:r>
          </a:p>
        </p:txBody>
      </p:sp>
      <p:sp>
        <p:nvSpPr>
          <p:cNvPr id="976" name="">
            <a:extLst xmlns:a="http://schemas.openxmlformats.org/drawingml/2006/main">
              <a:ext uri="{FF2B5EF4-FFF2-40B4-BE49-F238E27FC236}">
                <a16:creationId xmlns:a16="http://schemas.microsoft.com/office/drawing/2014/main" id="{BCC224A8-5466-4EFC-8BBD-0412FE7EBD48}"/>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977" name="">
            <a:extLst xmlns:a="http://schemas.openxmlformats.org/drawingml/2006/main">
              <a:ext uri="{FF2B5EF4-FFF2-40B4-BE49-F238E27FC236}">
                <a16:creationId xmlns:a16="http://schemas.microsoft.com/office/drawing/2014/main" id="{B45FD42E-0A71-4094-8894-C503B9546A73}"/>
              </a:ext>
            </a:extLst>
          </p:cNvPr>
          <p:cNvSpPr>
            <a:spLocks xmlns:a="http://schemas.openxmlformats.org/drawingml/2006/main" noGrp="1"/>
          </p:cNvSpPr>
          <p:nvPr/>
        </p:nvSpPr>
        <p:spPr>
          <a:xfrm xmlns:a="http://schemas.openxmlformats.org/drawingml/2006/main" rot="0" flipH="0" flipV="0">
            <a:off x="457200" y="3152775"/>
            <a:ext cx="3381375" cy="390525"/>
          </a:xfrm>
          <a:prstGeom xmlns:a="http://schemas.openxmlformats.org/drawingml/2006/main" prst="rect">
            <a:avLst/>
          </a:prstGeom>
        </p:spPr>
        <p:txBody>
          <a:bodyPr xmlns:a="http://schemas.openxmlformats.org/drawingml/2006/main" wrap="none" lIns="0" tIns="0" rIns="0" bIns="0">
            <a:normAutofit fontScale="26903"/>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先后插入移动卡与联通卡并显示信息。</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Insert the mobile card and China Unicom card successively and display the information.</a:t>
            </a:r>
          </a:p>
        </p:txBody>
      </p:sp>
      <p:pic>
        <p:nvPicPr>
          <p:cNvPr id="988" name=""/>
          <p:cNvPicPr>
            <a:picLocks xmlns:a="http://schemas.openxmlformats.org/drawingml/2006/main" noChangeAspect="1"/>
          </p:cNvPicPr>
          <p:nvPr/>
        </p:nvPicPr>
        <p:blipFill>
          <a:blip xmlns:r="http://schemas.openxmlformats.org/officeDocument/2006/relationships" xmlns:a="http://schemas.openxmlformats.org/drawingml/2006/main" r:embed="R24f497e53b304815"/>
          <a:stretch xmlns:a="http://schemas.openxmlformats.org/drawingml/2006/main">
            <a:fillRect l="0" t="0" r="0" b="0"/>
          </a:stretch>
        </p:blipFill>
        <p:spPr>
          <a:xfrm xmlns:a="http://schemas.openxmlformats.org/drawingml/2006/main" rot="0" flipH="0" flipV="0">
            <a:off x="4514850" y="1600200"/>
            <a:ext cx="685800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979" name="">
            <a:extLst xmlns:a="http://schemas.openxmlformats.org/drawingml/2006/main">
              <a:ext uri="{FF2B5EF4-FFF2-40B4-BE49-F238E27FC236}">
                <a16:creationId xmlns:a16="http://schemas.microsoft.com/office/drawing/2014/main" id="{10F4394C-8BC9-4786-B43E-1D0FC2C50D5F}"/>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78 / 87</a:t>
            </a:r>
            <a:endParaRPr/>
          </a:p>
        </p:txBody>
      </p:sp>
    </p:spTree>
    <p:extLst>
      <p:ext uri="{BB962C8B-B14F-4D97-AF65-F5344CB8AC3E}">
        <p14:creationId xmlns:p14="http://schemas.microsoft.com/office/powerpoint/2010/main" val="1284146657"/>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981" name="">
            <a:extLst xmlns:a="http://schemas.openxmlformats.org/drawingml/2006/main">
              <a:ext uri="{FF2B5EF4-FFF2-40B4-BE49-F238E27FC236}">
                <a16:creationId xmlns:a16="http://schemas.microsoft.com/office/drawing/2014/main" id="{78A5510A-141E-4960-B4B1-AACD25FF2ED6}"/>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982" name="">
            <a:extLst xmlns:a="http://schemas.openxmlformats.org/drawingml/2006/main">
              <a:ext uri="{FF2B5EF4-FFF2-40B4-BE49-F238E27FC236}">
                <a16:creationId xmlns:a16="http://schemas.microsoft.com/office/drawing/2014/main" id="{DFD3E89E-C3D1-414F-B869-78194FF1803B}"/>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983" name="">
            <a:extLst xmlns:a="http://schemas.openxmlformats.org/drawingml/2006/main">
              <a:ext uri="{FF2B5EF4-FFF2-40B4-BE49-F238E27FC236}">
                <a16:creationId xmlns:a16="http://schemas.microsoft.com/office/drawing/2014/main" id="{57CAF4B1-1127-416E-9C33-64617B3BAB98}"/>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984" name="">
            <a:extLst xmlns:a="http://schemas.openxmlformats.org/drawingml/2006/main">
              <a:ext uri="{FF2B5EF4-FFF2-40B4-BE49-F238E27FC236}">
                <a16:creationId xmlns:a16="http://schemas.microsoft.com/office/drawing/2014/main" id="{DF3AA65F-E234-4CD6-B473-5CC50C57BC62}"/>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例子13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13 · Operational effect</a:t>
            </a:r>
          </a:p>
        </p:txBody>
      </p:sp>
      <p:sp>
        <p:nvSpPr>
          <p:cNvPr id="985" name="">
            <a:extLst xmlns:a="http://schemas.openxmlformats.org/drawingml/2006/main">
              <a:ext uri="{FF2B5EF4-FFF2-40B4-BE49-F238E27FC236}">
                <a16:creationId xmlns:a16="http://schemas.microsoft.com/office/drawing/2014/main" id="{E963CF70-16EE-4842-9B87-892790EB6D6C}"/>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运行效果（图5.16）</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Operation effect (Figure 5.16)</a:t>
            </a:r>
          </a:p>
        </p:txBody>
      </p:sp>
      <p:sp>
        <p:nvSpPr>
          <p:cNvPr id="986" name="">
            <a:extLst xmlns:a="http://schemas.openxmlformats.org/drawingml/2006/main">
              <a:ext uri="{FF2B5EF4-FFF2-40B4-BE49-F238E27FC236}">
                <a16:creationId xmlns:a16="http://schemas.microsoft.com/office/drawing/2014/main" id="{391493ED-5A2A-4F22-9F0D-430B8F38C7E6}"/>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987" name="">
            <a:extLst xmlns:a="http://schemas.openxmlformats.org/drawingml/2006/main">
              <a:ext uri="{FF2B5EF4-FFF2-40B4-BE49-F238E27FC236}">
                <a16:creationId xmlns:a16="http://schemas.microsoft.com/office/drawing/2014/main" id="{4996BB5C-EEF0-42EA-8D32-E007E85FD67F}"/>
              </a:ext>
            </a:extLst>
          </p:cNvPr>
          <p:cNvSpPr>
            <a:spLocks xmlns:a="http://schemas.openxmlformats.org/drawingml/2006/main" noGrp="1"/>
          </p:cNvSpPr>
          <p:nvPr/>
        </p:nvSpPr>
        <p:spPr>
          <a:xfrm xmlns:a="http://schemas.openxmlformats.org/drawingml/2006/main" rot="0" flipH="0" flipV="0">
            <a:off x="457200" y="3190875"/>
            <a:ext cx="3381375" cy="1171575"/>
          </a:xfrm>
          <a:prstGeom xmlns:a="http://schemas.openxmlformats.org/drawingml/2006/main" prst="rect">
            <a:avLst/>
          </a:prstGeom>
        </p:spPr>
        <p:txBody>
          <a:bodyPr xmlns:a="http://schemas.openxmlformats.org/drawingml/2006/main" wrap="square" lIns="0" tIns="0" rIns="0" bIns="0">
            <a:normAutofit fontScale="53576"/>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同一部手机更换不同运营商的 SIM 卡，分别显示中国移动与中国联通提供的号码。</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If the same mobile phone is replaced with SIM cards of different operators, the numbers provided by China Mobile and China Unicom will be displayed respectively.</a:t>
            </a:r>
          </a:p>
        </p:txBody>
      </p:sp>
      <p:pic>
        <p:nvPicPr>
          <p:cNvPr id="998" name=""/>
          <p:cNvPicPr>
            <a:picLocks xmlns:a="http://schemas.openxmlformats.org/drawingml/2006/main" noChangeAspect="1"/>
          </p:cNvPicPr>
          <p:nvPr/>
        </p:nvPicPr>
        <p:blipFill>
          <a:blip xmlns:r="http://schemas.openxmlformats.org/officeDocument/2006/relationships" xmlns:a="http://schemas.openxmlformats.org/drawingml/2006/main" r:embed="R86a03b995cc34645"/>
          <a:srcRect xmlns:a="http://schemas.openxmlformats.org/drawingml/2006/main" l="0" t="45" r="0" b="45"/>
          <a:stretch xmlns:a="http://schemas.openxmlformats.org/drawingml/2006/main">
            <a:fillRect l="0" t="0" r="0" b="0"/>
          </a:stretch>
        </p:blipFill>
        <p:spPr>
          <a:xfrm xmlns:a="http://schemas.openxmlformats.org/drawingml/2006/main" rot="0" flipH="0" flipV="0">
            <a:off x="4343400" y="2162175"/>
            <a:ext cx="7239000" cy="3181350"/>
          </a:xfrm>
          <a:prstGeom xmlns:a="http://schemas.openxmlformats.org/drawingml/2006/main" prst="roundRect">
            <a:avLst>
              <a:gd name="adj" fmla="val 2395"/>
            </a:avLst>
          </a:prstGeom>
        </p:spPr>
      </p:pic>
      <p:sp>
        <p:nvSpPr>
          <p:cNvPr id="989" name="">
            <a:extLst xmlns:a="http://schemas.openxmlformats.org/drawingml/2006/main">
              <a:ext uri="{FF2B5EF4-FFF2-40B4-BE49-F238E27FC236}">
                <a16:creationId xmlns:a16="http://schemas.microsoft.com/office/drawing/2014/main" id="{FDE2DF58-194C-474C-9848-8F3493469554}"/>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79 / 87</a:t>
            </a:r>
            <a:endParaRPr/>
          </a:p>
        </p:txBody>
      </p:sp>
    </p:spTree>
    <p:extLst>
      <p:ext uri="{BB962C8B-B14F-4D97-AF65-F5344CB8AC3E}">
        <p14:creationId xmlns:p14="http://schemas.microsoft.com/office/powerpoint/2010/main" val="2108660451"/>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1012" name="">
            <a:extLst xmlns:a="http://schemas.openxmlformats.org/drawingml/2006/main">
              <a:ext uri="{FF2B5EF4-FFF2-40B4-BE49-F238E27FC236}">
                <a16:creationId xmlns:a16="http://schemas.microsoft.com/office/drawing/2014/main" id="{2E03096B-4532-47D7-A107-75ED9EF4E641}"/>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013" name="">
            <a:extLst xmlns:a="http://schemas.openxmlformats.org/drawingml/2006/main">
              <a:ext uri="{FF2B5EF4-FFF2-40B4-BE49-F238E27FC236}">
                <a16:creationId xmlns:a16="http://schemas.microsoft.com/office/drawing/2014/main" id="{103CDF72-705A-4CF3-A704-EEA7028AE6A8}"/>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014" name="">
            <a:extLst xmlns:a="http://schemas.openxmlformats.org/drawingml/2006/main">
              <a:ext uri="{FF2B5EF4-FFF2-40B4-BE49-F238E27FC236}">
                <a16:creationId xmlns:a16="http://schemas.microsoft.com/office/drawing/2014/main" id="{4FD3F952-9E97-4E4F-AA95-E3FD9D38CED2}"/>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015" name="">
            <a:extLst xmlns:a="http://schemas.openxmlformats.org/drawingml/2006/main">
              <a:ext uri="{FF2B5EF4-FFF2-40B4-BE49-F238E27FC236}">
                <a16:creationId xmlns:a16="http://schemas.microsoft.com/office/drawing/2014/main" id="{79B0BC2C-BEBF-4975-99C6-25D8C4FF8DBF}"/>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例子13</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13</a:t>
            </a:r>
          </a:p>
        </p:txBody>
      </p:sp>
      <p:sp>
        <p:nvSpPr>
          <p:cNvPr id="1016" name="">
            <a:extLst xmlns:a="http://schemas.openxmlformats.org/drawingml/2006/main">
              <a:ext uri="{FF2B5EF4-FFF2-40B4-BE49-F238E27FC236}">
                <a16:creationId xmlns:a16="http://schemas.microsoft.com/office/drawing/2014/main" id="{3531F724-E28C-47EB-BC2E-353B34D74159}"/>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40165"/>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例子13：UML 类图（图5.15）</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 13: UML class diagram (Figure 5.15)</a:t>
            </a:r>
          </a:p>
        </p:txBody>
      </p:sp>
      <p:sp>
        <p:nvSpPr>
          <p:cNvPr id="1017" name="">
            <a:extLst xmlns:a="http://schemas.openxmlformats.org/drawingml/2006/main">
              <a:ext uri="{FF2B5EF4-FFF2-40B4-BE49-F238E27FC236}">
                <a16:creationId xmlns:a16="http://schemas.microsoft.com/office/drawing/2014/main" id="{08AB3C07-65FC-446E-84C7-148026E63364}"/>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18" name="">
            <a:extLst xmlns:a="http://schemas.openxmlformats.org/drawingml/2006/main">
              <a:ext uri="{FF2B5EF4-FFF2-40B4-BE49-F238E27FC236}">
                <a16:creationId xmlns:a16="http://schemas.microsoft.com/office/drawing/2014/main" id="{3E8F26D5-D788-4A9C-A360-482807FD5CDB}"/>
              </a:ext>
            </a:extLst>
          </p:cNvPr>
          <p:cNvSpPr>
            <a:spLocks xmlns:a="http://schemas.openxmlformats.org/drawingml/2006/main" noGrp="1"/>
          </p:cNvSpPr>
          <p:nvPr/>
        </p:nvSpPr>
        <p:spPr>
          <a:xfrm xmlns:a="http://schemas.openxmlformats.org/drawingml/2006/main" rot="0" flipH="0" flipV="0">
            <a:off x="457200" y="3190875"/>
            <a:ext cx="3381375" cy="1562100"/>
          </a:xfrm>
          <a:prstGeom xmlns:a="http://schemas.openxmlformats.org/drawingml/2006/main" prst="rect">
            <a:avLst/>
          </a:prstGeom>
        </p:spPr>
        <p:txBody>
          <a:bodyPr xmlns:a="http://schemas.openxmlformats.org/drawingml/2006/main" wrap="square" lIns="0" tIns="0" rIns="0" bIns="0">
            <a:normAutofit fontScale="49333"/>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MobileTelephone 引用抽象类 SIM 作为成员；SIM 声明行为标准；SIMOfChinaMobile 与 SIMOfChinaUnicom 为具体实现。</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MobileTelephone references the abstract class SIM as a member; SIM declares behavioral standards; SIMOfChinaMobile and SIMOfChinaUnicom are concrete implementations.</a:t>
            </a:r>
          </a:p>
        </p:txBody>
      </p:sp>
      <p:pic>
        <p:nvPicPr>
          <p:cNvPr id="1029" name=""/>
          <p:cNvPicPr>
            <a:picLocks xmlns:a="http://schemas.openxmlformats.org/drawingml/2006/main" noChangeAspect="1"/>
          </p:cNvPicPr>
          <p:nvPr/>
        </p:nvPicPr>
        <p:blipFill>
          <a:blip xmlns:r="http://schemas.openxmlformats.org/officeDocument/2006/relationships" xmlns:a="http://schemas.openxmlformats.org/drawingml/2006/main" r:embed="R2ce389b433be44c7"/>
          <a:srcRect xmlns:a="http://schemas.openxmlformats.org/drawingml/2006/main" l="0" t="12" r="0" b="12"/>
          <a:stretch xmlns:a="http://schemas.openxmlformats.org/drawingml/2006/main">
            <a:fillRect l="0" t="0" r="0" b="0"/>
          </a:stretch>
        </p:blipFill>
        <p:spPr>
          <a:xfrm xmlns:a="http://schemas.openxmlformats.org/drawingml/2006/main" rot="0" flipH="0" flipV="0">
            <a:off x="4572000" y="1657350"/>
            <a:ext cx="6781800" cy="4191000"/>
          </a:xfrm>
          <a:prstGeom xmlns:a="http://schemas.openxmlformats.org/drawingml/2006/main" prst="roundRect">
            <a:avLst>
              <a:gd name="adj" fmla="val 1818"/>
            </a:avLst>
          </a:prstGeom>
        </p:spPr>
      </p:pic>
      <p:sp>
        <p:nvSpPr>
          <p:cNvPr id="1020" name="">
            <a:extLst xmlns:a="http://schemas.openxmlformats.org/drawingml/2006/main">
              <a:ext uri="{FF2B5EF4-FFF2-40B4-BE49-F238E27FC236}">
                <a16:creationId xmlns:a16="http://schemas.microsoft.com/office/drawing/2014/main" id="{F4B060F5-DC6F-49BC-B804-F6E7C0E5AC23}"/>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80 / 87</a:t>
            </a:r>
            <a:endParaRPr/>
          </a:p>
        </p:txBody>
      </p:sp>
    </p:spTree>
    <p:extLst>
      <p:ext uri="{BB962C8B-B14F-4D97-AF65-F5344CB8AC3E}">
        <p14:creationId xmlns:p14="http://schemas.microsoft.com/office/powerpoint/2010/main" val="177820"/>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1022" name="">
            <a:extLst xmlns:a="http://schemas.openxmlformats.org/drawingml/2006/main">
              <a:ext uri="{FF2B5EF4-FFF2-40B4-BE49-F238E27FC236}">
                <a16:creationId xmlns:a16="http://schemas.microsoft.com/office/drawing/2014/main" id="{6CC99C81-5ED9-4222-9352-AB1B38F1DCF9}"/>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023" name="">
            <a:extLst xmlns:a="http://schemas.openxmlformats.org/drawingml/2006/main">
              <a:ext uri="{FF2B5EF4-FFF2-40B4-BE49-F238E27FC236}">
                <a16:creationId xmlns:a16="http://schemas.microsoft.com/office/drawing/2014/main" id="{F3EBE0E7-AF4A-4605-9E7A-1D07E839B96A}"/>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024" name="">
            <a:extLst xmlns:a="http://schemas.openxmlformats.org/drawingml/2006/main">
              <a:ext uri="{FF2B5EF4-FFF2-40B4-BE49-F238E27FC236}">
                <a16:creationId xmlns:a16="http://schemas.microsoft.com/office/drawing/2014/main" id="{809B2360-99AA-451B-A45C-FC85B90D9F88}"/>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025" name="">
            <a:extLst xmlns:a="http://schemas.openxmlformats.org/drawingml/2006/main">
              <a:ext uri="{FF2B5EF4-FFF2-40B4-BE49-F238E27FC236}">
                <a16:creationId xmlns:a16="http://schemas.microsoft.com/office/drawing/2014/main" id="{9D5E3ADD-0A86-45B3-98CB-169496B0A280}"/>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总结</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Summarize</a:t>
            </a:r>
          </a:p>
        </p:txBody>
      </p:sp>
      <p:sp>
        <p:nvSpPr>
          <p:cNvPr id="1026" name="">
            <a:extLst xmlns:a="http://schemas.openxmlformats.org/drawingml/2006/main">
              <a:ext uri="{FF2B5EF4-FFF2-40B4-BE49-F238E27FC236}">
                <a16:creationId xmlns:a16="http://schemas.microsoft.com/office/drawing/2014/main" id="{E7734088-3EFF-4DD5-994B-FBC8E652FF19}"/>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本章总结</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Chapter summary</a:t>
            </a:r>
          </a:p>
        </p:txBody>
      </p:sp>
      <p:sp>
        <p:nvSpPr>
          <p:cNvPr id="1027" name="">
            <a:extLst xmlns:a="http://schemas.openxmlformats.org/drawingml/2006/main">
              <a:ext uri="{FF2B5EF4-FFF2-40B4-BE49-F238E27FC236}">
                <a16:creationId xmlns:a16="http://schemas.microsoft.com/office/drawing/2014/main" id="{3C3C6A47-507A-479D-BEC7-2168FFA9EB9D}"/>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28" name="">
            <a:extLst xmlns:a="http://schemas.openxmlformats.org/drawingml/2006/main">
              <a:ext uri="{FF2B5EF4-FFF2-40B4-BE49-F238E27FC236}">
                <a16:creationId xmlns:a16="http://schemas.microsoft.com/office/drawing/2014/main" id="{2478D486-07D4-4641-BBF1-9011F3853218}"/>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345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继承是面向对象编程的重要特性。</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Inheritance is an important feature of object-oriented programming.</a:t>
            </a:r>
          </a:p>
        </p:txBody>
      </p:sp>
      <p:sp>
        <p:nvSpPr>
          <p:cNvPr id="1029" name="">
            <a:extLst xmlns:a="http://schemas.openxmlformats.org/drawingml/2006/main">
              <a:ext uri="{FF2B5EF4-FFF2-40B4-BE49-F238E27FC236}">
                <a16:creationId xmlns:a16="http://schemas.microsoft.com/office/drawing/2014/main" id="{72FB94B8-D3B6-4EC4-AC1F-E44B2136A37B}"/>
              </a:ext>
            </a:extLst>
          </p:cNvPr>
          <p:cNvSpPr>
            <a:spLocks xmlns:a="http://schemas.openxmlformats.org/drawingml/2006/main" noGrp="1"/>
          </p:cNvSpPr>
          <p:nvPr/>
        </p:nvSpPr>
        <p:spPr>
          <a:xfrm xmlns:a="http://schemas.openxmlformats.org/drawingml/2006/main" rot="0" flipH="0" flipV="0">
            <a:off x="4181475" y="18002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30" name="">
            <a:extLst xmlns:a="http://schemas.openxmlformats.org/drawingml/2006/main">
              <a:ext uri="{FF2B5EF4-FFF2-40B4-BE49-F238E27FC236}">
                <a16:creationId xmlns:a16="http://schemas.microsoft.com/office/drawing/2014/main" id="{9A41E003-5418-4BAF-9AEE-5DC62B75F38F}"/>
              </a:ext>
            </a:extLst>
          </p:cNvPr>
          <p:cNvSpPr>
            <a:spLocks xmlns:a="http://schemas.openxmlformats.org/drawingml/2006/main" noGrp="1"/>
          </p:cNvSpPr>
          <p:nvPr/>
        </p:nvSpPr>
        <p:spPr>
          <a:xfrm xmlns:a="http://schemas.openxmlformats.org/drawingml/2006/main" rot="0" flipH="0" flipV="0">
            <a:off x="4371975" y="168592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继承是一种由已有的类创建新类的机制</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Inheritance is a mechanism for creating new classes from existing classes</a:t>
            </a:r>
          </a:p>
        </p:txBody>
      </p:sp>
      <p:sp>
        <p:nvSpPr>
          <p:cNvPr id="1031" name="">
            <a:extLst xmlns:a="http://schemas.openxmlformats.org/drawingml/2006/main">
              <a:ext uri="{FF2B5EF4-FFF2-40B4-BE49-F238E27FC236}">
                <a16:creationId xmlns:a16="http://schemas.microsoft.com/office/drawing/2014/main" id="{06A1DAB1-A4EF-4B86-9314-B37A35CFAFD9}"/>
              </a:ext>
            </a:extLst>
          </p:cNvPr>
          <p:cNvSpPr>
            <a:spLocks xmlns:a="http://schemas.openxmlformats.org/drawingml/2006/main" noGrp="1"/>
          </p:cNvSpPr>
          <p:nvPr/>
        </p:nvSpPr>
        <p:spPr>
          <a:xfrm xmlns:a="http://schemas.openxmlformats.org/drawingml/2006/main" rot="0" flipH="0" flipV="0">
            <a:off x="4181475" y="23622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32" name="">
            <a:extLst xmlns:a="http://schemas.openxmlformats.org/drawingml/2006/main">
              <a:ext uri="{FF2B5EF4-FFF2-40B4-BE49-F238E27FC236}">
                <a16:creationId xmlns:a16="http://schemas.microsoft.com/office/drawing/2014/main" id="{48248A6C-13D4-4074-B4F6-1870364ACE51}"/>
              </a:ext>
            </a:extLst>
          </p:cNvPr>
          <p:cNvSpPr>
            <a:spLocks xmlns:a="http://schemas.openxmlformats.org/drawingml/2006/main" noGrp="1"/>
          </p:cNvSpPr>
          <p:nvPr/>
        </p:nvSpPr>
        <p:spPr>
          <a:xfrm xmlns:a="http://schemas.openxmlformats.org/drawingml/2006/main" rot="0" flipH="0" flipV="0">
            <a:off x="4371975" y="22479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子类继承父类的成员变量与成员方法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Subclasses inherit member variables and member methods of the parent class</a:t>
            </a:r>
          </a:p>
        </p:txBody>
      </p:sp>
      <p:sp>
        <p:nvSpPr>
          <p:cNvPr id="1033" name="">
            <a:extLst xmlns:a="http://schemas.openxmlformats.org/drawingml/2006/main">
              <a:ext uri="{FF2B5EF4-FFF2-40B4-BE49-F238E27FC236}">
                <a16:creationId xmlns:a16="http://schemas.microsoft.com/office/drawing/2014/main" id="{31B08EAB-F6F0-4733-AA5C-97E0BB749BA4}"/>
              </a:ext>
            </a:extLst>
          </p:cNvPr>
          <p:cNvSpPr>
            <a:spLocks xmlns:a="http://schemas.openxmlformats.org/drawingml/2006/main" noGrp="1"/>
          </p:cNvSpPr>
          <p:nvPr/>
        </p:nvSpPr>
        <p:spPr>
          <a:xfrm xmlns:a="http://schemas.openxmlformats.org/drawingml/2006/main" rot="0" flipH="0" flipV="0">
            <a:off x="4181475" y="29241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34" name="">
            <a:extLst xmlns:a="http://schemas.openxmlformats.org/drawingml/2006/main">
              <a:ext uri="{FF2B5EF4-FFF2-40B4-BE49-F238E27FC236}">
                <a16:creationId xmlns:a16="http://schemas.microsoft.com/office/drawing/2014/main" id="{FAC5071C-B4A4-4047-AF4D-F825CFE84770}"/>
              </a:ext>
            </a:extLst>
          </p:cNvPr>
          <p:cNvSpPr>
            <a:spLocks xmlns:a="http://schemas.openxmlformats.org/drawingml/2006/main" noGrp="1"/>
          </p:cNvSpPr>
          <p:nvPr/>
        </p:nvSpPr>
        <p:spPr>
          <a:xfrm xmlns:a="http://schemas.openxmlformats.org/drawingml/2006/main" rot="0" flipH="0" flipV="0">
            <a:off x="4371975" y="28098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子类继承过程中可以实现变量隐藏与方法重写</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Variable hiding and method rewriting can be achieved during subclass inheritance.</a:t>
            </a:r>
          </a:p>
        </p:txBody>
      </p:sp>
      <p:sp>
        <p:nvSpPr>
          <p:cNvPr id="1035" name="">
            <a:extLst xmlns:a="http://schemas.openxmlformats.org/drawingml/2006/main">
              <a:ext uri="{FF2B5EF4-FFF2-40B4-BE49-F238E27FC236}">
                <a16:creationId xmlns:a16="http://schemas.microsoft.com/office/drawing/2014/main" id="{8D59F90E-1627-43F2-A32C-A41B937112D3}"/>
              </a:ext>
            </a:extLst>
          </p:cNvPr>
          <p:cNvSpPr>
            <a:spLocks xmlns:a="http://schemas.openxmlformats.org/drawingml/2006/main" noGrp="1"/>
          </p:cNvSpPr>
          <p:nvPr/>
        </p:nvSpPr>
        <p:spPr>
          <a:xfrm xmlns:a="http://schemas.openxmlformats.org/drawingml/2006/main" rot="0" flipH="0" flipV="0">
            <a:off x="4181475" y="34861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36" name="">
            <a:extLst xmlns:a="http://schemas.openxmlformats.org/drawingml/2006/main">
              <a:ext uri="{FF2B5EF4-FFF2-40B4-BE49-F238E27FC236}">
                <a16:creationId xmlns:a16="http://schemas.microsoft.com/office/drawing/2014/main" id="{AFBE9F80-1EB2-4CF0-9922-6CAEB0C155C6}"/>
              </a:ext>
            </a:extLst>
          </p:cNvPr>
          <p:cNvSpPr>
            <a:spLocks xmlns:a="http://schemas.openxmlformats.org/drawingml/2006/main" noGrp="1"/>
          </p:cNvSpPr>
          <p:nvPr/>
        </p:nvSpPr>
        <p:spPr>
          <a:xfrm xmlns:a="http://schemas.openxmlformats.org/drawingml/2006/main" rot="0" flipH="0" flipV="0">
            <a:off x="4371975" y="3371850"/>
            <a:ext cx="7362825" cy="781050"/>
          </a:xfrm>
          <a:prstGeom xmlns:a="http://schemas.openxmlformats.org/drawingml/2006/main" prst="rect">
            <a:avLst/>
          </a:prstGeom>
        </p:spPr>
        <p:txBody>
          <a:bodyPr xmlns:a="http://schemas.openxmlformats.org/drawingml/2006/main" wrap="square" lIns="0" tIns="0" rIns="0" bIns="0">
            <a:normAutofit fontScale="5589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上转型对象可以访问子类继承或隐藏的成员变量，也可以调用子类继承的方法或子类重写的实例方法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Upcast objects can access member variables inherited or hidden by subclasses, and can also call methods inherited by subclasses or instance methods overridden by subclasses.</a:t>
            </a:r>
          </a:p>
        </p:txBody>
      </p:sp>
      <p:sp>
        <p:nvSpPr>
          <p:cNvPr id="1037" name="">
            <a:extLst xmlns:a="http://schemas.openxmlformats.org/drawingml/2006/main">
              <a:ext uri="{FF2B5EF4-FFF2-40B4-BE49-F238E27FC236}">
                <a16:creationId xmlns:a16="http://schemas.microsoft.com/office/drawing/2014/main" id="{4DDBBFBC-733A-40DF-A60C-53F359277EA8}"/>
              </a:ext>
            </a:extLst>
          </p:cNvPr>
          <p:cNvSpPr>
            <a:spLocks xmlns:a="http://schemas.openxmlformats.org/drawingml/2006/main" noGrp="1"/>
          </p:cNvSpPr>
          <p:nvPr/>
        </p:nvSpPr>
        <p:spPr>
          <a:xfrm xmlns:a="http://schemas.openxmlformats.org/drawingml/2006/main" rot="0" flipH="0" flipV="0">
            <a:off x="4181475" y="44386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38" name="">
            <a:extLst xmlns:a="http://schemas.openxmlformats.org/drawingml/2006/main">
              <a:ext uri="{FF2B5EF4-FFF2-40B4-BE49-F238E27FC236}">
                <a16:creationId xmlns:a16="http://schemas.microsoft.com/office/drawing/2014/main" id="{C865B0CC-761A-419E-9BA6-3ED2935BD37D}"/>
              </a:ext>
            </a:extLst>
          </p:cNvPr>
          <p:cNvSpPr>
            <a:spLocks xmlns:a="http://schemas.openxmlformats.org/drawingml/2006/main" noGrp="1"/>
          </p:cNvSpPr>
          <p:nvPr/>
        </p:nvSpPr>
        <p:spPr>
          <a:xfrm xmlns:a="http://schemas.openxmlformats.org/drawingml/2006/main" rot="0" flipH="0" flipV="0">
            <a:off x="4371975" y="4324350"/>
            <a:ext cx="7362825" cy="781050"/>
          </a:xfrm>
          <a:prstGeom xmlns:a="http://schemas.openxmlformats.org/drawingml/2006/main" prst="rect">
            <a:avLst/>
          </a:prstGeom>
        </p:spPr>
        <p:txBody>
          <a:bodyPr xmlns:a="http://schemas.openxmlformats.org/drawingml/2006/main" wrap="square" lIns="0" tIns="0" rIns="0" bIns="0">
            <a:normAutofit fontScale="47948"/>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多态：子类可以根据各自的需要重写父类的某个方法，通过方法的重写把父类的状态和行为改变为自身的状态和行为</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Polymorphism: Subclasses can override a method of the parent class according to their own needs, and change the state and behavior of the parent class to their own state and behavior through method rewriting.</a:t>
            </a:r>
          </a:p>
        </p:txBody>
      </p:sp>
      <p:sp>
        <p:nvSpPr>
          <p:cNvPr id="1039" name="">
            <a:extLst xmlns:a="http://schemas.openxmlformats.org/drawingml/2006/main">
              <a:ext uri="{FF2B5EF4-FFF2-40B4-BE49-F238E27FC236}">
                <a16:creationId xmlns:a16="http://schemas.microsoft.com/office/drawing/2014/main" id="{E369C796-87C2-480C-AFBD-2F141CCC1A9C}"/>
              </a:ext>
            </a:extLst>
          </p:cNvPr>
          <p:cNvSpPr>
            <a:spLocks xmlns:a="http://schemas.openxmlformats.org/drawingml/2006/main" noGrp="1"/>
          </p:cNvSpPr>
          <p:nvPr/>
        </p:nvSpPr>
        <p:spPr>
          <a:xfrm xmlns:a="http://schemas.openxmlformats.org/drawingml/2006/main" rot="0" flipH="0" flipV="0">
            <a:off x="4181475" y="53911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40" name="">
            <a:extLst xmlns:a="http://schemas.openxmlformats.org/drawingml/2006/main">
              <a:ext uri="{FF2B5EF4-FFF2-40B4-BE49-F238E27FC236}">
                <a16:creationId xmlns:a16="http://schemas.microsoft.com/office/drawing/2014/main" id="{A39D8435-57C4-4173-A3C3-9ED5F5D3D92D}"/>
              </a:ext>
            </a:extLst>
          </p:cNvPr>
          <p:cNvSpPr>
            <a:spLocks xmlns:a="http://schemas.openxmlformats.org/drawingml/2006/main" noGrp="1"/>
          </p:cNvSpPr>
          <p:nvPr/>
        </p:nvSpPr>
        <p:spPr>
          <a:xfrm xmlns:a="http://schemas.openxmlformats.org/drawingml/2006/main" rot="0" flipH="0" flipV="0">
            <a:off x="4371975" y="5276850"/>
            <a:ext cx="7362825" cy="390525"/>
          </a:xfrm>
          <a:prstGeom xmlns:a="http://schemas.openxmlformats.org/drawingml/2006/main" prst="rect">
            <a:avLst/>
          </a:prstGeom>
        </p:spPr>
        <p:txBody>
          <a:bodyPr xmlns:a="http://schemas.openxmlformats.org/drawingml/2006/main" wrap="none" lIns="0" tIns="0" rIns="0" bIns="0">
            <a:normAutofit fontScale="34403"/>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熟练使用上转型对象以及面向抽象编程的思想，体现程序设计所提倡的 “开-闭” 原则</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Proficient in the use of upcast objects and abstract-oriented programming ideas, embodying the "open-closed" principle advocated by programming</a:t>
            </a:r>
          </a:p>
        </p:txBody>
      </p:sp>
      <p:sp>
        <p:nvSpPr>
          <p:cNvPr id="1041" name="">
            <a:extLst xmlns:a="http://schemas.openxmlformats.org/drawingml/2006/main">
              <a:ext uri="{FF2B5EF4-FFF2-40B4-BE49-F238E27FC236}">
                <a16:creationId xmlns:a16="http://schemas.microsoft.com/office/drawing/2014/main" id="{BB4E90A0-8478-4B39-9CD5-C249E12ABFC0}"/>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81 / 87</a:t>
            </a:r>
            <a:endParaRPr/>
          </a:p>
        </p:txBody>
      </p:sp>
    </p:spTree>
    <p:extLst>
      <p:ext uri="{BB962C8B-B14F-4D97-AF65-F5344CB8AC3E}">
        <p14:creationId xmlns:p14="http://schemas.microsoft.com/office/powerpoint/2010/main" val="1100275835"/>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1043" name="">
            <a:extLst xmlns:a="http://schemas.openxmlformats.org/drawingml/2006/main">
              <a:ext uri="{FF2B5EF4-FFF2-40B4-BE49-F238E27FC236}">
                <a16:creationId xmlns:a16="http://schemas.microsoft.com/office/drawing/2014/main" id="{9485057B-58B0-4E47-B46D-23825451AD9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044" name="">
            <a:extLst xmlns:a="http://schemas.openxmlformats.org/drawingml/2006/main">
              <a:ext uri="{FF2B5EF4-FFF2-40B4-BE49-F238E27FC236}">
                <a16:creationId xmlns:a16="http://schemas.microsoft.com/office/drawing/2014/main" id="{E1BD8A5D-8272-4A07-B5BB-7FFC1517353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045" name="">
            <a:extLst xmlns:a="http://schemas.openxmlformats.org/drawingml/2006/main">
              <a:ext uri="{FF2B5EF4-FFF2-40B4-BE49-F238E27FC236}">
                <a16:creationId xmlns:a16="http://schemas.microsoft.com/office/drawing/2014/main" id="{686F053B-F57D-4A64-9D13-48D82A602C5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046" name="">
            <a:extLst xmlns:a="http://schemas.openxmlformats.org/drawingml/2006/main">
              <a:ext uri="{FF2B5EF4-FFF2-40B4-BE49-F238E27FC236}">
                <a16:creationId xmlns:a16="http://schemas.microsoft.com/office/drawing/2014/main" id="{B9D4671A-CA55-437F-A37A-768CCD25FC14}"/>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作业</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Homework</a:t>
            </a:r>
          </a:p>
        </p:txBody>
      </p:sp>
      <p:sp>
        <p:nvSpPr>
          <p:cNvPr id="1047" name="">
            <a:extLst xmlns:a="http://schemas.openxmlformats.org/drawingml/2006/main">
              <a:ext uri="{FF2B5EF4-FFF2-40B4-BE49-F238E27FC236}">
                <a16:creationId xmlns:a16="http://schemas.microsoft.com/office/drawing/2014/main" id="{7E554CA8-4C1E-45DB-9DC9-1A53BFAD27A4}"/>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作业</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Homework</a:t>
            </a:r>
          </a:p>
        </p:txBody>
      </p:sp>
      <p:sp>
        <p:nvSpPr>
          <p:cNvPr id="1048" name="">
            <a:extLst xmlns:a="http://schemas.openxmlformats.org/drawingml/2006/main">
              <a:ext uri="{FF2B5EF4-FFF2-40B4-BE49-F238E27FC236}">
                <a16:creationId xmlns:a16="http://schemas.microsoft.com/office/drawing/2014/main" id="{99149279-AB11-44E1-8BBD-F94089A713C6}"/>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49" name="">
            <a:extLst xmlns:a="http://schemas.openxmlformats.org/drawingml/2006/main">
              <a:ext uri="{FF2B5EF4-FFF2-40B4-BE49-F238E27FC236}">
                <a16:creationId xmlns:a16="http://schemas.microsoft.com/office/drawing/2014/main" id="{DC84A00F-60B9-401F-8570-AEFC3C40B6F1}"/>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40578"/>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按时完成老师布置的作业。</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Complete the homework assigned by the teacher on time.</a:t>
            </a:r>
          </a:p>
        </p:txBody>
      </p:sp>
      <p:sp>
        <p:nvSpPr>
          <p:cNvPr id="1050" name="">
            <a:extLst xmlns:a="http://schemas.openxmlformats.org/drawingml/2006/main">
              <a:ext uri="{FF2B5EF4-FFF2-40B4-BE49-F238E27FC236}">
                <a16:creationId xmlns:a16="http://schemas.microsoft.com/office/drawing/2014/main" id="{52026727-1014-4BAD-90B1-93487C3F6680}"/>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51" name="">
            <a:extLst xmlns:a="http://schemas.openxmlformats.org/drawingml/2006/main">
              <a:ext uri="{FF2B5EF4-FFF2-40B4-BE49-F238E27FC236}">
                <a16:creationId xmlns:a16="http://schemas.microsoft.com/office/drawing/2014/main" id="{1EAE6832-8BF8-4684-88A3-8B1A5660BA80}"/>
              </a:ext>
            </a:extLst>
          </p:cNvPr>
          <p:cNvSpPr>
            <a:spLocks xmlns:a="http://schemas.openxmlformats.org/drawingml/2006/main" noGrp="1"/>
          </p:cNvSpPr>
          <p:nvPr/>
        </p:nvSpPr>
        <p:spPr>
          <a:xfrm xmlns:a="http://schemas.openxmlformats.org/drawingml/2006/main" rot="0" flipH="0" flipV="0">
            <a:off x="4371975" y="32004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教材提供了题库练习系统（见前言二维码）</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textbook provides a question bank practice system (see the QR code in the preface)</a:t>
            </a:r>
          </a:p>
        </p:txBody>
      </p:sp>
      <p:sp>
        <p:nvSpPr>
          <p:cNvPr id="1052" name="">
            <a:extLst xmlns:a="http://schemas.openxmlformats.org/drawingml/2006/main">
              <a:ext uri="{FF2B5EF4-FFF2-40B4-BE49-F238E27FC236}">
                <a16:creationId xmlns:a16="http://schemas.microsoft.com/office/drawing/2014/main" id="{9547D59C-AE05-4B3A-A6AB-2260D5952774}"/>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53" name="">
            <a:extLst xmlns:a="http://schemas.openxmlformats.org/drawingml/2006/main">
              <a:ext uri="{FF2B5EF4-FFF2-40B4-BE49-F238E27FC236}">
                <a16:creationId xmlns:a16="http://schemas.microsoft.com/office/drawing/2014/main" id="{1A269189-544C-40E1-B07E-0DC3235EC898}"/>
              </a:ext>
            </a:extLst>
          </p:cNvPr>
          <p:cNvSpPr>
            <a:spLocks xmlns:a="http://schemas.openxmlformats.org/drawingml/2006/main" noGrp="1"/>
          </p:cNvSpPr>
          <p:nvPr/>
        </p:nvSpPr>
        <p:spPr>
          <a:xfrm xmlns:a="http://schemas.openxmlformats.org/drawingml/2006/main" rot="0" flipH="0" flipV="0">
            <a:off x="4371975" y="3762375"/>
            <a:ext cx="7362825" cy="390525"/>
          </a:xfrm>
          <a:prstGeom xmlns:a="http://schemas.openxmlformats.org/drawingml/2006/main" prst="rect">
            <a:avLst/>
          </a:prstGeom>
        </p:spPr>
        <p:txBody>
          <a:bodyPr xmlns:a="http://schemas.openxmlformats.org/drawingml/2006/main" wrap="none" lIns="0" tIns="0" rIns="0" bIns="0">
            <a:normAutofit fontScale="43225"/>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动手实践：完成本章全部例子，体会继承、重写与多态</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Hands-on practice: complete all the examples in this chapter and experience inheritance, overriding and polymorphism</a:t>
            </a:r>
          </a:p>
        </p:txBody>
      </p:sp>
      <p:sp>
        <p:nvSpPr>
          <p:cNvPr id="1054" name="">
            <a:extLst xmlns:a="http://schemas.openxmlformats.org/drawingml/2006/main">
              <a:ext uri="{FF2B5EF4-FFF2-40B4-BE49-F238E27FC236}">
                <a16:creationId xmlns:a16="http://schemas.microsoft.com/office/drawing/2014/main" id="{B3C965AA-787F-4EF1-A4EC-49611C048F8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82 / 87</a:t>
            </a:r>
            <a:endParaRPr/>
          </a:p>
        </p:txBody>
      </p:sp>
    </p:spTree>
    <p:extLst>
      <p:ext uri="{BB962C8B-B14F-4D97-AF65-F5344CB8AC3E}">
        <p14:creationId xmlns:p14="http://schemas.microsoft.com/office/powerpoint/2010/main" val="1490139953"/>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1043" name="">
            <a:extLst xmlns:a="http://schemas.openxmlformats.org/drawingml/2006/main">
              <a:ext uri="{FF2B5EF4-FFF2-40B4-BE49-F238E27FC236}">
                <a16:creationId xmlns:a16="http://schemas.microsoft.com/office/drawing/2014/main" id="{9485057B-58B0-4E47-B46D-23825451AD9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044" name="">
            <a:extLst xmlns:a="http://schemas.openxmlformats.org/drawingml/2006/main">
              <a:ext uri="{FF2B5EF4-FFF2-40B4-BE49-F238E27FC236}">
                <a16:creationId xmlns:a16="http://schemas.microsoft.com/office/drawing/2014/main" id="{E1BD8A5D-8272-4A07-B5BB-7FFC1517353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045" name="">
            <a:extLst xmlns:a="http://schemas.openxmlformats.org/drawingml/2006/main">
              <a:ext uri="{FF2B5EF4-FFF2-40B4-BE49-F238E27FC236}">
                <a16:creationId xmlns:a16="http://schemas.microsoft.com/office/drawing/2014/main" id="{686F053B-F57D-4A64-9D13-48D82A602C5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046" name="">
            <a:extLst xmlns:a="http://schemas.openxmlformats.org/drawingml/2006/main">
              <a:ext uri="{FF2B5EF4-FFF2-40B4-BE49-F238E27FC236}">
                <a16:creationId xmlns:a16="http://schemas.microsoft.com/office/drawing/2014/main" id="{B9D4671A-CA55-437F-A37A-768CCD25FC14}"/>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编程题 1</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Programming Task 1</a:t>
            </a:r>
          </a:p>
        </p:txBody>
      </p:sp>
      <p:sp>
        <p:nvSpPr>
          <p:cNvPr id="1047" name="">
            <a:extLst xmlns:a="http://schemas.openxmlformats.org/drawingml/2006/main">
              <a:ext uri="{FF2B5EF4-FFF2-40B4-BE49-F238E27FC236}">
                <a16:creationId xmlns:a16="http://schemas.microsoft.com/office/drawing/2014/main" id="{7E554CA8-4C1E-45DB-9DC9-1A53BFAD27A4}"/>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1393"/>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学生继承父类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Student inherits from a parent class</a:t>
            </a:r>
          </a:p>
        </p:txBody>
      </p:sp>
      <p:sp>
        <p:nvSpPr>
          <p:cNvPr id="1048" name="">
            <a:extLst xmlns:a="http://schemas.openxmlformats.org/drawingml/2006/main">
              <a:ext uri="{FF2B5EF4-FFF2-40B4-BE49-F238E27FC236}">
                <a16:creationId xmlns:a16="http://schemas.microsoft.com/office/drawing/2014/main" id="{99149279-AB11-44E1-8BBD-F94089A713C6}"/>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49" name="">
            <a:extLst xmlns:a="http://schemas.openxmlformats.org/drawingml/2006/main">
              <a:ext uri="{FF2B5EF4-FFF2-40B4-BE49-F238E27FC236}">
                <a16:creationId xmlns:a16="http://schemas.microsoft.com/office/drawing/2014/main" id="{DC84A00F-60B9-401F-8570-AEFC3C40B6F1}"/>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33091"/>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定义 Person(name, age)，再定义 Student 继承 Person 并增加 studentId。</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Define Person(name, age), then let Student extend it with studentId.</a:t>
            </a:r>
          </a:p>
        </p:txBody>
      </p:sp>
      <p:sp>
        <p:nvSpPr>
          <p:cNvPr id="1050" name="">
            <a:extLst xmlns:a="http://schemas.openxmlformats.org/drawingml/2006/main">
              <a:ext uri="{FF2B5EF4-FFF2-40B4-BE49-F238E27FC236}">
                <a16:creationId xmlns:a16="http://schemas.microsoft.com/office/drawing/2014/main" id="{52026727-1014-4BAD-90B1-93487C3F6680}"/>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51" name="">
            <a:extLst xmlns:a="http://schemas.openxmlformats.org/drawingml/2006/main">
              <a:ext uri="{FF2B5EF4-FFF2-40B4-BE49-F238E27FC236}">
                <a16:creationId xmlns:a16="http://schemas.microsoft.com/office/drawing/2014/main" id="{1EAE6832-8BF8-4684-88A3-8B1A5660BA80}"/>
              </a:ext>
            </a:extLst>
          </p:cNvPr>
          <p:cNvSpPr>
            <a:spLocks xmlns:a="http://schemas.openxmlformats.org/drawingml/2006/main" noGrp="1"/>
          </p:cNvSpPr>
          <p:nvPr/>
        </p:nvSpPr>
        <p:spPr>
          <a:xfrm xmlns:a="http://schemas.openxmlformats.org/drawingml/2006/main" rot="0" flipH="0" flipV="0">
            <a:off x="4371975" y="32004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在 Student 中编写 showInfo()，输出继承字段和新增字段。</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Add showInfo() in Student to print inherited and new fields.</a:t>
            </a:r>
          </a:p>
        </p:txBody>
      </p:sp>
      <p:sp>
        <p:nvSpPr>
          <p:cNvPr id="1052" name="">
            <a:extLst xmlns:a="http://schemas.openxmlformats.org/drawingml/2006/main">
              <a:ext uri="{FF2B5EF4-FFF2-40B4-BE49-F238E27FC236}">
                <a16:creationId xmlns:a16="http://schemas.microsoft.com/office/drawing/2014/main" id="{9547D59C-AE05-4B3A-A6AB-2260D5952774}"/>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53" name="">
            <a:extLst xmlns:a="http://schemas.openxmlformats.org/drawingml/2006/main">
              <a:ext uri="{FF2B5EF4-FFF2-40B4-BE49-F238E27FC236}">
                <a16:creationId xmlns:a16="http://schemas.microsoft.com/office/drawing/2014/main" id="{1A269189-544C-40E1-B07E-0DC3235EC898}"/>
              </a:ext>
            </a:extLst>
          </p:cNvPr>
          <p:cNvSpPr>
            <a:spLocks xmlns:a="http://schemas.openxmlformats.org/drawingml/2006/main" noGrp="1"/>
          </p:cNvSpPr>
          <p:nvPr/>
        </p:nvSpPr>
        <p:spPr>
          <a:xfrm xmlns:a="http://schemas.openxmlformats.org/drawingml/2006/main" rot="0" flipH="0" flipV="0">
            <a:off x="4371975" y="37623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文件名：PersonStudentInheritancePractice.java</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File: PersonStudentInheritancePractice.java</a:t>
            </a:r>
          </a:p>
        </p:txBody>
      </p:sp>
      <p:sp>
        <p:nvSpPr>
          <p:cNvPr id="1054" name="">
            <a:extLst xmlns:a="http://schemas.openxmlformats.org/drawingml/2006/main">
              <a:ext uri="{FF2B5EF4-FFF2-40B4-BE49-F238E27FC236}">
                <a16:creationId xmlns:a16="http://schemas.microsoft.com/office/drawing/2014/main" id="{B3C965AA-787F-4EF1-A4EC-49611C048F8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83 / 87</a:t>
            </a:r>
            <a:endParaRPr/>
          </a:p>
        </p:txBody>
      </p:sp>
    </p:spTree>
    <p:extLst>
      <p:ext uri="{BB962C8B-B14F-4D97-AF65-F5344CB8AC3E}">
        <p14:creationId xmlns:p14="http://schemas.microsoft.com/office/powerpoint/2010/main" val="1490139953"/>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1043" name="">
            <a:extLst xmlns:a="http://schemas.openxmlformats.org/drawingml/2006/main">
              <a:ext uri="{FF2B5EF4-FFF2-40B4-BE49-F238E27FC236}">
                <a16:creationId xmlns:a16="http://schemas.microsoft.com/office/drawing/2014/main" id="{9485057B-58B0-4E47-B46D-23825451AD9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044" name="">
            <a:extLst xmlns:a="http://schemas.openxmlformats.org/drawingml/2006/main">
              <a:ext uri="{FF2B5EF4-FFF2-40B4-BE49-F238E27FC236}">
                <a16:creationId xmlns:a16="http://schemas.microsoft.com/office/drawing/2014/main" id="{E1BD8A5D-8272-4A07-B5BB-7FFC1517353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045" name="">
            <a:extLst xmlns:a="http://schemas.openxmlformats.org/drawingml/2006/main">
              <a:ext uri="{FF2B5EF4-FFF2-40B4-BE49-F238E27FC236}">
                <a16:creationId xmlns:a16="http://schemas.microsoft.com/office/drawing/2014/main" id="{686F053B-F57D-4A64-9D13-48D82A602C5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046" name="">
            <a:extLst xmlns:a="http://schemas.openxmlformats.org/drawingml/2006/main">
              <a:ext uri="{FF2B5EF4-FFF2-40B4-BE49-F238E27FC236}">
                <a16:creationId xmlns:a16="http://schemas.microsoft.com/office/drawing/2014/main" id="{B9D4671A-CA55-437F-A37A-768CCD25FC14}"/>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编程题 2</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Programming Task 2</a:t>
            </a:r>
          </a:p>
        </p:txBody>
      </p:sp>
      <p:sp>
        <p:nvSpPr>
          <p:cNvPr id="1047" name="">
            <a:extLst xmlns:a="http://schemas.openxmlformats.org/drawingml/2006/main">
              <a:ext uri="{FF2B5EF4-FFF2-40B4-BE49-F238E27FC236}">
                <a16:creationId xmlns:a16="http://schemas.microsoft.com/office/drawing/2014/main" id="{7E554CA8-4C1E-45DB-9DC9-1A53BFAD27A4}"/>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0493"/>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重写工资计算方法</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Override a salary calculation method</a:t>
            </a:r>
          </a:p>
        </p:txBody>
      </p:sp>
      <p:sp>
        <p:nvSpPr>
          <p:cNvPr id="1048" name="">
            <a:extLst xmlns:a="http://schemas.openxmlformats.org/drawingml/2006/main">
              <a:ext uri="{FF2B5EF4-FFF2-40B4-BE49-F238E27FC236}">
                <a16:creationId xmlns:a16="http://schemas.microsoft.com/office/drawing/2014/main" id="{99149279-AB11-44E1-8BBD-F94089A713C6}"/>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49" name="">
            <a:extLst xmlns:a="http://schemas.openxmlformats.org/drawingml/2006/main">
              <a:ext uri="{FF2B5EF4-FFF2-40B4-BE49-F238E27FC236}">
                <a16:creationId xmlns:a16="http://schemas.microsoft.com/office/drawing/2014/main" id="{DC84A00F-60B9-401F-8570-AEFC3C40B6F1}"/>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3240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Employee 的 salary() 返回基本工资；Manager 重写后加入奖金。</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Employee.salary() returns base pay; Manager overrides it to add a bonus.</a:t>
            </a:r>
          </a:p>
        </p:txBody>
      </p:sp>
      <p:sp>
        <p:nvSpPr>
          <p:cNvPr id="1050" name="">
            <a:extLst xmlns:a="http://schemas.openxmlformats.org/drawingml/2006/main">
              <a:ext uri="{FF2B5EF4-FFF2-40B4-BE49-F238E27FC236}">
                <a16:creationId xmlns:a16="http://schemas.microsoft.com/office/drawing/2014/main" id="{52026727-1014-4BAD-90B1-93487C3F6680}"/>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51" name="">
            <a:extLst xmlns:a="http://schemas.openxmlformats.org/drawingml/2006/main">
              <a:ext uri="{FF2B5EF4-FFF2-40B4-BE49-F238E27FC236}">
                <a16:creationId xmlns:a16="http://schemas.microsoft.com/office/drawing/2014/main" id="{1EAE6832-8BF8-4684-88A3-8B1A5660BA80}"/>
              </a:ext>
            </a:extLst>
          </p:cNvPr>
          <p:cNvSpPr>
            <a:spLocks xmlns:a="http://schemas.openxmlformats.org/drawingml/2006/main" noGrp="1"/>
          </p:cNvSpPr>
          <p:nvPr/>
        </p:nvSpPr>
        <p:spPr>
          <a:xfrm xmlns:a="http://schemas.openxmlformats.org/drawingml/2006/main" rot="0" flipH="0" flipV="0">
            <a:off x="4371975" y="32004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分别用 Employee 和 Manager 对象调用 salary() 并比较结果。</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Call salary() on Employee and Manager objects and compare results.</a:t>
            </a:r>
          </a:p>
        </p:txBody>
      </p:sp>
      <p:sp>
        <p:nvSpPr>
          <p:cNvPr id="1052" name="">
            <a:extLst xmlns:a="http://schemas.openxmlformats.org/drawingml/2006/main">
              <a:ext uri="{FF2B5EF4-FFF2-40B4-BE49-F238E27FC236}">
                <a16:creationId xmlns:a16="http://schemas.microsoft.com/office/drawing/2014/main" id="{9547D59C-AE05-4B3A-A6AB-2260D5952774}"/>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53" name="">
            <a:extLst xmlns:a="http://schemas.openxmlformats.org/drawingml/2006/main">
              <a:ext uri="{FF2B5EF4-FFF2-40B4-BE49-F238E27FC236}">
                <a16:creationId xmlns:a16="http://schemas.microsoft.com/office/drawing/2014/main" id="{1A269189-544C-40E1-B07E-0DC3235EC898}"/>
              </a:ext>
            </a:extLst>
          </p:cNvPr>
          <p:cNvSpPr>
            <a:spLocks xmlns:a="http://schemas.openxmlformats.org/drawingml/2006/main" noGrp="1"/>
          </p:cNvSpPr>
          <p:nvPr/>
        </p:nvSpPr>
        <p:spPr>
          <a:xfrm xmlns:a="http://schemas.openxmlformats.org/drawingml/2006/main" rot="0" flipH="0" flipV="0">
            <a:off x="4371975" y="37623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文件名：OverrideSalaryPractice.java</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File: OverrideSalaryPractice.java</a:t>
            </a:r>
          </a:p>
        </p:txBody>
      </p:sp>
      <p:sp>
        <p:nvSpPr>
          <p:cNvPr id="1054" name="">
            <a:extLst xmlns:a="http://schemas.openxmlformats.org/drawingml/2006/main">
              <a:ext uri="{FF2B5EF4-FFF2-40B4-BE49-F238E27FC236}">
                <a16:creationId xmlns:a16="http://schemas.microsoft.com/office/drawing/2014/main" id="{B3C965AA-787F-4EF1-A4EC-49611C048F8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84 / 87</a:t>
            </a:r>
            <a:endParaRPr/>
          </a:p>
        </p:txBody>
      </p:sp>
    </p:spTree>
    <p:extLst>
      <p:ext uri="{BB962C8B-B14F-4D97-AF65-F5344CB8AC3E}">
        <p14:creationId xmlns:p14="http://schemas.microsoft.com/office/powerpoint/2010/main" val="1490139953"/>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1043" name="">
            <a:extLst xmlns:a="http://schemas.openxmlformats.org/drawingml/2006/main">
              <a:ext uri="{FF2B5EF4-FFF2-40B4-BE49-F238E27FC236}">
                <a16:creationId xmlns:a16="http://schemas.microsoft.com/office/drawing/2014/main" id="{9485057B-58B0-4E47-B46D-23825451AD9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044" name="">
            <a:extLst xmlns:a="http://schemas.openxmlformats.org/drawingml/2006/main">
              <a:ext uri="{FF2B5EF4-FFF2-40B4-BE49-F238E27FC236}">
                <a16:creationId xmlns:a16="http://schemas.microsoft.com/office/drawing/2014/main" id="{E1BD8A5D-8272-4A07-B5BB-7FFC1517353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045" name="">
            <a:extLst xmlns:a="http://schemas.openxmlformats.org/drawingml/2006/main">
              <a:ext uri="{FF2B5EF4-FFF2-40B4-BE49-F238E27FC236}">
                <a16:creationId xmlns:a16="http://schemas.microsoft.com/office/drawing/2014/main" id="{686F053B-F57D-4A64-9D13-48D82A602C5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046" name="">
            <a:extLst xmlns:a="http://schemas.openxmlformats.org/drawingml/2006/main">
              <a:ext uri="{FF2B5EF4-FFF2-40B4-BE49-F238E27FC236}">
                <a16:creationId xmlns:a16="http://schemas.microsoft.com/office/drawing/2014/main" id="{B9D4671A-CA55-437F-A37A-768CCD25FC14}"/>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编程题 3</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Programming Task 3</a:t>
            </a:r>
          </a:p>
        </p:txBody>
      </p:sp>
      <p:sp>
        <p:nvSpPr>
          <p:cNvPr id="1047" name="">
            <a:extLst xmlns:a="http://schemas.openxmlformats.org/drawingml/2006/main">
              <a:ext uri="{FF2B5EF4-FFF2-40B4-BE49-F238E27FC236}">
                <a16:creationId xmlns:a16="http://schemas.microsoft.com/office/drawing/2014/main" id="{7E554CA8-4C1E-45DB-9DC9-1A53BFAD27A4}"/>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多态动物数组</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Polymorphic animal array</a:t>
            </a:r>
          </a:p>
        </p:txBody>
      </p:sp>
      <p:sp>
        <p:nvSpPr>
          <p:cNvPr id="1048" name="">
            <a:extLst xmlns:a="http://schemas.openxmlformats.org/drawingml/2006/main">
              <a:ext uri="{FF2B5EF4-FFF2-40B4-BE49-F238E27FC236}">
                <a16:creationId xmlns:a16="http://schemas.microsoft.com/office/drawing/2014/main" id="{99149279-AB11-44E1-8BBD-F94089A713C6}"/>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49" name="">
            <a:extLst xmlns:a="http://schemas.openxmlformats.org/drawingml/2006/main">
              <a:ext uri="{FF2B5EF4-FFF2-40B4-BE49-F238E27FC236}">
                <a16:creationId xmlns:a16="http://schemas.microsoft.com/office/drawing/2014/main" id="{DC84A00F-60B9-401F-8570-AEFC3C40B6F1}"/>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4844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Animal 定义 speak()；Dog、Cat 分别重写该方法。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Animal defines speak(); Dog and Cat override it.</a:t>
            </a:r>
          </a:p>
        </p:txBody>
      </p:sp>
      <p:sp>
        <p:nvSpPr>
          <p:cNvPr id="1050" name="">
            <a:extLst xmlns:a="http://schemas.openxmlformats.org/drawingml/2006/main">
              <a:ext uri="{FF2B5EF4-FFF2-40B4-BE49-F238E27FC236}">
                <a16:creationId xmlns:a16="http://schemas.microsoft.com/office/drawing/2014/main" id="{52026727-1014-4BAD-90B1-93487C3F6680}"/>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51" name="">
            <a:extLst xmlns:a="http://schemas.openxmlformats.org/drawingml/2006/main">
              <a:ext uri="{FF2B5EF4-FFF2-40B4-BE49-F238E27FC236}">
                <a16:creationId xmlns:a16="http://schemas.microsoft.com/office/drawing/2014/main" id="{1EAE6832-8BF8-4684-88A3-8B1A5660BA80}"/>
              </a:ext>
            </a:extLst>
          </p:cNvPr>
          <p:cNvSpPr>
            <a:spLocks xmlns:a="http://schemas.openxmlformats.org/drawingml/2006/main" noGrp="1"/>
          </p:cNvSpPr>
          <p:nvPr/>
        </p:nvSpPr>
        <p:spPr>
          <a:xfrm xmlns:a="http://schemas.openxmlformats.org/drawingml/2006/main" rot="0" flipH="0" flipV="0">
            <a:off x="4371975" y="32004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用 Animal[] 保存不同子类对象，并在循环中调用 speak()。</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Store different subclasses in Animal[] and call speak() in a loop.</a:t>
            </a:r>
          </a:p>
        </p:txBody>
      </p:sp>
      <p:sp>
        <p:nvSpPr>
          <p:cNvPr id="1052" name="">
            <a:extLst xmlns:a="http://schemas.openxmlformats.org/drawingml/2006/main">
              <a:ext uri="{FF2B5EF4-FFF2-40B4-BE49-F238E27FC236}">
                <a16:creationId xmlns:a16="http://schemas.microsoft.com/office/drawing/2014/main" id="{9547D59C-AE05-4B3A-A6AB-2260D5952774}"/>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53" name="">
            <a:extLst xmlns:a="http://schemas.openxmlformats.org/drawingml/2006/main">
              <a:ext uri="{FF2B5EF4-FFF2-40B4-BE49-F238E27FC236}">
                <a16:creationId xmlns:a16="http://schemas.microsoft.com/office/drawing/2014/main" id="{1A269189-544C-40E1-B07E-0DC3235EC898}"/>
              </a:ext>
            </a:extLst>
          </p:cNvPr>
          <p:cNvSpPr>
            <a:spLocks xmlns:a="http://schemas.openxmlformats.org/drawingml/2006/main" noGrp="1"/>
          </p:cNvSpPr>
          <p:nvPr/>
        </p:nvSpPr>
        <p:spPr>
          <a:xfrm xmlns:a="http://schemas.openxmlformats.org/drawingml/2006/main" rot="0" flipH="0" flipV="0">
            <a:off x="4371975" y="37623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文件名：PolymorphicAnimalPractice.java</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File: PolymorphicAnimalPractice.java</a:t>
            </a:r>
          </a:p>
        </p:txBody>
      </p:sp>
      <p:sp>
        <p:nvSpPr>
          <p:cNvPr id="1054" name="">
            <a:extLst xmlns:a="http://schemas.openxmlformats.org/drawingml/2006/main">
              <a:ext uri="{FF2B5EF4-FFF2-40B4-BE49-F238E27FC236}">
                <a16:creationId xmlns:a16="http://schemas.microsoft.com/office/drawing/2014/main" id="{B3C965AA-787F-4EF1-A4EC-49611C048F8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85 / 87</a:t>
            </a:r>
            <a:endParaRPr/>
          </a:p>
        </p:txBody>
      </p:sp>
    </p:spTree>
    <p:extLst>
      <p:ext uri="{BB962C8B-B14F-4D97-AF65-F5344CB8AC3E}">
        <p14:creationId xmlns:p14="http://schemas.microsoft.com/office/powerpoint/2010/main" val="1490139953"/>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1043" name="">
            <a:extLst xmlns:a="http://schemas.openxmlformats.org/drawingml/2006/main">
              <a:ext uri="{FF2B5EF4-FFF2-40B4-BE49-F238E27FC236}">
                <a16:creationId xmlns:a16="http://schemas.microsoft.com/office/drawing/2014/main" id="{9485057B-58B0-4E47-B46D-23825451AD9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044" name="">
            <a:extLst xmlns:a="http://schemas.openxmlformats.org/drawingml/2006/main">
              <a:ext uri="{FF2B5EF4-FFF2-40B4-BE49-F238E27FC236}">
                <a16:creationId xmlns:a16="http://schemas.microsoft.com/office/drawing/2014/main" id="{E1BD8A5D-8272-4A07-B5BB-7FFC1517353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045" name="">
            <a:extLst xmlns:a="http://schemas.openxmlformats.org/drawingml/2006/main">
              <a:ext uri="{FF2B5EF4-FFF2-40B4-BE49-F238E27FC236}">
                <a16:creationId xmlns:a16="http://schemas.microsoft.com/office/drawing/2014/main" id="{686F053B-F57D-4A64-9D13-48D82A602C5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5 章 · 子类与继承</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5 · Subclasses and Inheritance</a:t>
            </a:r>
          </a:p>
        </p:txBody>
      </p:sp>
      <p:sp>
        <p:nvSpPr>
          <p:cNvPr id="1046" name="">
            <a:extLst xmlns:a="http://schemas.openxmlformats.org/drawingml/2006/main">
              <a:ext uri="{FF2B5EF4-FFF2-40B4-BE49-F238E27FC236}">
                <a16:creationId xmlns:a16="http://schemas.microsoft.com/office/drawing/2014/main" id="{B9D4671A-CA55-437F-A37A-768CCD25FC14}"/>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编程题 4</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Programming Task 4</a:t>
            </a:r>
          </a:p>
        </p:txBody>
      </p:sp>
      <p:sp>
        <p:nvSpPr>
          <p:cNvPr id="1047" name="">
            <a:extLst xmlns:a="http://schemas.openxmlformats.org/drawingml/2006/main">
              <a:ext uri="{FF2B5EF4-FFF2-40B4-BE49-F238E27FC236}">
                <a16:creationId xmlns:a16="http://schemas.microsoft.com/office/drawing/2014/main" id="{7E554CA8-4C1E-45DB-9DC9-1A53BFAD27A4}"/>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抽象图形面积</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Areas with abstract shapes</a:t>
            </a:r>
          </a:p>
        </p:txBody>
      </p:sp>
      <p:sp>
        <p:nvSpPr>
          <p:cNvPr id="1048" name="">
            <a:extLst xmlns:a="http://schemas.openxmlformats.org/drawingml/2006/main">
              <a:ext uri="{FF2B5EF4-FFF2-40B4-BE49-F238E27FC236}">
                <a16:creationId xmlns:a16="http://schemas.microsoft.com/office/drawing/2014/main" id="{99149279-AB11-44E1-8BBD-F94089A713C6}"/>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49" name="">
            <a:extLst xmlns:a="http://schemas.openxmlformats.org/drawingml/2006/main">
              <a:ext uri="{FF2B5EF4-FFF2-40B4-BE49-F238E27FC236}">
                <a16:creationId xmlns:a16="http://schemas.microsoft.com/office/drawing/2014/main" id="{DC84A00F-60B9-401F-8570-AEFC3C40B6F1}"/>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41986"/>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定义抽象类 Shape 和抽象方法 area()。</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Define abstract class Shape with abstract method area().</a:t>
            </a:r>
          </a:p>
        </p:txBody>
      </p:sp>
      <p:sp>
        <p:nvSpPr>
          <p:cNvPr id="1050" name="">
            <a:extLst xmlns:a="http://schemas.openxmlformats.org/drawingml/2006/main">
              <a:ext uri="{FF2B5EF4-FFF2-40B4-BE49-F238E27FC236}">
                <a16:creationId xmlns:a16="http://schemas.microsoft.com/office/drawing/2014/main" id="{52026727-1014-4BAD-90B1-93487C3F6680}"/>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51" name="">
            <a:extLst xmlns:a="http://schemas.openxmlformats.org/drawingml/2006/main">
              <a:ext uri="{FF2B5EF4-FFF2-40B4-BE49-F238E27FC236}">
                <a16:creationId xmlns:a16="http://schemas.microsoft.com/office/drawing/2014/main" id="{1EAE6832-8BF8-4684-88A3-8B1A5660BA80}"/>
              </a:ext>
            </a:extLst>
          </p:cNvPr>
          <p:cNvSpPr>
            <a:spLocks xmlns:a="http://schemas.openxmlformats.org/drawingml/2006/main" noGrp="1"/>
          </p:cNvSpPr>
          <p:nvPr/>
        </p:nvSpPr>
        <p:spPr>
          <a:xfrm xmlns:a="http://schemas.openxmlformats.org/drawingml/2006/main" rot="0" flipH="0" flipV="0">
            <a:off x="4371975" y="32004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Circle、Rectangle 实现 area()，用 Shape 引用统一调用。</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Implement area() in Circle and Rectangle and call through Shape references.</a:t>
            </a:r>
          </a:p>
        </p:txBody>
      </p:sp>
      <p:sp>
        <p:nvSpPr>
          <p:cNvPr id="1052" name="">
            <a:extLst xmlns:a="http://schemas.openxmlformats.org/drawingml/2006/main">
              <a:ext uri="{FF2B5EF4-FFF2-40B4-BE49-F238E27FC236}">
                <a16:creationId xmlns:a16="http://schemas.microsoft.com/office/drawing/2014/main" id="{9547D59C-AE05-4B3A-A6AB-2260D5952774}"/>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53" name="">
            <a:extLst xmlns:a="http://schemas.openxmlformats.org/drawingml/2006/main">
              <a:ext uri="{FF2B5EF4-FFF2-40B4-BE49-F238E27FC236}">
                <a16:creationId xmlns:a16="http://schemas.microsoft.com/office/drawing/2014/main" id="{1A269189-544C-40E1-B07E-0DC3235EC898}"/>
              </a:ext>
            </a:extLst>
          </p:cNvPr>
          <p:cNvSpPr>
            <a:spLocks xmlns:a="http://schemas.openxmlformats.org/drawingml/2006/main" noGrp="1"/>
          </p:cNvSpPr>
          <p:nvPr/>
        </p:nvSpPr>
        <p:spPr>
          <a:xfrm xmlns:a="http://schemas.openxmlformats.org/drawingml/2006/main" rot="0" flipH="0" flipV="0">
            <a:off x="4371975" y="37623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文件名：AbstractShapePractice.java</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File: AbstractShapePractice.java</a:t>
            </a:r>
          </a:p>
        </p:txBody>
      </p:sp>
      <p:sp>
        <p:nvSpPr>
          <p:cNvPr id="1054" name="">
            <a:extLst xmlns:a="http://schemas.openxmlformats.org/drawingml/2006/main">
              <a:ext uri="{FF2B5EF4-FFF2-40B4-BE49-F238E27FC236}">
                <a16:creationId xmlns:a16="http://schemas.microsoft.com/office/drawing/2014/main" id="{B3C965AA-787F-4EF1-A4EC-49611C048F8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86 / 87</a:t>
            </a:r>
            <a:endParaRPr/>
          </a:p>
        </p:txBody>
      </p:sp>
    </p:spTree>
    <p:extLst>
      <p:ext uri="{BB962C8B-B14F-4D97-AF65-F5344CB8AC3E}">
        <p14:creationId xmlns:p14="http://schemas.microsoft.com/office/powerpoint/2010/main" val="1490139953"/>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1056" name="">
            <a:extLst xmlns:a="http://schemas.openxmlformats.org/drawingml/2006/main">
              <a:ext uri="{FF2B5EF4-FFF2-40B4-BE49-F238E27FC236}">
                <a16:creationId xmlns:a16="http://schemas.microsoft.com/office/drawing/2014/main" id="{7FCE108B-7645-4C0D-8CB7-473AF4F825CD}"/>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57" name="">
            <a:extLst xmlns:a="http://schemas.openxmlformats.org/drawingml/2006/main">
              <a:ext uri="{FF2B5EF4-FFF2-40B4-BE49-F238E27FC236}">
                <a16:creationId xmlns:a16="http://schemas.microsoft.com/office/drawing/2014/main" id="{EB819D84-AA91-4391-9CC4-471D392FD939}"/>
              </a:ext>
            </a:extLst>
          </p:cNvPr>
          <p:cNvSpPr>
            <a:spLocks xmlns:a="http://schemas.openxmlformats.org/drawingml/2006/main" noGrp="1"/>
          </p:cNvSpPr>
          <p:nvPr/>
        </p:nvSpPr>
        <p:spPr>
          <a:xfrm xmlns:a="http://schemas.openxmlformats.org/drawingml/2006/main" rot="0" flipH="0" flipV="0">
            <a:off x="571500" y="571500"/>
            <a:ext cx="11049000" cy="5715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058" name="">
            <a:extLst xmlns:a="http://schemas.openxmlformats.org/drawingml/2006/main">
              <a:ext uri="{FF2B5EF4-FFF2-40B4-BE49-F238E27FC236}">
                <a16:creationId xmlns:a16="http://schemas.microsoft.com/office/drawing/2014/main" id="{387F371A-A836-4BED-B717-109B1A8F9918}"/>
              </a:ext>
            </a:extLst>
          </p:cNvPr>
          <p:cNvSpPr>
            <a:spLocks xmlns:a="http://schemas.openxmlformats.org/drawingml/2006/main" noGrp="1"/>
          </p:cNvSpPr>
          <p:nvPr/>
        </p:nvSpPr>
        <p:spPr>
          <a:xfrm xmlns:a="http://schemas.openxmlformats.org/drawingml/2006/main" rot="0" flipH="0" flipV="0">
            <a:off x="3848100" y="2457450"/>
            <a:ext cx="4495800" cy="9144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6000" b="1">
                <a:solidFill>
                  <a:srgbClr val="0E3F8C"/>
                </a:solidFill>
                <a:latin typeface="Microsoft YaHei"/>
                <a:ea typeface="Microsoft YaHei"/>
                <a:cs typeface="Microsoft YaHei"/>
              </a:rPr>
              <a:t>Thank You !</a:t>
            </a:r>
            <a:endParaRPr/>
          </a:p>
        </p:txBody>
      </p:sp>
      <p:sp>
        <p:nvSpPr>
          <p:cNvPr id="1059" name="">
            <a:extLst xmlns:a="http://schemas.openxmlformats.org/drawingml/2006/main">
              <a:ext uri="{FF2B5EF4-FFF2-40B4-BE49-F238E27FC236}">
                <a16:creationId xmlns:a16="http://schemas.microsoft.com/office/drawing/2014/main" id="{6236F62C-55BD-4143-BC6B-2DC4238C17AD}"/>
              </a:ext>
            </a:extLst>
          </p:cNvPr>
          <p:cNvSpPr>
            <a:spLocks xmlns:a="http://schemas.openxmlformats.org/drawingml/2006/main" noGrp="1"/>
          </p:cNvSpPr>
          <p:nvPr/>
        </p:nvSpPr>
        <p:spPr>
          <a:xfrm xmlns:a="http://schemas.openxmlformats.org/drawingml/2006/main" rot="0" flipH="0" flipV="0">
            <a:off x="4286250" y="3600450"/>
            <a:ext cx="3619500" cy="323850"/>
          </a:xfrm>
          <a:prstGeom xmlns:a="http://schemas.openxmlformats.org/drawingml/2006/main" prst="rect">
            <a:avLst/>
          </a:prstGeom>
        </p:spPr>
        <p:txBody>
          <a:bodyPr xmlns:a="http://schemas.openxmlformats.org/drawingml/2006/main" wrap="none" lIns="0" tIns="0" rIns="0" bIns="0">
            <a:normAutofit fontScale="31149"/>
          </a:bodyPr>
          <a:lstStyle xmlns:a="http://schemas.openxmlformats.org/drawingml/2006/main"/>
          <a:p xmlns:a="http://schemas.openxmlformats.org/drawingml/2006/main">
            <a:pPr marL="0">
              <a:lnSpc>
                <a:spcPct val="100000"/>
              </a:lnSpc>
              <a:spcBef>
                <a:spcPts val="0"/>
              </a:spcBef>
              <a:spcAft>
                <a:spcPts val="0"/>
              </a:spcAft>
              <a:buNone/>
            </a:pPr>
            <a:r>
              <a:rPr sz="3300" b="1">
                <a:solidFill>
                  <a:srgbClr val="1E4FA8"/>
                </a:solidFill>
                <a:latin typeface="Microsoft YaHei"/>
                <a:ea typeface="Microsoft YaHei"/>
                <a:cs typeface="Microsoft YaHei"/>
              </a:rPr>
              <a:t>第 5 章 · 子类与继承 到此结束</a:t>
            </a:r>
          </a:p>
          <a:p xmlns:a="http://schemas.openxmlformats.org/drawingml/2006/main">
            <a:pPr marL="0">
              <a:lnSpc>
                <a:spcPct val="100000"/>
              </a:lnSpc>
              <a:spcBef>
                <a:spcPts val="0"/>
              </a:spcBef>
              <a:spcAft>
                <a:spcPts val="0"/>
              </a:spcAft>
              <a:buNone/>
            </a:pPr>
            <a:r>
              <a:rPr sz="3300" b="1">
                <a:solidFill>
                  <a:srgbClr val="1E4FA8"/>
                </a:solidFill>
                <a:latin typeface="Microsoft YaHei"/>
                <a:ea typeface="Microsoft YaHei"/>
                <a:cs typeface="Microsoft YaHei"/>
              </a:rPr>
              <a:t>Chapter 5 · Subclassing and Inheritance That ends here</a:t>
            </a:r>
          </a:p>
        </p:txBody>
      </p:sp>
      <p:sp>
        <p:nvSpPr>
          <p:cNvPr id="1060" name="">
            <a:extLst xmlns:a="http://schemas.openxmlformats.org/drawingml/2006/main">
              <a:ext uri="{FF2B5EF4-FFF2-40B4-BE49-F238E27FC236}">
                <a16:creationId xmlns:a16="http://schemas.microsoft.com/office/drawing/2014/main" id="{034F4A50-0096-45FE-B41C-04925D45DEB0}"/>
              </a:ext>
            </a:extLst>
          </p:cNvPr>
          <p:cNvSpPr>
            <a:spLocks xmlns:a="http://schemas.openxmlformats.org/drawingml/2006/main" noGrp="1"/>
          </p:cNvSpPr>
          <p:nvPr/>
        </p:nvSpPr>
        <p:spPr>
          <a:xfrm xmlns:a="http://schemas.openxmlformats.org/drawingml/2006/main" rot="0" flipH="0" flipV="0">
            <a:off x="5619750" y="4267200"/>
            <a:ext cx="952500" cy="38100"/>
          </a:xfrm>
          <a:prstGeom xmlns:a="http://schemas.openxmlformats.org/drawingml/2006/main" prst="rect">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1061" name="">
            <a:extLst xmlns:a="http://schemas.openxmlformats.org/drawingml/2006/main">
              <a:ext uri="{FF2B5EF4-FFF2-40B4-BE49-F238E27FC236}">
                <a16:creationId xmlns:a16="http://schemas.microsoft.com/office/drawing/2014/main" id="{5543AF55-18A4-41AC-ADBE-219BFA1171BD}"/>
              </a:ext>
            </a:extLst>
          </p:cNvPr>
          <p:cNvSpPr>
            <a:spLocks xmlns:a="http://schemas.openxmlformats.org/drawingml/2006/main" noGrp="1"/>
          </p:cNvSpPr>
          <p:nvPr/>
        </p:nvSpPr>
        <p:spPr>
          <a:xfrm xmlns:a="http://schemas.openxmlformats.org/drawingml/2006/main" rot="0" flipH="0" flipV="0">
            <a:off x="11144250" y="61245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87 / 87</a:t>
            </a:r>
            <a:endParaRPr/>
          </a:p>
        </p:txBody>
      </p:sp>
    </p:spTree>
    <p:extLst>
      <p:ext uri="{BB962C8B-B14F-4D97-AF65-F5344CB8AC3E}">
        <p14:creationId xmlns:p14="http://schemas.microsoft.com/office/powerpoint/2010/main" val="17966467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2026-08-30T04:50:39.4460000Z</dcterms:created>
  <dcterms:modified xsi:type="dcterms:W3CDTF">2026-08-30T04:50:39.4460000Z</dcterms:modified>
</coreProperties>
</file>