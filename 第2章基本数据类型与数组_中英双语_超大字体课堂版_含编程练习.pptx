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[课堂运行示例]
课堂运行：课堂示例代码/第2章/IntLongCharDemo.java
先运行 int 部分：观察整数变量 students、totalScore，以及 (double) 强制转换后平均值保留小数。提问：去掉 (double) 会得到什么结果？
核心代码：int students = 45; int totalScore = 3860; double average = (double) totalScore / students;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[课堂运行示例]
课堂运行：课堂示例代码/第2章/IntLongCharDemo.java
观察 long population = 1_400_000_000L；说明较大的 long 常量末尾写 L。再讲 24L * 60 * 60 * 1000：第一个操作数写成 long，整个乘法按 long 计算。
核心代码：long millisecondsPerDay = 24L * 60 * 60 * 1000;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[课堂运行示例]
课堂运行：课堂示例代码/第2章/IntLongCharDemo.java
运行 char 部分：分别输出 'A'、'中'、'\u2605'，再把 grade 强制转成 int 查看 Unicode 编码。最后执行 grade++，观察 A 变成 B。
核心代码：char grade = 'A'; char chinese = '中'; char star = '\u2605'; System.out.println((int) grade);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[课堂运行示例]
课堂运行：课堂示例代码/第2章/UnicodeDemo.java
让学生先猜 A、好、★ 的编码，再运行；把 code 改成 67 再观察。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[课堂运行示例]
课堂运行：课堂示例代码/第2章/TypeConversionDemo.java
重点观察 34.89 转 int 后的小数丢失，以及 130 转 byte 后的溢出结果。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[课堂运行示例]
课堂运行：课堂示例代码/第2章/ScannerSumDemo.java
示例输入：10 20.5 3 0。先预测 count 与 sum，再运行验证。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[课堂运行示例]
课堂运行：课堂示例代码/第2章/ArrayBasicsDemo.java
逐步演示声明、初始化、length、下标遍历和平均值计算。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[课堂运行示例]
课堂运行：课堂示例代码/第2章/BinarySearchDemo.java
逐轮观察 low、high、mid。先查找 31，再把 target 改成 30 演示未找到。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[编程题参考答案 / Reference Solution]</a:t>
            </a:r>
          </a:p>
          <a:p>
            <a:r>
              <a:t>参考代码 / Reference solution:</a:t>
            </a:r>
          </a:p>
          <a:p>
            <a:r>
              <a:t>public class IntLongCharReport {</a:t>
            </a:r>
          </a:p>
          <a:p>
            <a:r>
              <a:t>    public static void main(String[] args) {</a:t>
            </a:r>
          </a:p>
          <a:p>
            <a:r>
              <a:t>        int age = 18;</a:t>
            </a:r>
          </a:p>
          <a:p>
            <a:r>
              <a:t>        long population = 1_400_000_000L;</a:t>
            </a:r>
          </a:p>
          <a:p>
            <a:r>
              <a:t>        char grade = 'A';</a:t>
            </a:r>
          </a:p>
          <a:p>
            <a:r>
              <a:t>        System.out.println(age);</a:t>
            </a:r>
          </a:p>
          <a:p>
            <a:r>
              <a:t>        System.out.println(population);</a:t>
            </a:r>
          </a:p>
          <a:p>
            <a:r>
              <a:t>        System.out.println(grade);</a:t>
            </a:r>
          </a:p>
          <a:p>
            <a:r>
              <a:t>        System.out.println((int) grade);</a:t>
            </a:r>
          </a:p>
          <a:p>
            <a:r>
              <a:t>        grade++;</a:t>
            </a:r>
          </a:p>
          <a:p>
            <a:r>
              <a:t>        System.out.println(grade);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[Sources]</a:t>
            </a:r>
          </a:p>
          <a:p>
            <a:r>
              <a:t>No external sources. Original instructional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[编程题参考答案 / Reference Solution]</a:t>
            </a:r>
          </a:p>
          <a:p>
            <a:r>
              <a:t>参考代码 / Reference solution:</a:t>
            </a:r>
          </a:p>
          <a:p>
            <a:r>
              <a:t>import java.util.Scanner;</a:t>
            </a:r>
          </a:p>
          <a:p/>
          <a:p>
            <a:r>
              <a:t>public class RectangleInput {</a:t>
            </a:r>
          </a:p>
          <a:p>
            <a:r>
              <a:t>    public static void main(String[] args) {</a:t>
            </a:r>
          </a:p>
          <a:p>
            <a:r>
              <a:t>        Scanner input = new Scanner(System.in);</a:t>
            </a:r>
          </a:p>
          <a:p>
            <a:r>
              <a:t>        double length = input.nextDouble();</a:t>
            </a:r>
          </a:p>
          <a:p>
            <a:r>
              <a:t>        double width = input.nextDouble();</a:t>
            </a:r>
          </a:p>
          <a:p>
            <a:r>
              <a:t>        double area = length * width;</a:t>
            </a:r>
          </a:p>
          <a:p>
            <a:r>
              <a:t>        double perimeter = 2 * (length + width);</a:t>
            </a:r>
          </a:p>
          <a:p>
            <a:r>
              <a:t>        System.out.println("面积：" + area);</a:t>
            </a:r>
          </a:p>
          <a:p>
            <a:r>
              <a:t>        System.out.println("周长：" + perimeter);</a:t>
            </a:r>
          </a:p>
          <a:p>
            <a:r>
              <a:t>        System.out.println("整数面积：" + (int) area); // 强制转换会截掉小数部分</a:t>
            </a:r>
          </a:p>
          <a:p>
            <a:r>
              <a:t>        input.close();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输入 5.5 3.2 时：面积 17.6，周长 17.4，整数面积 17。</a:t>
            </a:r>
          </a:p>
          <a:p/>
          <a:p>
            <a:r>
              <a:t>[Sources]</a:t>
            </a:r>
          </a:p>
          <a:p>
            <a:r>
              <a:t>No external sources. Original instructional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[编程题参考答案 / Reference Solution]</a:t>
            </a:r>
          </a:p>
          <a:p>
            <a:r>
              <a:t>参考代码 / Reference solution:</a:t>
            </a:r>
          </a:p>
          <a:p>
            <a:r>
              <a:t>import java.util.Scanner;</a:t>
            </a:r>
          </a:p>
          <a:p/>
          <a:p>
            <a:r>
              <a:t>public class ScoreStatistics {</a:t>
            </a:r>
          </a:p>
          <a:p>
            <a:r>
              <a:t>    public static void main(String[] args) {</a:t>
            </a:r>
          </a:p>
          <a:p>
            <a:r>
              <a:t>        Scanner input = new Scanner(System.in);</a:t>
            </a:r>
          </a:p>
          <a:p>
            <a:r>
              <a:t>        int[] scores = new int[5];</a:t>
            </a:r>
          </a:p>
          <a:p>
            <a:r>
              <a:t>        int sum = 0;</a:t>
            </a:r>
          </a:p>
          <a:p>
            <a:r>
              <a:t>        for (int i = 0; i &lt; scores.length; i++) {</a:t>
            </a:r>
          </a:p>
          <a:p>
            <a:r>
              <a:t>            scores[i] = input.nextInt();</a:t>
            </a:r>
          </a:p>
          <a:p>
            <a:r>
              <a:t>            sum += scores[i];</a:t>
            </a:r>
          </a:p>
          <a:p>
            <a:r>
              <a:t>        }</a:t>
            </a:r>
          </a:p>
          <a:p>
            <a:r>
              <a:t>        int max = scores[0];</a:t>
            </a:r>
          </a:p>
          <a:p>
            <a:r>
              <a:t>        int min = scores[0];</a:t>
            </a:r>
          </a:p>
          <a:p>
            <a:r>
              <a:t>        for (int score : scores) {</a:t>
            </a:r>
          </a:p>
          <a:p>
            <a:r>
              <a:t>            if (score &gt; max) max = score;</a:t>
            </a:r>
          </a:p>
          <a:p>
            <a:r>
              <a:t>            if (score &lt; min) min = score;</a:t>
            </a:r>
          </a:p>
          <a:p>
            <a:r>
              <a:t>        }</a:t>
            </a:r>
          </a:p>
          <a:p>
            <a:r>
              <a:t>        System.out.println("总分：" + sum);</a:t>
            </a:r>
          </a:p>
          <a:p>
            <a:r>
              <a:t>        System.out.println("平均分：" + (double) sum / scores.length);</a:t>
            </a:r>
          </a:p>
          <a:p>
            <a:r>
              <a:t>        System.out.println("最高分：" + max);</a:t>
            </a:r>
          </a:p>
          <a:p>
            <a:r>
              <a:t>        System.out.println("最低分：" + min);</a:t>
            </a:r>
          </a:p>
          <a:p>
            <a:r>
              <a:t>        for (int i = scores.length - 1; i &gt;= 0; i--) {</a:t>
            </a:r>
          </a:p>
          <a:p>
            <a:r>
              <a:t>            System.out.print(scores[i] + " ");</a:t>
            </a:r>
          </a:p>
          <a:p>
            <a:r>
              <a:t>        }</a:t>
            </a:r>
          </a:p>
          <a:p>
            <a:r>
              <a:t>        input.close();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[Sources]</a:t>
            </a:r>
          </a:p>
          <a:p>
            <a:r>
              <a:t>No external sources. Original instructional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71500"/>
            <a:ext cx="11049000" cy="5715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657600" y="1295400"/>
            <a:ext cx="4876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 spc="4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PROGRAMMING · CHAPTER 02</a:t>
            </a:r>
            <a:endParaRPr sz="1350" b="1" spc="45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752850" y="1676400"/>
            <a:ext cx="4686300" cy="1047750"/>
          </a:xfrm>
          <a:prstGeom prst="rect">
            <a:avLst/>
          </a:prstGeom>
        </p:spPr>
        <p:txBody>
          <a:bodyPr wrap="none" lIns="0" tIns="0" rIns="0" bIns="0">
            <a:normAutofit fontScale="275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48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程序设计</a:t>
            </a:r>
            <a:endParaRPr sz="1248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48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programming</a:t>
            </a:r>
            <a:endParaRPr sz="1248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324225" y="2895600"/>
            <a:ext cx="5553075" cy="657225"/>
          </a:xfrm>
          <a:prstGeom prst="rect">
            <a:avLst/>
          </a:prstGeom>
        </p:spPr>
        <p:txBody>
          <a:bodyPr wrap="none" lIns="0" tIns="0" rIns="0" bIns="0">
            <a:normAutofit fontScale="2982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72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72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0" y="3724275"/>
            <a:ext cx="762000" cy="38100"/>
          </a:xfrm>
          <a:prstGeom prst="rect">
            <a:avLst/>
          </a:prstGeom>
          <a:solidFill>
            <a:srgbClr val="D9534F"/>
          </a:solidFill>
        </p:spPr>
        <p:txBody>
          <a:bodyPr/>
          <a:lstStyle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781300" y="5172075"/>
            <a:ext cx="6629400" cy="9525"/>
          </a:xfrm>
          <a:prstGeom prst="rect">
            <a:avLst/>
          </a:prstGeom>
          <a:solidFill>
            <a:srgbClr val="D6DCE5"/>
          </a:solidFill>
        </p:spPr>
        <p:txBody>
          <a:bodyPr/>
          <a:lstStyle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19600" y="5314950"/>
            <a:ext cx="3352800" cy="257175"/>
          </a:xfrm>
          <a:prstGeom prst="rect">
            <a:avLst/>
          </a:prstGeom>
        </p:spPr>
        <p:txBody>
          <a:bodyPr wrap="none" lIns="0" tIns="0" rIns="0" bIns="0">
            <a:normAutofit fontScale="23373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1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中国石油大学（北京）克拉玛依校区</a:t>
            </a:r>
            <a:endParaRPr sz="361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1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China University of Petroleum (Beijing) Karamay Campus</a:t>
            </a:r>
            <a:endParaRPr sz="361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372100" y="5705475"/>
            <a:ext cx="1447800" cy="219075"/>
          </a:xfrm>
          <a:prstGeom prst="rect">
            <a:avLst/>
          </a:prstGeom>
        </p:spPr>
        <p:txBody>
          <a:bodyPr wrap="none" lIns="0" tIns="0" rIns="0" bIns="0">
            <a:normAutofit fontScale="90439"/>
          </a:bodyPr>
          <a:lstStyle/>
          <a:p>
            <a:pPr>
              <a:lnSpc>
                <a:spcPct val="100000"/>
              </a:lnSpc>
              <a:buNone/>
            </a:pPr>
            <a:endParaRPr sz="14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3" name="矩形 17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74" name="矩形 173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75" name="矩形 174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" name="矩形 175"/>
          <p:cNvSpPr>
            <a:spLocks noGrp="1"/>
          </p:cNvSpPr>
          <p:nvPr/>
        </p:nvSpPr>
        <p:spPr>
          <a:xfrm>
            <a:off x="5391150" y="2133600"/>
            <a:ext cx="1419225" cy="1371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9000" b="1">
                <a:solidFill>
                  <a:srgbClr val="DCE4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0" b="1">
              <a:solidFill>
                <a:srgbClr val="DCE4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矩形 176"/>
          <p:cNvSpPr>
            <a:spLocks noGrp="1"/>
          </p:cNvSpPr>
          <p:nvPr/>
        </p:nvSpPr>
        <p:spPr>
          <a:xfrm>
            <a:off x="5753100" y="3695700"/>
            <a:ext cx="685800" cy="38100"/>
          </a:xfrm>
          <a:prstGeom prst="rect">
            <a:avLst/>
          </a:prstGeom>
          <a:solidFill>
            <a:srgbClr val="D9534F"/>
          </a:solidFill>
        </p:spPr>
        <p:txBody>
          <a:bodyPr/>
          <a:lstStyle/>
          <a:p/>
        </p:txBody>
      </p:sp>
      <p:sp>
        <p:nvSpPr>
          <p:cNvPr id="178" name="矩形 177"/>
          <p:cNvSpPr>
            <a:spLocks noGrp="1"/>
          </p:cNvSpPr>
          <p:nvPr/>
        </p:nvSpPr>
        <p:spPr>
          <a:xfrm>
            <a:off x="4210050" y="3924300"/>
            <a:ext cx="3771900" cy="504825"/>
          </a:xfrm>
          <a:prstGeom prst="rect">
            <a:avLst/>
          </a:prstGeom>
        </p:spPr>
        <p:txBody>
          <a:bodyPr wrap="none" lIns="0" tIns="0" rIns="0" bIns="0">
            <a:normAutofit fontScale="2290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3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基本数据类型与数组</a:t>
            </a:r>
            <a:endParaRPr sz="723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3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Basic data types and arrays</a:t>
            </a:r>
            <a:endParaRPr sz="723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9" name="矩形 178"/>
          <p:cNvSpPr>
            <a:spLocks noGrp="1"/>
          </p:cNvSpPr>
          <p:nvPr/>
        </p:nvSpPr>
        <p:spPr>
          <a:xfrm>
            <a:off x="3343275" y="4695825"/>
            <a:ext cx="5514975" cy="209550"/>
          </a:xfrm>
          <a:prstGeom prst="rect">
            <a:avLst/>
          </a:prstGeom>
        </p:spPr>
        <p:txBody>
          <a:bodyPr wrap="none" lIns="0" tIns="0" rIns="0" bIns="0">
            <a:normAutofit fontScale="2213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本章内容不多，但都是后面所有章节的「地基」——务必亲手敲一遍例子</a:t>
            </a:r>
            <a:endParaRPr sz="29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There is not much content in this chapter, but it is the "foundation" for all subsequent chapters - be sure to type out the examples yourself</a:t>
            </a:r>
            <a:endParaRPr sz="29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" name="矩形 179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1" name="矩形 35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52" name="矩形 351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53" name="矩形 352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4" name="矩形 353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导读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Introduction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5" name="矩形 354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本章学什么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What to learn in this chapter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6" name="矩形 355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57" name="矩形 356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4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8" name="圆角矩形 357"/>
          <p:cNvSpPr>
            <a:spLocks noGrp="1"/>
          </p:cNvSpPr>
          <p:nvPr/>
        </p:nvSpPr>
        <p:spPr>
          <a:xfrm>
            <a:off x="4181475" y="2638425"/>
            <a:ext cx="3714750" cy="2076450"/>
          </a:xfrm>
          <a:prstGeom prst="roundRect">
            <a:avLst>
              <a:gd name="adj" fmla="val 4587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359" name="矩形 358"/>
          <p:cNvSpPr>
            <a:spLocks noGrp="1"/>
          </p:cNvSpPr>
          <p:nvPr/>
        </p:nvSpPr>
        <p:spPr>
          <a:xfrm>
            <a:off x="4371975" y="2790825"/>
            <a:ext cx="3333750" cy="200025"/>
          </a:xfrm>
          <a:prstGeom prst="rect">
            <a:avLst/>
          </a:prstGeom>
        </p:spPr>
        <p:txBody>
          <a:bodyPr wrap="none" lIns="0" tIns="0" rIns="0" bIns="0">
            <a:normAutofit fontScale="2352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主要内容</a:t>
            </a:r>
            <a:endParaRPr sz="27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 content</a:t>
            </a:r>
            <a:endParaRPr sz="27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0" name="矩形 359"/>
          <p:cNvSpPr>
            <a:spLocks noGrp="1"/>
          </p:cNvSpPr>
          <p:nvPr/>
        </p:nvSpPr>
        <p:spPr>
          <a:xfrm>
            <a:off x="4371975" y="3028950"/>
            <a:ext cx="3333750" cy="276225"/>
          </a:xfrm>
          <a:prstGeom prst="rect">
            <a:avLst/>
          </a:prstGeom>
        </p:spPr>
        <p:txBody>
          <a:bodyPr wrap="none" lIns="0" tIns="0" rIns="0" bIns="0">
            <a:normAutofit fontScale="3445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标识符与关键字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Identifiers and Keywords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1" name="矩形 360"/>
          <p:cNvSpPr>
            <a:spLocks noGrp="1"/>
          </p:cNvSpPr>
          <p:nvPr/>
        </p:nvSpPr>
        <p:spPr>
          <a:xfrm>
            <a:off x="4371975" y="3343275"/>
            <a:ext cx="3333750" cy="276225"/>
          </a:xfrm>
          <a:prstGeom prst="rect">
            <a:avLst/>
          </a:prstGeom>
        </p:spPr>
        <p:txBody>
          <a:bodyPr wrap="none" lIns="0" tIns="0" rIns="0" bIns="0">
            <a:normAutofit fontScale="3445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基本数据类型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Basic data types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2" name="矩形 361"/>
          <p:cNvSpPr>
            <a:spLocks noGrp="1"/>
          </p:cNvSpPr>
          <p:nvPr/>
        </p:nvSpPr>
        <p:spPr>
          <a:xfrm>
            <a:off x="4371975" y="3657600"/>
            <a:ext cx="3333750" cy="276225"/>
          </a:xfrm>
          <a:prstGeom prst="rect">
            <a:avLst/>
          </a:prstGeom>
        </p:spPr>
        <p:txBody>
          <a:bodyPr wrap="none" lIns="0" tIns="0" rIns="0" bIns="0">
            <a:normAutofit fontScale="3445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类型转换运算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conversion operation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3" name="矩形 362"/>
          <p:cNvSpPr>
            <a:spLocks noGrp="1"/>
          </p:cNvSpPr>
          <p:nvPr/>
        </p:nvSpPr>
        <p:spPr>
          <a:xfrm>
            <a:off x="4371975" y="3971925"/>
            <a:ext cx="3333750" cy="276225"/>
          </a:xfrm>
          <a:prstGeom prst="rect">
            <a:avLst/>
          </a:prstGeom>
        </p:spPr>
        <p:txBody>
          <a:bodyPr wrap="none" lIns="0" tIns="0" rIns="0" bIns="0">
            <a:normAutofit fontScale="3445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输入、输出数据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 and output data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4" name="矩形 363"/>
          <p:cNvSpPr>
            <a:spLocks noGrp="1"/>
          </p:cNvSpPr>
          <p:nvPr/>
        </p:nvSpPr>
        <p:spPr>
          <a:xfrm>
            <a:off x="4371975" y="4286250"/>
            <a:ext cx="3333750" cy="276225"/>
          </a:xfrm>
          <a:prstGeom prst="rect">
            <a:avLst/>
          </a:prstGeom>
        </p:spPr>
        <p:txBody>
          <a:bodyPr wrap="none" lIns="0" tIns="0" rIns="0" bIns="0">
            <a:normAutofit fontScale="3445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array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5" name="圆角矩形 364"/>
          <p:cNvSpPr>
            <a:spLocks noGrp="1"/>
          </p:cNvSpPr>
          <p:nvPr/>
        </p:nvSpPr>
        <p:spPr>
          <a:xfrm>
            <a:off x="8029575" y="2638425"/>
            <a:ext cx="3705225" cy="2076450"/>
          </a:xfrm>
          <a:prstGeom prst="roundRect">
            <a:avLst>
              <a:gd name="adj" fmla="val 4587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366" name="矩形 365"/>
          <p:cNvSpPr>
            <a:spLocks noGrp="1"/>
          </p:cNvSpPr>
          <p:nvPr/>
        </p:nvSpPr>
        <p:spPr>
          <a:xfrm>
            <a:off x="8220075" y="2790825"/>
            <a:ext cx="3324225" cy="200025"/>
          </a:xfrm>
          <a:prstGeom prst="rect">
            <a:avLst/>
          </a:prstGeom>
        </p:spPr>
        <p:txBody>
          <a:bodyPr wrap="none" lIns="0" tIns="0" rIns="0" bIns="0">
            <a:normAutofit fontScale="2352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重点和难点</a:t>
            </a:r>
            <a:endParaRPr sz="27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points and difficulties</a:t>
            </a:r>
            <a:endParaRPr sz="27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7" name="矩形 366"/>
          <p:cNvSpPr>
            <a:spLocks noGrp="1"/>
          </p:cNvSpPr>
          <p:nvPr/>
        </p:nvSpPr>
        <p:spPr>
          <a:xfrm>
            <a:off x="8220075" y="3028950"/>
            <a:ext cx="3324225" cy="276225"/>
          </a:xfrm>
          <a:prstGeom prst="rect">
            <a:avLst/>
          </a:prstGeom>
        </p:spPr>
        <p:txBody>
          <a:bodyPr wrap="none" lIns="0" tIns="0" rIns="0" bIns="0">
            <a:normAutofit fontScale="3445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重点：标识符、Java 语言的数据类型、数组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Focus: Identifiers, Java data types, arrays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8" name="矩形 367"/>
          <p:cNvSpPr>
            <a:spLocks noGrp="1"/>
          </p:cNvSpPr>
          <p:nvPr/>
        </p:nvSpPr>
        <p:spPr>
          <a:xfrm>
            <a:off x="8220075" y="3343275"/>
            <a:ext cx="3324225" cy="276225"/>
          </a:xfrm>
          <a:prstGeom prst="rect">
            <a:avLst/>
          </a:prstGeom>
        </p:spPr>
        <p:txBody>
          <a:bodyPr wrap="none" lIns="0" tIns="0" rIns="0" bIns="0">
            <a:normAutofit fontScale="3445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难点：基本数据类型的精度与数组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Difficulty: Precision of basic data types and arrays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9" name="矩形 368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1" name="矩形 39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92" name="矩形 391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93" name="矩形 392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4" name="矩形 393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§2.1 标识符与关键字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§2.1 Identifiers and keywords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5" name="矩形 394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标识符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identifier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6" name="矩形 395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97" name="矩形 396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简单说，标识符就是给代码里的东西起的一个「名字」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Simply put, an identifier is a "name" given to something in the code.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8" name="圆角矩形 397"/>
          <p:cNvSpPr>
            <a:spLocks noGrp="1"/>
          </p:cNvSpPr>
          <p:nvPr/>
        </p:nvSpPr>
        <p:spPr>
          <a:xfrm>
            <a:off x="4181475" y="2381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99" name="矩形 398"/>
          <p:cNvSpPr>
            <a:spLocks noGrp="1"/>
          </p:cNvSpPr>
          <p:nvPr/>
        </p:nvSpPr>
        <p:spPr>
          <a:xfrm>
            <a:off x="4371975" y="22669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4472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1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用来标识类名、变量名、方法名、类型名、数组名、文件名的有效字符序列</a:t>
            </a:r>
            <a:endParaRPr sz="191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1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valid character sequence used to identify class names, variable names, method names, </a:t>
            </a:r>
            <a:endParaRPr sz="191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1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names, array names, and file names.</a:t>
            </a:r>
            <a:endParaRPr sz="191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圆角矩形 399"/>
          <p:cNvSpPr>
            <a:spLocks noGrp="1"/>
          </p:cNvSpPr>
          <p:nvPr/>
        </p:nvSpPr>
        <p:spPr>
          <a:xfrm>
            <a:off x="4181475" y="2943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01" name="矩形 400"/>
          <p:cNvSpPr>
            <a:spLocks noGrp="1"/>
          </p:cNvSpPr>
          <p:nvPr/>
        </p:nvSpPr>
        <p:spPr>
          <a:xfrm>
            <a:off x="4371975" y="290068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由字母、下划线、美元符号和数字组成，长度不受限制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Consists of letters, underscores, dollar signs, and numbers with no limit on length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圆角矩形 401"/>
          <p:cNvSpPr>
            <a:spLocks noGrp="1"/>
          </p:cNvSpPr>
          <p:nvPr/>
        </p:nvSpPr>
        <p:spPr>
          <a:xfrm>
            <a:off x="4181475" y="3505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03" name="矩形 402"/>
          <p:cNvSpPr>
            <a:spLocks noGrp="1"/>
          </p:cNvSpPr>
          <p:nvPr/>
        </p:nvSpPr>
        <p:spPr>
          <a:xfrm>
            <a:off x="4371975" y="33909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第一个字符不能是数字字符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first character cannot be a numeric character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圆角矩形 403"/>
          <p:cNvSpPr>
            <a:spLocks noGrp="1"/>
          </p:cNvSpPr>
          <p:nvPr/>
        </p:nvSpPr>
        <p:spPr>
          <a:xfrm>
            <a:off x="4181475" y="4067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05" name="矩形 404"/>
          <p:cNvSpPr>
            <a:spLocks noGrp="1"/>
          </p:cNvSpPr>
          <p:nvPr/>
        </p:nvSpPr>
        <p:spPr>
          <a:xfrm>
            <a:off x="4371975" y="39528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不能是关键字，也不能是 true、false 和 null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Cannot be a keyword, nor true, false, or null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6" name="圆角矩形 405"/>
          <p:cNvSpPr>
            <a:spLocks noGrp="1"/>
          </p:cNvSpPr>
          <p:nvPr/>
        </p:nvSpPr>
        <p:spPr>
          <a:xfrm>
            <a:off x="4181475" y="4514850"/>
            <a:ext cx="7553325" cy="561975"/>
          </a:xfrm>
          <a:prstGeom prst="roundRect">
            <a:avLst>
              <a:gd name="adj" fmla="val 16949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407" name="矩形 406"/>
          <p:cNvSpPr>
            <a:spLocks noGrp="1"/>
          </p:cNvSpPr>
          <p:nvPr/>
        </p:nvSpPr>
        <p:spPr>
          <a:xfrm>
            <a:off x="4371975" y="4648200"/>
            <a:ext cx="7172325" cy="295275"/>
          </a:xfrm>
          <a:prstGeom prst="rect">
            <a:avLst/>
          </a:prstGeom>
        </p:spPr>
        <p:txBody>
          <a:bodyPr wrap="none" lIns="0" tIns="0" rIns="0" bIns="0">
            <a:normAutofit fontScale="3382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C 语言起名的习惯很像：见名知意，别用拼音缩写</a:t>
            </a:r>
            <a:endParaRPr sz="263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It’s very similar to the naming convention in C language: Know the meaning after seeing the name, don’t use pinyin abbreviations</a:t>
            </a:r>
            <a:endParaRPr sz="263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矩形 407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" name="矩形 40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11" name="矩形 410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12" name="矩形 411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矩形 412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§2.1 标识符与关键字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§2.1 Identifiers and keywords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4" name="矩形 413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关键字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Keywords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5" name="矩形 414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16" name="矩形 415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4500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有特定用途的单词，不允许拿来当标识符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Words with specific uses are not allowed to be used as identifiers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圆角矩形 416"/>
          <p:cNvSpPr>
            <a:spLocks noGrp="1"/>
          </p:cNvSpPr>
          <p:nvPr/>
        </p:nvSpPr>
        <p:spPr>
          <a:xfrm>
            <a:off x="4181475" y="2667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18" name="矩形 417"/>
          <p:cNvSpPr>
            <a:spLocks noGrp="1"/>
          </p:cNvSpPr>
          <p:nvPr/>
        </p:nvSpPr>
        <p:spPr>
          <a:xfrm>
            <a:off x="4371975" y="25527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关键字就是具有特定用途或被赋予特定意义的一些单词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Keywords are words that have a specific purpose or are given a specific meaning.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9" name="圆角矩形 418"/>
          <p:cNvSpPr>
            <a:spLocks noGrp="1"/>
          </p:cNvSpPr>
          <p:nvPr/>
        </p:nvSpPr>
        <p:spPr>
          <a:xfrm>
            <a:off x="4181475" y="32289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20" name="矩形 419"/>
          <p:cNvSpPr>
            <a:spLocks noGrp="1"/>
          </p:cNvSpPr>
          <p:nvPr/>
        </p:nvSpPr>
        <p:spPr>
          <a:xfrm>
            <a:off x="4371975" y="31146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例如：boolean、byte、short、int、float、double、char、if、else 等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example: boolean, byte, short, int, float, double, char, if, else, etc.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圆角矩形 420"/>
          <p:cNvSpPr>
            <a:spLocks noGrp="1"/>
          </p:cNvSpPr>
          <p:nvPr/>
        </p:nvSpPr>
        <p:spPr>
          <a:xfrm>
            <a:off x="4181475" y="3790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22" name="矩形 421"/>
          <p:cNvSpPr>
            <a:spLocks noGrp="1"/>
          </p:cNvSpPr>
          <p:nvPr/>
        </p:nvSpPr>
        <p:spPr>
          <a:xfrm>
            <a:off x="4371975" y="36766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关键字都是小写的——遇到大写，肯定不是关键字</a:t>
            </a: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，而是封装类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Keywords are all lowercase - if they are in uppercase, they are </a:t>
            </a: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warpped </a:t>
            </a: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3" name="圆角矩形 422"/>
          <p:cNvSpPr>
            <a:spLocks noGrp="1"/>
          </p:cNvSpPr>
          <p:nvPr/>
        </p:nvSpPr>
        <p:spPr>
          <a:xfrm>
            <a:off x="4181475" y="4238625"/>
            <a:ext cx="7553325" cy="561975"/>
          </a:xfrm>
          <a:prstGeom prst="roundRect">
            <a:avLst>
              <a:gd name="adj" fmla="val 16949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424" name="矩形 423"/>
          <p:cNvSpPr>
            <a:spLocks noGrp="1"/>
          </p:cNvSpPr>
          <p:nvPr/>
        </p:nvSpPr>
        <p:spPr>
          <a:xfrm>
            <a:off x="4371975" y="4371975"/>
            <a:ext cx="7172325" cy="295275"/>
          </a:xfrm>
          <a:prstGeom prst="rect">
            <a:avLst/>
          </a:prstGeom>
        </p:spPr>
        <p:txBody>
          <a:bodyPr wrap="none" lIns="0" tIns="0" rIns="0" bIns="0">
            <a:normAutofit fontScale="3683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语言里的 int、if、else 也是同样规则，迁移成本为零</a:t>
            </a:r>
            <a:endParaRPr sz="263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same rules apply to int, if, and else in C language, and the migration cost is zero.</a:t>
            </a:r>
            <a:endParaRPr sz="263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矩形 424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7" name="矩形 42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28" name="矩形 427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29" name="矩形 428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0" name="矩形 429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§2.2 基本数据类型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§2.2 Basic data types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1" name="矩形 430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种基本数据类型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basic data types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矩形 431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33" name="矩形 432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语言有 8 种基本数据类型，习惯上分为四大类型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Java has 8 basic data types, which are customarily divided into four major types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4" name="圆角矩形 433"/>
          <p:cNvSpPr>
            <a:spLocks noGrp="1"/>
          </p:cNvSpPr>
          <p:nvPr/>
        </p:nvSpPr>
        <p:spPr>
          <a:xfrm>
            <a:off x="4181475" y="3124200"/>
            <a:ext cx="1790700" cy="1095375"/>
          </a:xfrm>
          <a:prstGeom prst="roundRect">
            <a:avLst>
              <a:gd name="adj" fmla="val 8696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435" name="矩形 434"/>
          <p:cNvSpPr>
            <a:spLocks noGrp="1"/>
          </p:cNvSpPr>
          <p:nvPr/>
        </p:nvSpPr>
        <p:spPr>
          <a:xfrm>
            <a:off x="4371975" y="3276600"/>
            <a:ext cx="1409700" cy="200025"/>
          </a:xfrm>
          <a:prstGeom prst="rect">
            <a:avLst/>
          </a:prstGeom>
        </p:spPr>
        <p:txBody>
          <a:bodyPr wrap="none" lIns="0" tIns="0" rIns="0" bIns="0">
            <a:normAutofit fontScale="2352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逻辑类型</a:t>
            </a:r>
            <a:endParaRPr sz="27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logical type</a:t>
            </a:r>
            <a:endParaRPr sz="27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矩形 435"/>
          <p:cNvSpPr>
            <a:spLocks noGrp="1"/>
          </p:cNvSpPr>
          <p:nvPr/>
        </p:nvSpPr>
        <p:spPr>
          <a:xfrm>
            <a:off x="4371975" y="3514725"/>
            <a:ext cx="14097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boolean</a:t>
            </a: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true / false</a:t>
            </a:r>
            <a:endParaRPr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圆角矩形 436"/>
          <p:cNvSpPr>
            <a:spLocks noGrp="1"/>
          </p:cNvSpPr>
          <p:nvPr/>
        </p:nvSpPr>
        <p:spPr>
          <a:xfrm>
            <a:off x="6105525" y="3124200"/>
            <a:ext cx="1790700" cy="1095375"/>
          </a:xfrm>
          <a:prstGeom prst="roundRect">
            <a:avLst>
              <a:gd name="adj" fmla="val 8696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438" name="矩形 437"/>
          <p:cNvSpPr>
            <a:spLocks noGrp="1"/>
          </p:cNvSpPr>
          <p:nvPr/>
        </p:nvSpPr>
        <p:spPr>
          <a:xfrm>
            <a:off x="6296025" y="3276600"/>
            <a:ext cx="1409700" cy="200025"/>
          </a:xfrm>
          <a:prstGeom prst="rect">
            <a:avLst/>
          </a:prstGeom>
        </p:spPr>
        <p:txBody>
          <a:bodyPr wrap="none" lIns="0" tIns="0" rIns="0" bIns="0">
            <a:normAutofit fontScale="2352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整数类型</a:t>
            </a:r>
            <a:endParaRPr sz="27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integer type</a:t>
            </a:r>
            <a:endParaRPr sz="27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9" name="矩形 438"/>
          <p:cNvSpPr>
            <a:spLocks noGrp="1"/>
          </p:cNvSpPr>
          <p:nvPr/>
        </p:nvSpPr>
        <p:spPr>
          <a:xfrm>
            <a:off x="6296025" y="3514725"/>
            <a:ext cx="14097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byte</a:t>
            </a: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short</a:t>
            </a: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</a:t>
            </a: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long</a:t>
            </a:r>
            <a:endParaRPr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0" name="圆角矩形 439"/>
          <p:cNvSpPr>
            <a:spLocks noGrp="1"/>
          </p:cNvSpPr>
          <p:nvPr/>
        </p:nvSpPr>
        <p:spPr>
          <a:xfrm>
            <a:off x="8029575" y="3124200"/>
            <a:ext cx="1781175" cy="1095375"/>
          </a:xfrm>
          <a:prstGeom prst="roundRect">
            <a:avLst>
              <a:gd name="adj" fmla="val 8696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441" name="矩形 440"/>
          <p:cNvSpPr>
            <a:spLocks noGrp="1"/>
          </p:cNvSpPr>
          <p:nvPr/>
        </p:nvSpPr>
        <p:spPr>
          <a:xfrm>
            <a:off x="8220075" y="3276600"/>
            <a:ext cx="1400175" cy="200025"/>
          </a:xfrm>
          <a:prstGeom prst="rect">
            <a:avLst/>
          </a:prstGeom>
        </p:spPr>
        <p:txBody>
          <a:bodyPr wrap="none" lIns="0" tIns="0" rIns="0" bIns="0">
            <a:normAutofit fontScale="2352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字符类型</a:t>
            </a:r>
            <a:endParaRPr sz="27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Character type</a:t>
            </a:r>
            <a:endParaRPr sz="27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2" name="矩形 441"/>
          <p:cNvSpPr>
            <a:spLocks noGrp="1"/>
          </p:cNvSpPr>
          <p:nvPr/>
        </p:nvSpPr>
        <p:spPr>
          <a:xfrm>
            <a:off x="8220075" y="3514725"/>
            <a:ext cx="14001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char</a:t>
            </a:r>
            <a:endParaRPr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3" name="圆角矩形 442"/>
          <p:cNvSpPr>
            <a:spLocks noGrp="1"/>
          </p:cNvSpPr>
          <p:nvPr/>
        </p:nvSpPr>
        <p:spPr>
          <a:xfrm>
            <a:off x="9944100" y="3124200"/>
            <a:ext cx="1790700" cy="1095375"/>
          </a:xfrm>
          <a:prstGeom prst="roundRect">
            <a:avLst>
              <a:gd name="adj" fmla="val 8696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444" name="矩形 443"/>
          <p:cNvSpPr>
            <a:spLocks noGrp="1"/>
          </p:cNvSpPr>
          <p:nvPr/>
        </p:nvSpPr>
        <p:spPr>
          <a:xfrm>
            <a:off x="10134600" y="3276600"/>
            <a:ext cx="1409700" cy="200025"/>
          </a:xfrm>
          <a:prstGeom prst="rect">
            <a:avLst/>
          </a:prstGeom>
        </p:spPr>
        <p:txBody>
          <a:bodyPr wrap="none" lIns="0" tIns="0" rIns="0" bIns="0">
            <a:normAutofit fontScale="2352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浮点类型</a:t>
            </a:r>
            <a:endParaRPr sz="27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floating point type</a:t>
            </a:r>
            <a:endParaRPr sz="27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矩形 444"/>
          <p:cNvSpPr>
            <a:spLocks noGrp="1"/>
          </p:cNvSpPr>
          <p:nvPr/>
        </p:nvSpPr>
        <p:spPr>
          <a:xfrm>
            <a:off x="10134600" y="3514725"/>
            <a:ext cx="14097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float</a:t>
            </a: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double</a:t>
            </a:r>
            <a:endParaRPr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6" name="矩形 445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8" name="矩形 44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49" name="矩形 448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50" name="矩形 449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1" name="矩形 450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§2.2.1 逻辑类型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§2.2.1 Logical type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矩形 451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boolean</a:t>
            </a:r>
            <a:endParaRPr sz="3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矩形 452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54" name="矩形 453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只有两个取值：真或假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There are only two values: true or false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5" name="圆角矩形 454"/>
          <p:cNvSpPr>
            <a:spLocks noGrp="1"/>
          </p:cNvSpPr>
          <p:nvPr/>
        </p:nvSpPr>
        <p:spPr>
          <a:xfrm>
            <a:off x="4181475" y="2952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56" name="矩形 455"/>
          <p:cNvSpPr>
            <a:spLocks noGrp="1"/>
          </p:cNvSpPr>
          <p:nvPr/>
        </p:nvSpPr>
        <p:spPr>
          <a:xfrm>
            <a:off x="4371975" y="28384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532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使用关键字 boolean 声明逻辑变量，声明时也可以赋初值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the keyword boolean to declare logical variables. You can also assign an initial value when declaring.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7" name="圆角矩形 456"/>
          <p:cNvSpPr>
            <a:spLocks noGrp="1"/>
          </p:cNvSpPr>
          <p:nvPr/>
        </p:nvSpPr>
        <p:spPr>
          <a:xfrm>
            <a:off x="4181475" y="3514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58" name="矩形 457"/>
          <p:cNvSpPr>
            <a:spLocks noGrp="1"/>
          </p:cNvSpPr>
          <p:nvPr/>
        </p:nvSpPr>
        <p:spPr>
          <a:xfrm>
            <a:off x="4371975" y="34004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常量：true、false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Constants: true, false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9" name="圆角矩形 458"/>
          <p:cNvSpPr>
            <a:spLocks noGrp="1"/>
          </p:cNvSpPr>
          <p:nvPr/>
        </p:nvSpPr>
        <p:spPr>
          <a:xfrm>
            <a:off x="4181475" y="3962400"/>
            <a:ext cx="7553325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460" name="矩形 459"/>
          <p:cNvSpPr>
            <a:spLocks noGrp="1"/>
          </p:cNvSpPr>
          <p:nvPr/>
        </p:nvSpPr>
        <p:spPr>
          <a:xfrm>
            <a:off x="4352925" y="407670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boolean x, ok=true, 关闭=false;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boolean x, ok=true, closed=false;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61" name="矩形 460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3" name="矩形 46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64" name="矩形 463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65" name="矩形 464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6" name="矩形 465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§2.2.2 整数类型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§2.2.2 Integer type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7" name="矩形 466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型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type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8" name="矩形 467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69" name="矩形 468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最常用的整数类型，4 个字节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Most commonly used integer type, 4 bytes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0" name="圆角矩形 469"/>
          <p:cNvSpPr>
            <a:spLocks noGrp="1"/>
          </p:cNvSpPr>
          <p:nvPr/>
        </p:nvSpPr>
        <p:spPr>
          <a:xfrm>
            <a:off x="4181475" y="2676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71" name="矩形 470"/>
          <p:cNvSpPr>
            <a:spLocks noGrp="1"/>
          </p:cNvSpPr>
          <p:nvPr/>
        </p:nvSpPr>
        <p:spPr>
          <a:xfrm>
            <a:off x="4371975" y="25622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401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用关键字 int 声明 int 型变量，声明时也可赋初值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the keyword int to declare an int type variable, and you can also assign an initial value when declaring it.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2" name="圆角矩形 471"/>
          <p:cNvSpPr>
            <a:spLocks noGrp="1"/>
          </p:cNvSpPr>
          <p:nvPr/>
        </p:nvSpPr>
        <p:spPr>
          <a:xfrm>
            <a:off x="4181475" y="3238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73" name="矩形 472"/>
          <p:cNvSpPr>
            <a:spLocks noGrp="1"/>
          </p:cNvSpPr>
          <p:nvPr/>
        </p:nvSpPr>
        <p:spPr>
          <a:xfrm>
            <a:off x="4371975" y="31242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778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常量四种写法：十进制 123、八进制 077、十六进制 0x3ABC、二进制 0b111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There are four ways to write constants: decimal 123, octal 077, hexadecimal 0x3ABC, binary 0b111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4" name="圆角矩形 473"/>
          <p:cNvSpPr>
            <a:spLocks noGrp="1"/>
          </p:cNvSpPr>
          <p:nvPr/>
        </p:nvSpPr>
        <p:spPr>
          <a:xfrm>
            <a:off x="4181475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75" name="矩形 474"/>
          <p:cNvSpPr>
            <a:spLocks noGrp="1"/>
          </p:cNvSpPr>
          <p:nvPr/>
        </p:nvSpPr>
        <p:spPr>
          <a:xfrm>
            <a:off x="4371975" y="36861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内存：4 个字节（byte），占 32 位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Memory: 4 bytes, 32 bits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6" name="圆角矩形 475"/>
          <p:cNvSpPr>
            <a:spLocks noGrp="1"/>
          </p:cNvSpPr>
          <p:nvPr/>
        </p:nvSpPr>
        <p:spPr>
          <a:xfrm>
            <a:off x="4181475" y="4248150"/>
            <a:ext cx="7553325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477" name="矩形 476"/>
          <p:cNvSpPr>
            <a:spLocks noGrp="1"/>
          </p:cNvSpPr>
          <p:nvPr/>
        </p:nvSpPr>
        <p:spPr>
          <a:xfrm>
            <a:off x="4352925" y="436245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x = 12, 平均 = 9898, jiafei;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x = 12, average = 9898, jiafei;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78" name="矩形 477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0" name="矩形 47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81" name="矩形 480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82" name="矩形 481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3" name="矩形 482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§2.2.2 整数类型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§2.2.2 Integer type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4" name="矩形 483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byte / short / long</a:t>
            </a:r>
            <a:endParaRPr sz="3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5" name="矩形 484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86" name="矩形 485"/>
          <p:cNvSpPr>
            <a:spLocks noGrp="1"/>
          </p:cNvSpPr>
          <p:nvPr/>
        </p:nvSpPr>
        <p:spPr>
          <a:xfrm>
            <a:off x="457200" y="319087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2003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范围从小到大，占位从少到多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range ranges from small to large, and the occupancy ranges from small to large.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7" name="圆角矩形 486"/>
          <p:cNvSpPr>
            <a:spLocks noGrp="1"/>
          </p:cNvSpPr>
          <p:nvPr/>
        </p:nvSpPr>
        <p:spPr>
          <a:xfrm>
            <a:off x="4181475" y="2324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88" name="矩形 487"/>
          <p:cNvSpPr>
            <a:spLocks noGrp="1"/>
          </p:cNvSpPr>
          <p:nvPr/>
        </p:nvSpPr>
        <p:spPr>
          <a:xfrm>
            <a:off x="4371975" y="22098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byte：1 字节 8 位，一定范围内的 int 常量可直接赋值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byte: 1 byte 8 bits, int constants within a certain range can be assigned directly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9" name="圆角矩形 488"/>
          <p:cNvSpPr>
            <a:spLocks noGrp="1"/>
          </p:cNvSpPr>
          <p:nvPr/>
        </p:nvSpPr>
        <p:spPr>
          <a:xfrm>
            <a:off x="4181475" y="2886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90" name="矩形 489"/>
          <p:cNvSpPr>
            <a:spLocks noGrp="1"/>
          </p:cNvSpPr>
          <p:nvPr/>
        </p:nvSpPr>
        <p:spPr>
          <a:xfrm>
            <a:off x="4371975" y="27717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short：2 字节 16 位，与 byte 类似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short: 2 bytes 16 bits, similar to byte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1" name="圆角矩形 490"/>
          <p:cNvSpPr>
            <a:spLocks noGrp="1"/>
          </p:cNvSpPr>
          <p:nvPr/>
        </p:nvSpPr>
        <p:spPr>
          <a:xfrm>
            <a:off x="4181475" y="3448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92" name="矩形 491"/>
          <p:cNvSpPr>
            <a:spLocks noGrp="1"/>
          </p:cNvSpPr>
          <p:nvPr/>
        </p:nvSpPr>
        <p:spPr>
          <a:xfrm>
            <a:off x="4371975" y="33337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long：8 字节 64 位，常量用后缀 L 表示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long: 8 bytes 64 bits, constants are represented by the suffix L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3" name="圆角矩形 492"/>
          <p:cNvSpPr>
            <a:spLocks noGrp="1"/>
          </p:cNvSpPr>
          <p:nvPr/>
        </p:nvSpPr>
        <p:spPr>
          <a:xfrm>
            <a:off x="4181475" y="3895725"/>
            <a:ext cx="7553325" cy="124777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494" name="矩形 493"/>
          <p:cNvSpPr>
            <a:spLocks noGrp="1"/>
          </p:cNvSpPr>
          <p:nvPr/>
        </p:nvSpPr>
        <p:spPr>
          <a:xfrm>
            <a:off x="4352925" y="40100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byte x = -12, tom = 28;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95" name="矩形 494"/>
          <p:cNvSpPr>
            <a:spLocks noGrp="1"/>
          </p:cNvSpPr>
          <p:nvPr/>
        </p:nvSpPr>
        <p:spPr>
          <a:xfrm>
            <a:off x="4352925" y="43624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short x = 12, y = 1234;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96" name="矩形 495"/>
          <p:cNvSpPr>
            <a:spLocks noGrp="1"/>
          </p:cNvSpPr>
          <p:nvPr/>
        </p:nvSpPr>
        <p:spPr>
          <a:xfrm>
            <a:off x="4352925" y="47148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long width = 12L, height = 2005L;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97" name="矩形 496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§2.2.3 字符类型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§2.2.3 Character type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char 型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char type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一个字符占 2 个字节——因为 Java 用 Unicode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 character takes up 2 bytes - because Java uses Unicode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181475" y="2476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371975" y="23622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常量：单引号括起的字符 'A'、'好' 等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Constants: characters enclosed in single quotes 'A', 'OK', etc.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181475" y="3038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371975" y="2924175"/>
            <a:ext cx="7362825" cy="781050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转义字符常量：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换行、\t 制表、\' 单引号、\\ 反斜线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Escape character constants: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Line feed, \t tab, \' single quote, \\ backslash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181475" y="39909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371975" y="38766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使用 Unicode 标准字符集，最多识别 65536 个字符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uses the Unicode standard character set and recognizes up to 65536 characters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4181475" y="4438650"/>
            <a:ext cx="7553325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352925" y="455295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char ch = 'A', home = '家', handsome = '酷';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char ch = 'A', home = 'home', handsome = 'cool';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57200" y="12573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例子1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1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57200" y="15621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字符与 Unicode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Characters and Unicode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57200" y="23431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57200" y="26003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3358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输出字符对应的 Unicode 位置，体会 char 就是 2 字节整数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the Unicode position corresponding to the character, and realize that char is a 2-byte integer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rcRect t="53" b="53"/>
          <a:stretch>
            <a:fillRect/>
          </a:stretch>
        </p:blipFill>
        <p:spPr>
          <a:xfrm>
            <a:off x="4143375" y="1733550"/>
            <a:ext cx="7591425" cy="3848100"/>
          </a:xfrm>
          <a:prstGeom prst="roundRect">
            <a:avLst>
              <a:gd name="adj" fmla="val 2970"/>
            </a:avLst>
          </a:prstGeom>
          <a:effectLst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37" name="矩形 36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§2.2.4 浮点类型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§2.2.4 Floating point type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float 型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float type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单精度浮点，4 个字节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Single precision floating point, 4 bytes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4181475" y="2305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371975" y="21907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常量：453.54F（小数表示法）、2e40f（指数表示法）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Constants: 453.54F (decimal notation), 2e40f (exponential notation)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4181475" y="28670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371975" y="27527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精度：存储时保留 7~8 位有效数字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Precision: 7~8 significant digits are retained when storing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4181475" y="3429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4371975" y="33147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内存：4 个字节，占 32 位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Memory: 4 bytes, 32 bits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4181475" y="3876675"/>
            <a:ext cx="7553325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4352925" y="39909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float x = 22.76f, tom = 1234.987f, weight = 1e-12F;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4181475" y="4591050"/>
            <a:ext cx="7553325" cy="561975"/>
          </a:xfrm>
          <a:prstGeom prst="roundRect">
            <a:avLst>
              <a:gd name="adj" fmla="val 16949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371975" y="4724400"/>
            <a:ext cx="7172325" cy="295275"/>
          </a:xfrm>
          <a:prstGeom prst="rect">
            <a:avLst/>
          </a:prstGeom>
        </p:spPr>
        <p:txBody>
          <a:bodyPr wrap="none" lIns="0" tIns="0" rIns="0" bIns="0">
            <a:normAutofit fontScale="3683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特别注意：float 常量后面必须要有后缀 f 或 F！</a:t>
            </a:r>
            <a:endParaRPr sz="263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Special note: there must be a suffix f or F after the float constant!</a:t>
            </a:r>
            <a:endParaRPr sz="263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§2.2.4 浮点类型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§2.2.4 Floating point type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double 型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double type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双精度浮点，8 个字节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Double precision floating point, 8 bytes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4181475" y="2305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4371975" y="21907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常量：238.539d、231.987、1e-90，后缀 d/D 可省略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Constants: 238.539d, 231.987, 1e-90, suffix d/D can be omitted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4181475" y="28670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4371975" y="27527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精度：保留 15~16 位有效数字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Precision: 15~16 significant digits retained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4181475" y="3429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4371975" y="33147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内存：8 个字节，占 64 位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Memory: 8 bytes, 64 bits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4181475" y="3876675"/>
            <a:ext cx="7553325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4352925" y="39909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double height = 23.345, width = 34.56D, length = 1e12;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4181475" y="4591050"/>
            <a:ext cx="7553325" cy="561975"/>
          </a:xfrm>
          <a:prstGeom prst="roundRect">
            <a:avLst>
              <a:gd name="adj" fmla="val 16949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4371975" y="4724400"/>
            <a:ext cx="7172325" cy="295275"/>
          </a:xfrm>
          <a:prstGeom prst="rect">
            <a:avLst/>
          </a:prstGeom>
        </p:spPr>
        <p:txBody>
          <a:bodyPr wrap="none" lIns="0" tIns="0" rIns="0" bIns="0">
            <a:normAutofit fontScale="3683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带小数部分的数据缺省类型是 double——所以 float 常量必须写后缀 f/F</a:t>
            </a:r>
            <a:endParaRPr sz="263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default type of data with a decimal part is double - so float constants must be written with the suffix f/F</a:t>
            </a:r>
            <a:endParaRPr sz="263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" name="矩形 7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457200" y="1219200"/>
            <a:ext cx="11277600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§2.3 类型转换运算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§2.3 Type conversion operation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457200" y="1600200"/>
            <a:ext cx="11277600" cy="371475"/>
          </a:xfrm>
          <a:prstGeom prst="rect">
            <a:avLst/>
          </a:prstGeom>
        </p:spPr>
        <p:txBody>
          <a:bodyPr wrap="none" lIns="0" tIns="0" rIns="0" bIns="0">
            <a:normAutofit fontScale="2321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2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类型转换：一条规则，两种方向</a:t>
            </a:r>
            <a:endParaRPr sz="52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2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conversion: one rule, two directions</a:t>
            </a:r>
            <a:endParaRPr sz="52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457200" y="2162175"/>
            <a:ext cx="11277600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基本类型（不含逻辑型）按精度从「低」到「高」排列：byte → short → char → int → long → float → double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Basic types (excluding logical types) are arranged from "low" to "high" in precision: byte → short → char → int → long → float → double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457200" y="2857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647700" y="2743200"/>
            <a:ext cx="11087100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 → 高：把级别低的变量赋给级别高的变量，系统自动完成转换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Low → High: Assign low-level variables to high-level variables, and the system automatically completes the conversion.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457200" y="3438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647700" y="3324225"/>
            <a:ext cx="11087100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 → 低：必须使用强制类型转换运算，格式 (类型名) 表达式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High → Low: Must use cast operation, format (type name) expression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457200" y="4019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647700" y="3905250"/>
            <a:ext cx="11087100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常量赋给 byte/short 时不能超出取值范围，否则必须强转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 assigning int constant to byte/short, it cannot exceed the value range, otherwise it must be forced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457200" y="4486275"/>
            <a:ext cx="11277600" cy="124777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628650" y="4600575"/>
            <a:ext cx="10934700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float x = 100;          // int → float 自动转换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float x = 100; // int → float automatic conversion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628650" y="4953000"/>
            <a:ext cx="10934700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x = (int)34.89;     // 强制转换，丢掉小数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x = (int)34.89; // Forced conversion, discarding decimals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628650" y="5305425"/>
            <a:ext cx="10934700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byte b = 128;           // 错！超出 byte 取值范围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byte b = 128; // Wrong! Out of byte value range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" name="矩形 9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§2.3 类型转换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§2.3 Type conversion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455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 vs 强制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Automatic vs Explicit Conversion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4272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一个方向安全省心，一个方向需要显式声明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 direction is safe and automatic; the other requires an explicit cast.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4181475" y="1295400"/>
            <a:ext cx="3695700" cy="4752975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4391025" y="1485900"/>
            <a:ext cx="3276600" cy="257175"/>
          </a:xfrm>
          <a:prstGeom prst="rect">
            <a:avLst/>
          </a:prstGeom>
        </p:spPr>
        <p:txBody>
          <a:bodyPr wrap="none" lIns="0" tIns="0" rIns="0" bIns="0">
            <a:normAutofit fontScale="23373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1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自动转换（低→高）</a:t>
            </a:r>
            <a:endParaRPr sz="361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1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Automatic conversion (low → high)</a:t>
            </a:r>
            <a:endParaRPr sz="361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4391025" y="1838325"/>
            <a:ext cx="3810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4391025" y="2019300"/>
            <a:ext cx="3276600" cy="276225"/>
          </a:xfrm>
          <a:prstGeom prst="rect">
            <a:avLst/>
          </a:prstGeom>
        </p:spPr>
        <p:txBody>
          <a:bodyPr wrap="none" lIns="0" tIns="0" rIns="0" bIns="0">
            <a:normAutofit fontScale="3445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小范围存进大范围，安全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Save in a small range and into a large range, safe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4391025" y="2352675"/>
            <a:ext cx="3276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float x = 100;  // int → float</a:t>
            </a:r>
            <a:endParaRPr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4391025" y="2686050"/>
            <a:ext cx="3276600" cy="276225"/>
          </a:xfrm>
          <a:prstGeom prst="rect">
            <a:avLst/>
          </a:prstGeom>
        </p:spPr>
        <p:txBody>
          <a:bodyPr wrap="none" lIns="0" tIns="0" rIns="0" bIns="0">
            <a:normAutofit fontScale="32913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系统自动完成，无需写代码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The system completes it automatically, no need to write code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圆角矩形 107"/>
          <p:cNvSpPr>
            <a:spLocks noGrp="1"/>
          </p:cNvSpPr>
          <p:nvPr/>
        </p:nvSpPr>
        <p:spPr>
          <a:xfrm>
            <a:off x="8048625" y="1295400"/>
            <a:ext cx="3686175" cy="4752975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8258175" y="1485900"/>
            <a:ext cx="3267075" cy="257175"/>
          </a:xfrm>
          <a:prstGeom prst="rect">
            <a:avLst/>
          </a:prstGeom>
        </p:spPr>
        <p:txBody>
          <a:bodyPr wrap="none" lIns="0" tIns="0" rIns="0" bIns="0">
            <a:normAutofit fontScale="23373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1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强制转换（高→低）</a:t>
            </a:r>
            <a:endParaRPr sz="3610" b="1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1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Forced conversion (high → low)</a:t>
            </a:r>
            <a:endParaRPr sz="3610" b="1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矩形 109"/>
          <p:cNvSpPr>
            <a:spLocks noGrp="1"/>
          </p:cNvSpPr>
          <p:nvPr/>
        </p:nvSpPr>
        <p:spPr>
          <a:xfrm>
            <a:off x="8258175" y="1838325"/>
            <a:ext cx="381000" cy="28575"/>
          </a:xfrm>
          <a:prstGeom prst="rect">
            <a:avLst/>
          </a:prstGeom>
          <a:solidFill>
            <a:srgbClr val="D9534F"/>
          </a:solidFill>
        </p:spPr>
        <p:txBody>
          <a:bodyPr/>
          <a:lstStyle/>
          <a:p/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8258175" y="2019300"/>
            <a:ext cx="3267075" cy="276225"/>
          </a:xfrm>
          <a:prstGeom prst="rect">
            <a:avLst/>
          </a:prstGeom>
        </p:spPr>
        <p:txBody>
          <a:bodyPr wrap="none" lIns="0" tIns="0" rIns="0" bIns="0">
            <a:normAutofit fontScale="3048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大范围装进小范围，可能丢精度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Fitting a large range into a small range may cause loss of accuracy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8258175" y="2352675"/>
            <a:ext cx="3267075" cy="276225"/>
          </a:xfrm>
          <a:prstGeom prst="rect">
            <a:avLst/>
          </a:prstGeom>
        </p:spPr>
        <p:txBody>
          <a:bodyPr wrap="none" lIns="0" tIns="0" rIns="0" bIns="0">
            <a:normAutofit fontScale="3445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int x = (int)34.89;  // 丢掉 .89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int x = (int)34.89; // throw away.89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矩形 112"/>
          <p:cNvSpPr>
            <a:spLocks noGrp="1"/>
          </p:cNvSpPr>
          <p:nvPr/>
        </p:nvSpPr>
        <p:spPr>
          <a:xfrm>
            <a:off x="8258175" y="2686050"/>
            <a:ext cx="3267075" cy="276225"/>
          </a:xfrm>
          <a:prstGeom prst="rect">
            <a:avLst/>
          </a:prstGeom>
        </p:spPr>
        <p:txBody>
          <a:bodyPr wrap="none" lIns="0" tIns="0" rIns="0" bIns="0">
            <a:normAutofit fontScale="3445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必须显式写 (类型名)，谨慎使用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Must be written explicitly (type name), use with caution</a:t>
            </a:r>
            <a:endParaRPr sz="263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" name="矩形 11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17" name="矩形 116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矩形 118"/>
          <p:cNvSpPr>
            <a:spLocks noGrp="1"/>
          </p:cNvSpPr>
          <p:nvPr/>
        </p:nvSpPr>
        <p:spPr>
          <a:xfrm>
            <a:off x="457200" y="12573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例子2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2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457200" y="15621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36783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强制转换与精度损失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Casting and loss of precision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457200" y="28956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457200" y="315277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3628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printf 输出强转前后的值，直观感受精度的丢失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printf to output the values ​​before and after the forced conversion, and intuitively feel the loss of accuracy.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3" name="图片 132"/>
          <p:cNvPicPr>
            <a:picLocks noChangeAspect="1"/>
          </p:cNvPicPr>
          <p:nvPr/>
        </p:nvPicPr>
        <p:blipFill>
          <a:blip r:embed="rId1"/>
          <a:srcRect t="7" b="7"/>
          <a:stretch>
            <a:fillRect/>
          </a:stretch>
        </p:blipFill>
        <p:spPr>
          <a:xfrm>
            <a:off x="5524500" y="1600200"/>
            <a:ext cx="4829175" cy="4114800"/>
          </a:xfrm>
          <a:prstGeom prst="roundRect">
            <a:avLst>
              <a:gd name="adj" fmla="val 2778"/>
            </a:avLst>
          </a:prstGeom>
          <a:effectLst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24" name="矩形 123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" name="矩形 12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27" name="矩形 126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28" name="矩形 127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矩形 128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§2.4.1 输入基本型数据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§2.4.1 Enter basic data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矩形 129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Scanner 输入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Scanner input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矩形 130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32" name="矩形 131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4386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Scanner 对象读取用户在命令行的输入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Scanner objects to read user input on the command line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4181475" y="2305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34" name="矩形 133"/>
          <p:cNvSpPr>
            <a:spLocks noGrp="1"/>
          </p:cNvSpPr>
          <p:nvPr/>
        </p:nvSpPr>
        <p:spPr>
          <a:xfrm>
            <a:off x="4371975" y="21907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读取方法：nextBoolean()、nextByte()、nextInt()、nextDouble() 等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Reading methods: nextBoolean(), nextByte(), nextInt(), nextDouble(), etc.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圆角矩形 134"/>
          <p:cNvSpPr>
            <a:spLocks noGrp="1"/>
          </p:cNvSpPr>
          <p:nvPr/>
        </p:nvSpPr>
        <p:spPr>
          <a:xfrm>
            <a:off x="4181475" y="28670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36" name="矩形 135"/>
          <p:cNvSpPr>
            <a:spLocks noGrp="1"/>
          </p:cNvSpPr>
          <p:nvPr/>
        </p:nvSpPr>
        <p:spPr>
          <a:xfrm>
            <a:off x="4371975" y="27527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298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方法执行时会阻塞，程序等待用户输入数据并回车确认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method will block when executing. The program waits for the user to enter data and press Enter to confirm.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4181475" y="3429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38" name="矩形 137"/>
          <p:cNvSpPr>
            <a:spLocks noGrp="1"/>
          </p:cNvSpPr>
          <p:nvPr/>
        </p:nvSpPr>
        <p:spPr>
          <a:xfrm>
            <a:off x="4371975" y="33147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0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用空白做分隔标记，每次读取键盘缓冲区里的下一个「单词」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white space as a separation mark to read the next "word" in the keyboard buffer each time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圆角矩形 138"/>
          <p:cNvSpPr>
            <a:spLocks noGrp="1"/>
          </p:cNvSpPr>
          <p:nvPr/>
        </p:nvSpPr>
        <p:spPr>
          <a:xfrm>
            <a:off x="4181475" y="3876675"/>
            <a:ext cx="7553325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4352925" y="39909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Scanner reader = new Scanner(System.in);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1" name="圆角矩形 140"/>
          <p:cNvSpPr>
            <a:spLocks noGrp="1"/>
          </p:cNvSpPr>
          <p:nvPr/>
        </p:nvSpPr>
        <p:spPr>
          <a:xfrm>
            <a:off x="4181475" y="4591050"/>
            <a:ext cx="7553325" cy="561975"/>
          </a:xfrm>
          <a:prstGeom prst="roundRect">
            <a:avLst>
              <a:gd name="adj" fmla="val 16949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142" name="矩形 141"/>
          <p:cNvSpPr>
            <a:spLocks noGrp="1"/>
          </p:cNvSpPr>
          <p:nvPr/>
        </p:nvSpPr>
        <p:spPr>
          <a:xfrm>
            <a:off x="4371975" y="4724400"/>
            <a:ext cx="7172325" cy="295275"/>
          </a:xfrm>
          <a:prstGeom prst="rect">
            <a:avLst/>
          </a:prstGeom>
        </p:spPr>
        <p:txBody>
          <a:bodyPr wrap="none" lIns="0" tIns="0" rIns="0" bIns="0">
            <a:normAutofit fontScale="3683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使用前需要 import java.util.Scanner;</a:t>
            </a:r>
            <a:endParaRPr sz="263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Need to import java.util.Scanner; before use</a:t>
            </a:r>
            <a:endParaRPr sz="263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矩形 142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" name="矩形 14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46" name="矩形 145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47" name="矩形 146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8" name="矩形 147"/>
          <p:cNvSpPr>
            <a:spLocks noGrp="1"/>
          </p:cNvSpPr>
          <p:nvPr/>
        </p:nvSpPr>
        <p:spPr>
          <a:xfrm>
            <a:off x="457200" y="12573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例子3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3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" name="矩形 148"/>
          <p:cNvSpPr>
            <a:spLocks noGrp="1"/>
          </p:cNvSpPr>
          <p:nvPr/>
        </p:nvSpPr>
        <p:spPr>
          <a:xfrm>
            <a:off x="457200" y="15621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102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输入若干个数求和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Enter several numbers to find the sum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" name="矩形 149"/>
          <p:cNvSpPr>
            <a:spLocks noGrp="1"/>
          </p:cNvSpPr>
          <p:nvPr/>
        </p:nvSpPr>
        <p:spPr>
          <a:xfrm>
            <a:off x="457200" y="23431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51" name="矩形 150"/>
          <p:cNvSpPr>
            <a:spLocks noGrp="1"/>
          </p:cNvSpPr>
          <p:nvPr/>
        </p:nvSpPr>
        <p:spPr>
          <a:xfrm>
            <a:off x="457200" y="26003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3115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用户以空格或回车分隔输入，最后输入 0 结束，程序计算总和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user separates the input with spaces or carriage returns, ends with 0, and the program calculates the sum.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2" name="图片 161"/>
          <p:cNvPicPr>
            <a:picLocks noChangeAspect="1"/>
          </p:cNvPicPr>
          <p:nvPr/>
        </p:nvPicPr>
        <p:blipFill>
          <a:blip r:embed="rId1"/>
          <a:srcRect l="5" r="5"/>
          <a:stretch>
            <a:fillRect/>
          </a:stretch>
        </p:blipFill>
        <p:spPr>
          <a:xfrm>
            <a:off x="4562475" y="1600200"/>
            <a:ext cx="6762750" cy="4114800"/>
          </a:xfrm>
          <a:prstGeom prst="roundRect">
            <a:avLst>
              <a:gd name="adj" fmla="val 2778"/>
            </a:avLst>
          </a:prstGeom>
          <a:effectLst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53" name="矩形 152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" name="矩形 15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56" name="矩形 155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57" name="矩形 156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矩形 157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§2.4.2 输出基本型数据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§2.4.2 Output basic data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9" name="矩形 158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println 与 print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println and print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矩形 159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61" name="矩形 160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System 类的方法输出数据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System class methods to output data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圆角矩形 161"/>
          <p:cNvSpPr>
            <a:spLocks noGrp="1"/>
          </p:cNvSpPr>
          <p:nvPr/>
        </p:nvSpPr>
        <p:spPr>
          <a:xfrm>
            <a:off x="4181475" y="2495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63" name="矩形 162"/>
          <p:cNvSpPr>
            <a:spLocks noGrp="1"/>
          </p:cNvSpPr>
          <p:nvPr/>
        </p:nvSpPr>
        <p:spPr>
          <a:xfrm>
            <a:off x="4371975" y="23812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System.out.println()：输出数据后换行；print() 不换行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System.out.println(): Line wrap after outputting data; print() does not wrap line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圆角矩形 163"/>
          <p:cNvSpPr>
            <a:spLocks noGrp="1"/>
          </p:cNvSpPr>
          <p:nvPr/>
        </p:nvSpPr>
        <p:spPr>
          <a:xfrm>
            <a:off x="4181475" y="3057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65" name="矩形 164"/>
          <p:cNvSpPr>
            <a:spLocks noGrp="1"/>
          </p:cNvSpPr>
          <p:nvPr/>
        </p:nvSpPr>
        <p:spPr>
          <a:xfrm>
            <a:off x="4371975" y="29432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输出串值与表达式的值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string value and expression value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圆角矩形 165"/>
          <p:cNvSpPr>
            <a:spLocks noGrp="1"/>
          </p:cNvSpPr>
          <p:nvPr/>
        </p:nvSpPr>
        <p:spPr>
          <a:xfrm>
            <a:off x="4181475" y="3619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67" name="矩形 166"/>
          <p:cNvSpPr>
            <a:spLocks noGrp="1"/>
          </p:cNvSpPr>
          <p:nvPr/>
        </p:nvSpPr>
        <p:spPr>
          <a:xfrm>
            <a:off x="4371975" y="35052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长字符串可用 + 并置拼接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Long strings can be concatenated with + concatenation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圆角矩形 167"/>
          <p:cNvSpPr>
            <a:spLocks noGrp="1"/>
          </p:cNvSpPr>
          <p:nvPr/>
        </p:nvSpPr>
        <p:spPr>
          <a:xfrm>
            <a:off x="4181475" y="4067175"/>
            <a:ext cx="7553325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169" name="矩形 168"/>
          <p:cNvSpPr>
            <a:spLocks noGrp="1"/>
          </p:cNvSpPr>
          <p:nvPr/>
        </p:nvSpPr>
        <p:spPr>
          <a:xfrm>
            <a:off x="4352925" y="4181475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System.out.println("m 个数的和为" + sum);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System.out.println("The sum of m numbers is " + sum);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0" name="矩形 169"/>
          <p:cNvSpPr>
            <a:spLocks noGrp="1"/>
          </p:cNvSpPr>
          <p:nvPr/>
        </p:nvSpPr>
        <p:spPr>
          <a:xfrm>
            <a:off x="4352925" y="453390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System.out.println("你好，" + "很高兴认识你");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System.out.println("Hello," + "Nice to meet you");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1" name="矩形 170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2" name="矩形 18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83" name="矩形 182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84" name="矩形 183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" name="矩形 184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§2.4.2 输出基本型数据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§2.4.2 Output basic data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" name="矩形 185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printf 格式输出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printf format output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7" name="矩形 186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88" name="矩形 187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0763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JDK 1.5 新增，和 C 语言的 printf 很像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New in JDK 1.5, it is very similar to printf in C language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9" name="圆角矩形 188"/>
          <p:cNvSpPr>
            <a:spLocks noGrp="1"/>
          </p:cNvSpPr>
          <p:nvPr/>
        </p:nvSpPr>
        <p:spPr>
          <a:xfrm>
            <a:off x="4181475" y="2781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90" name="矩形 189"/>
          <p:cNvSpPr>
            <a:spLocks noGrp="1"/>
          </p:cNvSpPr>
          <p:nvPr/>
        </p:nvSpPr>
        <p:spPr>
          <a:xfrm>
            <a:off x="4371975" y="26670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63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%d 输出 int、%c 输出 char、%f 输出浮点（小数最多 6 位）、%s 输出字符串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%d outputs int, %c outputs char, %f outputs floating point (up to 6 decimal places), %s outputs string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1" name="圆角矩形 190"/>
          <p:cNvSpPr>
            <a:spLocks noGrp="1"/>
          </p:cNvSpPr>
          <p:nvPr/>
        </p:nvSpPr>
        <p:spPr>
          <a:xfrm>
            <a:off x="4181475" y="3343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92" name="矩形 191"/>
          <p:cNvSpPr>
            <a:spLocks noGrp="1"/>
          </p:cNvSpPr>
          <p:nvPr/>
        </p:nvSpPr>
        <p:spPr>
          <a:xfrm>
            <a:off x="4371975" y="32289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263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%md：int 型数据占 m 列；%m.nf：浮点占 m 列、小数保留 n 位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%md: Int type data occupies m columns; %m.nf: Floating point occupies m columns, and decimals retain n digits.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3" name="圆角矩形 192"/>
          <p:cNvSpPr>
            <a:spLocks noGrp="1"/>
          </p:cNvSpPr>
          <p:nvPr/>
        </p:nvSpPr>
        <p:spPr>
          <a:xfrm>
            <a:off x="4181475" y="3790950"/>
            <a:ext cx="7553325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194" name="矩形 193"/>
          <p:cNvSpPr>
            <a:spLocks noGrp="1"/>
          </p:cNvSpPr>
          <p:nvPr/>
        </p:nvSpPr>
        <p:spPr>
          <a:xfrm>
            <a:off x="4352925" y="390525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System.out.printf("格式控制部分", 表达式1, 表达式2, …);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System.out.printf("Format control part", expression 1, expression 2, …);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5" name="矩形 194"/>
          <p:cNvSpPr>
            <a:spLocks noGrp="1"/>
          </p:cNvSpPr>
          <p:nvPr/>
        </p:nvSpPr>
        <p:spPr>
          <a:xfrm>
            <a:off x="4352925" y="42576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System.out.printf("%d,%f", 12, 23.78);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6" name="矩形 195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" y="3619500"/>
            <a:ext cx="3723005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8" name="矩形 19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99" name="矩形 198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00" name="矩形 199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" name="矩形 200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§2.5 数组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§2.5 Array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" name="矩形 201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132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数组的概念与声明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concept and declaration of arrays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" name="矩形 202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04" name="矩形 203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3830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数组是相同类型的数据按顺序组成的复合数据类型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array is a composite data type composed of data of the same type in order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" name="圆角矩形 204"/>
          <p:cNvSpPr>
            <a:spLocks noGrp="1"/>
          </p:cNvSpPr>
          <p:nvPr/>
        </p:nvSpPr>
        <p:spPr>
          <a:xfrm>
            <a:off x="4181475" y="2952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06" name="矩形 205"/>
          <p:cNvSpPr>
            <a:spLocks noGrp="1"/>
          </p:cNvSpPr>
          <p:nvPr/>
        </p:nvSpPr>
        <p:spPr>
          <a:xfrm>
            <a:off x="4371975" y="28384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通过「数组名 + 下标」使用数组中的数据，下标从 0 开始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the data in the array through "array name + subscript", the subscript starts from 0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7" name="圆角矩形 206"/>
          <p:cNvSpPr>
            <a:spLocks noGrp="1"/>
          </p:cNvSpPr>
          <p:nvPr/>
        </p:nvSpPr>
        <p:spPr>
          <a:xfrm>
            <a:off x="4181475" y="3514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08" name="矩形 207"/>
          <p:cNvSpPr>
            <a:spLocks noGrp="1"/>
          </p:cNvSpPr>
          <p:nvPr/>
        </p:nvSpPr>
        <p:spPr>
          <a:xfrm>
            <a:off x="4371975" y="34004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数组属于引用型变量：先声明，再分配元素空间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Arrays are reference variables: declare them first and then allocate element space.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9" name="圆角矩形 208"/>
          <p:cNvSpPr>
            <a:spLocks noGrp="1"/>
          </p:cNvSpPr>
          <p:nvPr/>
        </p:nvSpPr>
        <p:spPr>
          <a:xfrm>
            <a:off x="4181475" y="3962400"/>
            <a:ext cx="7553325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210" name="矩形 209"/>
          <p:cNvSpPr>
            <a:spLocks noGrp="1"/>
          </p:cNvSpPr>
          <p:nvPr/>
        </p:nvSpPr>
        <p:spPr>
          <a:xfrm>
            <a:off x="4352925" y="407670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float boy[];   // 或 float[] boy;  声明数组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float boy[]; // or float[] boy; declare array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1" name="矩形 210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3" name="矩形 21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14" name="矩形 213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15" name="矩形 214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6" name="矩形 215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2.5.2 为数组分配元素空间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2.5.2 Allocate element space for array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7" name="矩形 216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new 出空间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Allocate Space with new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8" name="矩形 217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19" name="矩形 218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4378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数组名 = new 数组元素的类型[元素个数];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Array name = new array element type [number of elements];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0" name="圆角矩形 219"/>
          <p:cNvSpPr>
            <a:spLocks noGrp="1"/>
          </p:cNvSpPr>
          <p:nvPr/>
        </p:nvSpPr>
        <p:spPr>
          <a:xfrm>
            <a:off x="4181475" y="16573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4371975" y="15430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593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数组变量中存放的是首元素的地址，通过名字加索引使用元素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address of the first element is stored in the array variable. The element is used by name and index.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4181475" y="2105025"/>
            <a:ext cx="7553325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4352925" y="22193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boy = new float[4];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4352925" y="257175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float boy[] = new float[4];   // 声明+分配一步完成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float boy[] = new float[4]; // Declaration + allocation are completed in one step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pic>
        <p:nvPicPr>
          <p:cNvPr id="240" name="图片 239"/>
          <p:cNvPicPr>
            <a:picLocks noChangeAspect="1"/>
          </p:cNvPicPr>
          <p:nvPr/>
        </p:nvPicPr>
        <p:blipFill>
          <a:blip r:embed="rId1"/>
          <a:srcRect t="7" b="7"/>
          <a:stretch>
            <a:fillRect/>
          </a:stretch>
        </p:blipFill>
        <p:spPr>
          <a:xfrm>
            <a:off x="5819775" y="3324225"/>
            <a:ext cx="4286250" cy="2476500"/>
          </a:xfrm>
          <a:prstGeom prst="roundRect">
            <a:avLst>
              <a:gd name="adj" fmla="val 3077"/>
            </a:avLst>
          </a:prstGeom>
        </p:spPr>
      </p:pic>
      <p:sp>
        <p:nvSpPr>
          <p:cNvPr id="226" name="矩形 225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8" name="矩形 22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29" name="矩形 228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1" name="矩形 230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2.5.3 数组元素的使用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2.5.3 Use of array elements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2" name="矩形 231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下标从 0 开始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Subscripts start from 0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3" name="矩形 232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34" name="矩形 233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038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用索引访问元素，千万别越界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index to access elements, never cross the boundary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5" name="圆角矩形 234"/>
          <p:cNvSpPr>
            <a:spLocks noGrp="1"/>
          </p:cNvSpPr>
          <p:nvPr/>
        </p:nvSpPr>
        <p:spPr>
          <a:xfrm>
            <a:off x="4181475" y="2495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36" name="矩形 235"/>
          <p:cNvSpPr>
            <a:spLocks noGrp="1"/>
          </p:cNvSpPr>
          <p:nvPr/>
        </p:nvSpPr>
        <p:spPr>
          <a:xfrm>
            <a:off x="4371975" y="23812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一维数组通过索引访问元素：boy[0]、boy[1]…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One-dimensional array accesses elements by index: boy[0], boy[1]…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7" name="圆角矩形 236"/>
          <p:cNvSpPr>
            <a:spLocks noGrp="1"/>
          </p:cNvSpPr>
          <p:nvPr/>
        </p:nvSpPr>
        <p:spPr>
          <a:xfrm>
            <a:off x="4181475" y="3057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4371975" y="29432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数组有 4 个元素，下标到 3 为止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array has 4 elements, indexed up to 3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9" name="圆角矩形 238"/>
          <p:cNvSpPr>
            <a:spLocks noGrp="1"/>
          </p:cNvSpPr>
          <p:nvPr/>
        </p:nvSpPr>
        <p:spPr>
          <a:xfrm>
            <a:off x="4181475" y="3619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40" name="矩形 239"/>
          <p:cNvSpPr>
            <a:spLocks noGrp="1"/>
          </p:cNvSpPr>
          <p:nvPr/>
        </p:nvSpPr>
        <p:spPr>
          <a:xfrm>
            <a:off x="4371975" y="35052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778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越界编译可以通过，运行时抛 ArrayIndexOutOfBoundsException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Out-of-bounds compilation can pass, and ArrayIndexOutOfBoundsException is thrown at runtime.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1" name="圆角矩形 240"/>
          <p:cNvSpPr>
            <a:spLocks noGrp="1"/>
          </p:cNvSpPr>
          <p:nvPr/>
        </p:nvSpPr>
        <p:spPr>
          <a:xfrm>
            <a:off x="4181475" y="4067175"/>
            <a:ext cx="7553325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242" name="矩形 241"/>
          <p:cNvSpPr>
            <a:spLocks noGrp="1"/>
          </p:cNvSpPr>
          <p:nvPr/>
        </p:nvSpPr>
        <p:spPr>
          <a:xfrm>
            <a:off x="4352925" y="41814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boy[0] = 12;  boy[1] = 23.908F;  boy[2] = 100;  boy[3] = 10.23f;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3" name="矩形 242"/>
          <p:cNvSpPr>
            <a:spLocks noGrp="1"/>
          </p:cNvSpPr>
          <p:nvPr/>
        </p:nvSpPr>
        <p:spPr>
          <a:xfrm>
            <a:off x="4352925" y="453390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boy[4] = 384.98f;   // 运行时报数组越界异常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boy[4] = 384.98f; // Array out-of-bounds exception during runtime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6" name="矩形 24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47" name="矩形 246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48" name="矩形 247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9" name="矩形 248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2.5.4 length 的使用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2.5.4 Use of length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0" name="矩形 249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数组的 length 字段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length field of the array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1" name="矩形 250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52" name="矩形 251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length 告诉你数组有多大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length tells you how big the array is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3" name="圆角矩形 252"/>
          <p:cNvSpPr>
            <a:spLocks noGrp="1"/>
          </p:cNvSpPr>
          <p:nvPr/>
        </p:nvSpPr>
        <p:spPr>
          <a:xfrm>
            <a:off x="4181475" y="26003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54" name="矩形 253"/>
          <p:cNvSpPr>
            <a:spLocks noGrp="1"/>
          </p:cNvSpPr>
          <p:nvPr/>
        </p:nvSpPr>
        <p:spPr>
          <a:xfrm>
            <a:off x="4371975" y="24860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一维数组：数组名.length 的值 = 元素个数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One-dimensional array: value of array name.length = number of elements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5" name="圆角矩形 254"/>
          <p:cNvSpPr>
            <a:spLocks noGrp="1"/>
          </p:cNvSpPr>
          <p:nvPr/>
        </p:nvSpPr>
        <p:spPr>
          <a:xfrm>
            <a:off x="4181475" y="3162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56" name="矩形 255"/>
          <p:cNvSpPr>
            <a:spLocks noGrp="1"/>
          </p:cNvSpPr>
          <p:nvPr/>
        </p:nvSpPr>
        <p:spPr>
          <a:xfrm>
            <a:off x="4371975" y="30480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30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二维数组：数组名.length 的值 = 含有一维数组的个数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Two-dimensional array: The value of array name.length = the number of one-dimensional arrays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7" name="圆角矩形 256"/>
          <p:cNvSpPr>
            <a:spLocks noGrp="1"/>
          </p:cNvSpPr>
          <p:nvPr/>
        </p:nvSpPr>
        <p:spPr>
          <a:xfrm>
            <a:off x="4181475" y="3609975"/>
            <a:ext cx="7553325" cy="124777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258" name="矩形 257"/>
          <p:cNvSpPr>
            <a:spLocks noGrp="1"/>
          </p:cNvSpPr>
          <p:nvPr/>
        </p:nvSpPr>
        <p:spPr>
          <a:xfrm>
            <a:off x="4352925" y="3724275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float boy[] = new float[4];    // boy.length 为 4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float boy[] = new float[4]; // boy.length is 4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9" name="矩形 258"/>
          <p:cNvSpPr>
            <a:spLocks noGrp="1"/>
          </p:cNvSpPr>
          <p:nvPr/>
        </p:nvSpPr>
        <p:spPr>
          <a:xfrm>
            <a:off x="4352925" y="407670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a[][] = new int[3][8];     // a.length 是 3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a[][] = new int[3][8]; // a.length is 3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0" name="矩形 259"/>
          <p:cNvSpPr>
            <a:spLocks noGrp="1"/>
          </p:cNvSpPr>
          <p:nvPr/>
        </p:nvSpPr>
        <p:spPr>
          <a:xfrm>
            <a:off x="4352925" y="4429125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a[0].length、a[1].length、a[2].length 均为 8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a[0].length, a[1].length, a[2].length are all 8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1" name="矩形 260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3" name="矩形 26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64" name="矩形 263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65" name="矩形 264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6" name="矩形 265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2.5.5 数组的初始化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2.5.5 Initialization of array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7" name="矩形 266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默认值、逐一赋值与整体初始化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Default value, one-by-one assignment and overall initialization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8" name="矩形 267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69" name="矩形 268"/>
          <p:cNvSpPr>
            <a:spLocks noGrp="1"/>
          </p:cNvSpPr>
          <p:nvPr/>
        </p:nvSpPr>
        <p:spPr>
          <a:xfrm>
            <a:off x="457200" y="319087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三种给数组「填值」的方式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Three ways to "fill" an array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0" name="圆角矩形 269"/>
          <p:cNvSpPr>
            <a:spLocks noGrp="1"/>
          </p:cNvSpPr>
          <p:nvPr/>
        </p:nvSpPr>
        <p:spPr>
          <a:xfrm>
            <a:off x="4181475" y="1485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71" name="矩形 270"/>
          <p:cNvSpPr>
            <a:spLocks noGrp="1"/>
          </p:cNvSpPr>
          <p:nvPr/>
        </p:nvSpPr>
        <p:spPr>
          <a:xfrm>
            <a:off x="4371975" y="13716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创建后系统给每个元素一个默认值（float 型是 0.0）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After creation, the system gives each element a default value (float type is 0.0)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2" name="圆角矩形 271"/>
          <p:cNvSpPr>
            <a:spLocks noGrp="1"/>
          </p:cNvSpPr>
          <p:nvPr/>
        </p:nvSpPr>
        <p:spPr>
          <a:xfrm>
            <a:off x="4181475" y="1933575"/>
            <a:ext cx="7553325" cy="124777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273" name="矩形 272"/>
          <p:cNvSpPr>
            <a:spLocks noGrp="1"/>
          </p:cNvSpPr>
          <p:nvPr/>
        </p:nvSpPr>
        <p:spPr>
          <a:xfrm>
            <a:off x="4352925" y="20478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float boy[] = new float[4];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4" name="矩形 273"/>
          <p:cNvSpPr>
            <a:spLocks noGrp="1"/>
          </p:cNvSpPr>
          <p:nvPr/>
        </p:nvSpPr>
        <p:spPr>
          <a:xfrm>
            <a:off x="4352925" y="240030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boy[0] = 12;  boy[1] = 23.908F;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5" name="矩形 274"/>
          <p:cNvSpPr>
            <a:spLocks noGrp="1"/>
          </p:cNvSpPr>
          <p:nvPr/>
        </p:nvSpPr>
        <p:spPr>
          <a:xfrm>
            <a:off x="4352925" y="27527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float boy[] = {21.3f, 23.89f, 2.0f, 23f, 778.98f};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pic>
        <p:nvPicPr>
          <p:cNvPr id="292" name="图片 291"/>
          <p:cNvPicPr>
            <a:picLocks noChangeAspect="1"/>
          </p:cNvPicPr>
          <p:nvPr/>
        </p:nvPicPr>
        <p:blipFill>
          <a:blip r:embed="rId1"/>
          <a:srcRect t="7" b="7"/>
          <a:stretch>
            <a:fillRect/>
          </a:stretch>
        </p:blipFill>
        <p:spPr>
          <a:xfrm>
            <a:off x="5819775" y="3505200"/>
            <a:ext cx="4286250" cy="2476500"/>
          </a:xfrm>
          <a:prstGeom prst="roundRect">
            <a:avLst>
              <a:gd name="adj" fmla="val 3077"/>
            </a:avLst>
          </a:prstGeom>
        </p:spPr>
      </p:pic>
      <p:sp>
        <p:nvSpPr>
          <p:cNvPr id="277" name="矩形 276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9" name="矩形 27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80" name="矩形 279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81" name="矩形 280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2" name="矩形 281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2.5.6 数组的引用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2.5.6 References to arrays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3" name="矩形 282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引用赋值：改的是「指向」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Reference Assignment Changes What a Variable Points To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4" name="矩形 283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85" name="矩形 284"/>
          <p:cNvSpPr>
            <a:spLocks noGrp="1"/>
          </p:cNvSpPr>
          <p:nvPr/>
        </p:nvSpPr>
        <p:spPr>
          <a:xfrm>
            <a:off x="457200" y="319087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4272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数组变量存的是首元素地址，不是元素本身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array variable stores the address of the first element, not the element itself.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6" name="圆角矩形 285"/>
          <p:cNvSpPr>
            <a:spLocks noGrp="1"/>
          </p:cNvSpPr>
          <p:nvPr/>
        </p:nvSpPr>
        <p:spPr>
          <a:xfrm>
            <a:off x="4181475" y="1409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87" name="矩形 286"/>
          <p:cNvSpPr>
            <a:spLocks noGrp="1"/>
          </p:cNvSpPr>
          <p:nvPr/>
        </p:nvSpPr>
        <p:spPr>
          <a:xfrm>
            <a:off x="4371975" y="12954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两个相同类型的数组如果引用相同，就有完全相同的元素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Two arrays of the same type have exactly the same elements if they have the same reference.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8" name="圆角矩形 287"/>
          <p:cNvSpPr>
            <a:spLocks noGrp="1"/>
          </p:cNvSpPr>
          <p:nvPr/>
        </p:nvSpPr>
        <p:spPr>
          <a:xfrm>
            <a:off x="4181475" y="1971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89" name="矩形 288"/>
          <p:cNvSpPr>
            <a:spLocks noGrp="1"/>
          </p:cNvSpPr>
          <p:nvPr/>
        </p:nvSpPr>
        <p:spPr>
          <a:xfrm>
            <a:off x="4371975" y="18573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265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 a = b; 后，a 与 b 引用相同，系统释放数组 a 原有的元素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After executing a = b;, a and b have the same reference, and the system releases the original elements of array a.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0" name="圆角矩形 289"/>
          <p:cNvSpPr>
            <a:spLocks noGrp="1"/>
          </p:cNvSpPr>
          <p:nvPr/>
        </p:nvSpPr>
        <p:spPr>
          <a:xfrm>
            <a:off x="4181475" y="2419350"/>
            <a:ext cx="7553325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291" name="矩形 290"/>
          <p:cNvSpPr>
            <a:spLocks noGrp="1"/>
          </p:cNvSpPr>
          <p:nvPr/>
        </p:nvSpPr>
        <p:spPr>
          <a:xfrm>
            <a:off x="4352925" y="25336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a[] = {1,2,3}, b[] = {4,5};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2" name="矩形 291"/>
          <p:cNvSpPr>
            <a:spLocks noGrp="1"/>
          </p:cNvSpPr>
          <p:nvPr/>
        </p:nvSpPr>
        <p:spPr>
          <a:xfrm>
            <a:off x="4352925" y="2886075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3483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 = b;    // 引用赋值：改的是指向，不是拷贝元素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6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 = b; // Reference assignment: changing the pointer, not copying the element</a:t>
            </a:r>
            <a:endParaRPr sz="296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pic>
        <p:nvPicPr>
          <p:cNvPr id="312" name="图片 311"/>
          <p:cNvPicPr>
            <a:picLocks noChangeAspect="1"/>
          </p:cNvPicPr>
          <p:nvPr/>
        </p:nvPicPr>
        <p:blipFill>
          <a:blip r:embed="rId1"/>
          <a:srcRect t="14" b="14"/>
          <a:stretch>
            <a:fillRect/>
          </a:stretch>
        </p:blipFill>
        <p:spPr>
          <a:xfrm>
            <a:off x="4914900" y="3638550"/>
            <a:ext cx="6096000" cy="1885950"/>
          </a:xfrm>
          <a:prstGeom prst="roundRect">
            <a:avLst>
              <a:gd name="adj" fmla="val 4040"/>
            </a:avLst>
          </a:prstGeom>
        </p:spPr>
      </p:pic>
      <p:sp>
        <p:nvSpPr>
          <p:cNvPr id="294" name="圆角矩形 293"/>
          <p:cNvSpPr>
            <a:spLocks noGrp="1"/>
          </p:cNvSpPr>
          <p:nvPr/>
        </p:nvSpPr>
        <p:spPr>
          <a:xfrm>
            <a:off x="4181475" y="5695950"/>
            <a:ext cx="7553325" cy="561975"/>
          </a:xfrm>
          <a:prstGeom prst="roundRect">
            <a:avLst>
              <a:gd name="adj" fmla="val 16949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295" name="矩形 294"/>
          <p:cNvSpPr>
            <a:spLocks noGrp="1"/>
          </p:cNvSpPr>
          <p:nvPr/>
        </p:nvSpPr>
        <p:spPr>
          <a:xfrm>
            <a:off x="4371975" y="5829300"/>
            <a:ext cx="7172325" cy="295275"/>
          </a:xfrm>
          <a:prstGeom prst="rect">
            <a:avLst/>
          </a:prstGeom>
        </p:spPr>
        <p:txBody>
          <a:bodyPr wrap="none" lIns="0" tIns="0" rIns="0" bIns="0">
            <a:normAutofit fontScale="3683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重要结论：引用赋值不会拷贝元素——两个变量指向同一块内存</a:t>
            </a:r>
            <a:endParaRPr sz="263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Important conclusion: Assignment by reference does not copy elements - both variables point to the same memory</a:t>
            </a:r>
            <a:endParaRPr sz="263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6" name="矩形 295"/>
          <p:cNvSpPr>
            <a:spLocks noGrp="1"/>
          </p:cNvSpPr>
          <p:nvPr/>
        </p:nvSpPr>
        <p:spPr>
          <a:xfrm>
            <a:off x="11258550" y="644842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8" name="矩形 29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99" name="矩形 298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00" name="矩形 299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" name="矩形 300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§2.6 应用举例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§2.6 Application examples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2" name="矩形 301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折半查找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Binary Search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3" name="矩形 302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04" name="矩形 303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对从小到大排序的数组，判断一个整数是否在其中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Determine whether an integer occurs in an array sorted in ascending order.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5" name="圆角矩形 304"/>
          <p:cNvSpPr>
            <a:spLocks noGrp="1"/>
          </p:cNvSpPr>
          <p:nvPr/>
        </p:nvSpPr>
        <p:spPr>
          <a:xfrm>
            <a:off x="4181475" y="2324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06" name="矩形 305"/>
          <p:cNvSpPr>
            <a:spLocks noGrp="1"/>
          </p:cNvSpPr>
          <p:nvPr/>
        </p:nvSpPr>
        <p:spPr>
          <a:xfrm>
            <a:off x="4371975" y="22098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与数组中间的值比较：相等即找到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Compare with the value in the middle of the array: find if equal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7" name="圆角矩形 306"/>
          <p:cNvSpPr>
            <a:spLocks noGrp="1"/>
          </p:cNvSpPr>
          <p:nvPr/>
        </p:nvSpPr>
        <p:spPr>
          <a:xfrm>
            <a:off x="4181475" y="2886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08" name="矩形 307"/>
          <p:cNvSpPr>
            <a:spLocks noGrp="1"/>
          </p:cNvSpPr>
          <p:nvPr/>
        </p:nvSpPr>
        <p:spPr>
          <a:xfrm>
            <a:off x="4371975" y="27717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2806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小于中间值 → 在前一半继续折半找；大于 → 在后一半继续折半找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Less than the middle value → continue to search in half in the first half; greater than → continue to search in half in the second half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9" name="圆角矩形 308"/>
          <p:cNvSpPr>
            <a:spLocks noGrp="1"/>
          </p:cNvSpPr>
          <p:nvPr/>
        </p:nvSpPr>
        <p:spPr>
          <a:xfrm>
            <a:off x="4181475" y="3448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10" name="矩形 309"/>
          <p:cNvSpPr>
            <a:spLocks noGrp="1"/>
          </p:cNvSpPr>
          <p:nvPr/>
        </p:nvSpPr>
        <p:spPr>
          <a:xfrm>
            <a:off x="4371975" y="33337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每比较一次排除一半，比顺序查找快得多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Exclude half of each comparison, much faster than sequential search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1" name="圆角矩形 310"/>
          <p:cNvSpPr>
            <a:spLocks noGrp="1"/>
          </p:cNvSpPr>
          <p:nvPr/>
        </p:nvSpPr>
        <p:spPr>
          <a:xfrm>
            <a:off x="4181475" y="3895725"/>
            <a:ext cx="7553325" cy="124777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312" name="矩形 311"/>
          <p:cNvSpPr>
            <a:spLocks noGrp="1"/>
          </p:cNvSpPr>
          <p:nvPr/>
        </p:nvSpPr>
        <p:spPr>
          <a:xfrm>
            <a:off x="4352925" y="40100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mid = (low + high) / 2;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13" name="矩形 312"/>
          <p:cNvSpPr>
            <a:spLocks noGrp="1"/>
          </p:cNvSpPr>
          <p:nvPr/>
        </p:nvSpPr>
        <p:spPr>
          <a:xfrm>
            <a:off x="4352925" y="43624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(key &lt; a[mid]) high = mid - 1;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14" name="矩形 313"/>
          <p:cNvSpPr>
            <a:spLocks noGrp="1"/>
          </p:cNvSpPr>
          <p:nvPr/>
        </p:nvSpPr>
        <p:spPr>
          <a:xfrm>
            <a:off x="4352925" y="47148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else if (key &gt; a[mid]) low = mid + 1;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15" name="矩形 314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" name="矩形 31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18" name="矩形 317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19" name="矩形 318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0" name="矩形 319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例子5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5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1" name="矩形 320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36783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折半查找：核心思路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Binary Search: Core Idea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2" name="矩形 321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23" name="矩形 322"/>
          <p:cNvSpPr>
            <a:spLocks noGrp="1"/>
          </p:cNvSpPr>
          <p:nvPr/>
        </p:nvSpPr>
        <p:spPr>
          <a:xfrm>
            <a:off x="457200" y="319087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3115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 44 行程序见 chapter2/例子5/Example2_5.java，课堂演示运行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 the complete 44-line program in chapter2/Example 5/Example2_5.java; it will be demonstrated in class.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4" name="圆角矩形 323"/>
          <p:cNvSpPr>
            <a:spLocks noGrp="1"/>
          </p:cNvSpPr>
          <p:nvPr/>
        </p:nvSpPr>
        <p:spPr>
          <a:xfrm>
            <a:off x="4181475" y="26003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25" name="矩形 324"/>
          <p:cNvSpPr>
            <a:spLocks noGrp="1"/>
          </p:cNvSpPr>
          <p:nvPr/>
        </p:nvSpPr>
        <p:spPr>
          <a:xfrm>
            <a:off x="4371975" y="24860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维护查找区间 [low, high]，取中间下标 mid = (low + high) / 2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Maintain the search interval [low, high], take the middle subscript mid = (low + high) / 2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" name="圆角矩形 325"/>
          <p:cNvSpPr>
            <a:spLocks noGrp="1"/>
          </p:cNvSpPr>
          <p:nvPr/>
        </p:nvSpPr>
        <p:spPr>
          <a:xfrm>
            <a:off x="4181475" y="3162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27" name="矩形 326"/>
          <p:cNvSpPr>
            <a:spLocks noGrp="1"/>
          </p:cNvSpPr>
          <p:nvPr/>
        </p:nvSpPr>
        <p:spPr>
          <a:xfrm>
            <a:off x="4371975" y="30480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找到返回 true；区间为空（low &gt; high）返回 false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Returns true if found; returns false if the interval is empty (low &gt; high)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8" name="圆角矩形 327"/>
          <p:cNvSpPr>
            <a:spLocks noGrp="1"/>
          </p:cNvSpPr>
          <p:nvPr/>
        </p:nvSpPr>
        <p:spPr>
          <a:xfrm>
            <a:off x="4181475" y="3609975"/>
            <a:ext cx="7553325" cy="124777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329" name="矩形 328"/>
          <p:cNvSpPr>
            <a:spLocks noGrp="1"/>
          </p:cNvSpPr>
          <p:nvPr/>
        </p:nvSpPr>
        <p:spPr>
          <a:xfrm>
            <a:off x="4352925" y="37242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mid = (low + high) / 2;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30" name="矩形 329"/>
          <p:cNvSpPr>
            <a:spLocks noGrp="1"/>
          </p:cNvSpPr>
          <p:nvPr/>
        </p:nvSpPr>
        <p:spPr>
          <a:xfrm>
            <a:off x="4352925" y="407670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(key == a[mid]) return true;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31" name="矩形 330"/>
          <p:cNvSpPr>
            <a:spLocks noGrp="1"/>
          </p:cNvSpPr>
          <p:nvPr/>
        </p:nvSpPr>
        <p:spPr>
          <a:xfrm>
            <a:off x="4352925" y="44291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(low &gt; high) return false;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32" name="矩形 331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4" name="矩形 33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35" name="矩形 334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36" name="矩形 335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7" name="矩形 336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Summarize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8" name="矩形 337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本章要点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points of this chapter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9" name="矩形 338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40" name="矩形 339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句话带走本章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sentences to take away this chapter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1" name="圆角矩形 340"/>
          <p:cNvSpPr>
            <a:spLocks noGrp="1"/>
          </p:cNvSpPr>
          <p:nvPr/>
        </p:nvSpPr>
        <p:spPr>
          <a:xfrm>
            <a:off x="4181475" y="2362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42" name="矩形 341"/>
          <p:cNvSpPr>
            <a:spLocks noGrp="1"/>
          </p:cNvSpPr>
          <p:nvPr/>
        </p:nvSpPr>
        <p:spPr>
          <a:xfrm>
            <a:off x="4371975" y="2247900"/>
            <a:ext cx="7362825" cy="781050"/>
          </a:xfrm>
          <a:prstGeom prst="rect">
            <a:avLst/>
          </a:prstGeom>
        </p:spPr>
        <p:txBody>
          <a:bodyPr wrap="square" lIns="0" tIns="0" rIns="0" bIns="0">
            <a:normAutofit fontScale="4311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标识符由字母、下划线、美元符号和数字组成，第一个字符不能是数字，关键字不能做标识符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Identifiers consist of letters, underscores, dollar signs, and numbers. The first character cannot be a number, and keywords cannot be used as identifiers.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3" name="圆角矩形 342"/>
          <p:cNvSpPr>
            <a:spLocks noGrp="1"/>
          </p:cNvSpPr>
          <p:nvPr/>
        </p:nvSpPr>
        <p:spPr>
          <a:xfrm>
            <a:off x="4181475" y="3314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44" name="矩形 343"/>
          <p:cNvSpPr>
            <a:spLocks noGrp="1"/>
          </p:cNvSpPr>
          <p:nvPr/>
        </p:nvSpPr>
        <p:spPr>
          <a:xfrm>
            <a:off x="4371975" y="3200400"/>
            <a:ext cx="7362825" cy="781050"/>
          </a:xfrm>
          <a:prstGeom prst="rect">
            <a:avLst/>
          </a:prstGeom>
        </p:spPr>
        <p:txBody>
          <a:bodyPr wrap="square" lIns="0" tIns="0" rIns="0" bIns="0">
            <a:normAutofit fontScale="4815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有 8 种基本数据类型：boolean、byte、short、char、int、long、float、double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has 8 basic data types: boolean, byte, short, char, int, long, float, double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5" name="圆角矩形 344"/>
          <p:cNvSpPr>
            <a:spLocks noGrp="1"/>
          </p:cNvSpPr>
          <p:nvPr/>
        </p:nvSpPr>
        <p:spPr>
          <a:xfrm>
            <a:off x="4181475" y="4267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46" name="矩形 345"/>
          <p:cNvSpPr>
            <a:spLocks noGrp="1"/>
          </p:cNvSpPr>
          <p:nvPr/>
        </p:nvSpPr>
        <p:spPr>
          <a:xfrm>
            <a:off x="4371975" y="41529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1943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数组是相同类型的数据元素按顺序组成的复合数据类型，属于引用型变量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array is a composite data type composed of data elements of the same type in order and is a reference variable.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7" name="圆角矩形 346"/>
          <p:cNvSpPr>
            <a:spLocks noGrp="1"/>
          </p:cNvSpPr>
          <p:nvPr/>
        </p:nvSpPr>
        <p:spPr>
          <a:xfrm>
            <a:off x="4181475" y="4829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48" name="矩形 347"/>
          <p:cNvSpPr>
            <a:spLocks noGrp="1"/>
          </p:cNvSpPr>
          <p:nvPr/>
        </p:nvSpPr>
        <p:spPr>
          <a:xfrm>
            <a:off x="4371975" y="47148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两个相同类型的数组如果引用相同，它们就有完全相同的元素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Two arrays of the same type have exactly the same elements if they have the same reference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9" name="矩形 348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1" name="矩形 37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72" name="矩形 371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73" name="矩形 372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4" name="矩形 373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2376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3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Homework</a:t>
            </a:r>
            <a:endParaRPr sz="263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5" name="矩形 374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75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课后练习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After class exercises</a:t>
            </a:r>
            <a:endParaRPr sz="65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6" name="矩形 375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77" name="矩形 376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动手才是最快的掌握方式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Doing it is the fastest way to master it</a:t>
            </a:r>
            <a:endParaRPr sz="32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8" name="圆角矩形 377"/>
          <p:cNvSpPr>
            <a:spLocks noGrp="1"/>
          </p:cNvSpPr>
          <p:nvPr/>
        </p:nvSpPr>
        <p:spPr>
          <a:xfrm>
            <a:off x="4181475" y="3314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79" name="矩形 378"/>
          <p:cNvSpPr>
            <a:spLocks noGrp="1"/>
          </p:cNvSpPr>
          <p:nvPr/>
        </p:nvSpPr>
        <p:spPr>
          <a:xfrm>
            <a:off x="4371975" y="32004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0653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完成教材配套练习与题库系统（见教材前言二维码）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Complete the textbook supporting exercises and question bank system (see the QR code in the preface of the textbook)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0" name="圆角矩形 379"/>
          <p:cNvSpPr>
            <a:spLocks noGrp="1"/>
          </p:cNvSpPr>
          <p:nvPr/>
        </p:nvSpPr>
        <p:spPr>
          <a:xfrm>
            <a:off x="4181475" y="3876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81" name="矩形 380"/>
          <p:cNvSpPr>
            <a:spLocks noGrp="1"/>
          </p:cNvSpPr>
          <p:nvPr/>
        </p:nvSpPr>
        <p:spPr>
          <a:xfrm>
            <a:off x="4371975" y="37623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89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独立完成，禁止直接提交 AI 生成的代码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Complete independently, direct submission of AI-generated code is prohibited</a:t>
            </a:r>
            <a:endParaRPr sz="32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2" name="矩形 381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1" name="矩形 37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72" name="矩形 371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73" name="矩形 372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4" name="矩形 373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1782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50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编程题 1</a:t>
            </a:r>
            <a:endParaRPr sz="350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50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Programming Task 1</a:t>
            </a:r>
            <a:endParaRPr sz="350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5" name="矩形 374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069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76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整数与字符报告</a:t>
            </a:r>
            <a:endParaRPr sz="876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76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Integer and char report</a:t>
            </a:r>
            <a:endParaRPr sz="876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6" name="矩形 375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77" name="矩形 376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2920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 int、long、char 完成一次综合输出</a:t>
            </a:r>
            <a:endParaRPr sz="438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int, long, and char in one program</a:t>
            </a:r>
            <a:endParaRPr sz="438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8" name="圆角矩形 377"/>
          <p:cNvSpPr>
            <a:spLocks noGrp="1"/>
          </p:cNvSpPr>
          <p:nvPr/>
        </p:nvSpPr>
        <p:spPr>
          <a:xfrm>
            <a:off x="4181475" y="3314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79" name="矩形 378"/>
          <p:cNvSpPr>
            <a:spLocks noGrp="1"/>
          </p:cNvSpPr>
          <p:nvPr/>
        </p:nvSpPr>
        <p:spPr>
          <a:xfrm>
            <a:off x="4371975" y="32004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2920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编写 IntLongCharReport.java：定义年龄 int、人口 long、等级 char，并输出三项。</a:t>
            </a:r>
            <a:endParaRPr sz="438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Write IntLongCharReport.java with an int age, long population, and char grade.</a:t>
            </a:r>
            <a:endParaRPr sz="438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0" name="圆角矩形 379"/>
          <p:cNvSpPr>
            <a:spLocks noGrp="1"/>
          </p:cNvSpPr>
          <p:nvPr/>
        </p:nvSpPr>
        <p:spPr>
          <a:xfrm>
            <a:off x="4181475" y="3876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81" name="矩形 380"/>
          <p:cNvSpPr>
            <a:spLocks noGrp="1"/>
          </p:cNvSpPr>
          <p:nvPr/>
        </p:nvSpPr>
        <p:spPr>
          <a:xfrm>
            <a:off x="4371975" y="37623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2920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再输出 grade 的 Unicode 编码并执行 grade++；long 常量必须使用 L。</a:t>
            </a:r>
            <a:endParaRPr sz="438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Print grade's Unicode value, run grade++, and use L for the long literal.</a:t>
            </a:r>
            <a:endParaRPr sz="438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2" name="矩形 381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1" name="矩形 37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72" name="矩形 371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73" name="矩形 372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4" name="矩形 373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1782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50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编程题 2</a:t>
            </a:r>
            <a:endParaRPr sz="350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50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Programming Task 2</a:t>
            </a:r>
            <a:endParaRPr sz="350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5" name="矩形 374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1988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76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输入并计算矩形</a:t>
            </a:r>
            <a:endParaRPr sz="876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76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 and calculate a rectangle</a:t>
            </a:r>
            <a:endParaRPr sz="876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6" name="矩形 375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77" name="矩形 376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2836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 Scanner、double 和强制类型转换</a:t>
            </a:r>
            <a:endParaRPr sz="438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Practice Scanner, double, and explicit casting</a:t>
            </a:r>
            <a:endParaRPr sz="438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8" name="圆角矩形 377"/>
          <p:cNvSpPr>
            <a:spLocks noGrp="1"/>
          </p:cNvSpPr>
          <p:nvPr/>
        </p:nvSpPr>
        <p:spPr>
          <a:xfrm>
            <a:off x="4181475" y="3314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79" name="矩形 378"/>
          <p:cNvSpPr>
            <a:spLocks noGrp="1"/>
          </p:cNvSpPr>
          <p:nvPr/>
        </p:nvSpPr>
        <p:spPr>
          <a:xfrm>
            <a:off x="4371975" y="32004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2920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读入 double 类型的长和宽，输出面积和周长；再输出强制转成 int 的面积。</a:t>
            </a:r>
            <a:endParaRPr sz="438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 double length and width; print area, perimeter, and the area cast to int.</a:t>
            </a:r>
            <a:endParaRPr sz="438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0" name="圆角矩形 379"/>
          <p:cNvSpPr>
            <a:spLocks noGrp="1"/>
          </p:cNvSpPr>
          <p:nvPr/>
        </p:nvSpPr>
        <p:spPr>
          <a:xfrm>
            <a:off x="4181475" y="3876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81" name="矩形 380"/>
          <p:cNvSpPr>
            <a:spLocks noGrp="1"/>
          </p:cNvSpPr>
          <p:nvPr/>
        </p:nvSpPr>
        <p:spPr>
          <a:xfrm>
            <a:off x="4371975" y="37623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2920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5.5 和 3.2 测试；写注释说明整数面积为什么丢失小数。</a:t>
            </a:r>
            <a:endParaRPr sz="438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 with 5.5 and 3.2; comment on why the integer area loses decimals.</a:t>
            </a:r>
            <a:endParaRPr sz="438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2" name="矩形 381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1" name="矩形 37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72" name="矩形 371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73" name="矩形 372"/>
          <p:cNvSpPr>
            <a:spLocks noGrp="1"/>
          </p:cNvSpPr>
          <p:nvPr/>
        </p:nvSpPr>
        <p:spPr>
          <a:xfrm>
            <a:off x="838200" y="714375"/>
            <a:ext cx="2066925" cy="161925"/>
          </a:xfrm>
          <a:prstGeom prst="rect">
            <a:avLst/>
          </a:prstGeom>
        </p:spPr>
        <p:txBody>
          <a:bodyPr wrap="none" lIns="0" tIns="0" rIns="0" bIns="0">
            <a:normAutofit fontScale="2309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Basic Data Types and Arrays</a:t>
            </a:r>
            <a:endParaRPr sz="2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4" name="矩形 373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1782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50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编程题 3</a:t>
            </a:r>
            <a:endParaRPr sz="350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50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Programming Task 3</a:t>
            </a:r>
            <a:endParaRPr sz="350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5" name="矩形 374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2069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76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数组成绩统计</a:t>
            </a:r>
            <a:endParaRPr sz="876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76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Array score statistics</a:t>
            </a:r>
            <a:endParaRPr sz="876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6" name="矩形 375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77" name="矩形 376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2780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把输入、数组、遍历和统计组合起来</a:t>
            </a:r>
            <a:endParaRPr sz="438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Combine input, arrays, traversal, and statistics</a:t>
            </a:r>
            <a:endParaRPr sz="438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8" name="圆角矩形 377"/>
          <p:cNvSpPr>
            <a:spLocks noGrp="1"/>
          </p:cNvSpPr>
          <p:nvPr/>
        </p:nvSpPr>
        <p:spPr>
          <a:xfrm>
            <a:off x="4181475" y="3314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79" name="矩形 378"/>
          <p:cNvSpPr>
            <a:spLocks noGrp="1"/>
          </p:cNvSpPr>
          <p:nvPr/>
        </p:nvSpPr>
        <p:spPr>
          <a:xfrm>
            <a:off x="4371975" y="32004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2920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读入 5 个 int 成绩存入数组，输出总分、平均分、最高分和最低分。</a:t>
            </a:r>
            <a:endParaRPr sz="438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 five int scores into an array; print total, average, maximum, and minimum.</a:t>
            </a:r>
            <a:endParaRPr sz="438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0" name="圆角矩形 379"/>
          <p:cNvSpPr>
            <a:spLocks noGrp="1"/>
          </p:cNvSpPr>
          <p:nvPr/>
        </p:nvSpPr>
        <p:spPr>
          <a:xfrm>
            <a:off x="4181475" y="3876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81" name="矩形 380"/>
          <p:cNvSpPr>
            <a:spLocks noGrp="1"/>
          </p:cNvSpPr>
          <p:nvPr/>
        </p:nvSpPr>
        <p:spPr>
          <a:xfrm>
            <a:off x="4371975" y="37623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2920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再逆序输出数组；扩展：排序后用折半查找返回目标下标或 -1。</a:t>
            </a:r>
            <a:endParaRPr sz="438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8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Print the array in reverse; extension: binary-search a sorted array for an index or -1.</a:t>
            </a:r>
            <a:endParaRPr sz="438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2" name="矩形 381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4" name="矩形 38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85" name="矩形 384"/>
          <p:cNvSpPr>
            <a:spLocks noGrp="1"/>
          </p:cNvSpPr>
          <p:nvPr/>
        </p:nvSpPr>
        <p:spPr>
          <a:xfrm>
            <a:off x="571500" y="571500"/>
            <a:ext cx="11049000" cy="5715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86" name="矩形 385"/>
          <p:cNvSpPr>
            <a:spLocks noGrp="1"/>
          </p:cNvSpPr>
          <p:nvPr/>
        </p:nvSpPr>
        <p:spPr>
          <a:xfrm>
            <a:off x="3848100" y="2457450"/>
            <a:ext cx="4495800" cy="914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6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 You !</a:t>
            </a:r>
            <a:endParaRPr sz="6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7" name="矩形 386"/>
          <p:cNvSpPr>
            <a:spLocks noGrp="1"/>
          </p:cNvSpPr>
          <p:nvPr/>
        </p:nvSpPr>
        <p:spPr>
          <a:xfrm>
            <a:off x="3752850" y="3600450"/>
            <a:ext cx="4686300" cy="323850"/>
          </a:xfrm>
          <a:prstGeom prst="rect">
            <a:avLst/>
          </a:prstGeom>
        </p:spPr>
        <p:txBody>
          <a:bodyPr wrap="none" lIns="0" tIns="0" rIns="0" bIns="0">
            <a:normAutofit fontScale="2304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1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章 · 基本数据类型与数组 到此结束</a:t>
            </a:r>
            <a:endParaRPr sz="461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1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of Chapter 2 · Basic Data Types and Arrays</a:t>
            </a:r>
            <a:endParaRPr sz="461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8" name="矩形 387"/>
          <p:cNvSpPr>
            <a:spLocks noGrp="1"/>
          </p:cNvSpPr>
          <p:nvPr/>
        </p:nvSpPr>
        <p:spPr>
          <a:xfrm>
            <a:off x="5619750" y="4267200"/>
            <a:ext cx="952500" cy="38100"/>
          </a:xfrm>
          <a:prstGeom prst="rect">
            <a:avLst/>
          </a:prstGeom>
          <a:solidFill>
            <a:srgbClr val="D9534F"/>
          </a:solidFill>
        </p:spPr>
        <p:txBody>
          <a:bodyPr/>
          <a:lstStyle/>
          <a:p/>
        </p:txBody>
      </p:sp>
      <p:sp>
        <p:nvSpPr>
          <p:cNvPr id="389" name="矩形 388"/>
          <p:cNvSpPr>
            <a:spLocks noGrp="1"/>
          </p:cNvSpPr>
          <p:nvPr/>
        </p:nvSpPr>
        <p:spPr>
          <a:xfrm>
            <a:off x="11144250" y="61245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 / 34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17610</Words>
  <Application>WPS 演示</Application>
  <PresentationFormat>Converted Presentation</PresentationFormat>
  <Paragraphs>826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等线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何嘉豪</cp:lastModifiedBy>
  <cp:revision>1</cp:revision>
  <dcterms:created xsi:type="dcterms:W3CDTF">2026-08-23T12:55:08Z</dcterms:created>
  <dcterms:modified xsi:type="dcterms:W3CDTF">2026-08-23T12:55:08Z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37D00308528E468C8188B75519753426_12</vt:lpwstr>
  </property>
</Properties>
</file>